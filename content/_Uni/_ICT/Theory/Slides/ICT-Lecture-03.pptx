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6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CSC 101 – Introduction to Computing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</a:t>
            </a:r>
            <a:r>
              <a:rPr lang="en-US" dirty="0" smtClean="0"/>
              <a:t>03 (Morley Ch-03)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6060" cy="31309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Storage Devices: </a:t>
            </a:r>
            <a:endParaRPr lang="en-US" sz="2400" dirty="0" smtClean="0"/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Magnetic </a:t>
            </a:r>
            <a:r>
              <a:rPr lang="en-US" sz="2400" dirty="0" smtClean="0"/>
              <a:t>Storage </a:t>
            </a:r>
            <a:r>
              <a:rPr lang="en-US" sz="2400" dirty="0" smtClean="0"/>
              <a:t>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Optical </a:t>
            </a:r>
            <a:r>
              <a:rPr lang="en-US" sz="2400" dirty="0" smtClean="0"/>
              <a:t>Storage </a:t>
            </a:r>
            <a:r>
              <a:rPr lang="en-US" sz="2400" dirty="0" smtClean="0"/>
              <a:t>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Solid </a:t>
            </a:r>
            <a:r>
              <a:rPr lang="en-US" sz="2400" dirty="0" smtClean="0"/>
              <a:t>State Storage </a:t>
            </a:r>
            <a:r>
              <a:rPr lang="en-US" sz="2400" dirty="0" smtClean="0"/>
              <a:t>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Data </a:t>
            </a:r>
            <a:r>
              <a:rPr lang="en-US" sz="2400" dirty="0" smtClean="0"/>
              <a:t>Read &amp; Write Process. </a:t>
            </a:r>
          </a:p>
          <a:p>
            <a:r>
              <a:rPr lang="en-GB" sz="2400" dirty="0" smtClean="0"/>
              <a:t>  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400">
              <a:latin typeface="Carlito"/>
              <a:cs typeface="Carlito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615430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Media and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Medium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10" dirty="0">
                <a:latin typeface="Carlito"/>
                <a:cs typeface="Carlito"/>
              </a:rPr>
              <a:t>where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DVD </a:t>
            </a:r>
            <a:r>
              <a:rPr sz="2400" spc="-5" dirty="0">
                <a:latin typeface="Carlito"/>
                <a:cs typeface="Carlito"/>
              </a:rPr>
              <a:t>disc, 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card,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Device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DVD </a:t>
            </a:r>
            <a:r>
              <a:rPr sz="2400" spc="-10" dirty="0">
                <a:latin typeface="Carlito"/>
                <a:cs typeface="Carlito"/>
              </a:rPr>
              <a:t>drive,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card </a:t>
            </a:r>
            <a:r>
              <a:rPr sz="2400" spc="-35" dirty="0">
                <a:latin typeface="Carlito"/>
                <a:cs typeface="Carlito"/>
              </a:rPr>
              <a:t>reader,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Medium is </a:t>
            </a:r>
            <a:r>
              <a:rPr sz="2400" spc="-5" dirty="0">
                <a:latin typeface="Carlito"/>
                <a:cs typeface="Carlito"/>
              </a:rPr>
              <a:t>inserted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internal, external, or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remote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typically identified </a:t>
            </a:r>
            <a:r>
              <a:rPr sz="2400" spc="-10" dirty="0">
                <a:latin typeface="Carlito"/>
                <a:cs typeface="Carlito"/>
              </a:rPr>
              <a:t>by</a:t>
            </a:r>
            <a:r>
              <a:rPr sz="2400" spc="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letter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315402" y="1766849"/>
            <a:ext cx="5067300" cy="37871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16682" y="1869039"/>
            <a:ext cx="1623862" cy="1890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0525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Volatility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media </a:t>
            </a:r>
            <a:r>
              <a:rPr sz="2400" spc="-15" dirty="0">
                <a:latin typeface="Carlito"/>
                <a:cs typeface="Carlito"/>
              </a:rPr>
              <a:t>are nonvolatile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Random </a:t>
            </a:r>
            <a:r>
              <a:rPr sz="2400" spc="-10" dirty="0">
                <a:latin typeface="Carlito"/>
                <a:cs typeface="Carlito"/>
              </a:rPr>
              <a:t>vs. </a:t>
            </a:r>
            <a:r>
              <a:rPr sz="2400" spc="-5" dirty="0">
                <a:latin typeface="Carlito"/>
                <a:cs typeface="Carlito"/>
              </a:rPr>
              <a:t>Sequential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Access</a:t>
            </a:r>
            <a:endParaRPr sz="2400">
              <a:latin typeface="Carlito"/>
              <a:cs typeface="Carlito"/>
            </a:endParaRPr>
          </a:p>
          <a:p>
            <a:pPr marL="756285" marR="15557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Random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0" dirty="0">
                <a:latin typeface="Carlito"/>
                <a:cs typeface="Carlito"/>
              </a:rPr>
              <a:t>(direct </a:t>
            </a:r>
            <a:r>
              <a:rPr sz="2400" spc="-5" dirty="0">
                <a:latin typeface="Carlito"/>
                <a:cs typeface="Carlito"/>
              </a:rPr>
              <a:t>access) </a:t>
            </a: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spc="-15" dirty="0">
                <a:latin typeface="Carlito"/>
                <a:cs typeface="Carlito"/>
              </a:rPr>
              <a:t>data 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retrieved 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10" dirty="0">
                <a:latin typeface="Carlito"/>
                <a:cs typeface="Carlito"/>
              </a:rPr>
              <a:t>location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5" dirty="0">
                <a:latin typeface="Carlito"/>
                <a:cs typeface="Carlito"/>
              </a:rPr>
              <a:t> medium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Virtually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use random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access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Sequential </a:t>
            </a:r>
            <a:r>
              <a:rPr sz="2400" dirty="0">
                <a:latin typeface="Carlito"/>
                <a:cs typeface="Carlito"/>
              </a:rPr>
              <a:t>access means </a:t>
            </a:r>
            <a:r>
              <a:rPr sz="2400" spc="-10" dirty="0">
                <a:latin typeface="Carlito"/>
                <a:cs typeface="Carlito"/>
              </a:rPr>
              <a:t>retrieval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occur only</a:t>
            </a:r>
            <a:r>
              <a:rPr sz="2400" spc="-1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  the </a:t>
            </a:r>
            <a:r>
              <a:rPr sz="2400" spc="-15" dirty="0">
                <a:latin typeface="Carlito"/>
                <a:cs typeface="Carlito"/>
              </a:rPr>
              <a:t>order </a:t>
            </a:r>
            <a:r>
              <a:rPr sz="2400" dirty="0">
                <a:latin typeface="Carlito"/>
                <a:cs typeface="Carlito"/>
              </a:rPr>
              <a:t>in which it </a:t>
            </a:r>
            <a:r>
              <a:rPr sz="2400" spc="-10" dirty="0">
                <a:latin typeface="Carlito"/>
                <a:cs typeface="Carlito"/>
              </a:rPr>
              <a:t>was </a:t>
            </a:r>
            <a:r>
              <a:rPr sz="2400" spc="-15" dirty="0">
                <a:latin typeface="Carlito"/>
                <a:cs typeface="Carlito"/>
              </a:rPr>
              <a:t>physically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storage  </a:t>
            </a:r>
            <a:r>
              <a:rPr sz="2400" dirty="0">
                <a:latin typeface="Carlito"/>
                <a:cs typeface="Carlito"/>
              </a:rPr>
              <a:t>medium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Magnetic </a:t>
            </a:r>
            <a:r>
              <a:rPr sz="2400" spc="-10" dirty="0">
                <a:latin typeface="Carlito"/>
                <a:cs typeface="Carlito"/>
              </a:rPr>
              <a:t>tape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073900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Logical vs. </a:t>
            </a:r>
            <a:r>
              <a:rPr sz="2400" spc="-15" dirty="0">
                <a:latin typeface="Carlito"/>
                <a:cs typeface="Carlito"/>
              </a:rPr>
              <a:t>Physical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File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Anything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5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medium,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program, </a:t>
            </a:r>
            <a:r>
              <a:rPr sz="2400" spc="-10" dirty="0">
                <a:latin typeface="Carlito"/>
                <a:cs typeface="Carlito"/>
              </a:rPr>
              <a:t>document, digital </a:t>
            </a:r>
            <a:r>
              <a:rPr sz="2400" spc="-5" dirty="0">
                <a:latin typeface="Carlito"/>
                <a:cs typeface="Carlito"/>
              </a:rPr>
              <a:t>image, or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Filename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Name </a:t>
            </a:r>
            <a:r>
              <a:rPr sz="2400" spc="-10" dirty="0">
                <a:latin typeface="Carlito"/>
                <a:cs typeface="Carlito"/>
              </a:rPr>
              <a:t>given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Folder</a:t>
            </a:r>
            <a:endParaRPr sz="2400">
              <a:latin typeface="Carlito"/>
              <a:cs typeface="Carlito"/>
            </a:endParaRPr>
          </a:p>
          <a:p>
            <a:pPr marL="1155700" marR="160718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Named </a:t>
            </a:r>
            <a:r>
              <a:rPr sz="2400" spc="-5" dirty="0">
                <a:latin typeface="Carlito"/>
                <a:cs typeface="Carlito"/>
              </a:rPr>
              <a:t>place 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medium 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stored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66193" y="2096323"/>
            <a:ext cx="8034655" cy="3601720"/>
            <a:chOff x="366193" y="2096323"/>
            <a:chExt cx="8034655" cy="3601720"/>
          </a:xfrm>
        </p:grpSpPr>
        <p:sp>
          <p:nvSpPr>
            <p:cNvPr id="4" name="object 4"/>
            <p:cNvSpPr/>
            <p:nvPr/>
          </p:nvSpPr>
          <p:spPr>
            <a:xfrm>
              <a:off x="366193" y="2096323"/>
              <a:ext cx="8034099" cy="242241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84189" y="4509122"/>
              <a:ext cx="1631441" cy="11887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81620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Logical </a:t>
            </a: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>
              <a:latin typeface="Carlito"/>
              <a:cs typeface="Carlito"/>
            </a:endParaRPr>
          </a:p>
          <a:p>
            <a:pPr marL="1155700" marR="23495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Individuals view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document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5" dirty="0">
                <a:latin typeface="Carlito"/>
                <a:cs typeface="Carlito"/>
              </a:rPr>
              <a:t>complete  </a:t>
            </a:r>
            <a:r>
              <a:rPr sz="2400" spc="-5" dirty="0">
                <a:latin typeface="Carlito"/>
                <a:cs typeface="Carlito"/>
              </a:rPr>
              <a:t>unit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particular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particular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Physical </a:t>
            </a: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>
              <a:latin typeface="Carlito"/>
              <a:cs typeface="Carlito"/>
            </a:endParaRPr>
          </a:p>
          <a:p>
            <a:pPr marL="1155700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access a </a:t>
            </a:r>
            <a:r>
              <a:rPr sz="2400" spc="-5" dirty="0">
                <a:latin typeface="Carlito"/>
                <a:cs typeface="Carlito"/>
              </a:rPr>
              <a:t>particular </a:t>
            </a:r>
            <a:r>
              <a:rPr sz="2400" spc="-10" dirty="0">
                <a:latin typeface="Carlito"/>
                <a:cs typeface="Carlito"/>
              </a:rPr>
              <a:t>document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medium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its </a:t>
            </a:r>
            <a:r>
              <a:rPr sz="2400" spc="-15" dirty="0">
                <a:latin typeface="Carlito"/>
                <a:cs typeface="Carlito"/>
              </a:rPr>
              <a:t>physical </a:t>
            </a:r>
            <a:r>
              <a:rPr sz="2400" spc="-10" dirty="0">
                <a:latin typeface="Carlito"/>
                <a:cs typeface="Carlito"/>
              </a:rPr>
              <a:t>location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locations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5" dirty="0">
                <a:latin typeface="Carlito"/>
                <a:cs typeface="Carlito"/>
              </a:rPr>
              <a:t>Types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30" dirty="0">
                <a:latin typeface="Carlito"/>
                <a:cs typeface="Carlito"/>
              </a:rPr>
              <a:t>Technology</a:t>
            </a:r>
            <a:r>
              <a:rPr sz="2400" spc="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Magnetic </a:t>
            </a:r>
            <a:r>
              <a:rPr sz="2400" spc="-10" dirty="0">
                <a:latin typeface="Carlito"/>
                <a:cs typeface="Carlito"/>
              </a:rPr>
              <a:t>(conventional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drives)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Optical (optical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discs)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Electrons (flash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media)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114800" cy="44888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marR="10083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5" dirty="0">
                <a:latin typeface="Carlito"/>
                <a:cs typeface="Carlito"/>
              </a:rPr>
              <a:t>store </a:t>
            </a:r>
            <a:r>
              <a:rPr sz="2400" spc="-10" dirty="0">
                <a:latin typeface="Carlito"/>
                <a:cs typeface="Carlito"/>
              </a:rPr>
              <a:t>most 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0" dirty="0">
                <a:latin typeface="Carlito"/>
                <a:cs typeface="Carlito"/>
              </a:rPr>
              <a:t>internal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external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encrypted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Magnetic </a:t>
            </a:r>
            <a:r>
              <a:rPr sz="2400" spc="-10" dirty="0">
                <a:latin typeface="Carlito"/>
                <a:cs typeface="Carlito"/>
              </a:rPr>
              <a:t>Hard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One or </a:t>
            </a:r>
            <a:r>
              <a:rPr sz="2400" spc="-15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permanently  sealed </a:t>
            </a:r>
            <a:r>
              <a:rPr sz="2400" spc="-10" dirty="0">
                <a:latin typeface="Carlito"/>
                <a:cs typeface="Carlito"/>
              </a:rPr>
              <a:t>metal </a:t>
            </a:r>
            <a:r>
              <a:rPr sz="2400" dirty="0">
                <a:latin typeface="Carlito"/>
                <a:cs typeface="Carlito"/>
              </a:rPr>
              <a:t>magnetic  </a:t>
            </a:r>
            <a:r>
              <a:rPr sz="2400" spc="-10" dirty="0">
                <a:latin typeface="Carlito"/>
                <a:cs typeface="Carlito"/>
              </a:rPr>
              <a:t>disks </a:t>
            </a:r>
            <a:r>
              <a:rPr sz="2400" dirty="0">
                <a:latin typeface="Carlito"/>
                <a:cs typeface="Carlito"/>
              </a:rPr>
              <a:t>with an access  </a:t>
            </a:r>
            <a:r>
              <a:rPr sz="2400" spc="-5" dirty="0">
                <a:latin typeface="Carlito"/>
                <a:cs typeface="Carlito"/>
              </a:rPr>
              <a:t>mechanism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read/write  </a:t>
            </a:r>
            <a:r>
              <a:rPr sz="2400" spc="-5" dirty="0">
                <a:latin typeface="Carlito"/>
                <a:cs typeface="Carlito"/>
              </a:rPr>
              <a:t>heads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04053" y="1556766"/>
            <a:ext cx="3882644" cy="29967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79669" y="4764268"/>
            <a:ext cx="1502179" cy="1400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70148" y="1628775"/>
            <a:ext cx="7401139" cy="37938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66890" y="5727928"/>
            <a:ext cx="1276349" cy="552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60615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Hard disks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divided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into: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40" dirty="0">
                <a:latin typeface="Carlito"/>
                <a:cs typeface="Carlito"/>
              </a:rPr>
              <a:t>Tracks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Concentric </a:t>
            </a:r>
            <a:r>
              <a:rPr sz="2400" spc="-10" dirty="0">
                <a:latin typeface="Carlito"/>
                <a:cs typeface="Carlito"/>
              </a:rPr>
              <a:t>path on disk where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recorded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Sectors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small piece 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track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Clusters</a:t>
            </a:r>
            <a:endParaRPr sz="2400">
              <a:latin typeface="Carlito"/>
              <a:cs typeface="Carlito"/>
            </a:endParaRPr>
          </a:p>
          <a:p>
            <a:pPr marL="1155700" marR="116839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One or </a:t>
            </a:r>
            <a:r>
              <a:rPr sz="2400" spc="-15" dirty="0">
                <a:latin typeface="Carlito"/>
                <a:cs typeface="Carlito"/>
              </a:rPr>
              <a:t>more </a:t>
            </a:r>
            <a:r>
              <a:rPr sz="2400" spc="-10" dirty="0">
                <a:latin typeface="Carlito"/>
                <a:cs typeface="Carlito"/>
              </a:rPr>
              <a:t>sectors; smallest </a:t>
            </a:r>
            <a:r>
              <a:rPr sz="2400" spc="-5" dirty="0">
                <a:latin typeface="Carlito"/>
                <a:cs typeface="Carlito"/>
              </a:rPr>
              <a:t>addressable </a:t>
            </a:r>
            <a:r>
              <a:rPr sz="2400" spc="-10" dirty="0">
                <a:latin typeface="Carlito"/>
                <a:cs typeface="Carlito"/>
              </a:rPr>
              <a:t>area </a:t>
            </a:r>
            <a:r>
              <a:rPr sz="2400" spc="-5" dirty="0">
                <a:latin typeface="Carlito"/>
                <a:cs typeface="Carlito"/>
              </a:rPr>
              <a:t>of 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Cylinders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Collection of </a:t>
            </a:r>
            <a:r>
              <a:rPr sz="2400" spc="-15" dirty="0">
                <a:latin typeface="Carlito"/>
                <a:cs typeface="Carlito"/>
              </a:rPr>
              <a:t>tracks located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same </a:t>
            </a:r>
            <a:r>
              <a:rPr sz="2400" spc="-10" dirty="0">
                <a:latin typeface="Carlito"/>
                <a:cs typeface="Carlito"/>
              </a:rPr>
              <a:t>location </a:t>
            </a:r>
            <a:r>
              <a:rPr sz="2400" spc="-5" dirty="0">
                <a:latin typeface="Carlito"/>
                <a:cs typeface="Carlito"/>
              </a:rPr>
              <a:t>on 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set of </a:t>
            </a:r>
            <a:r>
              <a:rPr sz="2400" spc="-10" dirty="0">
                <a:latin typeface="Carlito"/>
                <a:cs typeface="Carlito"/>
              </a:rPr>
              <a:t>hard </a:t>
            </a:r>
            <a:r>
              <a:rPr sz="2400" spc="-5" dirty="0">
                <a:latin typeface="Carlito"/>
                <a:cs typeface="Carlito"/>
              </a:rPr>
              <a:t>disk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surfaces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250334" y="1687249"/>
            <a:ext cx="7139807" cy="4470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61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15" dirty="0"/>
              <a:t>How </a:t>
            </a:r>
            <a:r>
              <a:rPr sz="3600" spc="-415" dirty="0"/>
              <a:t>It </a:t>
            </a:r>
            <a:r>
              <a:rPr sz="3600" spc="-440" dirty="0"/>
              <a:t>Works</a:t>
            </a:r>
            <a:r>
              <a:rPr sz="3600" spc="-470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3974465" cy="3684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0" dirty="0">
                <a:latin typeface="Carlito"/>
                <a:cs typeface="Carlito"/>
              </a:rPr>
              <a:t>More </a:t>
            </a:r>
            <a:r>
              <a:rPr sz="2400" b="1" spc="-15" dirty="0">
                <a:latin typeface="Carlito"/>
                <a:cs typeface="Carlito"/>
              </a:rPr>
              <a:t>Storage for </a:t>
            </a:r>
            <a:r>
              <a:rPr sz="2400" b="1" spc="-50" dirty="0">
                <a:latin typeface="Carlito"/>
                <a:cs typeface="Carlito"/>
              </a:rPr>
              <a:t>Your</a:t>
            </a:r>
            <a:r>
              <a:rPr sz="2400" b="1" spc="-55" dirty="0">
                <a:latin typeface="Carlito"/>
                <a:cs typeface="Carlito"/>
              </a:rPr>
              <a:t> </a:t>
            </a:r>
            <a:r>
              <a:rPr sz="2400" b="1" spc="-35" dirty="0">
                <a:latin typeface="Carlito"/>
                <a:cs typeface="Carlito"/>
              </a:rPr>
              <a:t>Tablet</a:t>
            </a:r>
            <a:endParaRPr sz="2400">
              <a:latin typeface="Carlito"/>
              <a:cs typeface="Carlito"/>
            </a:endParaRPr>
          </a:p>
          <a:p>
            <a:pPr marL="756285" marR="1193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Media </a:t>
            </a:r>
            <a:r>
              <a:rPr sz="2400" spc="-5" dirty="0">
                <a:latin typeface="Carlito"/>
                <a:cs typeface="Carlito"/>
              </a:rPr>
              <a:t>tablets </a:t>
            </a:r>
            <a:r>
              <a:rPr sz="2400" spc="-10" dirty="0">
                <a:latin typeface="Carlito"/>
                <a:cs typeface="Carlito"/>
              </a:rPr>
              <a:t>often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have  </a:t>
            </a:r>
            <a:r>
              <a:rPr sz="2400" dirty="0">
                <a:latin typeface="Carlito"/>
                <a:cs typeface="Carlito"/>
              </a:rPr>
              <a:t>64 GB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756285" marR="356870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14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extend </a:t>
            </a:r>
            <a:r>
              <a:rPr sz="2400" spc="-20" dirty="0">
                <a:latin typeface="Carlito"/>
                <a:cs typeface="Carlito"/>
              </a:rPr>
              <a:t>storage, </a:t>
            </a:r>
            <a:r>
              <a:rPr sz="2400" spc="-10" dirty="0">
                <a:latin typeface="Carlito"/>
                <a:cs typeface="Carlito"/>
              </a:rPr>
              <a:t>can  </a:t>
            </a:r>
            <a:r>
              <a:rPr sz="2400" spc="-20" dirty="0">
                <a:latin typeface="Carlito"/>
                <a:cs typeface="Carlito"/>
              </a:rPr>
              <a:t>transfer </a:t>
            </a:r>
            <a:r>
              <a:rPr sz="2400" spc="-15" dirty="0">
                <a:latin typeface="Carlito"/>
                <a:cs typeface="Carlito"/>
              </a:rPr>
              <a:t>content to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5" dirty="0">
                <a:latin typeface="Carlito"/>
                <a:cs typeface="Carlito"/>
              </a:rPr>
              <a:t>from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PCs</a:t>
            </a:r>
            <a:endParaRPr sz="2400">
              <a:latin typeface="Carlito"/>
              <a:cs typeface="Carlito"/>
            </a:endParaRPr>
          </a:p>
          <a:p>
            <a:pPr marL="756285" marR="10477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Easier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wireless 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Need the </a:t>
            </a:r>
            <a:r>
              <a:rPr sz="2400" spc="-10" dirty="0">
                <a:latin typeface="Carlito"/>
                <a:cs typeface="Carlito"/>
              </a:rPr>
              <a:t>appropriate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app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32045" y="2636964"/>
            <a:ext cx="3850258" cy="34382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110354" cy="3244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Solid </a:t>
            </a:r>
            <a:r>
              <a:rPr sz="2400" spc="-20" dirty="0">
                <a:latin typeface="Carlito"/>
                <a:cs typeface="Carlito"/>
              </a:rPr>
              <a:t>State </a:t>
            </a:r>
            <a:r>
              <a:rPr sz="2400" spc="-10" dirty="0">
                <a:latin typeface="Carlito"/>
                <a:cs typeface="Carlito"/>
              </a:rPr>
              <a:t>Drives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(SSDs)</a:t>
            </a:r>
            <a:endParaRPr sz="2400">
              <a:latin typeface="Carlito"/>
              <a:cs typeface="Carlito"/>
            </a:endParaRPr>
          </a:p>
          <a:p>
            <a:pPr marL="756285" marR="11099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flash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  </a:t>
            </a:r>
            <a:r>
              <a:rPr sz="2400" spc="-5" dirty="0">
                <a:latin typeface="Carlito"/>
                <a:cs typeface="Carlito"/>
              </a:rPr>
              <a:t>technology</a:t>
            </a:r>
            <a:endParaRPr sz="2400">
              <a:latin typeface="Carlito"/>
              <a:cs typeface="Carlito"/>
            </a:endParaRPr>
          </a:p>
          <a:p>
            <a:pPr marL="756285" marR="29845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less </a:t>
            </a:r>
            <a:r>
              <a:rPr sz="2400" spc="-15" dirty="0">
                <a:latin typeface="Carlito"/>
                <a:cs typeface="Carlito"/>
              </a:rPr>
              <a:t>power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have  </a:t>
            </a:r>
            <a:r>
              <a:rPr sz="2400" spc="-5" dirty="0">
                <a:latin typeface="Carlito"/>
                <a:cs typeface="Carlito"/>
              </a:rPr>
              <a:t>no moving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parts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Particularly </a:t>
            </a:r>
            <a:r>
              <a:rPr sz="2400" spc="-10" dirty="0">
                <a:latin typeface="Carlito"/>
                <a:cs typeface="Carlito"/>
              </a:rPr>
              <a:t>appropriate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spc="-10" dirty="0">
                <a:latin typeface="Carlito"/>
                <a:cs typeface="Carlito"/>
              </a:rPr>
              <a:t>portable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 mobile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00543" y="1648869"/>
            <a:ext cx="3536802" cy="3291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15412" y="5188413"/>
            <a:ext cx="1366030" cy="5620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626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415" dirty="0"/>
              <a:t>Industry</a:t>
            </a:r>
            <a:r>
              <a:rPr sz="3600" spc="17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300595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5" dirty="0">
                <a:latin typeface="Carlito"/>
                <a:cs typeface="Carlito"/>
              </a:rPr>
              <a:t>Data </a:t>
            </a:r>
            <a:r>
              <a:rPr sz="2400" b="1" spc="-10" dirty="0">
                <a:latin typeface="Carlito"/>
                <a:cs typeface="Carlito"/>
              </a:rPr>
              <a:t>Recovery</a:t>
            </a:r>
            <a:r>
              <a:rPr sz="2400" b="1" spc="-15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Experts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spc="-15" dirty="0">
                <a:latin typeface="Carlito"/>
                <a:cs typeface="Carlito"/>
              </a:rPr>
              <a:t>recover data from </a:t>
            </a:r>
            <a:r>
              <a:rPr sz="2400" spc="-10" dirty="0">
                <a:latin typeface="Carlito"/>
                <a:cs typeface="Carlito"/>
              </a:rPr>
              <a:t>damaged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used when devices </a:t>
            </a:r>
            <a:r>
              <a:rPr sz="2400" spc="-15" dirty="0">
                <a:latin typeface="Carlito"/>
                <a:cs typeface="Carlito"/>
              </a:rPr>
              <a:t>are physically </a:t>
            </a:r>
            <a:r>
              <a:rPr sz="2400" spc="-10" dirty="0">
                <a:latin typeface="Carlito"/>
                <a:cs typeface="Carlito"/>
              </a:rPr>
              <a:t>damaged</a:t>
            </a:r>
            <a:r>
              <a:rPr sz="2400" spc="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or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just </a:t>
            </a:r>
            <a:r>
              <a:rPr sz="2400" spc="-15" dirty="0">
                <a:latin typeface="Carlito"/>
                <a:cs typeface="Carlito"/>
              </a:rPr>
              <a:t>stop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working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Back </a:t>
            </a:r>
            <a:r>
              <a:rPr sz="2400" spc="-5" dirty="0">
                <a:latin typeface="Carlito"/>
                <a:cs typeface="Carlito"/>
              </a:rPr>
              <a:t>up </a:t>
            </a:r>
            <a:r>
              <a:rPr sz="2400" spc="-15" dirty="0">
                <a:latin typeface="Carlito"/>
                <a:cs typeface="Carlito"/>
              </a:rPr>
              <a:t>to prevent data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loss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7627" y="3716972"/>
            <a:ext cx="6976109" cy="2609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649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Internal </a:t>
            </a:r>
            <a:r>
              <a:rPr sz="3600" spc="-405" dirty="0"/>
              <a:t>and </a:t>
            </a:r>
            <a:r>
              <a:rPr sz="3600" spc="-505" dirty="0"/>
              <a:t>External </a:t>
            </a:r>
            <a:r>
              <a:rPr sz="3600" spc="-409" dirty="0"/>
              <a:t>Hard</a:t>
            </a:r>
            <a:r>
              <a:rPr sz="3600" spc="-26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58125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Internal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Permanent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dirty="0">
                <a:latin typeface="Carlito"/>
                <a:cs typeface="Carlito"/>
              </a:rPr>
              <a:t>inside the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Removed </a:t>
            </a:r>
            <a:r>
              <a:rPr sz="2400" spc="-5" dirty="0">
                <a:latin typeface="Carlito"/>
                <a:cs typeface="Carlito"/>
              </a:rPr>
              <a:t>only </a:t>
            </a:r>
            <a:r>
              <a:rPr sz="2400" dirty="0">
                <a:latin typeface="Carlito"/>
                <a:cs typeface="Carlito"/>
              </a:rPr>
              <a:t>if a </a:t>
            </a:r>
            <a:r>
              <a:rPr sz="2400" spc="-10" dirty="0">
                <a:latin typeface="Carlito"/>
                <a:cs typeface="Carlito"/>
              </a:rPr>
              <a:t>problem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develops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External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marR="10795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Commonly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transport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10" dirty="0">
                <a:latin typeface="Carlito"/>
                <a:cs typeface="Carlito"/>
              </a:rPr>
              <a:t>amounts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from 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another</a:t>
            </a:r>
            <a:endParaRPr sz="2400">
              <a:latin typeface="Carlito"/>
              <a:cs typeface="Carlito"/>
            </a:endParaRPr>
          </a:p>
          <a:p>
            <a:pPr marL="756285" marR="40259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Portable </a:t>
            </a:r>
            <a:r>
              <a:rPr sz="2400" spc="-10" dirty="0">
                <a:latin typeface="Carlito"/>
                <a:cs typeface="Carlito"/>
              </a:rPr>
              <a:t>external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smaller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easier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10" dirty="0">
                <a:latin typeface="Carlito"/>
                <a:cs typeface="Carlito"/>
              </a:rPr>
              <a:t>transport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connect </a:t>
            </a:r>
            <a:r>
              <a:rPr sz="2400" dirty="0">
                <a:latin typeface="Carlito"/>
                <a:cs typeface="Carlito"/>
              </a:rPr>
              <a:t>with a USB </a:t>
            </a:r>
            <a:r>
              <a:rPr sz="2400" spc="-10" dirty="0">
                <a:latin typeface="Carlito"/>
                <a:cs typeface="Carlito"/>
              </a:rPr>
              <a:t>connection </a:t>
            </a:r>
            <a:r>
              <a:rPr sz="2400" spc="-5" dirty="0">
                <a:latin typeface="Carlito"/>
                <a:cs typeface="Carlito"/>
              </a:rPr>
              <a:t>although some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may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wireless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649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Internal </a:t>
            </a:r>
            <a:r>
              <a:rPr sz="3600" spc="-405" dirty="0"/>
              <a:t>and </a:t>
            </a:r>
            <a:r>
              <a:rPr sz="3600" spc="-505" dirty="0"/>
              <a:t>External </a:t>
            </a:r>
            <a:r>
              <a:rPr sz="3600" spc="-409" dirty="0"/>
              <a:t>Hard</a:t>
            </a:r>
            <a:r>
              <a:rPr sz="3600" spc="-26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50240" y="2227326"/>
            <a:ext cx="8140644" cy="23692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76345" y="4848225"/>
            <a:ext cx="1600200" cy="333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Hard </a:t>
            </a:r>
            <a:r>
              <a:rPr spc="-350" dirty="0"/>
              <a:t>Drive </a:t>
            </a:r>
            <a:r>
              <a:rPr spc="-405" dirty="0"/>
              <a:t>Speed, </a:t>
            </a:r>
            <a:r>
              <a:rPr spc="-425" dirty="0"/>
              <a:t>Disk </a:t>
            </a:r>
            <a:r>
              <a:rPr spc="-409" dirty="0"/>
              <a:t>Caching, </a:t>
            </a:r>
            <a:r>
              <a:rPr spc="-360" dirty="0"/>
              <a:t>and  </a:t>
            </a:r>
            <a:r>
              <a:rPr spc="-315" dirty="0"/>
              <a:t>Hybrid </a:t>
            </a:r>
            <a:r>
              <a:rPr spc="-365" dirty="0"/>
              <a:t>Hard</a:t>
            </a:r>
            <a:r>
              <a:rPr spc="-105" dirty="0"/>
              <a:t> </a:t>
            </a:r>
            <a:r>
              <a:rPr spc="-395" dirty="0"/>
              <a:t>Drives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5605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Disk </a:t>
            </a:r>
            <a:r>
              <a:rPr sz="2400" dirty="0">
                <a:latin typeface="Carlito"/>
                <a:cs typeface="Carlito"/>
              </a:rPr>
              <a:t>access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756285" marR="52514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5" dirty="0">
                <a:latin typeface="Carlito"/>
                <a:cs typeface="Carlito"/>
              </a:rPr>
              <a:t>Total </a:t>
            </a:r>
            <a:r>
              <a:rPr sz="2400" dirty="0">
                <a:latin typeface="Carlito"/>
                <a:cs typeface="Carlito"/>
              </a:rPr>
              <a:t>time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20" dirty="0">
                <a:latin typeface="Carlito"/>
                <a:cs typeface="Carlito"/>
              </a:rPr>
              <a:t>takes for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read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write 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marR="136842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Consists </a:t>
            </a:r>
            <a:r>
              <a:rPr sz="2400" spc="-5" dirty="0">
                <a:latin typeface="Carlito"/>
                <a:cs typeface="Carlito"/>
              </a:rPr>
              <a:t>of seek </a:t>
            </a:r>
            <a:r>
              <a:rPr sz="2400" dirty="0">
                <a:latin typeface="Carlito"/>
                <a:cs typeface="Carlito"/>
              </a:rPr>
              <a:t>time, </a:t>
            </a:r>
            <a:r>
              <a:rPr sz="2400" spc="-10" dirty="0">
                <a:latin typeface="Carlito"/>
                <a:cs typeface="Carlito"/>
              </a:rPr>
              <a:t>rotational </a:t>
            </a:r>
            <a:r>
              <a:rPr sz="2400" spc="-40" dirty="0">
                <a:latin typeface="Carlito"/>
                <a:cs typeface="Carlito"/>
              </a:rPr>
              <a:t>delay,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data  </a:t>
            </a:r>
            <a:r>
              <a:rPr sz="2400" spc="-10" dirty="0">
                <a:latin typeface="Carlito"/>
                <a:cs typeface="Carlito"/>
              </a:rPr>
              <a:t>movement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1156335" algn="l"/>
              </a:tabLst>
            </a:pPr>
            <a:r>
              <a:rPr sz="2400" spc="-385" dirty="0">
                <a:latin typeface="Arial"/>
                <a:cs typeface="Arial"/>
              </a:rPr>
              <a:t>SSDs </a:t>
            </a:r>
            <a:r>
              <a:rPr sz="2400" spc="-10" dirty="0">
                <a:latin typeface="Arial"/>
                <a:cs typeface="Arial"/>
              </a:rPr>
              <a:t>don’t </a:t>
            </a:r>
            <a:r>
              <a:rPr sz="2400" spc="-60" dirty="0">
                <a:latin typeface="Arial"/>
                <a:cs typeface="Arial"/>
              </a:rPr>
              <a:t>require </a:t>
            </a:r>
            <a:r>
              <a:rPr sz="2400" spc="-170" dirty="0">
                <a:latin typeface="Arial"/>
                <a:cs typeface="Arial"/>
              </a:rPr>
              <a:t>seek </a:t>
            </a:r>
            <a:r>
              <a:rPr sz="2400" spc="-20" dirty="0">
                <a:latin typeface="Arial"/>
                <a:cs typeface="Arial"/>
              </a:rPr>
              <a:t>time or </a:t>
            </a:r>
            <a:r>
              <a:rPr sz="2400" spc="-35" dirty="0">
                <a:latin typeface="Arial"/>
                <a:cs typeface="Arial"/>
              </a:rPr>
              <a:t>rotational</a:t>
            </a:r>
            <a:r>
              <a:rPr sz="2400" spc="-31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delays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Disk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cache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conjunction </a:t>
            </a:r>
            <a:r>
              <a:rPr sz="2400" dirty="0">
                <a:latin typeface="Carlito"/>
                <a:cs typeface="Carlito"/>
              </a:rPr>
              <a:t>with a magnetic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</a:t>
            </a:r>
            <a:r>
              <a:rPr sz="2400" spc="-15" dirty="0">
                <a:latin typeface="Carlito"/>
                <a:cs typeface="Carlito"/>
              </a:rPr>
              <a:t>to  improve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spc="-10" dirty="0">
                <a:latin typeface="Carlito"/>
                <a:cs typeface="Carlito"/>
              </a:rPr>
              <a:t> performance</a:t>
            </a:r>
            <a:endParaRPr sz="2400">
              <a:latin typeface="Carlito"/>
              <a:cs typeface="Carlito"/>
            </a:endParaRPr>
          </a:p>
          <a:p>
            <a:pPr marL="756285" marR="3873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  <a:tab pos="3188970" algn="l"/>
              </a:tabLst>
            </a:pPr>
            <a:r>
              <a:rPr sz="2400" spc="-15" dirty="0">
                <a:latin typeface="Carlito"/>
                <a:cs typeface="Carlito"/>
              </a:rPr>
              <a:t>Typically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consist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of	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circuit </a:t>
            </a:r>
            <a:r>
              <a:rPr sz="2400" spc="-15" dirty="0">
                <a:latin typeface="Carlito"/>
                <a:cs typeface="Carlito"/>
              </a:rPr>
              <a:t>board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inside  the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</a:t>
            </a:r>
            <a:r>
              <a:rPr sz="2400" spc="-5" dirty="0">
                <a:latin typeface="Carlito"/>
                <a:cs typeface="Carlito"/>
              </a:rPr>
              <a:t> case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Hard </a:t>
            </a:r>
            <a:r>
              <a:rPr spc="-350" dirty="0"/>
              <a:t>Drive </a:t>
            </a:r>
            <a:r>
              <a:rPr spc="-405" dirty="0"/>
              <a:t>Speed, </a:t>
            </a:r>
            <a:r>
              <a:rPr spc="-425" dirty="0"/>
              <a:t>Disk </a:t>
            </a:r>
            <a:r>
              <a:rPr spc="-409" dirty="0"/>
              <a:t>Caching, </a:t>
            </a:r>
            <a:r>
              <a:rPr spc="-360" dirty="0"/>
              <a:t>and  </a:t>
            </a:r>
            <a:r>
              <a:rPr spc="-315" dirty="0"/>
              <a:t>Hybrid </a:t>
            </a:r>
            <a:r>
              <a:rPr spc="-365" dirty="0"/>
              <a:t>Hard</a:t>
            </a:r>
            <a:r>
              <a:rPr spc="-105" dirty="0"/>
              <a:t> </a:t>
            </a:r>
            <a:r>
              <a:rPr spc="-395" dirty="0"/>
              <a:t>Drives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3689985" cy="3244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Hybrid </a:t>
            </a:r>
            <a:r>
              <a:rPr sz="2400" spc="-10" dirty="0">
                <a:latin typeface="Carlito"/>
                <a:cs typeface="Carlito"/>
              </a:rPr>
              <a:t>Hard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marR="13335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Combination of flash  </a:t>
            </a:r>
            <a:r>
              <a:rPr sz="2400" dirty="0">
                <a:latin typeface="Carlito"/>
                <a:cs typeface="Carlito"/>
              </a:rPr>
              <a:t>memory and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magnetic 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marR="14922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spc="-5" dirty="0">
                <a:latin typeface="Carlito"/>
                <a:cs typeface="Carlito"/>
              </a:rPr>
              <a:t>cache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dirty="0">
                <a:latin typeface="Carlito"/>
                <a:cs typeface="Carlito"/>
              </a:rPr>
              <a:t>encryption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1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  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16017" y="1556766"/>
            <a:ext cx="4065016" cy="3081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62313" y="4690044"/>
            <a:ext cx="1483554" cy="1557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Hard </a:t>
            </a:r>
            <a:r>
              <a:rPr spc="-350" dirty="0"/>
              <a:t>Drive </a:t>
            </a:r>
            <a:r>
              <a:rPr spc="-340" dirty="0"/>
              <a:t>Partitioning </a:t>
            </a:r>
            <a:r>
              <a:rPr spc="-360" dirty="0"/>
              <a:t>and </a:t>
            </a:r>
            <a:r>
              <a:rPr spc="-409" dirty="0"/>
              <a:t>File 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07655" cy="4342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Partitioning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Divides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physical </a:t>
            </a:r>
            <a:r>
              <a:rPr sz="2400" spc="-5" dirty="0">
                <a:latin typeface="Carlito"/>
                <a:cs typeface="Carlito"/>
              </a:rPr>
              <a:t>capacity of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 </a:t>
            </a:r>
            <a:r>
              <a:rPr sz="2400" spc="-10" dirty="0">
                <a:latin typeface="Carlito"/>
                <a:cs typeface="Carlito"/>
              </a:rPr>
              <a:t>drive </a:t>
            </a:r>
            <a:r>
              <a:rPr sz="2400" spc="-5" dirty="0">
                <a:latin typeface="Carlito"/>
                <a:cs typeface="Carlito"/>
              </a:rPr>
              <a:t>logically </a:t>
            </a:r>
            <a:r>
              <a:rPr sz="2400" spc="-15" dirty="0">
                <a:latin typeface="Carlito"/>
                <a:cs typeface="Carlito"/>
              </a:rPr>
              <a:t>into  separate </a:t>
            </a:r>
            <a:r>
              <a:rPr sz="2400" spc="-5" dirty="0">
                <a:latin typeface="Carlito"/>
                <a:cs typeface="Carlito"/>
              </a:rPr>
              <a:t>areas, called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partitions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Partitions </a:t>
            </a:r>
            <a:r>
              <a:rPr sz="2400" spc="-5" dirty="0">
                <a:latin typeface="Carlito"/>
                <a:cs typeface="Carlito"/>
              </a:rPr>
              <a:t>function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independent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Referred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logical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Increases </a:t>
            </a:r>
            <a:r>
              <a:rPr sz="2400" spc="-10" dirty="0">
                <a:latin typeface="Carlito"/>
                <a:cs typeface="Carlito"/>
              </a:rPr>
              <a:t>efficiency </a:t>
            </a:r>
            <a:r>
              <a:rPr sz="2400" spc="-5" dirty="0">
                <a:latin typeface="Carlito"/>
                <a:cs typeface="Carlito"/>
              </a:rPr>
              <a:t>(smaller </a:t>
            </a:r>
            <a:r>
              <a:rPr sz="2400" spc="-10" dirty="0">
                <a:latin typeface="Carlito"/>
                <a:cs typeface="Carlito"/>
              </a:rPr>
              <a:t>drives </a:t>
            </a:r>
            <a:r>
              <a:rPr sz="2400" spc="-5" dirty="0">
                <a:latin typeface="Carlito"/>
                <a:cs typeface="Carlito"/>
              </a:rPr>
              <a:t>use smaller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clusters)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Partitions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create: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recovery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partition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new </a:t>
            </a:r>
            <a:r>
              <a:rPr sz="2400" spc="-5" dirty="0">
                <a:latin typeface="Carlito"/>
                <a:cs typeface="Carlito"/>
              </a:rPr>
              <a:t>logical </a:t>
            </a:r>
            <a:r>
              <a:rPr sz="2400" spc="-10" dirty="0">
                <a:latin typeface="Carlito"/>
                <a:cs typeface="Carlito"/>
              </a:rPr>
              <a:t>drive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dual </a:t>
            </a:r>
            <a:r>
              <a:rPr sz="2400" spc="-10" dirty="0">
                <a:latin typeface="Carlito"/>
                <a:cs typeface="Carlito"/>
              </a:rPr>
              <a:t>boot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Hard </a:t>
            </a:r>
            <a:r>
              <a:rPr spc="-350" dirty="0"/>
              <a:t>Drive </a:t>
            </a:r>
            <a:r>
              <a:rPr spc="-340" dirty="0"/>
              <a:t>Partitioning </a:t>
            </a:r>
            <a:r>
              <a:rPr spc="-360" dirty="0"/>
              <a:t>and </a:t>
            </a:r>
            <a:r>
              <a:rPr spc="-409" dirty="0"/>
              <a:t>File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25434" cy="17087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Determines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partition </a:t>
            </a:r>
            <a:r>
              <a:rPr sz="2400" spc="-15" dirty="0">
                <a:latin typeface="Carlito"/>
                <a:cs typeface="Carlito"/>
              </a:rPr>
              <a:t>size, </a:t>
            </a:r>
            <a:r>
              <a:rPr sz="2400" spc="-10" dirty="0">
                <a:latin typeface="Carlito"/>
                <a:cs typeface="Carlito"/>
              </a:rPr>
              <a:t>cluster </a:t>
            </a:r>
            <a:r>
              <a:rPr sz="2400" spc="-15" dirty="0">
                <a:latin typeface="Carlito"/>
                <a:cs typeface="Carlito"/>
              </a:rPr>
              <a:t>size, </a:t>
            </a:r>
            <a:r>
              <a:rPr sz="2400" spc="-5" dirty="0">
                <a:latin typeface="Carlito"/>
                <a:cs typeface="Carlito"/>
              </a:rPr>
              <a:t>maximum </a:t>
            </a:r>
            <a:r>
              <a:rPr sz="2400" spc="-10" dirty="0">
                <a:latin typeface="Carlito"/>
                <a:cs typeface="Carlito"/>
              </a:rPr>
              <a:t>drive  </a:t>
            </a:r>
            <a:r>
              <a:rPr sz="2400" spc="-15" dirty="0">
                <a:latin typeface="Carlito"/>
                <a:cs typeface="Carlito"/>
              </a:rPr>
              <a:t>size,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maximum </a:t>
            </a: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size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45" dirty="0">
                <a:latin typeface="Carlito"/>
                <a:cs typeface="Carlito"/>
              </a:rPr>
              <a:t>FAT, </a:t>
            </a:r>
            <a:r>
              <a:rPr sz="2400" spc="-60" dirty="0">
                <a:latin typeface="Carlito"/>
                <a:cs typeface="Carlito"/>
              </a:rPr>
              <a:t>FAT32,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1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NTFS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3609" y="3284982"/>
            <a:ext cx="5800725" cy="2390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51297" y="3625524"/>
            <a:ext cx="1687710" cy="15301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209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 </a:t>
            </a:r>
            <a:r>
              <a:rPr sz="3600" spc="-395" dirty="0"/>
              <a:t>Drive </a:t>
            </a:r>
            <a:r>
              <a:rPr sz="3600" spc="-465" dirty="0"/>
              <a:t>Interface</a:t>
            </a:r>
            <a:r>
              <a:rPr sz="3600" spc="110" dirty="0"/>
              <a:t> </a:t>
            </a:r>
            <a:r>
              <a:rPr sz="3600" spc="-465" dirty="0"/>
              <a:t>Standards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460490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Determine </a:t>
            </a:r>
            <a:r>
              <a:rPr sz="2400" spc="-10" dirty="0">
                <a:latin typeface="Carlito"/>
                <a:cs typeface="Carlito"/>
              </a:rPr>
              <a:t>how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drive connects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Common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standards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Parallel </a:t>
            </a:r>
            <a:r>
              <a:rPr sz="2400" spc="-130" dirty="0">
                <a:latin typeface="Carlito"/>
                <a:cs typeface="Carlito"/>
              </a:rPr>
              <a:t>ATA </a:t>
            </a:r>
            <a:r>
              <a:rPr sz="2400" spc="-100" dirty="0">
                <a:latin typeface="Carlito"/>
                <a:cs typeface="Carlito"/>
              </a:rPr>
              <a:t>(PATA)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40" dirty="0">
                <a:latin typeface="Carlito"/>
                <a:cs typeface="Carlito"/>
              </a:rPr>
              <a:t>older, </a:t>
            </a:r>
            <a:r>
              <a:rPr sz="2400" spc="-10" dirty="0">
                <a:latin typeface="Carlito"/>
                <a:cs typeface="Carlito"/>
              </a:rPr>
              <a:t>slower</a:t>
            </a:r>
            <a:r>
              <a:rPr sz="2400" spc="2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standard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Serial </a:t>
            </a:r>
            <a:r>
              <a:rPr sz="2400" spc="-130" dirty="0">
                <a:latin typeface="Carlito"/>
                <a:cs typeface="Carlito"/>
              </a:rPr>
              <a:t>ATA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70" dirty="0">
                <a:latin typeface="Carlito"/>
                <a:cs typeface="Carlito"/>
              </a:rPr>
              <a:t>(SATA)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80" dirty="0">
                <a:latin typeface="Carlito"/>
                <a:cs typeface="Carlito"/>
              </a:rPr>
              <a:t>eSATA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SCSI </a:t>
            </a:r>
            <a:r>
              <a:rPr sz="2400" dirty="0">
                <a:latin typeface="Carlito"/>
                <a:cs typeface="Carlito"/>
              </a:rPr>
              <a:t>and the </a:t>
            </a:r>
            <a:r>
              <a:rPr sz="2400" spc="-10" dirty="0">
                <a:latin typeface="Carlito"/>
                <a:cs typeface="Carlito"/>
              </a:rPr>
              <a:t>newer </a:t>
            </a:r>
            <a:r>
              <a:rPr sz="2400" spc="-5" dirty="0">
                <a:latin typeface="Carlito"/>
                <a:cs typeface="Carlito"/>
              </a:rPr>
              <a:t>serial </a:t>
            </a:r>
            <a:r>
              <a:rPr sz="2400" spc="-15" dirty="0">
                <a:latin typeface="Carlito"/>
                <a:cs typeface="Carlito"/>
              </a:rPr>
              <a:t>attached </a:t>
            </a:r>
            <a:r>
              <a:rPr sz="2400" spc="-5" dirty="0">
                <a:latin typeface="Carlito"/>
                <a:cs typeface="Carlito"/>
              </a:rPr>
              <a:t>SCSI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(SAS)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Fibre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Channel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Fibre </a:t>
            </a:r>
            <a:r>
              <a:rPr sz="2400" spc="-5" dirty="0">
                <a:latin typeface="Carlito"/>
                <a:cs typeface="Carlito"/>
              </a:rPr>
              <a:t>Channel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spc="-5" dirty="0">
                <a:latin typeface="Carlito"/>
                <a:cs typeface="Carlito"/>
              </a:rPr>
              <a:t>Ethernet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(FCoE)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5" dirty="0">
                <a:latin typeface="Carlito"/>
                <a:cs typeface="Carlito"/>
              </a:rPr>
              <a:t>SCSI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(iSCSI)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70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4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91475" cy="375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Optical </a:t>
            </a:r>
            <a:r>
              <a:rPr sz="2400" spc="-5" dirty="0">
                <a:latin typeface="Carlito"/>
                <a:cs typeface="Carlito"/>
              </a:rPr>
              <a:t>Disc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Characteristics</a:t>
            </a:r>
            <a:endParaRPr sz="2400">
              <a:latin typeface="Carlito"/>
              <a:cs typeface="Carlito"/>
            </a:endParaRPr>
          </a:p>
          <a:p>
            <a:pPr marL="756285" marR="61785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type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10" dirty="0">
                <a:latin typeface="Carlito"/>
                <a:cs typeface="Carlito"/>
              </a:rPr>
              <a:t>read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laser  </a:t>
            </a:r>
            <a:r>
              <a:rPr sz="2400" spc="-5" dirty="0">
                <a:latin typeface="Carlito"/>
                <a:cs typeface="Carlito"/>
              </a:rPr>
              <a:t>beams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185" dirty="0">
                <a:latin typeface="Arial"/>
                <a:cs typeface="Arial"/>
              </a:rPr>
              <a:t>Today’s </a:t>
            </a:r>
            <a:r>
              <a:rPr sz="2400" spc="-100" dirty="0">
                <a:latin typeface="Arial"/>
                <a:cs typeface="Arial"/>
              </a:rPr>
              <a:t>standard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70" dirty="0">
                <a:latin typeface="Arial"/>
                <a:cs typeface="Arial"/>
              </a:rPr>
              <a:t>software</a:t>
            </a:r>
            <a:r>
              <a:rPr sz="2400" spc="-229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delivery</a:t>
            </a:r>
            <a:endParaRPr sz="2400">
              <a:latin typeface="Arial"/>
              <a:cs typeface="Arial"/>
            </a:endParaRPr>
          </a:p>
          <a:p>
            <a:pPr marL="756285" marR="44005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Divided </a:t>
            </a:r>
            <a:r>
              <a:rPr sz="2400" spc="-15" dirty="0">
                <a:latin typeface="Carlito"/>
                <a:cs typeface="Carlito"/>
              </a:rPr>
              <a:t>into sectors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dirty="0">
                <a:latin typeface="Carlito"/>
                <a:cs typeface="Carlito"/>
              </a:rPr>
              <a:t>magnetic </a:t>
            </a:r>
            <a:r>
              <a:rPr sz="2400" spc="-5" dirty="0">
                <a:latin typeface="Carlito"/>
                <a:cs typeface="Carlito"/>
              </a:rPr>
              <a:t>discs but 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  </a:t>
            </a:r>
            <a:r>
              <a:rPr sz="2400" spc="-15" dirty="0">
                <a:latin typeface="Carlito"/>
                <a:cs typeface="Carlito"/>
              </a:rPr>
              <a:t>spiral </a:t>
            </a:r>
            <a:r>
              <a:rPr sz="2400" spc="-10" dirty="0">
                <a:latin typeface="Carlito"/>
                <a:cs typeface="Carlito"/>
              </a:rPr>
              <a:t>track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(groove)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relatively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5" dirty="0">
                <a:latin typeface="Carlito"/>
                <a:cs typeface="Carlito"/>
              </a:rPr>
              <a:t>capacity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durable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spc="-5" dirty="0">
                <a:latin typeface="Carlito"/>
                <a:cs typeface="Carlito"/>
              </a:rPr>
              <a:t>purposes and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5" dirty="0">
                <a:latin typeface="Carlito"/>
                <a:cs typeface="Carlito"/>
              </a:rPr>
              <a:t>storing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transporting  </a:t>
            </a:r>
            <a:r>
              <a:rPr sz="2400" dirty="0">
                <a:latin typeface="Carlito"/>
                <a:cs typeface="Carlito"/>
              </a:rPr>
              <a:t>music, </a:t>
            </a:r>
            <a:r>
              <a:rPr sz="2400" spc="-10" dirty="0">
                <a:latin typeface="Carlito"/>
                <a:cs typeface="Carlito"/>
              </a:rPr>
              <a:t>photos, video,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10830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Representing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Optical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Read-only optical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Surface </a:t>
            </a:r>
            <a:r>
              <a:rPr sz="2400" spc="-5" dirty="0">
                <a:latin typeface="Carlito"/>
                <a:cs typeface="Carlito"/>
              </a:rPr>
              <a:t>of disc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molded or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stamped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Recordable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rewritable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</a:t>
            </a:r>
            <a:endParaRPr sz="2400">
              <a:latin typeface="Carlito"/>
              <a:cs typeface="Carlito"/>
            </a:endParaRPr>
          </a:p>
          <a:p>
            <a:pPr marL="1155700" marR="25717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Optical drive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and the </a:t>
            </a:r>
            <a:r>
              <a:rPr sz="2400" spc="-10" dirty="0">
                <a:latin typeface="Carlito"/>
                <a:cs typeface="Carlito"/>
              </a:rPr>
              <a:t>reflectivity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disc </a:t>
            </a:r>
            <a:r>
              <a:rPr sz="2400" dirty="0">
                <a:latin typeface="Carlito"/>
                <a:cs typeface="Carlito"/>
              </a:rPr>
              <a:t>is  </a:t>
            </a:r>
            <a:r>
              <a:rPr sz="2400" spc="-5" dirty="0">
                <a:latin typeface="Carlito"/>
                <a:cs typeface="Carlito"/>
              </a:rPr>
              <a:t>changed using </a:t>
            </a:r>
            <a:r>
              <a:rPr sz="2400" dirty="0">
                <a:latin typeface="Carlito"/>
                <a:cs typeface="Carlito"/>
              </a:rPr>
              <a:t>a laser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Pits and lands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 </a:t>
            </a:r>
            <a:r>
              <a:rPr sz="2400" dirty="0">
                <a:latin typeface="Carlito"/>
                <a:cs typeface="Carlito"/>
              </a:rPr>
              <a:t>1s and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0s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transition between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pit </a:t>
            </a:r>
            <a:r>
              <a:rPr sz="2400" dirty="0">
                <a:latin typeface="Carlito"/>
                <a:cs typeface="Carlito"/>
              </a:rPr>
              <a:t>and a land </a:t>
            </a:r>
            <a:r>
              <a:rPr sz="2400" spc="-10" dirty="0">
                <a:latin typeface="Carlito"/>
                <a:cs typeface="Carlito"/>
              </a:rPr>
              <a:t>represents </a:t>
            </a:r>
            <a:r>
              <a:rPr sz="2400" dirty="0">
                <a:latin typeface="Carlito"/>
                <a:cs typeface="Carlito"/>
              </a:rPr>
              <a:t>a 1;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no  </a:t>
            </a:r>
            <a:r>
              <a:rPr sz="2400" spc="-10" dirty="0">
                <a:latin typeface="Carlito"/>
                <a:cs typeface="Carlito"/>
              </a:rPr>
              <a:t>transition represents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0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083536" y="1716639"/>
            <a:ext cx="5701580" cy="4439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58406" y="1820417"/>
            <a:ext cx="1419225" cy="581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72375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Optical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Three </a:t>
            </a:r>
            <a:r>
              <a:rPr sz="2400" spc="-15" dirty="0">
                <a:latin typeface="Carlito"/>
                <a:cs typeface="Carlito"/>
              </a:rPr>
              <a:t>categories </a:t>
            </a:r>
            <a:r>
              <a:rPr sz="2400" spc="-5" dirty="0">
                <a:latin typeface="Carlito"/>
                <a:cs typeface="Carlito"/>
              </a:rPr>
              <a:t>of discs: </a:t>
            </a:r>
            <a:r>
              <a:rPr sz="2400" spc="-25" dirty="0">
                <a:latin typeface="Carlito"/>
                <a:cs typeface="Carlito"/>
              </a:rPr>
              <a:t>CD, DVD, </a:t>
            </a:r>
            <a:r>
              <a:rPr sz="2400" spc="-5" dirty="0">
                <a:latin typeface="Carlito"/>
                <a:cs typeface="Carlito"/>
              </a:rPr>
              <a:t>or Blu-Ray Disc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(BD)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25" dirty="0">
                <a:latin typeface="Carlito"/>
                <a:cs typeface="Carlito"/>
              </a:rPr>
              <a:t>read-only, </a:t>
            </a:r>
            <a:r>
              <a:rPr sz="2400" spc="-15" dirty="0">
                <a:latin typeface="Carlito"/>
                <a:cs typeface="Carlito"/>
              </a:rPr>
              <a:t>recordable,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rewritable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Almost </a:t>
            </a:r>
            <a:r>
              <a:rPr sz="2400" spc="-20" dirty="0">
                <a:latin typeface="Carlito"/>
                <a:cs typeface="Carlito"/>
              </a:rPr>
              <a:t>always </a:t>
            </a:r>
            <a:r>
              <a:rPr sz="2400" spc="-15" dirty="0">
                <a:latin typeface="Carlito"/>
                <a:cs typeface="Carlito"/>
              </a:rPr>
              <a:t>downward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compatible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support single or dual </a:t>
            </a:r>
            <a:r>
              <a:rPr sz="2400" spc="-15" dirty="0">
                <a:latin typeface="Carlito"/>
                <a:cs typeface="Carlito"/>
              </a:rPr>
              <a:t>layer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Recording data onto </a:t>
            </a:r>
            <a:r>
              <a:rPr sz="2400" spc="-10" dirty="0">
                <a:latin typeface="Carlito"/>
                <a:cs typeface="Carlito"/>
              </a:rPr>
              <a:t>disc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called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burning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0" dirty="0">
                <a:latin typeface="Carlito"/>
                <a:cs typeface="Carlito"/>
              </a:rPr>
              <a:t>internal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external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1155700" marR="2439035" lvl="2" indent="-228600">
              <a:lnSpc>
                <a:spcPct val="120000"/>
              </a:lnSpc>
              <a:spcBef>
                <a:spcPts val="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External </a:t>
            </a:r>
            <a:r>
              <a:rPr sz="2400" spc="-10" dirty="0">
                <a:latin typeface="Carlito"/>
                <a:cs typeface="Carlito"/>
              </a:rPr>
              <a:t>drives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spc="-10" dirty="0">
                <a:latin typeface="Carlito"/>
                <a:cs typeface="Carlito"/>
              </a:rPr>
              <a:t>connect  </a:t>
            </a:r>
            <a:r>
              <a:rPr sz="2400" dirty="0">
                <a:latin typeface="Carlito"/>
                <a:cs typeface="Carlito"/>
              </a:rPr>
              <a:t>via USB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56197" y="4221149"/>
            <a:ext cx="2598674" cy="2257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08342" y="2793830"/>
            <a:ext cx="1224140" cy="11532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66380" cy="3025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Optical </a:t>
            </a:r>
            <a:r>
              <a:rPr sz="2400" spc="-5" dirty="0">
                <a:latin typeface="Carlito"/>
                <a:cs typeface="Carlito"/>
              </a:rPr>
              <a:t>Disc Shapes, </a:t>
            </a:r>
            <a:r>
              <a:rPr sz="2400" spc="-15" dirty="0">
                <a:latin typeface="Carlito"/>
                <a:cs typeface="Carlito"/>
              </a:rPr>
              <a:t>Sizes,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Capacities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Standard </a:t>
            </a:r>
            <a:r>
              <a:rPr sz="2400" spc="-20" dirty="0">
                <a:latin typeface="Carlito"/>
                <a:cs typeface="Carlito"/>
              </a:rPr>
              <a:t>size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120-mm (about 4.7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inches)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Mini </a:t>
            </a:r>
            <a:r>
              <a:rPr sz="2400" spc="-5" dirty="0">
                <a:latin typeface="Carlito"/>
                <a:cs typeface="Carlito"/>
              </a:rPr>
              <a:t>discs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smaller</a:t>
            </a:r>
            <a:r>
              <a:rPr sz="2400" spc="-20" dirty="0">
                <a:latin typeface="Arial"/>
                <a:cs typeface="Arial"/>
              </a:rPr>
              <a:t>—</a:t>
            </a:r>
            <a:r>
              <a:rPr sz="2400" spc="-20" dirty="0">
                <a:latin typeface="Carlito"/>
                <a:cs typeface="Carlito"/>
              </a:rPr>
              <a:t>80-mm</a:t>
            </a:r>
            <a:endParaRPr sz="2400">
              <a:latin typeface="Carlito"/>
              <a:cs typeface="Carlito"/>
            </a:endParaRPr>
          </a:p>
          <a:p>
            <a:pPr marL="756285" marR="2717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Theoretically 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10" dirty="0">
                <a:latin typeface="Carlito"/>
                <a:cs typeface="Carlito"/>
              </a:rPr>
              <a:t>various </a:t>
            </a:r>
            <a:r>
              <a:rPr sz="2400" spc="-20" dirty="0">
                <a:latin typeface="Carlito"/>
                <a:cs typeface="Carlito"/>
              </a:rPr>
              <a:t>shapes</a:t>
            </a:r>
            <a:r>
              <a:rPr sz="2400" spc="-20" dirty="0">
                <a:latin typeface="Arial"/>
                <a:cs typeface="Arial"/>
              </a:rPr>
              <a:t>—</a:t>
            </a:r>
            <a:r>
              <a:rPr sz="2400" spc="-20" dirty="0">
                <a:latin typeface="Carlito"/>
                <a:cs typeface="Carlito"/>
              </a:rPr>
              <a:t>hearts,  </a:t>
            </a:r>
            <a:r>
              <a:rPr sz="2400" spc="-5" dirty="0">
                <a:latin typeface="Carlito"/>
                <a:cs typeface="Carlito"/>
              </a:rPr>
              <a:t>triangles, irregular shapes, 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hockey-rink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shape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5" dirty="0">
                <a:latin typeface="Carlito"/>
                <a:cs typeface="Carlito"/>
              </a:rPr>
              <a:t>Patent </a:t>
            </a:r>
            <a:r>
              <a:rPr sz="2400" spc="-15" dirty="0">
                <a:latin typeface="Carlito"/>
                <a:cs typeface="Carlito"/>
              </a:rPr>
              <a:t>battle exists </a:t>
            </a:r>
            <a:r>
              <a:rPr sz="2400" spc="-5" dirty="0">
                <a:latin typeface="Carlito"/>
                <a:cs typeface="Carlito"/>
              </a:rPr>
              <a:t>about </a:t>
            </a:r>
            <a:r>
              <a:rPr sz="2400" dirty="0">
                <a:latin typeface="Carlito"/>
                <a:cs typeface="Carlito"/>
              </a:rPr>
              <a:t>changing </a:t>
            </a:r>
            <a:r>
              <a:rPr sz="2400" spc="-10" dirty="0">
                <a:latin typeface="Carlito"/>
                <a:cs typeface="Carlito"/>
              </a:rPr>
              <a:t>optical </a:t>
            </a:r>
            <a:r>
              <a:rPr sz="2400" spc="-5" dirty="0">
                <a:latin typeface="Carlito"/>
                <a:cs typeface="Carlito"/>
              </a:rPr>
              <a:t>disc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shapes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None of </a:t>
            </a:r>
            <a:r>
              <a:rPr sz="2400" dirty="0">
                <a:latin typeface="Carlito"/>
                <a:cs typeface="Carlito"/>
              </a:rPr>
              <a:t>these </a:t>
            </a: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5" dirty="0">
                <a:latin typeface="Carlito"/>
                <a:cs typeface="Carlito"/>
              </a:rPr>
              <a:t>shapes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currently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available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0892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Major </a:t>
            </a:r>
            <a:r>
              <a:rPr sz="2400" spc="-15" dirty="0">
                <a:latin typeface="Carlito"/>
                <a:cs typeface="Carlito"/>
              </a:rPr>
              <a:t>advantage: large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capacity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CD discs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normally single </a:t>
            </a:r>
            <a:r>
              <a:rPr sz="2400" spc="-15" dirty="0">
                <a:latin typeface="Carlito"/>
                <a:cs typeface="Carlito"/>
              </a:rPr>
              <a:t>layer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hold 650 or 700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MB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DVD </a:t>
            </a:r>
            <a:r>
              <a:rPr sz="2400" spc="-5" dirty="0">
                <a:latin typeface="Carlito"/>
                <a:cs typeface="Carlito"/>
              </a:rPr>
              <a:t>discs hold 4.7 </a:t>
            </a:r>
            <a:r>
              <a:rPr sz="2400" dirty="0">
                <a:latin typeface="Carlito"/>
                <a:cs typeface="Carlito"/>
              </a:rPr>
              <a:t>GB </a:t>
            </a:r>
            <a:r>
              <a:rPr sz="2400" spc="-10" dirty="0">
                <a:latin typeface="Carlito"/>
                <a:cs typeface="Carlito"/>
              </a:rPr>
              <a:t>(single-layer) </a:t>
            </a:r>
            <a:r>
              <a:rPr sz="2400" spc="-5" dirty="0">
                <a:latin typeface="Carlito"/>
                <a:cs typeface="Carlito"/>
              </a:rPr>
              <a:t>or 8.5 </a:t>
            </a:r>
            <a:r>
              <a:rPr sz="2400" dirty="0">
                <a:latin typeface="Carlito"/>
                <a:cs typeface="Carlito"/>
              </a:rPr>
              <a:t>GB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(dual-layer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BD </a:t>
            </a:r>
            <a:r>
              <a:rPr sz="2400" spc="-5" dirty="0">
                <a:latin typeface="Carlito"/>
                <a:cs typeface="Carlito"/>
              </a:rPr>
              <a:t>discs hold </a:t>
            </a:r>
            <a:r>
              <a:rPr sz="2400" dirty="0">
                <a:latin typeface="Carlito"/>
                <a:cs typeface="Carlito"/>
              </a:rPr>
              <a:t>25 GB </a:t>
            </a:r>
            <a:r>
              <a:rPr sz="2400" spc="-10" dirty="0">
                <a:latin typeface="Carlito"/>
                <a:cs typeface="Carlito"/>
              </a:rPr>
              <a:t>(single-layer)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50 GB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(dual-layer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Discs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double-sided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Researchers </a:t>
            </a:r>
            <a:r>
              <a:rPr sz="2400" spc="-5" dirty="0">
                <a:latin typeface="Carlito"/>
                <a:cs typeface="Carlito"/>
              </a:rPr>
              <a:t>continually </a:t>
            </a:r>
            <a:r>
              <a:rPr sz="2400" spc="-10" dirty="0">
                <a:latin typeface="Carlito"/>
                <a:cs typeface="Carlito"/>
              </a:rPr>
              <a:t>work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increase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capacity of </a:t>
            </a:r>
            <a:r>
              <a:rPr sz="2400" spc="-10" dirty="0">
                <a:latin typeface="Carlito"/>
                <a:cs typeface="Carlito"/>
              </a:rPr>
              <a:t>optical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XL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4K </a:t>
            </a:r>
            <a:r>
              <a:rPr sz="2400" spc="-15" dirty="0">
                <a:latin typeface="Carlito"/>
                <a:cs typeface="Carlito"/>
              </a:rPr>
              <a:t>(Ultra </a:t>
            </a:r>
            <a:r>
              <a:rPr sz="2400" spc="-5" dirty="0">
                <a:latin typeface="Carlito"/>
                <a:cs typeface="Carlito"/>
              </a:rPr>
              <a:t>HD) </a:t>
            </a:r>
            <a:r>
              <a:rPr sz="2400" spc="-15" dirty="0">
                <a:latin typeface="Carlito"/>
                <a:cs typeface="Carlito"/>
              </a:rPr>
              <a:t>Blu-ray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72225" y="3366211"/>
            <a:ext cx="2404872" cy="29674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79603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63774" y="1953104"/>
            <a:ext cx="7753394" cy="3275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226" y="5401792"/>
            <a:ext cx="1847850" cy="657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73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60" dirty="0"/>
              <a:t>Read-Only </a:t>
            </a:r>
            <a:r>
              <a:rPr sz="3600" spc="-420" dirty="0"/>
              <a:t>Optical</a:t>
            </a:r>
            <a:r>
              <a:rPr sz="3600" spc="-100" dirty="0"/>
              <a:t> </a:t>
            </a:r>
            <a:r>
              <a:rPr sz="3600" spc="-545" dirty="0"/>
              <a:t>Discs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62520" cy="44526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CD </a:t>
            </a:r>
            <a:r>
              <a:rPr sz="2400" spc="-10" dirty="0">
                <a:latin typeface="Carlito"/>
                <a:cs typeface="Carlito"/>
              </a:rPr>
              <a:t>ROM, DVD ROM,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BD-ROM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0" dirty="0">
                <a:latin typeface="Carlito"/>
                <a:cs typeface="Carlito"/>
              </a:rPr>
              <a:t>read </a:t>
            </a:r>
            <a:r>
              <a:rPr sz="2400" spc="-15" dirty="0">
                <a:latin typeface="Carlito"/>
                <a:cs typeface="Carlito"/>
              </a:rPr>
              <a:t>from, </a:t>
            </a:r>
            <a:r>
              <a:rPr sz="2400" spc="-5" dirty="0">
                <a:latin typeface="Carlito"/>
                <a:cs typeface="Carlito"/>
              </a:rPr>
              <a:t>but not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spc="-30" dirty="0">
                <a:latin typeface="Carlito"/>
                <a:cs typeface="Carlito"/>
              </a:rPr>
              <a:t>to,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user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CD-ROM (compact </a:t>
            </a:r>
            <a:r>
              <a:rPr sz="2400" spc="-5" dirty="0">
                <a:latin typeface="Carlito"/>
                <a:cs typeface="Carlito"/>
              </a:rPr>
              <a:t>disc read-only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DVD-ROM (digital versatile </a:t>
            </a:r>
            <a:r>
              <a:rPr sz="2400" spc="-5" dirty="0">
                <a:latin typeface="Carlito"/>
                <a:cs typeface="Carlito"/>
              </a:rPr>
              <a:t>disc read-only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BD-ROM (Blu-Ray </a:t>
            </a:r>
            <a:r>
              <a:rPr sz="2400" spc="-5" dirty="0">
                <a:latin typeface="Carlito"/>
                <a:cs typeface="Carlito"/>
              </a:rPr>
              <a:t>Disc read-only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Normally </a:t>
            </a:r>
            <a:r>
              <a:rPr sz="2400" spc="-10" dirty="0">
                <a:latin typeface="Carlito"/>
                <a:cs typeface="Carlito"/>
              </a:rPr>
              <a:t>come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pre-recorded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Software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Clip </a:t>
            </a:r>
            <a:r>
              <a:rPr sz="2400" dirty="0">
                <a:latin typeface="Carlito"/>
                <a:cs typeface="Carlito"/>
              </a:rPr>
              <a:t>art and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graphics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Music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Movies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Games </a:t>
            </a:r>
            <a:r>
              <a:rPr sz="2400" spc="-10" dirty="0">
                <a:latin typeface="Carlito"/>
                <a:cs typeface="Carlito"/>
              </a:rPr>
              <a:t>(PlayStation, </a:t>
            </a:r>
            <a:r>
              <a:rPr sz="2400" dirty="0">
                <a:latin typeface="Carlito"/>
                <a:cs typeface="Carlito"/>
              </a:rPr>
              <a:t>Wii, </a:t>
            </a:r>
            <a:r>
              <a:rPr sz="2400" spc="-15" dirty="0">
                <a:latin typeface="Carlito"/>
                <a:cs typeface="Carlito"/>
              </a:rPr>
              <a:t>Xbox,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13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/>
              <a:t>Recordable </a:t>
            </a:r>
            <a:r>
              <a:rPr sz="3600" spc="-415" dirty="0"/>
              <a:t>Optical</a:t>
            </a:r>
            <a:r>
              <a:rPr sz="3600" dirty="0"/>
              <a:t> </a:t>
            </a:r>
            <a:r>
              <a:rPr sz="3600" spc="-545" dirty="0"/>
              <a:t>Discs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52105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CD-R, </a:t>
            </a:r>
            <a:r>
              <a:rPr sz="2400" spc="-10" dirty="0">
                <a:latin typeface="Carlito"/>
                <a:cs typeface="Carlito"/>
              </a:rPr>
              <a:t>DVD-R, DVD+R, </a:t>
            </a:r>
            <a:r>
              <a:rPr sz="2400" dirty="0">
                <a:latin typeface="Carlito"/>
                <a:cs typeface="Carlito"/>
              </a:rPr>
              <a:t>BD-R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spc="-30" dirty="0">
                <a:latin typeface="Carlito"/>
                <a:cs typeface="Carlito"/>
              </a:rPr>
              <a:t>to, </a:t>
            </a:r>
            <a:r>
              <a:rPr sz="2400" spc="-5" dirty="0">
                <a:latin typeface="Carlito"/>
                <a:cs typeface="Carlito"/>
              </a:rPr>
              <a:t>but cannot be </a:t>
            </a:r>
            <a:r>
              <a:rPr sz="2400" spc="-10" dirty="0">
                <a:latin typeface="Carlito"/>
                <a:cs typeface="Carlito"/>
              </a:rPr>
              <a:t>erased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reused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No </a:t>
            </a:r>
            <a:r>
              <a:rPr sz="2400" spc="-15" dirty="0">
                <a:latin typeface="Carlito"/>
                <a:cs typeface="Carlito"/>
              </a:rPr>
              <a:t>physically </a:t>
            </a:r>
            <a:r>
              <a:rPr sz="2400" spc="-5" dirty="0">
                <a:latin typeface="Carlito"/>
                <a:cs typeface="Carlito"/>
              </a:rPr>
              <a:t>molded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pits</a:t>
            </a:r>
            <a:endParaRPr sz="2400">
              <a:latin typeface="Carlito"/>
              <a:cs typeface="Carlito"/>
            </a:endParaRPr>
          </a:p>
          <a:p>
            <a:pPr marL="756285" marR="30670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recording layer </a:t>
            </a:r>
            <a:r>
              <a:rPr sz="2400" spc="-10" dirty="0">
                <a:latin typeface="Carlito"/>
                <a:cs typeface="Carlito"/>
              </a:rPr>
              <a:t>containing </a:t>
            </a:r>
            <a:r>
              <a:rPr sz="2400" spc="-15" dirty="0">
                <a:latin typeface="Carlito"/>
                <a:cs typeface="Carlito"/>
              </a:rPr>
              <a:t>organic </a:t>
            </a:r>
            <a:r>
              <a:rPr sz="2400" spc="-5" dirty="0">
                <a:latin typeface="Carlito"/>
                <a:cs typeface="Carlito"/>
              </a:rPr>
              <a:t>light-  </a:t>
            </a:r>
            <a:r>
              <a:rPr sz="2400" spc="-100" dirty="0">
                <a:latin typeface="Arial"/>
                <a:cs typeface="Arial"/>
              </a:rPr>
              <a:t>sensitive </a:t>
            </a:r>
            <a:r>
              <a:rPr sz="2400" spc="-120" dirty="0">
                <a:latin typeface="Arial"/>
                <a:cs typeface="Arial"/>
              </a:rPr>
              <a:t>dye </a:t>
            </a:r>
            <a:r>
              <a:rPr sz="2400" spc="-70" dirty="0">
                <a:latin typeface="Arial"/>
                <a:cs typeface="Arial"/>
              </a:rPr>
              <a:t>between </a:t>
            </a:r>
            <a:r>
              <a:rPr sz="2400" spc="-145" dirty="0">
                <a:latin typeface="Arial"/>
                <a:cs typeface="Arial"/>
              </a:rPr>
              <a:t>disc’s </a:t>
            </a:r>
            <a:r>
              <a:rPr sz="2400" spc="-85" dirty="0">
                <a:latin typeface="Arial"/>
                <a:cs typeface="Arial"/>
              </a:rPr>
              <a:t>plastic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55" dirty="0">
                <a:latin typeface="Arial"/>
                <a:cs typeface="Arial"/>
              </a:rPr>
              <a:t>reflective</a:t>
            </a:r>
            <a:r>
              <a:rPr sz="2400" spc="-3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layers</a:t>
            </a:r>
            <a:endParaRPr sz="240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Except </a:t>
            </a:r>
            <a:r>
              <a:rPr sz="2400" dirty="0">
                <a:latin typeface="Carlito"/>
                <a:cs typeface="Carlito"/>
              </a:rPr>
              <a:t>the BD-R </a:t>
            </a:r>
            <a:r>
              <a:rPr sz="2400" spc="-5" dirty="0">
                <a:latin typeface="Carlito"/>
                <a:cs typeface="Carlito"/>
              </a:rPr>
              <a:t>disc,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spc="-15" dirty="0">
                <a:latin typeface="Carlito"/>
                <a:cs typeface="Carlito"/>
              </a:rPr>
              <a:t>inorganic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material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backing up files, sending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others,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creating custom </a:t>
            </a:r>
            <a:r>
              <a:rPr sz="2400" dirty="0">
                <a:latin typeface="Carlito"/>
                <a:cs typeface="Carlito"/>
              </a:rPr>
              <a:t>music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CDs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1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0" dirty="0"/>
              <a:t>Rewritable </a:t>
            </a:r>
            <a:r>
              <a:rPr sz="3600" spc="-415" dirty="0"/>
              <a:t>Optical</a:t>
            </a:r>
            <a:r>
              <a:rPr sz="3600" spc="30" dirty="0"/>
              <a:t> </a:t>
            </a:r>
            <a:r>
              <a:rPr sz="3600" spc="-545" dirty="0"/>
              <a:t>Discs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09890" cy="375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0" dirty="0">
                <a:latin typeface="Carlito"/>
                <a:cs typeface="Carlito"/>
              </a:rPr>
              <a:t>CD-RW, DVD-RW, DVD+RW,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BD-RE</a:t>
            </a:r>
            <a:r>
              <a:rPr sz="2400" spc="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spc="-30" dirty="0">
                <a:latin typeface="Carlito"/>
                <a:cs typeface="Carlito"/>
              </a:rPr>
              <a:t>to, </a:t>
            </a:r>
            <a:r>
              <a:rPr sz="2400" spc="-5" dirty="0">
                <a:latin typeface="Carlito"/>
                <a:cs typeface="Carlito"/>
              </a:rPr>
              <a:t>but cannot be </a:t>
            </a:r>
            <a:r>
              <a:rPr sz="2400" spc="-10" dirty="0">
                <a:latin typeface="Carlito"/>
                <a:cs typeface="Carlito"/>
              </a:rPr>
              <a:t>erased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reused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Uses phase change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technology</a:t>
            </a:r>
            <a:endParaRPr sz="2400">
              <a:latin typeface="Carlito"/>
              <a:cs typeface="Carlito"/>
            </a:endParaRPr>
          </a:p>
          <a:p>
            <a:pPr marL="1612900" marR="242570" indent="-2286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Heating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cooling process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change</a:t>
            </a:r>
            <a:r>
              <a:rPr sz="2400" spc="-2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reflectivity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Capacities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identical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read-only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recordable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discs, </a:t>
            </a:r>
            <a:r>
              <a:rPr sz="2400" spc="-15" dirty="0">
                <a:latin typeface="Carlito"/>
                <a:cs typeface="Carlito"/>
              </a:rPr>
              <a:t>except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BDXL</a:t>
            </a:r>
            <a:endParaRPr sz="2400">
              <a:latin typeface="Carlito"/>
              <a:cs typeface="Carlito"/>
            </a:endParaRPr>
          </a:p>
          <a:p>
            <a:pPr marL="756285" marR="831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Appropriate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5" dirty="0">
                <a:latin typeface="Carlito"/>
                <a:cs typeface="Carlito"/>
              </a:rPr>
              <a:t>transferring large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computer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another or </a:t>
            </a:r>
            <a:r>
              <a:rPr sz="2400" spc="-10" dirty="0">
                <a:latin typeface="Carlito"/>
                <a:cs typeface="Carlito"/>
              </a:rPr>
              <a:t>temporarily storing </a:t>
            </a:r>
            <a:r>
              <a:rPr sz="2400" spc="-5" dirty="0">
                <a:latin typeface="Carlito"/>
                <a:cs typeface="Carlito"/>
              </a:rPr>
              <a:t>TV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shows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056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Trend</a:t>
            </a:r>
            <a:r>
              <a:rPr sz="3600" spc="-300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50530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DNA </a:t>
            </a:r>
            <a:r>
              <a:rPr sz="2400" b="1" spc="-15" dirty="0">
                <a:latin typeface="Carlito"/>
                <a:cs typeface="Carlito"/>
              </a:rPr>
              <a:t>Data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Possible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medium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Long-term, high-density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encoding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Researchers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0" dirty="0">
                <a:latin typeface="Carlito"/>
                <a:cs typeface="Carlito"/>
              </a:rPr>
              <a:t>encoded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DNA</a:t>
            </a:r>
            <a:endParaRPr sz="2400">
              <a:latin typeface="Carlito"/>
              <a:cs typeface="Carlito"/>
            </a:endParaRPr>
          </a:p>
          <a:p>
            <a:pPr marL="1155700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5" dirty="0">
                <a:latin typeface="Carlito"/>
                <a:cs typeface="Carlito"/>
              </a:rPr>
              <a:t>Translated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binary </a:t>
            </a:r>
            <a:r>
              <a:rPr sz="2400" dirty="0">
                <a:latin typeface="Carlito"/>
                <a:cs typeface="Carlito"/>
              </a:rPr>
              <a:t>0s and </a:t>
            </a:r>
            <a:r>
              <a:rPr sz="2400" spc="-5" dirty="0">
                <a:latin typeface="Carlito"/>
                <a:cs typeface="Carlito"/>
              </a:rPr>
              <a:t>1s, </a:t>
            </a:r>
            <a:r>
              <a:rPr sz="2400" dirty="0">
                <a:latin typeface="Carlito"/>
                <a:cs typeface="Carlito"/>
              </a:rPr>
              <a:t>then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ternary </a:t>
            </a:r>
            <a:r>
              <a:rPr sz="2400" spc="-10" dirty="0">
                <a:latin typeface="Carlito"/>
                <a:cs typeface="Carlito"/>
              </a:rPr>
              <a:t>code, 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40" dirty="0">
                <a:latin typeface="Arial"/>
                <a:cs typeface="Arial"/>
              </a:rPr>
              <a:t>then </a:t>
            </a:r>
            <a:r>
              <a:rPr sz="2400" spc="-225" dirty="0">
                <a:latin typeface="Arial"/>
                <a:cs typeface="Arial"/>
              </a:rPr>
              <a:t>as </a:t>
            </a:r>
            <a:r>
              <a:rPr sz="2400" spc="-95" dirty="0">
                <a:latin typeface="Arial"/>
                <a:cs typeface="Arial"/>
              </a:rPr>
              <a:t>strings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225" dirty="0">
                <a:latin typeface="Arial"/>
                <a:cs typeface="Arial"/>
              </a:rPr>
              <a:t>DNA’s </a:t>
            </a:r>
            <a:r>
              <a:rPr sz="2400" spc="-105" dirty="0">
                <a:latin typeface="Arial"/>
                <a:cs typeface="Arial"/>
              </a:rPr>
              <a:t>chemical </a:t>
            </a:r>
            <a:r>
              <a:rPr sz="2400" spc="-190" dirty="0">
                <a:latin typeface="Arial"/>
                <a:cs typeface="Arial"/>
              </a:rPr>
              <a:t>bases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80" dirty="0">
                <a:latin typeface="Arial"/>
                <a:cs typeface="Arial"/>
              </a:rPr>
              <a:t>stored 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DNA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Biggest </a:t>
            </a:r>
            <a:r>
              <a:rPr sz="2400" spc="-10" dirty="0">
                <a:latin typeface="Carlito"/>
                <a:cs typeface="Carlito"/>
              </a:rPr>
              <a:t>obstacle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cost </a:t>
            </a:r>
            <a:r>
              <a:rPr sz="2400" dirty="0">
                <a:latin typeface="Carlito"/>
                <a:cs typeface="Carlito"/>
              </a:rPr>
              <a:t>-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$12,400/MB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Biggest possibility: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archiving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2179" y="4437062"/>
            <a:ext cx="2905379" cy="1557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33</a:t>
            </a:fld>
            <a:endParaRPr spc="-16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2162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Flash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marR="39814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Chip-based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medium </a:t>
            </a:r>
            <a:r>
              <a:rPr sz="2400" spc="-10" dirty="0">
                <a:latin typeface="Carlito"/>
                <a:cs typeface="Carlito"/>
              </a:rPr>
              <a:t>that represents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using  electrons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SSDs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hybrid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Embedded Flash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dirty="0">
                <a:latin typeface="Carlito"/>
                <a:cs typeface="Carlito"/>
              </a:rPr>
              <a:t>embedded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10" dirty="0">
                <a:latin typeface="Carlito"/>
                <a:cs typeface="Carlito"/>
              </a:rPr>
              <a:t>products, </a:t>
            </a:r>
            <a:r>
              <a:rPr sz="2400" spc="-5" dirty="0">
                <a:latin typeface="Carlito"/>
                <a:cs typeface="Carlito"/>
              </a:rPr>
              <a:t>such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Portable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dirty="0">
                <a:latin typeface="Carlito"/>
                <a:cs typeface="Carlito"/>
              </a:rPr>
              <a:t>media </a:t>
            </a:r>
            <a:r>
              <a:rPr sz="2400" spc="-15" dirty="0">
                <a:latin typeface="Carlito"/>
                <a:cs typeface="Carlito"/>
              </a:rPr>
              <a:t>players, </a:t>
            </a:r>
            <a:r>
              <a:rPr sz="2400" spc="-10" dirty="0">
                <a:latin typeface="Carlito"/>
                <a:cs typeface="Carlito"/>
              </a:rPr>
              <a:t>digital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cameras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Handheld </a:t>
            </a:r>
            <a:r>
              <a:rPr sz="2400" spc="-10" dirty="0">
                <a:latin typeface="Carlito"/>
                <a:cs typeface="Carlito"/>
              </a:rPr>
              <a:t>gaming </a:t>
            </a:r>
            <a:r>
              <a:rPr sz="2400" spc="-5" dirty="0">
                <a:latin typeface="Carlito"/>
                <a:cs typeface="Carlito"/>
              </a:rPr>
              <a:t>devices, GPS devices, </a:t>
            </a:r>
            <a:r>
              <a:rPr sz="2400" dirty="0">
                <a:latin typeface="Carlito"/>
                <a:cs typeface="Carlito"/>
              </a:rPr>
              <a:t>mobile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Sunglasses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wristwatches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411729" y="1628851"/>
            <a:ext cx="4464382" cy="4193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35</a:t>
            </a:fld>
            <a:endParaRPr spc="-16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50200" cy="28790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0" dirty="0">
                <a:latin typeface="Carlito"/>
                <a:cs typeface="Carlito"/>
              </a:rPr>
              <a:t>Cards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Readers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card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Small </a:t>
            </a:r>
            <a:r>
              <a:rPr sz="2400" spc="-15" dirty="0">
                <a:latin typeface="Carlito"/>
                <a:cs typeface="Carlito"/>
              </a:rPr>
              <a:t>card </a:t>
            </a:r>
            <a:r>
              <a:rPr sz="2400" spc="-10" dirty="0">
                <a:latin typeface="Carlito"/>
                <a:cs typeface="Carlito"/>
              </a:rPr>
              <a:t>containing </a:t>
            </a:r>
            <a:r>
              <a:rPr sz="2400" spc="-5" dirty="0">
                <a:latin typeface="Carlito"/>
                <a:cs typeface="Carlito"/>
              </a:rPr>
              <a:t>one or </a:t>
            </a:r>
            <a:r>
              <a:rPr sz="2400" spc="-15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chips, 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controller </a:t>
            </a:r>
            <a:r>
              <a:rPr sz="2400" dirty="0">
                <a:latin typeface="Carlito"/>
                <a:cs typeface="Carlito"/>
              </a:rPr>
              <a:t>chip, and </a:t>
            </a:r>
            <a:r>
              <a:rPr sz="2400" spc="-10" dirty="0">
                <a:latin typeface="Carlito"/>
                <a:cs typeface="Carlito"/>
              </a:rPr>
              <a:t>metal contacts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5" dirty="0">
                <a:latin typeface="Carlito"/>
                <a:cs typeface="Carlito"/>
              </a:rPr>
              <a:t>card 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device or </a:t>
            </a:r>
            <a:r>
              <a:rPr sz="2400" spc="-10" dirty="0">
                <a:latin typeface="Carlito"/>
                <a:cs typeface="Carlito"/>
              </a:rPr>
              <a:t>reader </a:t>
            </a:r>
            <a:r>
              <a:rPr sz="2400" dirty="0">
                <a:latin typeface="Carlito"/>
                <a:cs typeface="Carlito"/>
              </a:rPr>
              <a:t>with which it is </a:t>
            </a:r>
            <a:r>
              <a:rPr sz="2400" spc="-5" dirty="0">
                <a:latin typeface="Carlito"/>
                <a:cs typeface="Carlito"/>
              </a:rPr>
              <a:t>being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Available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various </a:t>
            </a:r>
            <a:r>
              <a:rPr sz="2400" spc="-15" dirty="0">
                <a:latin typeface="Carlito"/>
                <a:cs typeface="Carlito"/>
              </a:rPr>
              <a:t>formats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not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interchangeable:</a:t>
            </a:r>
            <a:endParaRPr sz="240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97253" y="4646803"/>
          <a:ext cx="7201534" cy="11074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3020"/>
                <a:gridCol w="2545714"/>
                <a:gridCol w="2082800"/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CompactFlash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Secure Digital</a:t>
                      </a:r>
                      <a:r>
                        <a:rPr sz="1800" spc="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(SD)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xD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Picture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Card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Memory</a:t>
                      </a:r>
                      <a:r>
                        <a:rPr sz="18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Stick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Secure Digital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High Capacity</a:t>
                      </a:r>
                      <a:r>
                        <a:rPr sz="1800" spc="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(SDHC)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MultiMedia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Card</a:t>
                      </a:r>
                      <a:r>
                        <a:rPr sz="1800" spc="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(MMC)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Secure Digital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Extended Capacity</a:t>
                      </a:r>
                      <a:r>
                        <a:rPr sz="1800" spc="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(SDXC)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23532" y="2233806"/>
            <a:ext cx="6840311" cy="3391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3596" y="3790040"/>
            <a:ext cx="1168072" cy="8679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37</a:t>
            </a:fld>
            <a:endParaRPr spc="-16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15909" cy="4342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General-purpose 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card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Appropriate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most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applications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Specialized 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cards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Professional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cards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professional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photographers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Gaming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cards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gaming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consoles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HD 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cards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capturing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transferring </a:t>
            </a:r>
            <a:r>
              <a:rPr sz="2400" spc="-10" dirty="0">
                <a:latin typeface="Carlito"/>
                <a:cs typeface="Carlito"/>
              </a:rPr>
              <a:t>high-definition  </a:t>
            </a:r>
            <a:r>
              <a:rPr sz="2400" dirty="0">
                <a:latin typeface="Carlito"/>
                <a:cs typeface="Carlito"/>
              </a:rPr>
              <a:t>video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56220" cy="4561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USB </a:t>
            </a:r>
            <a:r>
              <a:rPr sz="2400" spc="-5" dirty="0">
                <a:latin typeface="Carlito"/>
                <a:cs typeface="Carlito"/>
              </a:rPr>
              <a:t>Flash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marR="272415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  <a:tab pos="3060065" algn="l"/>
              </a:tabLst>
            </a:pPr>
            <a:r>
              <a:rPr sz="2400" spc="-5" dirty="0">
                <a:latin typeface="Carlito"/>
                <a:cs typeface="Carlito"/>
              </a:rPr>
              <a:t>Sometimes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called	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0" dirty="0">
                <a:latin typeface="Carlito"/>
                <a:cs typeface="Carlito"/>
              </a:rPr>
              <a:t>drives, </a:t>
            </a:r>
            <a:r>
              <a:rPr sz="2400" spc="-5" dirty="0">
                <a:latin typeface="Carlito"/>
                <a:cs typeface="Carlito"/>
              </a:rPr>
              <a:t>jump </a:t>
            </a:r>
            <a:r>
              <a:rPr sz="2400" spc="-10" dirty="0">
                <a:latin typeface="Carlito"/>
                <a:cs typeface="Carlito"/>
              </a:rPr>
              <a:t>drives, </a:t>
            </a:r>
            <a:r>
              <a:rPr sz="2400" spc="-5" dirty="0">
                <a:latin typeface="Carlito"/>
                <a:cs typeface="Carlito"/>
              </a:rPr>
              <a:t>or  </a:t>
            </a:r>
            <a:r>
              <a:rPr sz="2400" dirty="0">
                <a:latin typeface="Carlito"/>
                <a:cs typeface="Carlito"/>
              </a:rPr>
              <a:t>thumb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570"/>
              </a:spcBef>
              <a:buFont typeface="Arial"/>
              <a:buChar char="–"/>
              <a:tabLst>
                <a:tab pos="756920" algn="l"/>
                <a:tab pos="5097145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media </a:t>
            </a:r>
            <a:r>
              <a:rPr sz="2400" spc="-15" dirty="0">
                <a:latin typeface="Carlito"/>
                <a:cs typeface="Carlito"/>
              </a:rPr>
              <a:t>integrated into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self-contained </a:t>
            </a:r>
            <a:r>
              <a:rPr sz="2400" spc="-5" dirty="0">
                <a:latin typeface="Carlito"/>
                <a:cs typeface="Carlito"/>
              </a:rPr>
              <a:t>unit 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plug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and is </a:t>
            </a:r>
            <a:r>
              <a:rPr sz="2400" spc="-15" dirty="0">
                <a:latin typeface="Carlito"/>
                <a:cs typeface="Carlito"/>
              </a:rPr>
              <a:t>powered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	USB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very small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very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portable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Available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5" dirty="0">
                <a:latin typeface="Carlito"/>
                <a:cs typeface="Carlito"/>
              </a:rPr>
              <a:t>host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formats </a:t>
            </a:r>
            <a:r>
              <a:rPr sz="2400" dirty="0">
                <a:latin typeface="Carlito"/>
                <a:cs typeface="Carlito"/>
              </a:rPr>
              <a:t>including </a:t>
            </a:r>
            <a:r>
              <a:rPr sz="2400" spc="-10" dirty="0">
                <a:latin typeface="Carlito"/>
                <a:cs typeface="Carlito"/>
              </a:rPr>
              <a:t>custom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shapes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consumer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product</a:t>
            </a:r>
            <a:endParaRPr sz="2400">
              <a:latin typeface="Carlito"/>
              <a:cs typeface="Carlito"/>
            </a:endParaRPr>
          </a:p>
          <a:p>
            <a:pPr marL="756285" marR="50165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lock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issue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site  </a:t>
            </a:r>
            <a:r>
              <a:rPr sz="2400" spc="-15" dirty="0">
                <a:latin typeface="Carlito"/>
                <a:cs typeface="Carlito"/>
              </a:rPr>
              <a:t>passwords</a:t>
            </a:r>
            <a:endParaRPr sz="2400">
              <a:latin typeface="Carlito"/>
              <a:cs typeface="Carlito"/>
            </a:endParaRPr>
          </a:p>
          <a:p>
            <a:pPr marL="756285" marR="1094105" lvl="1" indent="-287020">
              <a:lnSpc>
                <a:spcPts val="2590"/>
              </a:lnSpc>
              <a:spcBef>
                <a:spcPts val="5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5" dirty="0">
                <a:latin typeface="Carlito"/>
                <a:cs typeface="Carlito"/>
              </a:rPr>
              <a:t>biometric </a:t>
            </a:r>
            <a:r>
              <a:rPr sz="2400" spc="-15" dirty="0">
                <a:latin typeface="Carlito"/>
                <a:cs typeface="Carlito"/>
              </a:rPr>
              <a:t>features,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 a </a:t>
            </a:r>
            <a:r>
              <a:rPr sz="2400" spc="-5" dirty="0">
                <a:latin typeface="Carlito"/>
                <a:cs typeface="Carlito"/>
              </a:rPr>
              <a:t>built-in  </a:t>
            </a:r>
            <a:r>
              <a:rPr sz="2400" spc="-10" dirty="0">
                <a:latin typeface="Carlito"/>
                <a:cs typeface="Carlito"/>
              </a:rPr>
              <a:t>fingerprint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reader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98870"/>
            <a:chOff x="0" y="0"/>
            <a:chExt cx="9144000" cy="6198870"/>
          </a:xfrm>
        </p:grpSpPr>
        <p:sp>
          <p:nvSpPr>
            <p:cNvPr id="3" name="object 3"/>
            <p:cNvSpPr/>
            <p:nvPr/>
          </p:nvSpPr>
          <p:spPr>
            <a:xfrm>
              <a:off x="827582" y="1484782"/>
              <a:ext cx="5751663" cy="47140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86981" y="3025520"/>
              <a:ext cx="1400175" cy="3333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672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95" dirty="0"/>
              <a:t>Drive </a:t>
            </a:r>
            <a:r>
              <a:rPr sz="3600" spc="-445" dirty="0"/>
              <a:t>Storage</a:t>
            </a:r>
            <a:r>
              <a:rPr sz="3600" spc="-47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40</a:t>
            </a:fld>
            <a:endParaRPr spc="-16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4" dirty="0"/>
              <a:t>Technology </a:t>
            </a:r>
            <a:r>
              <a:rPr sz="3600" spc="-405" dirty="0"/>
              <a:t>and </a:t>
            </a:r>
            <a:r>
              <a:rPr sz="3600" spc="-490" dirty="0"/>
              <a:t>You</a:t>
            </a:r>
            <a:r>
              <a:rPr sz="3600" spc="9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168775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Thumb </a:t>
            </a:r>
            <a:r>
              <a:rPr sz="2400" b="1" spc="-10" dirty="0">
                <a:latin typeface="Carlito"/>
                <a:cs typeface="Carlito"/>
              </a:rPr>
              <a:t>Drive</a:t>
            </a:r>
            <a:r>
              <a:rPr sz="2400" b="1" spc="-30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PCs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Portable </a:t>
            </a:r>
            <a:r>
              <a:rPr sz="2400" spc="-5" dirty="0">
                <a:latin typeface="Carlito"/>
                <a:cs typeface="Carlito"/>
              </a:rPr>
              <a:t>apps </a:t>
            </a:r>
            <a:r>
              <a:rPr sz="2400" dirty="0">
                <a:latin typeface="Carlito"/>
                <a:cs typeface="Carlito"/>
              </a:rPr>
              <a:t>turn </a:t>
            </a:r>
            <a:r>
              <a:rPr sz="2400" spc="-10" dirty="0">
                <a:latin typeface="Carlito"/>
                <a:cs typeface="Carlito"/>
              </a:rPr>
              <a:t>USB 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spc="-10" dirty="0">
                <a:latin typeface="Carlito"/>
                <a:cs typeface="Carlito"/>
              </a:rPr>
              <a:t>drives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small  devices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10" dirty="0">
                <a:latin typeface="Carlito"/>
                <a:cs typeface="Carlito"/>
              </a:rPr>
              <a:t>personal 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  <a:p>
            <a:pPr marL="756285" marR="90170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Download </a:t>
            </a:r>
            <a:r>
              <a:rPr sz="2400" dirty="0">
                <a:latin typeface="Carlito"/>
                <a:cs typeface="Carlito"/>
              </a:rPr>
              <a:t>app and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desired  software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USB </a:t>
            </a:r>
            <a:r>
              <a:rPr sz="2400" spc="-5" dirty="0">
                <a:latin typeface="Carlito"/>
                <a:cs typeface="Carlito"/>
              </a:rPr>
              <a:t>flash 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marR="11753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14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use, plug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8027" y="1916836"/>
            <a:ext cx="4145534" cy="39559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41</a:t>
            </a:fld>
            <a:endParaRPr spc="-16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464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Other </a:t>
            </a:r>
            <a:r>
              <a:rPr sz="3600" spc="-535" dirty="0"/>
              <a:t>Types </a:t>
            </a:r>
            <a:r>
              <a:rPr sz="3600" spc="-285" dirty="0"/>
              <a:t>of </a:t>
            </a:r>
            <a:r>
              <a:rPr sz="3600" spc="-440" dirty="0"/>
              <a:t>Storage</a:t>
            </a:r>
            <a:r>
              <a:rPr sz="3600" spc="-385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17459" cy="3025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and Cloud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Remote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0" dirty="0">
                <a:latin typeface="Carlito"/>
                <a:cs typeface="Carlito"/>
              </a:rPr>
              <a:t>not </a:t>
            </a:r>
            <a:r>
              <a:rPr sz="2400" spc="-5" dirty="0">
                <a:latin typeface="Carlito"/>
                <a:cs typeface="Carlito"/>
              </a:rPr>
              <a:t>directly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5" dirty="0">
                <a:latin typeface="Carlito"/>
                <a:cs typeface="Carlito"/>
              </a:rPr>
              <a:t>being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Accessed </a:t>
            </a:r>
            <a:r>
              <a:rPr sz="2400" spc="-10" dirty="0">
                <a:latin typeface="Carlito"/>
                <a:cs typeface="Carlito"/>
              </a:rPr>
              <a:t>through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through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Remote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via </a:t>
            </a:r>
            <a:r>
              <a:rPr sz="2400" spc="-10" dirty="0">
                <a:latin typeface="Carlito"/>
                <a:cs typeface="Carlito"/>
              </a:rPr>
              <a:t>local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85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Network </a:t>
            </a:r>
            <a:r>
              <a:rPr spc="-360" dirty="0"/>
              <a:t>and </a:t>
            </a:r>
            <a:r>
              <a:rPr spc="-335" dirty="0"/>
              <a:t>Cloud </a:t>
            </a:r>
            <a:r>
              <a:rPr spc="-395" dirty="0"/>
              <a:t>Storage</a:t>
            </a:r>
            <a:r>
              <a:rPr spc="-370" dirty="0"/>
              <a:t>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79715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attached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(NAS)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High </a:t>
            </a:r>
            <a:r>
              <a:rPr sz="2400" spc="-10" dirty="0">
                <a:latin typeface="Carlito"/>
                <a:cs typeface="Carlito"/>
              </a:rPr>
              <a:t>performance </a:t>
            </a:r>
            <a:r>
              <a:rPr sz="2400" spc="-20" dirty="0">
                <a:latin typeface="Carlito"/>
                <a:cs typeface="Carlito"/>
              </a:rPr>
              <a:t>storage systems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dirty="0">
                <a:latin typeface="Carlito"/>
                <a:cs typeface="Carlito"/>
              </a:rPr>
              <a:t>individually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small business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10" dirty="0">
                <a:latin typeface="Carlito"/>
                <a:cs typeface="Carlito"/>
              </a:rPr>
              <a:t>area network </a:t>
            </a:r>
            <a:r>
              <a:rPr sz="2400" spc="-5" dirty="0">
                <a:latin typeface="Carlito"/>
                <a:cs typeface="Carlito"/>
              </a:rPr>
              <a:t>(SAN)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Separate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drives </a:t>
            </a:r>
            <a:r>
              <a:rPr sz="2400" spc="-5" dirty="0">
                <a:latin typeface="Carlito"/>
                <a:cs typeface="Carlito"/>
              </a:rPr>
              <a:t>or other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are attached 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main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85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Network </a:t>
            </a:r>
            <a:r>
              <a:rPr spc="-360" dirty="0"/>
              <a:t>and </a:t>
            </a:r>
            <a:r>
              <a:rPr spc="-335" dirty="0"/>
              <a:t>Cloud </a:t>
            </a:r>
            <a:r>
              <a:rPr spc="-395" dirty="0"/>
              <a:t>Storage</a:t>
            </a:r>
            <a:r>
              <a:rPr spc="-370" dirty="0"/>
              <a:t>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1043609" y="1733494"/>
            <a:ext cx="6761923" cy="3511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3822" y="5843358"/>
            <a:ext cx="1485900" cy="3619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44</a:t>
            </a:fld>
            <a:endParaRPr spc="-16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85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Network </a:t>
            </a:r>
            <a:r>
              <a:rPr spc="-360" dirty="0"/>
              <a:t>and </a:t>
            </a:r>
            <a:r>
              <a:rPr spc="-335" dirty="0"/>
              <a:t>Cloud </a:t>
            </a:r>
            <a:r>
              <a:rPr spc="-395" dirty="0"/>
              <a:t>Storage</a:t>
            </a:r>
            <a:r>
              <a:rPr spc="-370" dirty="0"/>
              <a:t>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61275" cy="4342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Cloud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(online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Accessed </a:t>
            </a:r>
            <a:r>
              <a:rPr sz="2400" dirty="0">
                <a:latin typeface="Carlito"/>
                <a:cs typeface="Carlito"/>
              </a:rPr>
              <a:t>via 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Via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sites </a:t>
            </a:r>
            <a:r>
              <a:rPr sz="2400" spc="-30" dirty="0">
                <a:latin typeface="Carlito"/>
                <a:cs typeface="Carlito"/>
              </a:rPr>
              <a:t>(Flickr, </a:t>
            </a:r>
            <a:r>
              <a:rPr sz="2400" spc="-10" dirty="0">
                <a:latin typeface="Carlito"/>
                <a:cs typeface="Carlito"/>
              </a:rPr>
              <a:t>Facebook, </a:t>
            </a:r>
            <a:r>
              <a:rPr sz="2400" spc="-5" dirty="0">
                <a:latin typeface="Carlito"/>
                <a:cs typeface="Carlito"/>
              </a:rPr>
              <a:t>Google Docs,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Via online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10" dirty="0">
                <a:latin typeface="Carlito"/>
                <a:cs typeface="Carlito"/>
              </a:rPr>
              <a:t>sites </a:t>
            </a:r>
            <a:r>
              <a:rPr sz="2400" spc="-15" dirty="0">
                <a:latin typeface="Carlito"/>
                <a:cs typeface="Carlito"/>
              </a:rPr>
              <a:t>(Box, Dropbox,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1155700" marR="59055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Growing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importance because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more  </a:t>
            </a:r>
            <a:r>
              <a:rPr sz="2400" spc="-5" dirty="0">
                <a:latin typeface="Carlito"/>
                <a:cs typeface="Carlito"/>
              </a:rPr>
              <a:t>applications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30" dirty="0">
                <a:latin typeface="Carlito"/>
                <a:cs typeface="Carlito"/>
              </a:rPr>
              <a:t>Web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based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Increasing being 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backup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purposes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synched between </a:t>
            </a:r>
            <a:r>
              <a:rPr sz="2400" dirty="0">
                <a:latin typeface="Carlito"/>
                <a:cs typeface="Carlito"/>
              </a:rPr>
              <a:t>PC and cloud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Many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sites providing </a:t>
            </a:r>
            <a:r>
              <a:rPr sz="2400" spc="-5" dirty="0">
                <a:latin typeface="Carlito"/>
                <a:cs typeface="Carlito"/>
              </a:rPr>
              <a:t>online </a:t>
            </a:r>
            <a:r>
              <a:rPr sz="2400" spc="-20" dirty="0">
                <a:latin typeface="Carlito"/>
                <a:cs typeface="Carlito"/>
              </a:rPr>
              <a:t>storage offer </a:t>
            </a:r>
            <a:r>
              <a:rPr sz="2400" dirty="0">
                <a:latin typeface="Carlito"/>
                <a:cs typeface="Carlito"/>
              </a:rPr>
              <a:t>it</a:t>
            </a:r>
            <a:r>
              <a:rPr sz="2400" spc="6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free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Business cloud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available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85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Network </a:t>
            </a:r>
            <a:r>
              <a:rPr spc="-360" dirty="0"/>
              <a:t>and </a:t>
            </a:r>
            <a:r>
              <a:rPr spc="-335" dirty="0"/>
              <a:t>Cloud </a:t>
            </a:r>
            <a:r>
              <a:rPr spc="-395" dirty="0"/>
              <a:t>Storage</a:t>
            </a:r>
            <a:r>
              <a:rPr spc="-370" dirty="0"/>
              <a:t>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1115618" y="1533893"/>
            <a:ext cx="4968494" cy="4821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70299" y="2235705"/>
            <a:ext cx="1599914" cy="806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46</a:t>
            </a:fld>
            <a:endParaRPr spc="-16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470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5" dirty="0"/>
              <a:t>Smart</a:t>
            </a:r>
            <a:r>
              <a:rPr sz="3600" spc="-280" dirty="0"/>
              <a:t> </a:t>
            </a:r>
            <a:r>
              <a:rPr sz="3600" spc="-495" dirty="0"/>
              <a:t>Cards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65134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Smart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Card</a:t>
            </a:r>
            <a:endParaRPr sz="2400">
              <a:latin typeface="Carlito"/>
              <a:cs typeface="Carlito"/>
            </a:endParaRPr>
          </a:p>
          <a:p>
            <a:pPr marL="756285" marR="82423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Credit </a:t>
            </a:r>
            <a:r>
              <a:rPr sz="2400" spc="-15" dirty="0">
                <a:latin typeface="Carlito"/>
                <a:cs typeface="Carlito"/>
              </a:rPr>
              <a:t>card-sized </a:t>
            </a:r>
            <a:r>
              <a:rPr sz="2400" spc="-5" dirty="0">
                <a:latin typeface="Carlito"/>
                <a:cs typeface="Carlito"/>
              </a:rPr>
              <a:t>piece of </a:t>
            </a:r>
            <a:r>
              <a:rPr sz="2400" spc="-10" dirty="0">
                <a:latin typeface="Carlito"/>
                <a:cs typeface="Carlito"/>
              </a:rPr>
              <a:t>plastic that contains </a:t>
            </a:r>
            <a:r>
              <a:rPr sz="2400" spc="-5" dirty="0">
                <a:latin typeface="Carlito"/>
                <a:cs typeface="Carlito"/>
              </a:rPr>
              <a:t>some 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5" dirty="0">
                <a:latin typeface="Carlito"/>
                <a:cs typeface="Carlito"/>
              </a:rPr>
              <a:t>circuitry </a:t>
            </a:r>
            <a:r>
              <a:rPr sz="2400" spc="-30" dirty="0">
                <a:latin typeface="Carlito"/>
                <a:cs typeface="Carlito"/>
              </a:rPr>
              <a:t>(processor, </a:t>
            </a:r>
            <a:r>
              <a:rPr sz="2400" spc="-25" dirty="0">
                <a:latin typeface="Carlito"/>
                <a:cs typeface="Carlito"/>
              </a:rPr>
              <a:t>memory,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Stores </a:t>
            </a:r>
            <a:r>
              <a:rPr sz="2400" spc="-5" dirty="0">
                <a:latin typeface="Carlito"/>
                <a:cs typeface="Carlito"/>
              </a:rPr>
              <a:t>small amount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(about </a:t>
            </a:r>
            <a:r>
              <a:rPr sz="2400" dirty="0">
                <a:latin typeface="Carlito"/>
                <a:cs typeface="Carlito"/>
              </a:rPr>
              <a:t>64 KB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less)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Commonly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5" dirty="0">
                <a:latin typeface="Carlito"/>
                <a:cs typeface="Carlito"/>
              </a:rPr>
              <a:t>store </a:t>
            </a:r>
            <a:r>
              <a:rPr sz="2400" spc="-5" dirty="0">
                <a:latin typeface="Carlito"/>
                <a:cs typeface="Carlito"/>
              </a:rPr>
              <a:t>prepaid amounts of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5" dirty="0">
                <a:latin typeface="Carlito"/>
                <a:cs typeface="Carlito"/>
              </a:rPr>
              <a:t>cash or  </a:t>
            </a:r>
            <a:r>
              <a:rPr sz="2400" spc="-10" dirty="0">
                <a:latin typeface="Carlito"/>
                <a:cs typeface="Carlito"/>
              </a:rPr>
              <a:t>personal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756285" marR="54165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Smart </a:t>
            </a:r>
            <a:r>
              <a:rPr sz="2400" spc="-15" dirty="0">
                <a:latin typeface="Carlito"/>
                <a:cs typeface="Carlito"/>
              </a:rPr>
              <a:t>card readers are </a:t>
            </a:r>
            <a:r>
              <a:rPr sz="2400" spc="-5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attached to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30" dirty="0">
                <a:latin typeface="Carlito"/>
                <a:cs typeface="Carlito"/>
              </a:rPr>
              <a:t>computer, </a:t>
            </a:r>
            <a:r>
              <a:rPr sz="2400" spc="-10" dirty="0">
                <a:latin typeface="Carlito"/>
                <a:cs typeface="Carlito"/>
              </a:rPr>
              <a:t>door </a:t>
            </a:r>
            <a:r>
              <a:rPr sz="2400" dirty="0">
                <a:latin typeface="Carlito"/>
                <a:cs typeface="Carlito"/>
              </a:rPr>
              <a:t>lock, </a:t>
            </a:r>
            <a:r>
              <a:rPr sz="2400" spc="-5" dirty="0">
                <a:latin typeface="Carlito"/>
                <a:cs typeface="Carlito"/>
              </a:rPr>
              <a:t>vending machine, or other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Some smart </a:t>
            </a:r>
            <a:r>
              <a:rPr sz="2400" spc="-15" dirty="0">
                <a:latin typeface="Carlito"/>
                <a:cs typeface="Carlito"/>
              </a:rPr>
              <a:t>cards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spc="-5" dirty="0">
                <a:latin typeface="Carlito"/>
                <a:cs typeface="Carlito"/>
              </a:rPr>
              <a:t>biometric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of mobile smart </a:t>
            </a:r>
            <a:r>
              <a:rPr sz="2400" spc="-15" dirty="0">
                <a:latin typeface="Carlito"/>
                <a:cs typeface="Carlito"/>
              </a:rPr>
              <a:t>cards </a:t>
            </a:r>
            <a:r>
              <a:rPr sz="2400" dirty="0">
                <a:latin typeface="Carlito"/>
                <a:cs typeface="Carlito"/>
              </a:rPr>
              <a:t>is an </a:t>
            </a:r>
            <a:r>
              <a:rPr sz="2400" spc="-5" dirty="0">
                <a:latin typeface="Carlito"/>
                <a:cs typeface="Carlito"/>
              </a:rPr>
              <a:t>emerging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trend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36005"/>
            <a:chOff x="0" y="0"/>
            <a:chExt cx="9144000" cy="6136005"/>
          </a:xfrm>
        </p:grpSpPr>
        <p:sp>
          <p:nvSpPr>
            <p:cNvPr id="3" name="object 3"/>
            <p:cNvSpPr/>
            <p:nvPr/>
          </p:nvSpPr>
          <p:spPr>
            <a:xfrm>
              <a:off x="1403603" y="1484782"/>
              <a:ext cx="4784598" cy="46507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73393" y="3097529"/>
              <a:ext cx="1628775" cy="571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470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5" dirty="0"/>
              <a:t>Smart</a:t>
            </a:r>
            <a:r>
              <a:rPr sz="3600" spc="-280" dirty="0"/>
              <a:t> </a:t>
            </a:r>
            <a:r>
              <a:rPr sz="3600" spc="-495" dirty="0"/>
              <a:t>Cards</a:t>
            </a:r>
            <a:endParaRPr sz="36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48</a:t>
            </a:fld>
            <a:endParaRPr spc="-16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97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Holographic</a:t>
            </a:r>
            <a:r>
              <a:rPr sz="3600" spc="-285" dirty="0"/>
              <a:t> </a:t>
            </a:r>
            <a:r>
              <a:rPr sz="3600" spc="-445" dirty="0"/>
              <a:t>Storage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01000" cy="41230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Holographic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756285" marR="69596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Holographic drives connect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via a </a:t>
            </a:r>
            <a:r>
              <a:rPr sz="2400" spc="-5" dirty="0">
                <a:latin typeface="Carlito"/>
                <a:cs typeface="Carlito"/>
              </a:rPr>
              <a:t>serial  </a:t>
            </a:r>
            <a:r>
              <a:rPr sz="2400" spc="-15" dirty="0">
                <a:latin typeface="Carlito"/>
                <a:cs typeface="Carlito"/>
              </a:rPr>
              <a:t>attached </a:t>
            </a:r>
            <a:r>
              <a:rPr sz="2400" spc="-5" dirty="0">
                <a:latin typeface="Carlito"/>
                <a:cs typeface="Carlito"/>
              </a:rPr>
              <a:t>SCSI (SAS) or </a:t>
            </a:r>
            <a:r>
              <a:rPr sz="2400" spc="-10" dirty="0">
                <a:latin typeface="Carlito"/>
                <a:cs typeface="Carlito"/>
              </a:rPr>
              <a:t>Fibre </a:t>
            </a:r>
            <a:r>
              <a:rPr sz="2400" spc="-5" dirty="0">
                <a:latin typeface="Carlito"/>
                <a:cs typeface="Carlito"/>
              </a:rPr>
              <a:t>Channel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marR="72009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5" dirty="0">
                <a:latin typeface="Carlito"/>
                <a:cs typeface="Carlito"/>
              </a:rPr>
              <a:t>blue </a:t>
            </a:r>
            <a:r>
              <a:rPr sz="2400" dirty="0">
                <a:latin typeface="Carlito"/>
                <a:cs typeface="Carlito"/>
              </a:rPr>
              <a:t>laser </a:t>
            </a:r>
            <a:r>
              <a:rPr sz="2400" spc="-5" dirty="0">
                <a:latin typeface="Carlito"/>
                <a:cs typeface="Carlito"/>
              </a:rPr>
              <a:t>beams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three  </a:t>
            </a:r>
            <a:r>
              <a:rPr sz="2400" spc="-5" dirty="0">
                <a:latin typeface="Carlito"/>
                <a:cs typeface="Carlito"/>
              </a:rPr>
              <a:t>dimensions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Reference </a:t>
            </a:r>
            <a:r>
              <a:rPr sz="2400" spc="-5" dirty="0">
                <a:latin typeface="Carlito"/>
                <a:cs typeface="Carlito"/>
              </a:rPr>
              <a:t>beam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signal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beam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Suited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applications </a:t>
            </a:r>
            <a:r>
              <a:rPr sz="2400" dirty="0">
                <a:latin typeface="Carlito"/>
                <a:cs typeface="Carlito"/>
              </a:rPr>
              <a:t>in which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10" dirty="0">
                <a:latin typeface="Carlito"/>
                <a:cs typeface="Carlito"/>
              </a:rPr>
              <a:t>amounts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need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spc="-5" dirty="0">
                <a:latin typeface="Carlito"/>
                <a:cs typeface="Carlito"/>
              </a:rPr>
              <a:t>quickly but </a:t>
            </a:r>
            <a:r>
              <a:rPr sz="2400" spc="-15" dirty="0">
                <a:latin typeface="Carlito"/>
                <a:cs typeface="Carlito"/>
              </a:rPr>
              <a:t>rarely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changed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Archiving business </a:t>
            </a:r>
            <a:r>
              <a:rPr sz="2400" spc="-10" dirty="0">
                <a:latin typeface="Carlito"/>
                <a:cs typeface="Carlito"/>
              </a:rPr>
              <a:t>data, </a:t>
            </a:r>
            <a:r>
              <a:rPr sz="2400" spc="-5" dirty="0">
                <a:latin typeface="Carlito"/>
                <a:cs typeface="Carlito"/>
              </a:rPr>
              <a:t>medical </a:t>
            </a:r>
            <a:r>
              <a:rPr sz="2400" spc="-15" dirty="0">
                <a:latin typeface="Carlito"/>
                <a:cs typeface="Carlito"/>
              </a:rPr>
              <a:t>records, </a:t>
            </a:r>
            <a:r>
              <a:rPr sz="2400" spc="-5" dirty="0">
                <a:latin typeface="Carlito"/>
                <a:cs typeface="Carlito"/>
              </a:rPr>
              <a:t>TV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shows,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sensor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,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97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Holographic</a:t>
            </a:r>
            <a:r>
              <a:rPr sz="3600" spc="-285" dirty="0"/>
              <a:t> </a:t>
            </a:r>
            <a:r>
              <a:rPr sz="3600" spc="-445" dirty="0"/>
              <a:t>Storage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652414" y="1628775"/>
            <a:ext cx="7837805" cy="4173220"/>
            <a:chOff x="652414" y="1628775"/>
            <a:chExt cx="7837805" cy="4173220"/>
          </a:xfrm>
        </p:grpSpPr>
        <p:sp>
          <p:nvSpPr>
            <p:cNvPr id="4" name="object 4"/>
            <p:cNvSpPr/>
            <p:nvPr/>
          </p:nvSpPr>
          <p:spPr>
            <a:xfrm>
              <a:off x="652414" y="1700809"/>
              <a:ext cx="6990274" cy="41008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0306" y="1628775"/>
              <a:ext cx="1469390" cy="11887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50</a:t>
            </a:fld>
            <a:endParaRPr spc="-16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32040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Business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needs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growing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exponentially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produced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expected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double </a:t>
            </a:r>
            <a:r>
              <a:rPr sz="2400" spc="-5" dirty="0">
                <a:latin typeface="Carlito"/>
                <a:cs typeface="Carlito"/>
              </a:rPr>
              <a:t>every </a:t>
            </a:r>
            <a:r>
              <a:rPr sz="2400" spc="-10" dirty="0">
                <a:latin typeface="Carlito"/>
                <a:cs typeface="Carlito"/>
              </a:rPr>
              <a:t>two  years through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2020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server</a:t>
            </a:r>
            <a:endParaRPr sz="2400">
              <a:latin typeface="Carlito"/>
              <a:cs typeface="Carlito"/>
            </a:endParaRPr>
          </a:p>
          <a:p>
            <a:pPr marL="756285" marR="5461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0" dirty="0">
                <a:latin typeface="Carlito"/>
                <a:cs typeface="Carlito"/>
              </a:rPr>
              <a:t>containing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5" dirty="0">
                <a:latin typeface="Carlito"/>
                <a:cs typeface="Carlito"/>
              </a:rPr>
              <a:t>high-speed </a:t>
            </a:r>
            <a:r>
              <a:rPr sz="2400" spc="-15" dirty="0">
                <a:latin typeface="Carlito"/>
                <a:cs typeface="Carlito"/>
              </a:rPr>
              <a:t>hard  </a:t>
            </a:r>
            <a:r>
              <a:rPr sz="2400" spc="-10" dirty="0">
                <a:latin typeface="Carlito"/>
                <a:cs typeface="Carlito"/>
              </a:rPr>
              <a:t>drives connected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10" dirty="0">
                <a:latin typeface="Carlito"/>
                <a:cs typeface="Carlito"/>
              </a:rPr>
              <a:t> 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based on </a:t>
            </a:r>
            <a:r>
              <a:rPr sz="2400" dirty="0">
                <a:latin typeface="Carlito"/>
                <a:cs typeface="Carlito"/>
              </a:rPr>
              <a:t>magnetic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1475613" y="1556791"/>
            <a:ext cx="3627146" cy="46123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09065" y="2087376"/>
            <a:ext cx="1619417" cy="1822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52</a:t>
            </a:fld>
            <a:endParaRPr spc="-16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99095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RAID </a:t>
            </a:r>
            <a:r>
              <a:rPr sz="2400" spc="-10" dirty="0">
                <a:latin typeface="Carlito"/>
                <a:cs typeface="Carlito"/>
              </a:rPr>
              <a:t>(redundant </a:t>
            </a:r>
            <a:r>
              <a:rPr sz="2400" spc="-20" dirty="0">
                <a:latin typeface="Carlito"/>
                <a:cs typeface="Carlito"/>
              </a:rPr>
              <a:t>arrays </a:t>
            </a:r>
            <a:r>
              <a:rPr sz="2400" spc="-5" dirty="0">
                <a:latin typeface="Carlito"/>
                <a:cs typeface="Carlito"/>
              </a:rPr>
              <a:t>of independent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discs)</a:t>
            </a:r>
            <a:endParaRPr sz="2400">
              <a:latin typeface="Carlito"/>
              <a:cs typeface="Carlito"/>
            </a:endParaRPr>
          </a:p>
          <a:p>
            <a:pPr marL="756285" marR="36512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Method of </a:t>
            </a:r>
            <a:r>
              <a:rPr sz="2400" spc="-15" dirty="0">
                <a:latin typeface="Carlito"/>
                <a:cs typeface="Carlito"/>
              </a:rPr>
              <a:t>storing data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two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more </a:t>
            </a:r>
            <a:r>
              <a:rPr sz="2400" spc="-10" dirty="0">
                <a:latin typeface="Carlito"/>
                <a:cs typeface="Carlito"/>
              </a:rPr>
              <a:t>hard drives that  work together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job of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larger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marR="880744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Mostly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protect </a:t>
            </a:r>
            <a:r>
              <a:rPr sz="2400" spc="-5" dirty="0">
                <a:latin typeface="Carlito"/>
                <a:cs typeface="Carlito"/>
              </a:rPr>
              <a:t>critical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20" dirty="0">
                <a:latin typeface="Carlito"/>
                <a:cs typeface="Carlito"/>
              </a:rPr>
              <a:t>storage  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Usually </a:t>
            </a:r>
            <a:r>
              <a:rPr sz="2400" spc="-15" dirty="0">
                <a:latin typeface="Carlito"/>
                <a:cs typeface="Carlito"/>
              </a:rPr>
              <a:t>involves recording </a:t>
            </a:r>
            <a:r>
              <a:rPr sz="2400" spc="-10" dirty="0">
                <a:latin typeface="Carlito"/>
                <a:cs typeface="Carlito"/>
              </a:rPr>
              <a:t>redundant </a:t>
            </a:r>
            <a:r>
              <a:rPr sz="2400" spc="-5" dirty="0">
                <a:latin typeface="Carlito"/>
                <a:cs typeface="Carlito"/>
              </a:rPr>
              <a:t>copies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stored</a:t>
            </a:r>
            <a:r>
              <a:rPr sz="2400" spc="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Helps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increase </a:t>
            </a:r>
            <a:r>
              <a:rPr sz="2400" spc="-10" dirty="0">
                <a:latin typeface="Carlito"/>
                <a:cs typeface="Carlito"/>
              </a:rPr>
              <a:t>fault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tolerance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1425320"/>
            <a:ext cx="7802245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10" dirty="0">
                <a:latin typeface="Carlito"/>
                <a:cs typeface="Carlito"/>
              </a:rPr>
              <a:t>levels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RAID: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RAID 0 = </a:t>
            </a:r>
            <a:r>
              <a:rPr sz="2400" spc="-5" dirty="0">
                <a:latin typeface="Carlito"/>
                <a:cs typeface="Carlito"/>
              </a:rPr>
              <a:t>disk striping </a:t>
            </a:r>
            <a:r>
              <a:rPr sz="2400" spc="-10" dirty="0">
                <a:latin typeface="Carlito"/>
                <a:cs typeface="Carlito"/>
              </a:rPr>
              <a:t>(spread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spc="-10" dirty="0">
                <a:latin typeface="Carlito"/>
                <a:cs typeface="Carlito"/>
              </a:rPr>
              <a:t>two or more </a:t>
            </a:r>
            <a:r>
              <a:rPr sz="2400" spc="-15" dirty="0">
                <a:latin typeface="Carlito"/>
                <a:cs typeface="Carlito"/>
              </a:rPr>
              <a:t>hard  </a:t>
            </a:r>
            <a:r>
              <a:rPr sz="2400" spc="-10" dirty="0">
                <a:latin typeface="Carlito"/>
                <a:cs typeface="Carlito"/>
              </a:rPr>
              <a:t>drives)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RAID 1 = </a:t>
            </a:r>
            <a:r>
              <a:rPr sz="2400" spc="-5" dirty="0">
                <a:latin typeface="Carlito"/>
                <a:cs typeface="Carlito"/>
              </a:rPr>
              <a:t>disk </a:t>
            </a:r>
            <a:r>
              <a:rPr sz="2400" spc="-10" dirty="0">
                <a:latin typeface="Carlito"/>
                <a:cs typeface="Carlito"/>
              </a:rPr>
              <a:t>mirroring (duplicate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copy)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level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combination </a:t>
            </a:r>
            <a:r>
              <a:rPr sz="2400" spc="-5" dirty="0">
                <a:latin typeface="Carlito"/>
                <a:cs typeface="Carlito"/>
              </a:rPr>
              <a:t>or striping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mirroring</a:t>
            </a:r>
            <a:endParaRPr sz="24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rlito"/>
                <a:cs typeface="Carlito"/>
              </a:rPr>
              <a:t>Drobo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New </a:t>
            </a:r>
            <a:r>
              <a:rPr sz="2400" dirty="0">
                <a:latin typeface="Carlito"/>
                <a:cs typeface="Carlito"/>
              </a:rPr>
              <a:t>RAID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marR="292290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Much </a:t>
            </a:r>
            <a:r>
              <a:rPr sz="2400" spc="-5" dirty="0">
                <a:latin typeface="Carlito"/>
                <a:cs typeface="Carlito"/>
              </a:rPr>
              <a:t>easier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10" dirty="0">
                <a:latin typeface="Carlito"/>
                <a:cs typeface="Carlito"/>
              </a:rPr>
              <a:t>previous 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Offers </a:t>
            </a:r>
            <a:r>
              <a:rPr sz="2400" spc="-10" dirty="0">
                <a:latin typeface="Carlito"/>
                <a:cs typeface="Carlito"/>
              </a:rPr>
              <a:t>continuous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redundancy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80126" y="3861053"/>
            <a:ext cx="3245104" cy="1584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7124" y="5825578"/>
            <a:ext cx="1056635" cy="487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54</a:t>
            </a:fld>
            <a:endParaRPr spc="-16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3237" y="1674812"/>
            <a:ext cx="8437880" cy="4257040"/>
            <a:chOff x="503237" y="1674812"/>
            <a:chExt cx="8437880" cy="4257040"/>
          </a:xfrm>
        </p:grpSpPr>
        <p:sp>
          <p:nvSpPr>
            <p:cNvPr id="4" name="object 4"/>
            <p:cNvSpPr/>
            <p:nvPr/>
          </p:nvSpPr>
          <p:spPr>
            <a:xfrm>
              <a:off x="503237" y="1960029"/>
              <a:ext cx="7762875" cy="39714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1425" y="1674812"/>
              <a:ext cx="1349375" cy="8810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55</a:t>
            </a:fld>
            <a:endParaRPr spc="-16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84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Magnetic </a:t>
            </a:r>
            <a:r>
              <a:rPr sz="3600" spc="-525" dirty="0"/>
              <a:t>Tape</a:t>
            </a:r>
            <a:r>
              <a:rPr sz="3600" spc="-65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33640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Magnetic</a:t>
            </a:r>
            <a:r>
              <a:rPr sz="2400" spc="-50" dirty="0">
                <a:latin typeface="Carlito"/>
                <a:cs typeface="Carlito"/>
              </a:rPr>
              <a:t> Tape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Plastic </a:t>
            </a:r>
            <a:r>
              <a:rPr sz="2400" spc="-10" dirty="0">
                <a:latin typeface="Carlito"/>
                <a:cs typeface="Carlito"/>
              </a:rPr>
              <a:t>tape </a:t>
            </a:r>
            <a:r>
              <a:rPr sz="2400" spc="-15" dirty="0">
                <a:latin typeface="Carlito"/>
                <a:cs typeface="Carlito"/>
              </a:rPr>
              <a:t>coated </a:t>
            </a:r>
            <a:r>
              <a:rPr sz="2400" dirty="0">
                <a:latin typeface="Carlito"/>
                <a:cs typeface="Carlito"/>
              </a:rPr>
              <a:t>with a </a:t>
            </a:r>
            <a:r>
              <a:rPr sz="2400" spc="-5" dirty="0">
                <a:latin typeface="Carlito"/>
                <a:cs typeface="Carlito"/>
              </a:rPr>
              <a:t>magnetizable </a:t>
            </a:r>
            <a:r>
              <a:rPr sz="2400" spc="-10" dirty="0">
                <a:latin typeface="Carlito"/>
                <a:cs typeface="Carlito"/>
              </a:rPr>
              <a:t>substance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that  represents </a:t>
            </a:r>
            <a:r>
              <a:rPr sz="2400" spc="-5" dirty="0">
                <a:latin typeface="Carlito"/>
                <a:cs typeface="Carlito"/>
              </a:rPr>
              <a:t>the bits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bytes of </a:t>
            </a:r>
            <a:r>
              <a:rPr sz="2400" spc="-10" dirty="0">
                <a:latin typeface="Carlito"/>
                <a:cs typeface="Carlito"/>
              </a:rPr>
              <a:t>digital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Primarily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archival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purposes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Sequential </a:t>
            </a:r>
            <a:r>
              <a:rPr sz="2400" dirty="0">
                <a:latin typeface="Carlito"/>
                <a:cs typeface="Carlito"/>
              </a:rPr>
              <a:t>access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only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Low </a:t>
            </a:r>
            <a:r>
              <a:rPr sz="2400" spc="-15" dirty="0">
                <a:latin typeface="Carlito"/>
                <a:cs typeface="Carlito"/>
              </a:rPr>
              <a:t>cost </a:t>
            </a:r>
            <a:r>
              <a:rPr sz="2400" spc="-5" dirty="0">
                <a:latin typeface="Carlito"/>
                <a:cs typeface="Carlito"/>
              </a:rPr>
              <a:t>per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terabyte</a:t>
            </a:r>
            <a:endParaRPr sz="2400">
              <a:latin typeface="Carlito"/>
              <a:cs typeface="Carlito"/>
            </a:endParaRPr>
          </a:p>
          <a:p>
            <a:pPr marL="756285" marR="337185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5" dirty="0">
                <a:latin typeface="Carlito"/>
                <a:cs typeface="Carlito"/>
              </a:rPr>
              <a:t>tapes </a:t>
            </a:r>
            <a:r>
              <a:rPr sz="2400" spc="-20" dirty="0">
                <a:latin typeface="Carlito"/>
                <a:cs typeface="Carlito"/>
              </a:rPr>
              <a:t>today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5" dirty="0">
                <a:latin typeface="Carlito"/>
                <a:cs typeface="Carlito"/>
              </a:rPr>
              <a:t>form </a:t>
            </a:r>
            <a:r>
              <a:rPr sz="2400" spc="-5" dirty="0">
                <a:latin typeface="Carlito"/>
                <a:cs typeface="Carlito"/>
              </a:rPr>
              <a:t>of cartridge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tapes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48071" y="3400049"/>
            <a:ext cx="3390900" cy="2724150"/>
            <a:chOff x="5148071" y="3400049"/>
            <a:chExt cx="3390900" cy="2724150"/>
          </a:xfrm>
        </p:grpSpPr>
        <p:sp>
          <p:nvSpPr>
            <p:cNvPr id="5" name="object 5"/>
            <p:cNvSpPr/>
            <p:nvPr/>
          </p:nvSpPr>
          <p:spPr>
            <a:xfrm>
              <a:off x="5148071" y="3400049"/>
              <a:ext cx="3390646" cy="215559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08116" y="5301208"/>
              <a:ext cx="1458848" cy="8229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56</a:t>
            </a:fld>
            <a:endParaRPr spc="-16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436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95" dirty="0"/>
              <a:t>Evaluating </a:t>
            </a:r>
            <a:r>
              <a:rPr spc="-405" dirty="0"/>
              <a:t>Your </a:t>
            </a:r>
            <a:r>
              <a:rPr spc="-395" dirty="0"/>
              <a:t>Storage</a:t>
            </a:r>
            <a:r>
              <a:rPr spc="175" dirty="0"/>
              <a:t> </a:t>
            </a:r>
            <a:r>
              <a:rPr spc="-400" dirty="0"/>
              <a:t>Alternatives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5423535" cy="44526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Product Characteristics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Consider: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Speed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Compatibility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capacity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Convenience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Portability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Most Users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Require: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Recordable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rewritable optical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card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reader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USB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6060" cy="31309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Storage Devices: </a:t>
            </a:r>
            <a:endParaRPr lang="en-US" sz="2400" dirty="0" smtClean="0"/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Magnetic </a:t>
            </a:r>
            <a:r>
              <a:rPr lang="en-US" sz="2400" dirty="0" smtClean="0"/>
              <a:t>Storage </a:t>
            </a:r>
            <a:r>
              <a:rPr lang="en-US" sz="2400" dirty="0" smtClean="0"/>
              <a:t>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Optical </a:t>
            </a:r>
            <a:r>
              <a:rPr lang="en-US" sz="2400" dirty="0" smtClean="0"/>
              <a:t>Storage </a:t>
            </a:r>
            <a:r>
              <a:rPr lang="en-US" sz="2400" dirty="0" smtClean="0"/>
              <a:t>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Solid </a:t>
            </a:r>
            <a:r>
              <a:rPr lang="en-US" sz="2400" dirty="0" smtClean="0"/>
              <a:t>State Storage </a:t>
            </a:r>
            <a:r>
              <a:rPr lang="en-US" sz="2400" dirty="0" smtClean="0"/>
              <a:t>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Data </a:t>
            </a:r>
            <a:r>
              <a:rPr lang="en-US" sz="2400" dirty="0" smtClean="0"/>
              <a:t>Read &amp; Write Process. </a:t>
            </a:r>
          </a:p>
          <a:p>
            <a:r>
              <a:rPr lang="en-GB" sz="2400" dirty="0" smtClean="0"/>
              <a:t>  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400">
              <a:latin typeface="Carlito"/>
              <a:cs typeface="Carlito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GB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3684358</TotalTime>
  <Words>2787</Words>
  <Application>Microsoft Office PowerPoint</Application>
  <PresentationFormat>On-screen Show (4:3)</PresentationFormat>
  <Paragraphs>467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Module</vt:lpstr>
      <vt:lpstr>CSC 101 – Introduction to Computing</vt:lpstr>
      <vt:lpstr>Outline</vt:lpstr>
      <vt:lpstr>Storage System Characteristics</vt:lpstr>
      <vt:lpstr>Storage System Characteristics</vt:lpstr>
      <vt:lpstr>Storage System Characteristics</vt:lpstr>
      <vt:lpstr>Storage System Characteristics</vt:lpstr>
      <vt:lpstr>Storage System Characteristics</vt:lpstr>
      <vt:lpstr>Storage System Characteristics</vt:lpstr>
      <vt:lpstr>Hard Drives</vt:lpstr>
      <vt:lpstr>Hard Drives</vt:lpstr>
      <vt:lpstr>Hard Drives</vt:lpstr>
      <vt:lpstr>Hard Drives</vt:lpstr>
      <vt:lpstr>How It Works Box</vt:lpstr>
      <vt:lpstr>Hard Drives</vt:lpstr>
      <vt:lpstr>Inside the Industry Box</vt:lpstr>
      <vt:lpstr>Internal and External Hard Drives</vt:lpstr>
      <vt:lpstr>Internal and External Hard Drives</vt:lpstr>
      <vt:lpstr>Hard Drive Speed, Disk Caching, and  Hybrid Hard Drives</vt:lpstr>
      <vt:lpstr>Hard Drive Speed, Disk Caching, and  Hybrid Hard Drives</vt:lpstr>
      <vt:lpstr>Hard Drive Partitioning and File  Systems</vt:lpstr>
      <vt:lpstr>Hard Drive Partitioning and File  Systems</vt:lpstr>
      <vt:lpstr>Hard Drive Interface Standards</vt:lpstr>
      <vt:lpstr>Optical Discs and Drives</vt:lpstr>
      <vt:lpstr>Optical Discs and Drives</vt:lpstr>
      <vt:lpstr>Optical Discs and Drives</vt:lpstr>
      <vt:lpstr>Optical Discs and Drives</vt:lpstr>
      <vt:lpstr>Optical Discs and Drives</vt:lpstr>
      <vt:lpstr>Optical Discs and Drives</vt:lpstr>
      <vt:lpstr>Optical Discs and Drives</vt:lpstr>
      <vt:lpstr>Read-Only Optical Discs</vt:lpstr>
      <vt:lpstr>Recordable Optical Discs</vt:lpstr>
      <vt:lpstr>Rewritable Optical Discs</vt:lpstr>
      <vt:lpstr>Trend Box</vt:lpstr>
      <vt:lpstr>Flash Memory Storage Systems</vt:lpstr>
      <vt:lpstr>Flash Memory Storage Systems</vt:lpstr>
      <vt:lpstr>Flash Memory Storage Systems</vt:lpstr>
      <vt:lpstr>Flash Memory Storage Systems</vt:lpstr>
      <vt:lpstr>Flash Memory Storage Systems</vt:lpstr>
      <vt:lpstr>Flash Memory Storage Systems</vt:lpstr>
      <vt:lpstr>Flash Drive Storage Systems</vt:lpstr>
      <vt:lpstr>Technology and You Box</vt:lpstr>
      <vt:lpstr>Other Types of Storage Systems</vt:lpstr>
      <vt:lpstr>Network and Cloud Storage Systems</vt:lpstr>
      <vt:lpstr>Network and Cloud Storage Systems</vt:lpstr>
      <vt:lpstr>Network and Cloud Storage Systems</vt:lpstr>
      <vt:lpstr>Network and Cloud Storage Systems</vt:lpstr>
      <vt:lpstr>Smart Cards</vt:lpstr>
      <vt:lpstr>Smart Cards</vt:lpstr>
      <vt:lpstr>Holographic Storage</vt:lpstr>
      <vt:lpstr>Holographic Storage</vt:lpstr>
      <vt:lpstr>Storage Systems for Large Computer  Systems</vt:lpstr>
      <vt:lpstr>Storage Systems for Large Computer  Systems</vt:lpstr>
      <vt:lpstr>Storage Systems for Large Computer  Systems</vt:lpstr>
      <vt:lpstr>Storage Systems for Large Computer  Systems</vt:lpstr>
      <vt:lpstr>Storage Systems for Large Computer  Systems</vt:lpstr>
      <vt:lpstr>Magnetic Tape Systems</vt:lpstr>
      <vt:lpstr>Evaluating Your Storage Alternatives</vt:lpstr>
      <vt:lpstr>Summary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Administrator</cp:lastModifiedBy>
  <cp:revision>150</cp:revision>
  <dcterms:created xsi:type="dcterms:W3CDTF">2015-07-29T13:27:11Z</dcterms:created>
  <dcterms:modified xsi:type="dcterms:W3CDTF">2022-09-16T09:27:37Z</dcterms:modified>
</cp:coreProperties>
</file>