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4">
  <p:sldMasterIdLst>
    <p:sldMasterId id="2147483660" r:id="rId1"/>
  </p:sldMasterIdLst>
  <p:notesMasterIdLst>
    <p:notesMasterId r:id="rId32"/>
  </p:notesMasterIdLst>
  <p:sldIdLst>
    <p:sldId id="256" r:id="rId2"/>
    <p:sldId id="375" r:id="rId3"/>
    <p:sldId id="377" r:id="rId4"/>
    <p:sldId id="378" r:id="rId5"/>
    <p:sldId id="380" r:id="rId6"/>
    <p:sldId id="385" r:id="rId7"/>
    <p:sldId id="386" r:id="rId8"/>
    <p:sldId id="387" r:id="rId9"/>
    <p:sldId id="389" r:id="rId10"/>
    <p:sldId id="391" r:id="rId11"/>
    <p:sldId id="392" r:id="rId12"/>
    <p:sldId id="393" r:id="rId13"/>
    <p:sldId id="395" r:id="rId14"/>
    <p:sldId id="396" r:id="rId15"/>
    <p:sldId id="397" r:id="rId16"/>
    <p:sldId id="399" r:id="rId17"/>
    <p:sldId id="400" r:id="rId18"/>
    <p:sldId id="401" r:id="rId19"/>
    <p:sldId id="403" r:id="rId20"/>
    <p:sldId id="404" r:id="rId21"/>
    <p:sldId id="405" r:id="rId22"/>
    <p:sldId id="406" r:id="rId23"/>
    <p:sldId id="407" r:id="rId24"/>
    <p:sldId id="408" r:id="rId25"/>
    <p:sldId id="409" r:id="rId26"/>
    <p:sldId id="410" r:id="rId27"/>
    <p:sldId id="411" r:id="rId28"/>
    <p:sldId id="412" r:id="rId29"/>
    <p:sldId id="413" r:id="rId30"/>
    <p:sldId id="414" r:id="rId3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6" d="100"/>
          <a:sy n="86" d="100"/>
        </p:scale>
        <p:origin x="1524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33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D47964-3B62-4D5B-A939-DE505F670888}" type="datetimeFigureOut">
              <a:rPr lang="en-US" smtClean="0"/>
              <a:pPr/>
              <a:t>10/19/2025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C7BA28-8807-43C5-99C4-A55965820A4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8584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ltGray">
          <a:xfrm>
            <a:off x="0" y="0"/>
            <a:ext cx="9143999" cy="513543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355848"/>
            <a:ext cx="8077200" cy="1673352"/>
          </a:xfrm>
        </p:spPr>
        <p:txBody>
          <a:bodyPr vert="horz" lIns="91440" tIns="0" rIns="45720" bIns="0" rtlCol="0" anchor="t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lvl1pPr algn="l">
              <a:defRPr sz="4700" b="1"/>
            </a:lvl1pPr>
            <a:extLst/>
          </a:lstStyle>
          <a:p>
            <a:r>
              <a:rPr kumimoji="0" lang="en-US" dirty="0" smtClean="0"/>
              <a:t>Click to edit Master title style</a:t>
            </a:r>
            <a:endParaRPr kumimoji="0"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1828800"/>
            <a:ext cx="8077200" cy="1499616"/>
          </a:xfrm>
        </p:spPr>
        <p:txBody>
          <a:bodyPr lIns="118872" tIns="0" rIns="45720" bIns="0" anchor="b"/>
          <a:lstStyle>
            <a:lvl1pPr marL="0" indent="0" algn="l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  <a:extLst/>
          </a:lstStyle>
          <a:p>
            <a:r>
              <a:rPr kumimoji="0" lang="en-US" dirty="0" smtClean="0"/>
              <a:t>Click to edit Master subtitle style</a:t>
            </a:r>
            <a:endParaRPr kumimoji="0"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A0426-1E93-4650-A475-F448298E202D}" type="datetimeFigureOut">
              <a:rPr lang="en-US" smtClean="0"/>
              <a:pPr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B2727-650B-418F-B6A3-9EC51F60F0E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0" y="5128334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252728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A0426-1E93-4650-A475-F448298E202D}" type="datetimeFigureOut">
              <a:rPr lang="en-US" smtClean="0"/>
              <a:pPr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B2727-650B-418F-B6A3-9EC51F60F0E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ltGray">
          <a:xfrm>
            <a:off x="0" y="1"/>
            <a:ext cx="9144000" cy="260252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invGray">
          <a:xfrm>
            <a:off x="0" y="2602520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9808" y="118872"/>
            <a:ext cx="8013192" cy="1636776"/>
          </a:xfrm>
        </p:spPr>
        <p:txBody>
          <a:bodyPr vert="horz" lIns="91440" tIns="0" rIns="91440" bIns="0" rtlCol="0" anchor="b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lvl1pPr algn="l">
              <a:defRPr sz="4700" b="1" cap="none" baseline="0"/>
            </a:lvl1pPr>
            <a:extLst/>
          </a:lstStyle>
          <a:p>
            <a:r>
              <a:rPr kumimoji="0" lang="en-US" dirty="0" smtClean="0"/>
              <a:t>Click to edit Master title style</a:t>
            </a:r>
            <a:endParaRPr kumimoji="0"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0664" y="1828800"/>
            <a:ext cx="8022336" cy="685800"/>
          </a:xfrm>
        </p:spPr>
        <p:txBody>
          <a:bodyPr lIns="146304" tIns="0" rIns="45720" bIns="0" anchor="t"/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A0426-1E93-4650-A475-F448298E202D}" type="datetimeFigureOut">
              <a:rPr lang="en-US" smtClean="0"/>
              <a:pPr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B2727-650B-418F-B6A3-9EC51F60F0E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73936"/>
            <a:ext cx="4038600" cy="4623816"/>
          </a:xfrm>
        </p:spPr>
        <p:txBody>
          <a:bodyPr lIns="9144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73936"/>
            <a:ext cx="4038600" cy="462381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A0426-1E93-4650-A475-F448298E202D}" type="datetimeFigureOut">
              <a:rPr lang="en-US" smtClean="0"/>
              <a:pPr/>
              <a:t>10/19/2025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B2727-650B-418F-B6A3-9EC51F60F0E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98987"/>
            <a:ext cx="4040188" cy="715355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49512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698987"/>
            <a:ext cx="4041775" cy="715355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449512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A0426-1E93-4650-A475-F448298E202D}" type="datetimeFigureOut">
              <a:rPr lang="en-US" smtClean="0"/>
              <a:pPr/>
              <a:t>10/19/2025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B2727-650B-418F-B6A3-9EC51F60F0E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A0426-1E93-4650-A475-F448298E202D}" type="datetimeFigureOut">
              <a:rPr lang="en-US" smtClean="0"/>
              <a:pPr/>
              <a:t>10/19/2025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B2727-650B-418F-B6A3-9EC51F60F0E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A0426-1E93-4650-A475-F448298E202D}" type="datetimeFigureOut">
              <a:rPr lang="en-US" smtClean="0"/>
              <a:pPr/>
              <a:t>10/19/2025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B2727-650B-418F-B6A3-9EC51F60F0E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838" y="152400"/>
            <a:ext cx="2523744" cy="978408"/>
          </a:xfrm>
        </p:spPr>
        <p:txBody>
          <a:bodyPr vert="horz" lIns="73152" rIns="45720" bIns="0" rtlCol="0" anchor="b">
            <a:normAutofit/>
            <a:sp3d prstMaterial="matte"/>
          </a:bodyPr>
          <a:lstStyle>
            <a:lvl1pPr algn="l">
              <a:defRPr sz="2000" b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19377" y="1743133"/>
            <a:ext cx="5920641" cy="455888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838" y="1730018"/>
            <a:ext cx="2468880" cy="45720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A0426-1E93-4650-A475-F448298E202D}" type="datetimeFigureOut">
              <a:rPr lang="en-US" smtClean="0"/>
              <a:pPr/>
              <a:t>10/19/2025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B2727-650B-418F-B6A3-9EC51F60F0E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 bwMode="invGray">
          <a:xfrm>
            <a:off x="2855737" y="0"/>
            <a:ext cx="45720" cy="1453896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 bwMode="invGray">
          <a:xfrm>
            <a:off x="2855737" y="0"/>
            <a:ext cx="45720" cy="1453896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92" y="155448"/>
            <a:ext cx="2525150" cy="978408"/>
          </a:xfrm>
        </p:spPr>
        <p:txBody>
          <a:bodyPr lIns="73152" bIns="0" anchor="b">
            <a:sp3d prstMaterial="matte"/>
          </a:bodyPr>
          <a:lstStyle>
            <a:lvl1pPr algn="l">
              <a:defRPr sz="2000" b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903805" y="1484808"/>
            <a:ext cx="6247397" cy="5373192"/>
          </a:xfrm>
          <a:solidFill>
            <a:schemeClr val="bg2">
              <a:shade val="75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592" y="1728216"/>
            <a:ext cx="2468880" cy="45720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64592" y="1170432"/>
            <a:ext cx="2523744" cy="201168"/>
          </a:xfrm>
        </p:spPr>
        <p:txBody>
          <a:bodyPr/>
          <a:lstStyle/>
          <a:p>
            <a:fld id="{6D0A0426-1E93-4650-A475-F448298E202D}" type="datetimeFigureOut">
              <a:rPr lang="en-US" smtClean="0"/>
              <a:pPr/>
              <a:t>10/19/2025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2855737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 bwMode="invGray">
          <a:xfrm>
            <a:off x="2855737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35808" y="1170432"/>
            <a:ext cx="5193792" cy="201168"/>
          </a:xfrm>
        </p:spPr>
        <p:txBody>
          <a:bodyPr/>
          <a:lstStyle>
            <a:lvl1pPr>
              <a:defRPr>
                <a:solidFill>
                  <a:schemeClr val="bg1">
                    <a:shade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339328" y="1170432"/>
            <a:ext cx="733864" cy="201168"/>
          </a:xfrm>
        </p:spPr>
        <p:txBody>
          <a:bodyPr/>
          <a:lstStyle/>
          <a:p>
            <a:fld id="{22DB2727-650B-418F-B6A3-9EC51F60F0E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A0426-1E93-4650-A475-F448298E202D}" type="datetimeFigureOut">
              <a:rPr lang="en-US" smtClean="0"/>
              <a:pPr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B2727-650B-418F-B6A3-9EC51F60F0E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invGray">
          <a:xfrm>
            <a:off x="6598920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108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 bwMode="ltGray">
          <a:xfrm>
            <a:off x="6647687" y="0"/>
            <a:ext cx="2514601" cy="685800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274640"/>
            <a:ext cx="1905000" cy="5851525"/>
          </a:xfrm>
        </p:spPr>
        <p:txBody>
          <a:bodyPr vert="eaVert"/>
          <a:lstStyle/>
          <a:p>
            <a:r>
              <a:rPr kumimoji="0" lang="en-US" dirty="0" smtClean="0"/>
              <a:t>Click to edit Master title style</a:t>
            </a:r>
            <a:endParaRPr kumimoji="0"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04800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A0426-1E93-4650-A475-F448298E202D}" type="datetimeFigureOut">
              <a:rPr lang="en-US" smtClean="0"/>
              <a:pPr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40597" y="6377459"/>
            <a:ext cx="383640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B2727-650B-418F-B6A3-9EC51F60F0E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 bwMode="invGray">
          <a:xfrm>
            <a:off x="0" y="1435895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Rectangle 6"/>
          <p:cNvSpPr/>
          <p:nvPr/>
        </p:nvSpPr>
        <p:spPr bwMode="ltGray">
          <a:xfrm>
            <a:off x="0" y="0"/>
            <a:ext cx="9143999" cy="1433733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51062"/>
          </a:xfrm>
          <a:prstGeom prst="rect">
            <a:avLst/>
          </a:prstGeom>
        </p:spPr>
        <p:txBody>
          <a:bodyPr vert="horz" lIns="91440" rIns="45720" rtlCol="0" anchor="ctr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/>
          <a:p>
            <a:r>
              <a:rPr kumimoji="0" lang="en-US" dirty="0" smtClean="0"/>
              <a:t>Click to edit Master title style</a:t>
            </a:r>
            <a:endParaRPr kumimoji="0"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75191"/>
            <a:ext cx="8229600" cy="4625609"/>
          </a:xfrm>
          <a:prstGeom prst="rect">
            <a:avLst/>
          </a:prstGeom>
        </p:spPr>
        <p:txBody>
          <a:bodyPr vert="horz" lIns="54864" tIns="91440" rtlCol="0">
            <a:normAutofit/>
          </a:bodyPr>
          <a:lstStyle/>
          <a:p>
            <a:pPr lvl="0" eaLnBrk="1" latinLnBrk="0" hangingPunct="1"/>
            <a:r>
              <a:rPr kumimoji="0" lang="en-US" dirty="0" smtClean="0"/>
              <a:t>Click to edit Master text styles</a:t>
            </a:r>
          </a:p>
          <a:p>
            <a:pPr lvl="1" eaLnBrk="1" latinLnBrk="0" hangingPunct="1"/>
            <a:r>
              <a:rPr kumimoji="0" lang="en-US" dirty="0" smtClean="0"/>
              <a:t>Second level</a:t>
            </a:r>
          </a:p>
          <a:p>
            <a:pPr lvl="2" eaLnBrk="1" latinLnBrk="0" hangingPunct="1"/>
            <a:r>
              <a:rPr kumimoji="0" lang="en-US" dirty="0" smtClean="0"/>
              <a:t>Third level</a:t>
            </a:r>
          </a:p>
          <a:p>
            <a:pPr lvl="3" eaLnBrk="1" latinLnBrk="0" hangingPunct="1"/>
            <a:r>
              <a:rPr kumimoji="0" lang="en-US" dirty="0" smtClean="0"/>
              <a:t>Fourth level</a:t>
            </a:r>
          </a:p>
          <a:p>
            <a:pPr lvl="4" eaLnBrk="1" latinLnBrk="0" hangingPunct="1"/>
            <a:r>
              <a:rPr kumimoji="0" lang="en-US" dirty="0" smtClean="0"/>
              <a:t>Fifth level</a:t>
            </a:r>
            <a:endParaRPr kumimoji="0"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476999"/>
            <a:ext cx="2133600" cy="274320"/>
          </a:xfrm>
          <a:prstGeom prst="rect">
            <a:avLst/>
          </a:prstGeom>
        </p:spPr>
        <p:txBody>
          <a:bodyPr vert="horz" lIns="109728" rIns="45720" bIns="0" rtlCol="0" anchor="b"/>
          <a:lstStyle>
            <a:lvl1pPr algn="l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fld id="{6D0A0426-1E93-4650-A475-F448298E202D}" type="datetimeFigureOut">
              <a:rPr lang="en-US" smtClean="0"/>
              <a:pPr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40596" y="6476999"/>
            <a:ext cx="5507719" cy="274320"/>
          </a:xfrm>
          <a:prstGeom prst="rect">
            <a:avLst/>
          </a:prstGeom>
        </p:spPr>
        <p:txBody>
          <a:bodyPr vert="horz" lIns="45720" rIns="45720" bIns="0" rtlCol="0" anchor="b"/>
          <a:lstStyle>
            <a:lvl1pPr algn="l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04396" y="6476999"/>
            <a:ext cx="733864" cy="274320"/>
          </a:xfrm>
          <a:prstGeom prst="rect">
            <a:avLst/>
          </a:prstGeom>
        </p:spPr>
        <p:txBody>
          <a:bodyPr vert="horz" bIns="0" rtlCol="0" anchor="b"/>
          <a:lstStyle>
            <a:lvl1pPr algn="r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fld id="{22DB2727-650B-418F-B6A3-9EC51F60F0ED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500" b="1" kern="1200">
          <a:solidFill>
            <a:schemeClr val="accent1">
              <a:satMod val="150000"/>
            </a:schemeClr>
          </a:solidFill>
          <a:effectLst/>
          <a:latin typeface="+mj-lt"/>
          <a:ea typeface="+mj-ea"/>
          <a:cs typeface="+mj-cs"/>
        </a:defRPr>
      </a:lvl1pPr>
      <a:extLst/>
    </p:titleStyle>
    <p:bodyStyle>
      <a:lvl1pPr marL="438912" indent="-320040" algn="l" rtl="0" eaLnBrk="1" latinLnBrk="0" hangingPunct="1">
        <a:spcBef>
          <a:spcPts val="0"/>
        </a:spcBef>
        <a:buClr>
          <a:schemeClr val="accent1"/>
        </a:buClr>
        <a:buSzPct val="80000"/>
        <a:buFont typeface="Wingdings 2"/>
        <a:buChar char="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31520" indent="-274320" algn="l" rtl="0" eaLnBrk="1" latinLnBrk="0" hangingPunct="1">
        <a:spcBef>
          <a:spcPct val="20000"/>
        </a:spcBef>
        <a:buClr>
          <a:schemeClr val="accent2"/>
        </a:buClr>
        <a:buSzPct val="90000"/>
        <a:buFont typeface="Wingdings"/>
        <a:buChar char="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96696" indent="-228600" algn="l" rtl="0" eaLnBrk="1" latinLnBrk="0" hangingPunct="1">
        <a:spcBef>
          <a:spcPct val="20000"/>
        </a:spcBef>
        <a:buClr>
          <a:schemeClr val="accent3"/>
        </a:buClr>
        <a:buFont typeface="Arial"/>
        <a:buChar char="▪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16152" indent="-182880" algn="l" rtl="0" eaLnBrk="1" latinLnBrk="0" hangingPunct="1">
        <a:spcBef>
          <a:spcPct val="20000"/>
        </a:spcBef>
        <a:buClr>
          <a:schemeClr val="accent4"/>
        </a:buClr>
        <a:buFont typeface="Arial"/>
        <a:buChar char="▪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26464" indent="-182880" algn="l" rtl="0" eaLnBrk="1" latinLnBrk="0" hangingPunct="1">
        <a:spcBef>
          <a:spcPct val="20000"/>
        </a:spcBef>
        <a:buClr>
          <a:schemeClr val="accent5"/>
        </a:buClr>
        <a:buFont typeface="Wingdings 3"/>
        <a:buChar char=""/>
        <a:defRPr kumimoji="0" lang="en-US" sz="2000" kern="1200" smtClean="0">
          <a:solidFill>
            <a:schemeClr val="tx1"/>
          </a:solidFill>
          <a:latin typeface="+mn-lt"/>
          <a:ea typeface="+mn-ea"/>
          <a:cs typeface="+mn-cs"/>
        </a:defRPr>
      </a:lvl5pPr>
      <a:lvl6pPr marL="1627632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ct val="20000"/>
        </a:spcBef>
        <a:buClr>
          <a:schemeClr val="accent1"/>
        </a:buClr>
        <a:buSzPct val="100000"/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ct val="20000"/>
        </a:spcBef>
        <a:buClr>
          <a:schemeClr val="accent2"/>
        </a:buClr>
        <a:buFont typeface="Wingdings 2" pitchFamily="18" charset="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231136" indent="-182880" algn="l" rtl="0" eaLnBrk="1" latinLnBrk="0" hangingPunct="1">
        <a:spcBef>
          <a:spcPct val="20000"/>
        </a:spcBef>
        <a:buClr>
          <a:schemeClr val="accent3"/>
        </a:buClr>
        <a:buFont typeface="Wingdings 2" pitchFamily="18" charset="2"/>
        <a:buChar char="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jpe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CSC 101 – Introduction to Computing</a:t>
            </a:r>
            <a:endParaRPr lang="en-US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Lecture 08 (Morley Ch 7)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39497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95" dirty="0"/>
              <a:t>What </a:t>
            </a:r>
            <a:r>
              <a:rPr spc="-560" dirty="0"/>
              <a:t>Is </a:t>
            </a:r>
            <a:r>
              <a:rPr spc="-570" dirty="0"/>
              <a:t>a</a:t>
            </a:r>
            <a:r>
              <a:rPr spc="-395" dirty="0"/>
              <a:t> </a:t>
            </a:r>
            <a:r>
              <a:rPr spc="-484" dirty="0"/>
              <a:t>Network?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2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7945755" cy="419608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10" dirty="0">
                <a:latin typeface="Carlito"/>
                <a:cs typeface="Carlito"/>
              </a:rPr>
              <a:t>Network</a:t>
            </a:r>
            <a:endParaRPr sz="2400" dirty="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dirty="0">
                <a:latin typeface="Carlito"/>
                <a:cs typeface="Carlito"/>
              </a:rPr>
              <a:t>A </a:t>
            </a:r>
            <a:r>
              <a:rPr sz="2400" spc="-10" dirty="0">
                <a:latin typeface="Carlito"/>
                <a:cs typeface="Carlito"/>
              </a:rPr>
              <a:t>connected </a:t>
            </a:r>
            <a:r>
              <a:rPr sz="2400" spc="-25" dirty="0">
                <a:latin typeface="Carlito"/>
                <a:cs typeface="Carlito"/>
              </a:rPr>
              <a:t>system </a:t>
            </a:r>
            <a:r>
              <a:rPr sz="2400" spc="-5" dirty="0">
                <a:latin typeface="Carlito"/>
                <a:cs typeface="Carlito"/>
              </a:rPr>
              <a:t>of objects or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people</a:t>
            </a:r>
            <a:endParaRPr sz="2400" dirty="0">
              <a:latin typeface="Carlito"/>
              <a:cs typeface="Carlito"/>
            </a:endParaRPr>
          </a:p>
          <a:p>
            <a:pPr marL="355600" indent="-3435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10" dirty="0">
                <a:latin typeface="Carlito"/>
                <a:cs typeface="Carlito"/>
              </a:rPr>
              <a:t>Computer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network</a:t>
            </a:r>
            <a:endParaRPr sz="2400" dirty="0">
              <a:latin typeface="Carlito"/>
              <a:cs typeface="Carlito"/>
            </a:endParaRPr>
          </a:p>
          <a:p>
            <a:pPr marL="756285" marR="508634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dirty="0">
                <a:latin typeface="Carlito"/>
                <a:cs typeface="Carlito"/>
              </a:rPr>
              <a:t>A </a:t>
            </a:r>
            <a:r>
              <a:rPr sz="2400" spc="-10" dirty="0">
                <a:latin typeface="Carlito"/>
                <a:cs typeface="Carlito"/>
              </a:rPr>
              <a:t>collection </a:t>
            </a:r>
            <a:r>
              <a:rPr sz="2400" spc="-5" dirty="0">
                <a:latin typeface="Carlito"/>
                <a:cs typeface="Carlito"/>
              </a:rPr>
              <a:t>of </a:t>
            </a:r>
            <a:r>
              <a:rPr sz="2400" spc="-15" dirty="0">
                <a:latin typeface="Carlito"/>
                <a:cs typeface="Carlito"/>
              </a:rPr>
              <a:t>computers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5" dirty="0">
                <a:latin typeface="Carlito"/>
                <a:cs typeface="Carlito"/>
              </a:rPr>
              <a:t>other </a:t>
            </a:r>
            <a:r>
              <a:rPr sz="2400" spc="-15" dirty="0">
                <a:latin typeface="Carlito"/>
                <a:cs typeface="Carlito"/>
              </a:rPr>
              <a:t>hardware </a:t>
            </a:r>
            <a:r>
              <a:rPr sz="2400" spc="-5" dirty="0">
                <a:latin typeface="Carlito"/>
                <a:cs typeface="Carlito"/>
              </a:rPr>
              <a:t>devices  </a:t>
            </a:r>
            <a:r>
              <a:rPr sz="2400" spc="-10" dirty="0">
                <a:latin typeface="Carlito"/>
                <a:cs typeface="Carlito"/>
              </a:rPr>
              <a:t>connected </a:t>
            </a:r>
            <a:r>
              <a:rPr sz="2400" spc="-15" dirty="0">
                <a:latin typeface="Carlito"/>
                <a:cs typeface="Carlito"/>
              </a:rPr>
              <a:t>together </a:t>
            </a:r>
            <a:r>
              <a:rPr sz="2400" spc="-5" dirty="0">
                <a:latin typeface="Carlito"/>
                <a:cs typeface="Carlito"/>
              </a:rPr>
              <a:t>so </a:t>
            </a:r>
            <a:r>
              <a:rPr sz="2400" spc="-10" dirty="0">
                <a:latin typeface="Carlito"/>
                <a:cs typeface="Carlito"/>
              </a:rPr>
              <a:t>users can share </a:t>
            </a:r>
            <a:r>
              <a:rPr sz="2400" spc="-15" dirty="0">
                <a:latin typeface="Carlito"/>
                <a:cs typeface="Carlito"/>
              </a:rPr>
              <a:t>hardware,  </a:t>
            </a:r>
            <a:r>
              <a:rPr sz="2400" spc="-10" dirty="0">
                <a:latin typeface="Carlito"/>
                <a:cs typeface="Carlito"/>
              </a:rPr>
              <a:t>software,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15" dirty="0">
                <a:latin typeface="Carlito"/>
                <a:cs typeface="Carlito"/>
              </a:rPr>
              <a:t>data,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5" dirty="0">
                <a:latin typeface="Carlito"/>
                <a:cs typeface="Carlito"/>
              </a:rPr>
              <a:t>electronically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communicate</a:t>
            </a:r>
            <a:endParaRPr sz="2400" dirty="0">
              <a:latin typeface="Carlito"/>
              <a:cs typeface="Carlito"/>
            </a:endParaRPr>
          </a:p>
          <a:p>
            <a:pPr marL="355600" indent="-3435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10" dirty="0" smtClean="0">
                <a:latin typeface="Carlito"/>
                <a:cs typeface="Carlito"/>
              </a:rPr>
              <a:t>Networks </a:t>
            </a:r>
            <a:r>
              <a:rPr sz="2400" spc="-15" dirty="0">
                <a:latin typeface="Carlito"/>
                <a:cs typeface="Carlito"/>
              </a:rPr>
              <a:t>range from </a:t>
            </a:r>
            <a:r>
              <a:rPr sz="2400" spc="-5" dirty="0">
                <a:latin typeface="Carlito"/>
                <a:cs typeface="Carlito"/>
              </a:rPr>
              <a:t>small </a:t>
            </a:r>
            <a:r>
              <a:rPr sz="2400" spc="-15" dirty="0">
                <a:latin typeface="Carlito"/>
                <a:cs typeface="Carlito"/>
              </a:rPr>
              <a:t>private networks to </a:t>
            </a:r>
            <a:r>
              <a:rPr sz="2400" dirty="0">
                <a:latin typeface="Carlito"/>
                <a:cs typeface="Carlito"/>
              </a:rPr>
              <a:t>the</a:t>
            </a:r>
            <a:r>
              <a:rPr sz="2400" spc="-1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Internet</a:t>
            </a:r>
            <a:endParaRPr sz="2400" dirty="0">
              <a:latin typeface="Carlito"/>
              <a:cs typeface="Carlito"/>
            </a:endParaRPr>
          </a:p>
          <a:p>
            <a:pPr marL="355600" indent="-3435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endParaRPr sz="2400" dirty="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49942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30" dirty="0"/>
              <a:t>Networking</a:t>
            </a:r>
            <a:r>
              <a:rPr spc="-265" dirty="0"/>
              <a:t> </a:t>
            </a:r>
            <a:r>
              <a:rPr spc="-425" dirty="0"/>
              <a:t>Applications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3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8040370" cy="3949158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5" dirty="0">
                <a:latin typeface="Carlito"/>
                <a:cs typeface="Carlito"/>
              </a:rPr>
              <a:t>The</a:t>
            </a:r>
            <a:r>
              <a:rPr sz="2400" spc="-10" dirty="0">
                <a:latin typeface="Carlito"/>
                <a:cs typeface="Carlito"/>
              </a:rPr>
              <a:t> Internet</a:t>
            </a:r>
            <a:endParaRPr sz="2400" dirty="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5" dirty="0">
                <a:latin typeface="Carlito"/>
                <a:cs typeface="Carlito"/>
              </a:rPr>
              <a:t>Largest </a:t>
            </a:r>
            <a:r>
              <a:rPr sz="2400" spc="-10" dirty="0">
                <a:latin typeface="Carlito"/>
                <a:cs typeface="Carlito"/>
              </a:rPr>
              <a:t>computer network </a:t>
            </a:r>
            <a:r>
              <a:rPr sz="2400" dirty="0">
                <a:latin typeface="Carlito"/>
                <a:cs typeface="Carlito"/>
              </a:rPr>
              <a:t>in the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world</a:t>
            </a:r>
            <a:endParaRPr sz="2400" dirty="0">
              <a:latin typeface="Carlito"/>
              <a:cs typeface="Carlito"/>
            </a:endParaRPr>
          </a:p>
          <a:p>
            <a:pPr marL="355600" indent="-3435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25" dirty="0">
                <a:latin typeface="Carlito"/>
                <a:cs typeface="Carlito"/>
              </a:rPr>
              <a:t>Telephone</a:t>
            </a:r>
            <a:r>
              <a:rPr sz="2400" dirty="0">
                <a:latin typeface="Carlito"/>
                <a:cs typeface="Carlito"/>
              </a:rPr>
              <a:t> Service</a:t>
            </a: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25" dirty="0" smtClean="0">
                <a:latin typeface="Carlito"/>
                <a:cs typeface="Carlito"/>
              </a:rPr>
              <a:t>POTS</a:t>
            </a:r>
            <a:r>
              <a:rPr lang="en-US" sz="2400" spc="-25" dirty="0">
                <a:latin typeface="Carlito"/>
                <a:cs typeface="Carlito"/>
              </a:rPr>
              <a:t> (Plain Old Telephone Service)</a:t>
            </a:r>
            <a:r>
              <a:rPr sz="2400" spc="-20" dirty="0" smtClean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Network</a:t>
            </a:r>
            <a:endParaRPr sz="2400" dirty="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Carlito"/>
                <a:cs typeface="Carlito"/>
              </a:rPr>
              <a:t>One of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15" dirty="0">
                <a:latin typeface="Carlito"/>
                <a:cs typeface="Carlito"/>
              </a:rPr>
              <a:t>first</a:t>
            </a:r>
            <a:r>
              <a:rPr sz="2400" spc="-5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networks</a:t>
            </a:r>
            <a:endParaRPr sz="2400" dirty="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Carlito"/>
                <a:cs typeface="Carlito"/>
              </a:rPr>
              <a:t>Still used </a:t>
            </a:r>
            <a:r>
              <a:rPr sz="2400" spc="-20" dirty="0">
                <a:latin typeface="Carlito"/>
                <a:cs typeface="Carlito"/>
              </a:rPr>
              <a:t>today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10" dirty="0">
                <a:latin typeface="Carlito"/>
                <a:cs typeface="Carlito"/>
              </a:rPr>
              <a:t>provide </a:t>
            </a:r>
            <a:r>
              <a:rPr sz="2400" spc="-5" dirty="0">
                <a:latin typeface="Carlito"/>
                <a:cs typeface="Carlito"/>
              </a:rPr>
              <a:t>telephone </a:t>
            </a:r>
            <a:r>
              <a:rPr sz="2400" dirty="0">
                <a:latin typeface="Carlito"/>
                <a:cs typeface="Carlito"/>
              </a:rPr>
              <a:t>service </a:t>
            </a:r>
            <a:r>
              <a:rPr sz="2400" spc="-15" dirty="0">
                <a:latin typeface="Carlito"/>
                <a:cs typeface="Carlito"/>
              </a:rPr>
              <a:t>to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dirty="0" smtClean="0">
                <a:latin typeface="Carlito"/>
                <a:cs typeface="Carlito"/>
              </a:rPr>
              <a:t>landline</a:t>
            </a:r>
            <a:r>
              <a:rPr lang="en-US" sz="2400" dirty="0">
                <a:latin typeface="Carlito"/>
                <a:cs typeface="Carlito"/>
              </a:rPr>
              <a:t> </a:t>
            </a:r>
            <a:r>
              <a:rPr sz="2400" spc="-5" dirty="0" smtClean="0">
                <a:latin typeface="Carlito"/>
                <a:cs typeface="Carlito"/>
              </a:rPr>
              <a:t>phones</a:t>
            </a:r>
            <a:endParaRPr sz="2400" dirty="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dirty="0">
                <a:latin typeface="Carlito"/>
                <a:cs typeface="Carlito"/>
              </a:rPr>
              <a:t>Mobile </a:t>
            </a:r>
            <a:r>
              <a:rPr sz="2400" spc="-5" dirty="0">
                <a:latin typeface="Carlito"/>
                <a:cs typeface="Carlito"/>
              </a:rPr>
              <a:t>Phones (wireless</a:t>
            </a:r>
            <a:r>
              <a:rPr sz="2400" spc="-4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phones)</a:t>
            </a:r>
            <a:endParaRPr sz="2400" dirty="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Carlito"/>
                <a:cs typeface="Carlito"/>
              </a:rPr>
              <a:t>Use </a:t>
            </a:r>
            <a:r>
              <a:rPr sz="2400" dirty="0">
                <a:latin typeface="Carlito"/>
                <a:cs typeface="Carlito"/>
              </a:rPr>
              <a:t>a </a:t>
            </a:r>
            <a:r>
              <a:rPr sz="2400" spc="-5" dirty="0">
                <a:latin typeface="Carlito"/>
                <a:cs typeface="Carlito"/>
              </a:rPr>
              <a:t>wireless </a:t>
            </a:r>
            <a:r>
              <a:rPr sz="2400" spc="-10" dirty="0">
                <a:latin typeface="Carlito"/>
                <a:cs typeface="Carlito"/>
              </a:rPr>
              <a:t>network </a:t>
            </a:r>
            <a:r>
              <a:rPr sz="2400" spc="-20" dirty="0">
                <a:latin typeface="Carlito"/>
                <a:cs typeface="Carlito"/>
              </a:rPr>
              <a:t>for</a:t>
            </a:r>
            <a:r>
              <a:rPr sz="2400" spc="-4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communications</a:t>
            </a:r>
            <a:endParaRPr sz="2400" dirty="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49942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30" dirty="0"/>
              <a:t>Networking</a:t>
            </a:r>
            <a:r>
              <a:rPr spc="-265" dirty="0"/>
              <a:t> </a:t>
            </a:r>
            <a:r>
              <a:rPr spc="-425" dirty="0"/>
              <a:t>Applications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4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1450594" y="1461262"/>
            <a:ext cx="6568440" cy="456184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241300" indent="-228600" algn="just">
              <a:lnSpc>
                <a:spcPct val="100000"/>
              </a:lnSpc>
              <a:spcBef>
                <a:spcPts val="385"/>
              </a:spcBef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latin typeface="Carlito"/>
                <a:cs typeface="Carlito"/>
              </a:rPr>
              <a:t>Cellular (cell)</a:t>
            </a:r>
            <a:r>
              <a:rPr sz="2400" spc="-6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Phones</a:t>
            </a:r>
            <a:endParaRPr sz="2400" dirty="0">
              <a:latin typeface="Carlito"/>
              <a:cs typeface="Carlito"/>
            </a:endParaRPr>
          </a:p>
          <a:p>
            <a:pPr marL="698500" lvl="1" indent="-228600" algn="just">
              <a:lnSpc>
                <a:spcPct val="100000"/>
              </a:lnSpc>
              <a:spcBef>
                <a:spcPts val="290"/>
              </a:spcBef>
              <a:buFont typeface="Arial"/>
              <a:buChar char="–"/>
              <a:tabLst>
                <a:tab pos="698500" algn="l"/>
              </a:tabLst>
            </a:pPr>
            <a:r>
              <a:rPr sz="2400" spc="-10" dirty="0">
                <a:latin typeface="Carlito"/>
                <a:cs typeface="Carlito"/>
              </a:rPr>
              <a:t>Must </a:t>
            </a:r>
            <a:r>
              <a:rPr sz="2400" spc="-5" dirty="0">
                <a:latin typeface="Carlito"/>
                <a:cs typeface="Carlito"/>
              </a:rPr>
              <a:t>be </a:t>
            </a:r>
            <a:r>
              <a:rPr sz="2400" dirty="0">
                <a:latin typeface="Carlito"/>
                <a:cs typeface="Carlito"/>
              </a:rPr>
              <a:t>within </a:t>
            </a:r>
            <a:r>
              <a:rPr sz="2400" spc="-15" dirty="0">
                <a:latin typeface="Carlito"/>
                <a:cs typeface="Carlito"/>
              </a:rPr>
              <a:t>range </a:t>
            </a:r>
            <a:r>
              <a:rPr sz="2400" spc="-5" dirty="0">
                <a:latin typeface="Carlito"/>
                <a:cs typeface="Carlito"/>
              </a:rPr>
              <a:t>of </a:t>
            </a:r>
            <a:r>
              <a:rPr sz="2400" dirty="0">
                <a:latin typeface="Carlito"/>
                <a:cs typeface="Carlito"/>
              </a:rPr>
              <a:t>cell </a:t>
            </a:r>
            <a:r>
              <a:rPr sz="2400" spc="-15" dirty="0">
                <a:latin typeface="Carlito"/>
                <a:cs typeface="Carlito"/>
              </a:rPr>
              <a:t>tower to</a:t>
            </a:r>
            <a:r>
              <a:rPr sz="2400" spc="-4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function</a:t>
            </a:r>
            <a:endParaRPr sz="2400" dirty="0">
              <a:latin typeface="Carlito"/>
              <a:cs typeface="Carlito"/>
            </a:endParaRPr>
          </a:p>
          <a:p>
            <a:pPr marL="241300" indent="-228600" algn="just">
              <a:lnSpc>
                <a:spcPct val="100000"/>
              </a:lnSpc>
              <a:spcBef>
                <a:spcPts val="290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5" dirty="0">
                <a:latin typeface="Carlito"/>
                <a:cs typeface="Carlito"/>
              </a:rPr>
              <a:t>Dual-mode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Phones</a:t>
            </a:r>
            <a:endParaRPr sz="2400" dirty="0">
              <a:latin typeface="Carlito"/>
              <a:cs typeface="Carlito"/>
            </a:endParaRPr>
          </a:p>
          <a:p>
            <a:pPr marL="698500" marR="6985" lvl="1" indent="-228600" algn="just">
              <a:lnSpc>
                <a:spcPts val="2590"/>
              </a:lnSpc>
              <a:spcBef>
                <a:spcPts val="615"/>
              </a:spcBef>
              <a:buFont typeface="Arial"/>
              <a:buChar char="–"/>
              <a:tabLst>
                <a:tab pos="698500" algn="l"/>
              </a:tabLst>
            </a:pPr>
            <a:r>
              <a:rPr sz="2400" spc="-5" dirty="0">
                <a:latin typeface="Carlito"/>
                <a:cs typeface="Carlito"/>
              </a:rPr>
              <a:t>Allow </a:t>
            </a:r>
            <a:r>
              <a:rPr sz="2400" spc="-10" dirty="0">
                <a:latin typeface="Carlito"/>
                <a:cs typeface="Carlito"/>
              </a:rPr>
              <a:t>users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20" dirty="0">
                <a:latin typeface="Carlito"/>
                <a:cs typeface="Carlito"/>
              </a:rPr>
              <a:t>make </a:t>
            </a:r>
            <a:r>
              <a:rPr sz="2400" spc="-5" dirty="0">
                <a:latin typeface="Carlito"/>
                <a:cs typeface="Carlito"/>
              </a:rPr>
              <a:t>telephone calls using</a:t>
            </a:r>
            <a:r>
              <a:rPr sz="2400" spc="-10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more  </a:t>
            </a:r>
            <a:r>
              <a:rPr sz="2400" dirty="0">
                <a:latin typeface="Carlito"/>
                <a:cs typeface="Carlito"/>
              </a:rPr>
              <a:t>than </a:t>
            </a:r>
            <a:r>
              <a:rPr sz="2400" spc="-5" dirty="0">
                <a:latin typeface="Carlito"/>
                <a:cs typeface="Carlito"/>
              </a:rPr>
              <a:t>one </a:t>
            </a:r>
            <a:r>
              <a:rPr sz="2400" spc="-10" dirty="0">
                <a:latin typeface="Carlito"/>
                <a:cs typeface="Carlito"/>
              </a:rPr>
              <a:t>communications</a:t>
            </a:r>
            <a:r>
              <a:rPr sz="2400" spc="-5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network</a:t>
            </a:r>
            <a:endParaRPr sz="2400" dirty="0">
              <a:latin typeface="Carlito"/>
              <a:cs typeface="Carlito"/>
            </a:endParaRPr>
          </a:p>
          <a:p>
            <a:pPr marL="698500" marR="328930" lvl="1" indent="-228600" algn="just">
              <a:lnSpc>
                <a:spcPts val="2590"/>
              </a:lnSpc>
              <a:spcBef>
                <a:spcPts val="585"/>
              </a:spcBef>
              <a:buFont typeface="Arial"/>
              <a:buChar char="–"/>
              <a:tabLst>
                <a:tab pos="698500" algn="l"/>
              </a:tabLst>
            </a:pPr>
            <a:r>
              <a:rPr sz="2400" spc="-5" dirty="0">
                <a:latin typeface="Carlito"/>
                <a:cs typeface="Carlito"/>
              </a:rPr>
              <a:t>Cellular/Wi-Fi dual-mode phones </a:t>
            </a:r>
            <a:r>
              <a:rPr sz="2400" spc="-10" dirty="0">
                <a:latin typeface="Carlito"/>
                <a:cs typeface="Carlito"/>
              </a:rPr>
              <a:t>can switch  </a:t>
            </a:r>
            <a:r>
              <a:rPr sz="2400" spc="-5" dirty="0">
                <a:latin typeface="Carlito"/>
                <a:cs typeface="Carlito"/>
              </a:rPr>
              <a:t>seamlessly between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5" dirty="0">
                <a:latin typeface="Carlito"/>
                <a:cs typeface="Carlito"/>
              </a:rPr>
              <a:t>Wi-Fi </a:t>
            </a:r>
            <a:r>
              <a:rPr sz="2400" spc="-10" dirty="0">
                <a:latin typeface="Carlito"/>
                <a:cs typeface="Carlito"/>
              </a:rPr>
              <a:t>network </a:t>
            </a:r>
            <a:r>
              <a:rPr sz="2400" dirty="0">
                <a:latin typeface="Carlito"/>
                <a:cs typeface="Carlito"/>
              </a:rPr>
              <a:t>and a  cellular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network</a:t>
            </a:r>
            <a:endParaRPr sz="2400" dirty="0">
              <a:latin typeface="Carlito"/>
              <a:cs typeface="Carlito"/>
            </a:endParaRPr>
          </a:p>
          <a:p>
            <a:pPr marL="241300" indent="-228600" algn="just">
              <a:lnSpc>
                <a:spcPct val="100000"/>
              </a:lnSpc>
              <a:spcBef>
                <a:spcPts val="250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10" dirty="0">
                <a:latin typeface="Carlito"/>
                <a:cs typeface="Carlito"/>
              </a:rPr>
              <a:t>Satellite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Phones</a:t>
            </a:r>
            <a:endParaRPr sz="2400" dirty="0">
              <a:latin typeface="Carlito"/>
              <a:cs typeface="Carlito"/>
            </a:endParaRPr>
          </a:p>
          <a:p>
            <a:pPr marL="698500" lvl="1" indent="-228600" algn="just">
              <a:lnSpc>
                <a:spcPct val="100000"/>
              </a:lnSpc>
              <a:spcBef>
                <a:spcPts val="295"/>
              </a:spcBef>
              <a:buFont typeface="Arial"/>
              <a:buChar char="–"/>
              <a:tabLst>
                <a:tab pos="698500" algn="l"/>
              </a:tabLst>
            </a:pPr>
            <a:r>
              <a:rPr sz="2400" spc="-10" dirty="0">
                <a:latin typeface="Carlito"/>
                <a:cs typeface="Carlito"/>
              </a:rPr>
              <a:t>Communicate </a:t>
            </a:r>
            <a:r>
              <a:rPr sz="2400" dirty="0">
                <a:latin typeface="Carlito"/>
                <a:cs typeface="Carlito"/>
              </a:rPr>
              <a:t>via </a:t>
            </a:r>
            <a:r>
              <a:rPr sz="2400" spc="-10" dirty="0">
                <a:latin typeface="Carlito"/>
                <a:cs typeface="Carlito"/>
              </a:rPr>
              <a:t>satellite</a:t>
            </a:r>
            <a:r>
              <a:rPr sz="2400" spc="46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technology</a:t>
            </a:r>
            <a:endParaRPr sz="2400" dirty="0">
              <a:latin typeface="Carlito"/>
              <a:cs typeface="Carlito"/>
            </a:endParaRPr>
          </a:p>
          <a:p>
            <a:pPr marL="698500" marR="5080" lvl="1" indent="-228600" algn="just">
              <a:lnSpc>
                <a:spcPts val="2590"/>
              </a:lnSpc>
              <a:spcBef>
                <a:spcPts val="615"/>
              </a:spcBef>
              <a:buFont typeface="Arial"/>
              <a:buChar char="–"/>
              <a:tabLst>
                <a:tab pos="698500" algn="l"/>
              </a:tabLst>
            </a:pPr>
            <a:r>
              <a:rPr sz="2400" spc="-10" dirty="0">
                <a:latin typeface="Carlito"/>
                <a:cs typeface="Carlito"/>
              </a:rPr>
              <a:t>Most often </a:t>
            </a:r>
            <a:r>
              <a:rPr sz="2400" spc="-5" dirty="0">
                <a:latin typeface="Carlito"/>
                <a:cs typeface="Carlito"/>
              </a:rPr>
              <a:t>used </a:t>
            </a:r>
            <a:r>
              <a:rPr sz="2400" spc="-10" dirty="0">
                <a:latin typeface="Carlito"/>
                <a:cs typeface="Carlito"/>
              </a:rPr>
              <a:t>by </a:t>
            </a:r>
            <a:r>
              <a:rPr sz="2400" dirty="0">
                <a:latin typeface="Carlito"/>
                <a:cs typeface="Carlito"/>
              </a:rPr>
              <a:t>individuals </a:t>
            </a:r>
            <a:r>
              <a:rPr sz="2400" spc="-5" dirty="0">
                <a:latin typeface="Carlito"/>
                <a:cs typeface="Carlito"/>
              </a:rPr>
              <a:t>such </a:t>
            </a:r>
            <a:r>
              <a:rPr sz="2400" dirty="0">
                <a:latin typeface="Carlito"/>
                <a:cs typeface="Carlito"/>
              </a:rPr>
              <a:t>as </a:t>
            </a:r>
            <a:r>
              <a:rPr sz="2400" spc="-10" dirty="0">
                <a:latin typeface="Carlito"/>
                <a:cs typeface="Carlito"/>
              </a:rPr>
              <a:t>soldiers,  journalists, </a:t>
            </a:r>
            <a:r>
              <a:rPr sz="2400" dirty="0">
                <a:latin typeface="Carlito"/>
                <a:cs typeface="Carlito"/>
              </a:rPr>
              <a:t>wilderness guides, and</a:t>
            </a:r>
            <a:r>
              <a:rPr sz="2400" spc="-6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researchers</a:t>
            </a:r>
            <a:endParaRPr sz="2400" dirty="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49942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30" dirty="0"/>
              <a:t>Networking</a:t>
            </a:r>
            <a:r>
              <a:rPr spc="-265" dirty="0"/>
              <a:t> </a:t>
            </a:r>
            <a:r>
              <a:rPr spc="-425" dirty="0"/>
              <a:t>Applications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5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7830820" cy="456184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 algn="just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6235" algn="l"/>
              </a:tabLst>
            </a:pPr>
            <a:r>
              <a:rPr sz="2400" spc="-25" dirty="0">
                <a:latin typeface="Carlito"/>
                <a:cs typeface="Carlito"/>
              </a:rPr>
              <a:t>Television </a:t>
            </a:r>
            <a:r>
              <a:rPr sz="2400" spc="-5" dirty="0">
                <a:latin typeface="Carlito"/>
                <a:cs typeface="Carlito"/>
              </a:rPr>
              <a:t>and </a:t>
            </a:r>
            <a:r>
              <a:rPr sz="2400" dirty="0">
                <a:latin typeface="Carlito"/>
                <a:cs typeface="Carlito"/>
              </a:rPr>
              <a:t>Radio</a:t>
            </a:r>
            <a:r>
              <a:rPr sz="2400" spc="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Broadcasting</a:t>
            </a:r>
            <a:endParaRPr sz="2400" dirty="0">
              <a:latin typeface="Carlito"/>
              <a:cs typeface="Carlito"/>
            </a:endParaRPr>
          </a:p>
          <a:p>
            <a:pPr marL="756285" lvl="1" indent="-287020" algn="just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Still used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10" dirty="0">
                <a:latin typeface="Carlito"/>
                <a:cs typeface="Carlito"/>
              </a:rPr>
              <a:t>deliver </a:t>
            </a:r>
            <a:r>
              <a:rPr sz="2400" spc="-5" dirty="0">
                <a:latin typeface="Carlito"/>
                <a:cs typeface="Carlito"/>
              </a:rPr>
              <a:t>TV and </a:t>
            </a:r>
            <a:r>
              <a:rPr sz="2400" spc="-10" dirty="0">
                <a:latin typeface="Carlito"/>
                <a:cs typeface="Carlito"/>
              </a:rPr>
              <a:t>radio </a:t>
            </a:r>
            <a:r>
              <a:rPr sz="2400" spc="-15" dirty="0">
                <a:latin typeface="Carlito"/>
                <a:cs typeface="Carlito"/>
              </a:rPr>
              <a:t>content to </a:t>
            </a:r>
            <a:r>
              <a:rPr sz="2400" spc="-5" dirty="0">
                <a:latin typeface="Carlito"/>
                <a:cs typeface="Carlito"/>
              </a:rPr>
              <a:t>the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public</a:t>
            </a:r>
            <a:endParaRPr sz="2400" dirty="0">
              <a:latin typeface="Carlito"/>
              <a:cs typeface="Carlito"/>
            </a:endParaRPr>
          </a:p>
          <a:p>
            <a:pPr marL="756285" marR="5080" lvl="1" indent="-287020" algn="just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Other </a:t>
            </a:r>
            <a:r>
              <a:rPr sz="2400" spc="-15" dirty="0">
                <a:latin typeface="Carlito"/>
                <a:cs typeface="Carlito"/>
              </a:rPr>
              <a:t>networks involved </a:t>
            </a:r>
            <a:r>
              <a:rPr sz="2400" dirty="0">
                <a:latin typeface="Carlito"/>
                <a:cs typeface="Carlito"/>
              </a:rPr>
              <a:t>with </a:t>
            </a:r>
            <a:r>
              <a:rPr sz="2400" spc="-5" dirty="0">
                <a:latin typeface="Carlito"/>
                <a:cs typeface="Carlito"/>
              </a:rPr>
              <a:t>television </a:t>
            </a:r>
            <a:r>
              <a:rPr sz="2400" spc="-20" dirty="0">
                <a:latin typeface="Carlito"/>
                <a:cs typeface="Carlito"/>
              </a:rPr>
              <a:t>content </a:t>
            </a:r>
            <a:r>
              <a:rPr sz="2400" spc="-5" dirty="0">
                <a:latin typeface="Carlito"/>
                <a:cs typeface="Carlito"/>
              </a:rPr>
              <a:t>delivery  </a:t>
            </a:r>
            <a:r>
              <a:rPr sz="2400" spc="-15" dirty="0">
                <a:latin typeface="Carlito"/>
                <a:cs typeface="Carlito"/>
              </a:rPr>
              <a:t>are </a:t>
            </a:r>
            <a:r>
              <a:rPr sz="2400" spc="-5" dirty="0">
                <a:latin typeface="Carlito"/>
                <a:cs typeface="Carlito"/>
              </a:rPr>
              <a:t>cable TV </a:t>
            </a:r>
            <a:r>
              <a:rPr sz="2400" spc="-10" dirty="0">
                <a:latin typeface="Carlito"/>
                <a:cs typeface="Carlito"/>
              </a:rPr>
              <a:t>networks, satellite </a:t>
            </a:r>
            <a:r>
              <a:rPr sz="2400" spc="-5" dirty="0">
                <a:latin typeface="Carlito"/>
                <a:cs typeface="Carlito"/>
              </a:rPr>
              <a:t>TV </a:t>
            </a:r>
            <a:r>
              <a:rPr sz="2400" spc="-10" dirty="0">
                <a:latin typeface="Carlito"/>
                <a:cs typeface="Carlito"/>
              </a:rPr>
              <a:t>networks,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15" dirty="0">
                <a:latin typeface="Carlito"/>
                <a:cs typeface="Carlito"/>
              </a:rPr>
              <a:t>private  </a:t>
            </a:r>
            <a:r>
              <a:rPr sz="2400" spc="-5" dirty="0">
                <a:latin typeface="Carlito"/>
                <a:cs typeface="Carlito"/>
              </a:rPr>
              <a:t>closed-circuit television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spc="-20" dirty="0">
                <a:latin typeface="Carlito"/>
                <a:cs typeface="Carlito"/>
              </a:rPr>
              <a:t>systems</a:t>
            </a:r>
            <a:endParaRPr sz="2400" dirty="0">
              <a:latin typeface="Carlito"/>
              <a:cs typeface="Carlito"/>
            </a:endParaRPr>
          </a:p>
          <a:p>
            <a:pPr marL="355600" indent="-343535" algn="just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56235" algn="l"/>
              </a:tabLst>
            </a:pPr>
            <a:r>
              <a:rPr sz="2400" spc="-5" dirty="0">
                <a:latin typeface="Carlito"/>
                <a:cs typeface="Carlito"/>
              </a:rPr>
              <a:t>Global </a:t>
            </a:r>
            <a:r>
              <a:rPr sz="2400" spc="-10" dirty="0">
                <a:latin typeface="Carlito"/>
                <a:cs typeface="Carlito"/>
              </a:rPr>
              <a:t>Positioning </a:t>
            </a:r>
            <a:r>
              <a:rPr sz="2400" spc="-20" dirty="0">
                <a:latin typeface="Carlito"/>
                <a:cs typeface="Carlito"/>
              </a:rPr>
              <a:t>System </a:t>
            </a:r>
            <a:r>
              <a:rPr sz="2400" spc="-5" dirty="0">
                <a:latin typeface="Carlito"/>
                <a:cs typeface="Carlito"/>
              </a:rPr>
              <a:t>(GPS)</a:t>
            </a:r>
            <a:r>
              <a:rPr sz="2400" spc="-6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Applications</a:t>
            </a:r>
            <a:endParaRPr sz="2400" dirty="0">
              <a:latin typeface="Carlito"/>
              <a:cs typeface="Carlito"/>
            </a:endParaRPr>
          </a:p>
          <a:p>
            <a:pPr marL="756285" marR="610870" lvl="1" indent="-287020" algn="just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Uses </a:t>
            </a:r>
            <a:r>
              <a:rPr sz="2400" spc="-10" dirty="0">
                <a:latin typeface="Carlito"/>
                <a:cs typeface="Carlito"/>
              </a:rPr>
              <a:t>satellites </a:t>
            </a:r>
            <a:r>
              <a:rPr sz="2400" dirty="0">
                <a:latin typeface="Carlito"/>
                <a:cs typeface="Carlito"/>
              </a:rPr>
              <a:t>and a </a:t>
            </a:r>
            <a:r>
              <a:rPr sz="2400" spc="-10" dirty="0">
                <a:latin typeface="Carlito"/>
                <a:cs typeface="Carlito"/>
              </a:rPr>
              <a:t>receiver to </a:t>
            </a:r>
            <a:r>
              <a:rPr sz="2400" spc="-5" dirty="0">
                <a:latin typeface="Carlito"/>
                <a:cs typeface="Carlito"/>
              </a:rPr>
              <a:t>determine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15" dirty="0">
                <a:latin typeface="Carlito"/>
                <a:cs typeface="Carlito"/>
              </a:rPr>
              <a:t>exact  </a:t>
            </a:r>
            <a:r>
              <a:rPr sz="2400" spc="-10" dirty="0">
                <a:latin typeface="Carlito"/>
                <a:cs typeface="Carlito"/>
              </a:rPr>
              <a:t>geographic location </a:t>
            </a:r>
            <a:r>
              <a:rPr sz="2400" spc="-5" dirty="0">
                <a:latin typeface="Carlito"/>
                <a:cs typeface="Carlito"/>
              </a:rPr>
              <a:t>of </a:t>
            </a:r>
            <a:r>
              <a:rPr sz="2400" dirty="0">
                <a:latin typeface="Carlito"/>
                <a:cs typeface="Carlito"/>
              </a:rPr>
              <a:t>the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receiver</a:t>
            </a:r>
            <a:endParaRPr sz="2400" dirty="0">
              <a:latin typeface="Carlito"/>
              <a:cs typeface="Carlito"/>
            </a:endParaRPr>
          </a:p>
          <a:p>
            <a:pPr marL="756285" lvl="1" indent="-287020" algn="just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GPS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receivers</a:t>
            </a:r>
            <a:endParaRPr sz="2400" dirty="0">
              <a:latin typeface="Carlito"/>
              <a:cs typeface="Carlito"/>
            </a:endParaRPr>
          </a:p>
          <a:p>
            <a:pPr marL="1155700" marR="563880" lvl="2" indent="-228600" algn="just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Carlito"/>
                <a:cs typeface="Carlito"/>
              </a:rPr>
              <a:t>Commonly used </a:t>
            </a:r>
            <a:r>
              <a:rPr sz="2400" spc="-10" dirty="0">
                <a:latin typeface="Carlito"/>
                <a:cs typeface="Carlito"/>
              </a:rPr>
              <a:t>by </a:t>
            </a:r>
            <a:r>
              <a:rPr sz="2400" dirty="0">
                <a:latin typeface="Carlito"/>
                <a:cs typeface="Carlito"/>
              </a:rPr>
              <a:t>individuals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5" dirty="0">
                <a:latin typeface="Carlito"/>
                <a:cs typeface="Carlito"/>
              </a:rPr>
              <a:t>determine </a:t>
            </a:r>
            <a:r>
              <a:rPr sz="2400" dirty="0">
                <a:latin typeface="Carlito"/>
                <a:cs typeface="Carlito"/>
              </a:rPr>
              <a:t>their  </a:t>
            </a:r>
            <a:r>
              <a:rPr sz="2400" spc="-10" dirty="0">
                <a:latin typeface="Carlito"/>
                <a:cs typeface="Carlito"/>
              </a:rPr>
              <a:t>geographic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location</a:t>
            </a:r>
            <a:endParaRPr sz="2400" dirty="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49942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30" dirty="0"/>
              <a:t>Networking</a:t>
            </a:r>
            <a:r>
              <a:rPr spc="-265" dirty="0"/>
              <a:t> </a:t>
            </a:r>
            <a:r>
              <a:rPr spc="-425" dirty="0"/>
              <a:t>Applications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6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534414"/>
            <a:ext cx="7758430" cy="36112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1259840" indent="-34353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10" dirty="0">
                <a:latin typeface="Carlito"/>
                <a:cs typeface="Carlito"/>
              </a:rPr>
              <a:t>Videoconferencing, </a:t>
            </a:r>
            <a:r>
              <a:rPr sz="2400" spc="-15" dirty="0">
                <a:latin typeface="Carlito"/>
                <a:cs typeface="Carlito"/>
              </a:rPr>
              <a:t>Collaborative </a:t>
            </a:r>
            <a:r>
              <a:rPr sz="2400" spc="-5" dirty="0">
                <a:latin typeface="Carlito"/>
                <a:cs typeface="Carlito"/>
              </a:rPr>
              <a:t>Computing, </a:t>
            </a:r>
            <a:r>
              <a:rPr sz="2400" dirty="0">
                <a:latin typeface="Carlito"/>
                <a:cs typeface="Carlito"/>
              </a:rPr>
              <a:t>and  </a:t>
            </a:r>
            <a:r>
              <a:rPr sz="2400" spc="-25" dirty="0">
                <a:latin typeface="Carlito"/>
                <a:cs typeface="Carlito"/>
              </a:rPr>
              <a:t>Telecommuting</a:t>
            </a:r>
            <a:endParaRPr sz="2400" dirty="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Videoconferencing</a:t>
            </a:r>
            <a:endParaRPr sz="2400" dirty="0">
              <a:latin typeface="Carlito"/>
              <a:cs typeface="Carlito"/>
            </a:endParaRPr>
          </a:p>
          <a:p>
            <a:pPr marL="1155700" marR="121920" lvl="2" indent="-228600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Carlito"/>
                <a:cs typeface="Carlito"/>
              </a:rPr>
              <a:t>Use of </a:t>
            </a:r>
            <a:r>
              <a:rPr sz="2400" spc="-15" dirty="0">
                <a:latin typeface="Carlito"/>
                <a:cs typeface="Carlito"/>
              </a:rPr>
              <a:t>computers, </a:t>
            </a:r>
            <a:r>
              <a:rPr sz="2400" dirty="0">
                <a:latin typeface="Carlito"/>
                <a:cs typeface="Carlito"/>
              </a:rPr>
              <a:t>video </a:t>
            </a:r>
            <a:r>
              <a:rPr sz="2400" spc="-10" dirty="0">
                <a:latin typeface="Carlito"/>
                <a:cs typeface="Carlito"/>
              </a:rPr>
              <a:t>cameras, microphones, </a:t>
            </a:r>
            <a:r>
              <a:rPr sz="2400" dirty="0">
                <a:latin typeface="Carlito"/>
                <a:cs typeface="Carlito"/>
              </a:rPr>
              <a:t>and  </a:t>
            </a:r>
            <a:r>
              <a:rPr sz="2400" spc="-10" dirty="0">
                <a:latin typeface="Carlito"/>
                <a:cs typeface="Carlito"/>
              </a:rPr>
              <a:t>networking </a:t>
            </a:r>
            <a:r>
              <a:rPr sz="2400" spc="-5" dirty="0">
                <a:latin typeface="Carlito"/>
                <a:cs typeface="Carlito"/>
              </a:rPr>
              <a:t>technologies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10" dirty="0">
                <a:latin typeface="Carlito"/>
                <a:cs typeface="Carlito"/>
              </a:rPr>
              <a:t>conduct face-to-face  </a:t>
            </a:r>
            <a:r>
              <a:rPr sz="2400" spc="-5" dirty="0">
                <a:latin typeface="Carlito"/>
                <a:cs typeface="Carlito"/>
              </a:rPr>
              <a:t>meetings </a:t>
            </a:r>
            <a:r>
              <a:rPr sz="2400" spc="-15" dirty="0">
                <a:latin typeface="Carlito"/>
                <a:cs typeface="Carlito"/>
              </a:rPr>
              <a:t>over </a:t>
            </a:r>
            <a:r>
              <a:rPr sz="2400" dirty="0">
                <a:latin typeface="Carlito"/>
                <a:cs typeface="Carlito"/>
              </a:rPr>
              <a:t>a</a:t>
            </a:r>
            <a:r>
              <a:rPr sz="2400" spc="-2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network</a:t>
            </a:r>
            <a:endParaRPr sz="2400" dirty="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25" dirty="0">
                <a:latin typeface="Carlito"/>
                <a:cs typeface="Carlito"/>
              </a:rPr>
              <a:t>Telepresence</a:t>
            </a:r>
            <a:r>
              <a:rPr sz="240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Videoconferencing</a:t>
            </a:r>
            <a:endParaRPr sz="2400" dirty="0">
              <a:latin typeface="Carlito"/>
              <a:cs typeface="Carlito"/>
            </a:endParaRPr>
          </a:p>
          <a:p>
            <a:pPr marL="1155700" marR="5080" lvl="2" indent="-2286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dirty="0">
                <a:latin typeface="Carlito"/>
                <a:cs typeface="Carlito"/>
              </a:rPr>
              <a:t>A </a:t>
            </a:r>
            <a:r>
              <a:rPr sz="2400" spc="-5" dirty="0">
                <a:latin typeface="Carlito"/>
                <a:cs typeface="Carlito"/>
              </a:rPr>
              <a:t>setup </a:t>
            </a:r>
            <a:r>
              <a:rPr sz="2400" spc="-10" dirty="0">
                <a:latin typeface="Carlito"/>
                <a:cs typeface="Carlito"/>
              </a:rPr>
              <a:t>that more </a:t>
            </a:r>
            <a:r>
              <a:rPr sz="2400" dirty="0">
                <a:latin typeface="Carlito"/>
                <a:cs typeface="Carlito"/>
              </a:rPr>
              <a:t>closely mimics a </a:t>
            </a:r>
            <a:r>
              <a:rPr sz="2400" spc="-5" dirty="0">
                <a:latin typeface="Carlito"/>
                <a:cs typeface="Carlito"/>
              </a:rPr>
              <a:t>real-time</a:t>
            </a:r>
            <a:r>
              <a:rPr sz="2400" spc="-13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meeting  </a:t>
            </a:r>
            <a:r>
              <a:rPr sz="2400" spc="-10" dirty="0">
                <a:latin typeface="Carlito"/>
                <a:cs typeface="Carlito"/>
              </a:rPr>
              <a:t>environment</a:t>
            </a:r>
            <a:endParaRPr sz="2400" dirty="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49936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30" dirty="0"/>
              <a:t>Networking</a:t>
            </a:r>
            <a:r>
              <a:rPr spc="-265" dirty="0"/>
              <a:t> </a:t>
            </a:r>
            <a:r>
              <a:rPr spc="-425" dirty="0"/>
              <a:t>Applications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7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993444" y="1461262"/>
            <a:ext cx="7586980" cy="331787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299720" algn="l"/>
              </a:tabLst>
            </a:pPr>
            <a:r>
              <a:rPr sz="2400" spc="-15" dirty="0">
                <a:latin typeface="Carlito"/>
                <a:cs typeface="Carlito"/>
              </a:rPr>
              <a:t>Collaborative </a:t>
            </a:r>
            <a:r>
              <a:rPr sz="2400" spc="-5" dirty="0">
                <a:latin typeface="Carlito"/>
                <a:cs typeface="Carlito"/>
              </a:rPr>
              <a:t>Computing </a:t>
            </a:r>
            <a:r>
              <a:rPr sz="2400" spc="-10" dirty="0">
                <a:latin typeface="Carlito"/>
                <a:cs typeface="Carlito"/>
              </a:rPr>
              <a:t>(workgroup</a:t>
            </a:r>
            <a:r>
              <a:rPr sz="2400" spc="-5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computing)</a:t>
            </a:r>
            <a:endParaRPr sz="2400">
              <a:latin typeface="Carlito"/>
              <a:cs typeface="Carlito"/>
            </a:endParaRPr>
          </a:p>
          <a:p>
            <a:pPr marL="697865" marR="5080" lvl="1" indent="-2286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5" dirty="0">
                <a:latin typeface="Carlito"/>
                <a:cs typeface="Carlito"/>
              </a:rPr>
              <a:t>Enables </a:t>
            </a:r>
            <a:r>
              <a:rPr sz="2400" dirty="0">
                <a:latin typeface="Carlito"/>
                <a:cs typeface="Carlito"/>
              </a:rPr>
              <a:t>individuals </a:t>
            </a:r>
            <a:r>
              <a:rPr sz="2400" spc="-20" dirty="0">
                <a:latin typeface="Carlito"/>
                <a:cs typeface="Carlito"/>
              </a:rPr>
              <a:t>to </a:t>
            </a:r>
            <a:r>
              <a:rPr sz="2400" spc="-15" dirty="0">
                <a:latin typeface="Carlito"/>
                <a:cs typeface="Carlito"/>
              </a:rPr>
              <a:t>work together </a:t>
            </a:r>
            <a:r>
              <a:rPr sz="2400" spc="-5" dirty="0">
                <a:latin typeface="Carlito"/>
                <a:cs typeface="Carlito"/>
              </a:rPr>
              <a:t>on </a:t>
            </a:r>
            <a:r>
              <a:rPr sz="2400" spc="-10" dirty="0">
                <a:latin typeface="Carlito"/>
                <a:cs typeface="Carlito"/>
              </a:rPr>
              <a:t>documents </a:t>
            </a:r>
            <a:r>
              <a:rPr sz="2400" dirty="0">
                <a:latin typeface="Carlito"/>
                <a:cs typeface="Carlito"/>
              </a:rPr>
              <a:t>and  </a:t>
            </a:r>
            <a:r>
              <a:rPr sz="2400" spc="-10" dirty="0">
                <a:latin typeface="Carlito"/>
                <a:cs typeface="Carlito"/>
              </a:rPr>
              <a:t>projects</a:t>
            </a:r>
            <a:endParaRPr sz="2400">
              <a:latin typeface="Carlito"/>
              <a:cs typeface="Carlito"/>
            </a:endParaRPr>
          </a:p>
          <a:p>
            <a:pPr marL="299085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299720" algn="l"/>
              </a:tabLst>
            </a:pPr>
            <a:r>
              <a:rPr sz="2400" spc="-25" dirty="0">
                <a:latin typeface="Carlito"/>
                <a:cs typeface="Carlito"/>
              </a:rPr>
              <a:t>Telecommuting</a:t>
            </a:r>
            <a:endParaRPr sz="2400">
              <a:latin typeface="Carlito"/>
              <a:cs typeface="Carlito"/>
            </a:endParaRPr>
          </a:p>
          <a:p>
            <a:pPr marL="697865" marR="46355" lvl="1" indent="-2286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5" dirty="0">
                <a:latin typeface="Carlito"/>
                <a:cs typeface="Carlito"/>
              </a:rPr>
              <a:t>Individuals </a:t>
            </a:r>
            <a:r>
              <a:rPr sz="2400" spc="-10" dirty="0">
                <a:latin typeface="Carlito"/>
                <a:cs typeface="Carlito"/>
              </a:rPr>
              <a:t>work </a:t>
            </a:r>
            <a:r>
              <a:rPr sz="2400" spc="-15" dirty="0">
                <a:latin typeface="Carlito"/>
                <a:cs typeface="Carlito"/>
              </a:rPr>
              <a:t>from </a:t>
            </a:r>
            <a:r>
              <a:rPr sz="2400" dirty="0">
                <a:latin typeface="Carlito"/>
                <a:cs typeface="Carlito"/>
              </a:rPr>
              <a:t>a </a:t>
            </a:r>
            <a:r>
              <a:rPr sz="2400" spc="-15" dirty="0">
                <a:latin typeface="Carlito"/>
                <a:cs typeface="Carlito"/>
              </a:rPr>
              <a:t>remote </a:t>
            </a:r>
            <a:r>
              <a:rPr sz="2400" spc="-10" dirty="0">
                <a:latin typeface="Carlito"/>
                <a:cs typeface="Carlito"/>
              </a:rPr>
              <a:t>location </a:t>
            </a:r>
            <a:r>
              <a:rPr sz="2400" spc="-5" dirty="0">
                <a:latin typeface="Carlito"/>
                <a:cs typeface="Carlito"/>
              </a:rPr>
              <a:t>(usually home) 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15" dirty="0">
                <a:latin typeface="Carlito"/>
                <a:cs typeface="Carlito"/>
              </a:rPr>
              <a:t>communicate </a:t>
            </a:r>
            <a:r>
              <a:rPr sz="2400" dirty="0">
                <a:latin typeface="Carlito"/>
                <a:cs typeface="Carlito"/>
              </a:rPr>
              <a:t>with their </a:t>
            </a:r>
            <a:r>
              <a:rPr sz="2400" spc="-5" dirty="0">
                <a:latin typeface="Carlito"/>
                <a:cs typeface="Carlito"/>
              </a:rPr>
              <a:t>places of business and  clients using </a:t>
            </a:r>
            <a:r>
              <a:rPr sz="2400" spc="-10" dirty="0">
                <a:latin typeface="Carlito"/>
                <a:cs typeface="Carlito"/>
              </a:rPr>
              <a:t>networking</a:t>
            </a:r>
            <a:r>
              <a:rPr sz="2400" spc="-6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technologies</a:t>
            </a:r>
            <a:endParaRPr sz="2400">
              <a:latin typeface="Carlito"/>
              <a:cs typeface="Carlito"/>
            </a:endParaRPr>
          </a:p>
          <a:p>
            <a:pPr marL="697865" lvl="1" indent="-2292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10" dirty="0">
                <a:latin typeface="Carlito"/>
                <a:cs typeface="Carlito"/>
              </a:rPr>
              <a:t>Allows </a:t>
            </a:r>
            <a:r>
              <a:rPr sz="2400" spc="-20" dirty="0">
                <a:latin typeface="Carlito"/>
                <a:cs typeface="Carlito"/>
              </a:rPr>
              <a:t>for </a:t>
            </a:r>
            <a:r>
              <a:rPr sz="2400" spc="-5" dirty="0">
                <a:latin typeface="Carlito"/>
                <a:cs typeface="Carlito"/>
              </a:rPr>
              <a:t>employee</a:t>
            </a:r>
            <a:r>
              <a:rPr sz="2400" spc="-2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flexibility</a:t>
            </a: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49942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30" dirty="0"/>
              <a:t>Networking</a:t>
            </a:r>
            <a:r>
              <a:rPr spc="-265" dirty="0"/>
              <a:t> </a:t>
            </a:r>
            <a:r>
              <a:rPr spc="-425" dirty="0"/>
              <a:t>Applications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8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7983220" cy="3425938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20" dirty="0">
                <a:latin typeface="Carlito"/>
                <a:cs typeface="Carlito"/>
              </a:rPr>
              <a:t>Telemedicine</a:t>
            </a:r>
            <a:endParaRPr sz="2400" dirty="0">
              <a:latin typeface="Carlito"/>
              <a:cs typeface="Carlito"/>
            </a:endParaRPr>
          </a:p>
          <a:p>
            <a:pPr marL="756285" marR="1145540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Use of </a:t>
            </a:r>
            <a:r>
              <a:rPr sz="2400" spc="-10" dirty="0">
                <a:latin typeface="Carlito"/>
                <a:cs typeface="Carlito"/>
              </a:rPr>
              <a:t>networking technology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10" dirty="0">
                <a:latin typeface="Carlito"/>
                <a:cs typeface="Carlito"/>
              </a:rPr>
              <a:t>provide </a:t>
            </a:r>
            <a:r>
              <a:rPr sz="2400" spc="-5" dirty="0">
                <a:latin typeface="Carlito"/>
                <a:cs typeface="Carlito"/>
              </a:rPr>
              <a:t>medical  </a:t>
            </a:r>
            <a:r>
              <a:rPr sz="2400" spc="-10" dirty="0">
                <a:latin typeface="Carlito"/>
                <a:cs typeface="Carlito"/>
              </a:rPr>
              <a:t>information </a:t>
            </a:r>
            <a:r>
              <a:rPr sz="2400" dirty="0">
                <a:latin typeface="Carlito"/>
                <a:cs typeface="Carlito"/>
              </a:rPr>
              <a:t>and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services</a:t>
            </a: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5" dirty="0">
                <a:latin typeface="Carlito"/>
                <a:cs typeface="Carlito"/>
              </a:rPr>
              <a:t>Remote </a:t>
            </a:r>
            <a:r>
              <a:rPr sz="2400" spc="-5" dirty="0">
                <a:latin typeface="Carlito"/>
                <a:cs typeface="Carlito"/>
              </a:rPr>
              <a:t>monitoring </a:t>
            </a:r>
            <a:r>
              <a:rPr sz="2400" dirty="0">
                <a:latin typeface="Carlito"/>
                <a:cs typeface="Carlito"/>
              </a:rPr>
              <a:t>and</a:t>
            </a:r>
            <a:r>
              <a:rPr sz="2400" spc="-5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consultations</a:t>
            </a:r>
            <a:endParaRPr sz="2400" dirty="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5" dirty="0">
                <a:latin typeface="Carlito"/>
                <a:cs typeface="Carlito"/>
              </a:rPr>
              <a:t>Remote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diagnosis</a:t>
            </a:r>
            <a:endParaRPr sz="2400" dirty="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25" dirty="0">
                <a:latin typeface="Carlito"/>
                <a:cs typeface="Carlito"/>
              </a:rPr>
              <a:t>Telesurgery</a:t>
            </a:r>
            <a:endParaRPr sz="2400" dirty="0">
              <a:latin typeface="Carlito"/>
              <a:cs typeface="Carlito"/>
            </a:endParaRPr>
          </a:p>
          <a:p>
            <a:pPr marL="1155700" marR="5080" lvl="2" indent="-228600">
              <a:lnSpc>
                <a:spcPct val="100000"/>
              </a:lnSpc>
              <a:spcBef>
                <a:spcPts val="575"/>
              </a:spcBef>
              <a:buChar char="•"/>
              <a:tabLst>
                <a:tab pos="1156335" algn="l"/>
              </a:tabLst>
            </a:pPr>
            <a:r>
              <a:rPr sz="2400" spc="-114" dirty="0">
                <a:latin typeface="Arial"/>
                <a:cs typeface="Arial"/>
              </a:rPr>
              <a:t>Robot </a:t>
            </a:r>
            <a:r>
              <a:rPr sz="2400" spc="-140" dirty="0">
                <a:latin typeface="Arial"/>
                <a:cs typeface="Arial"/>
              </a:rPr>
              <a:t>assisted </a:t>
            </a:r>
            <a:r>
              <a:rPr sz="2400" spc="-114" dirty="0">
                <a:latin typeface="Arial"/>
                <a:cs typeface="Arial"/>
              </a:rPr>
              <a:t>surgery </a:t>
            </a:r>
            <a:r>
              <a:rPr sz="2400" spc="-75" dirty="0">
                <a:latin typeface="Arial"/>
                <a:cs typeface="Arial"/>
              </a:rPr>
              <a:t>where </a:t>
            </a:r>
            <a:r>
              <a:rPr sz="2400" spc="-65" dirty="0">
                <a:latin typeface="Arial"/>
                <a:cs typeface="Arial"/>
              </a:rPr>
              <a:t>doctor’s </a:t>
            </a:r>
            <a:r>
              <a:rPr sz="2400" spc="-125" dirty="0">
                <a:latin typeface="Arial"/>
                <a:cs typeface="Arial"/>
              </a:rPr>
              <a:t>physical</a:t>
            </a:r>
            <a:r>
              <a:rPr sz="2400" spc="-270" dirty="0">
                <a:latin typeface="Arial"/>
                <a:cs typeface="Arial"/>
              </a:rPr>
              <a:t> </a:t>
            </a:r>
            <a:r>
              <a:rPr sz="2400" spc="-60" dirty="0">
                <a:latin typeface="Arial"/>
                <a:cs typeface="Arial"/>
              </a:rPr>
              <a:t>location  </a:t>
            </a:r>
            <a:r>
              <a:rPr sz="2400" spc="-125" dirty="0">
                <a:latin typeface="Arial"/>
                <a:cs typeface="Arial"/>
              </a:rPr>
              <a:t>is </a:t>
            </a:r>
            <a:r>
              <a:rPr sz="2400" spc="-30" dirty="0">
                <a:latin typeface="Arial"/>
                <a:cs typeface="Arial"/>
              </a:rPr>
              <a:t>different </a:t>
            </a:r>
            <a:r>
              <a:rPr sz="2400" spc="-25" dirty="0">
                <a:latin typeface="Arial"/>
                <a:cs typeface="Arial"/>
              </a:rPr>
              <a:t>from </a:t>
            </a:r>
            <a:r>
              <a:rPr sz="2400" spc="-30" dirty="0">
                <a:latin typeface="Arial"/>
                <a:cs typeface="Arial"/>
              </a:rPr>
              <a:t>the </a:t>
            </a:r>
            <a:r>
              <a:rPr sz="2400" spc="-55" dirty="0">
                <a:latin typeface="Arial"/>
                <a:cs typeface="Arial"/>
              </a:rPr>
              <a:t>patient’s</a:t>
            </a:r>
            <a:r>
              <a:rPr sz="2400" spc="-480" dirty="0">
                <a:latin typeface="Arial"/>
                <a:cs typeface="Arial"/>
              </a:rPr>
              <a:t> </a:t>
            </a:r>
            <a:r>
              <a:rPr sz="2400" spc="-114" dirty="0">
                <a:latin typeface="Arial"/>
                <a:cs typeface="Arial"/>
              </a:rPr>
              <a:t>and </a:t>
            </a:r>
            <a:r>
              <a:rPr sz="2400" spc="-55" dirty="0" smtClean="0">
                <a:latin typeface="Arial"/>
                <a:cs typeface="Arial"/>
              </a:rPr>
              <a:t>robot’s</a:t>
            </a:r>
            <a:endParaRPr sz="2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47777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70" dirty="0"/>
              <a:t>Network</a:t>
            </a:r>
            <a:r>
              <a:rPr spc="-265" dirty="0"/>
              <a:t> </a:t>
            </a:r>
            <a:r>
              <a:rPr spc="-505" dirty="0"/>
              <a:t>Characteristics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9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7975600" cy="5426486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u="sng" spc="-10" dirty="0">
                <a:latin typeface="Carlito"/>
                <a:cs typeface="Carlito"/>
              </a:rPr>
              <a:t>Wired vs. </a:t>
            </a:r>
            <a:r>
              <a:rPr sz="2400" u="sng" spc="-5" dirty="0">
                <a:latin typeface="Carlito"/>
                <a:cs typeface="Carlito"/>
              </a:rPr>
              <a:t>Wireless</a:t>
            </a:r>
            <a:r>
              <a:rPr sz="2400" u="sng" spc="-10" dirty="0">
                <a:latin typeface="Carlito"/>
                <a:cs typeface="Carlito"/>
              </a:rPr>
              <a:t> Networks</a:t>
            </a:r>
            <a:endParaRPr sz="2400" u="sng" dirty="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Wired</a:t>
            </a:r>
            <a:endParaRPr sz="2400" dirty="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dirty="0">
                <a:latin typeface="Carlito"/>
                <a:cs typeface="Carlito"/>
              </a:rPr>
              <a:t>A </a:t>
            </a:r>
            <a:r>
              <a:rPr sz="2400" spc="-10" dirty="0">
                <a:latin typeface="Carlito"/>
                <a:cs typeface="Carlito"/>
              </a:rPr>
              <a:t>network </a:t>
            </a:r>
            <a:r>
              <a:rPr sz="2400" dirty="0">
                <a:latin typeface="Carlito"/>
                <a:cs typeface="Carlito"/>
              </a:rPr>
              <a:t>in </a:t>
            </a:r>
            <a:r>
              <a:rPr sz="2400" spc="-5" dirty="0">
                <a:latin typeface="Carlito"/>
                <a:cs typeface="Carlito"/>
              </a:rPr>
              <a:t>which </a:t>
            </a:r>
            <a:r>
              <a:rPr sz="2400" spc="-15" dirty="0">
                <a:latin typeface="Carlito"/>
                <a:cs typeface="Carlito"/>
              </a:rPr>
              <a:t>computers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5" dirty="0">
                <a:latin typeface="Carlito"/>
                <a:cs typeface="Carlito"/>
              </a:rPr>
              <a:t>other devices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are</a:t>
            </a:r>
            <a:endParaRPr sz="2400" dirty="0">
              <a:latin typeface="Carlito"/>
              <a:cs typeface="Carlito"/>
            </a:endParaRPr>
          </a:p>
          <a:p>
            <a:pPr marL="1155700">
              <a:lnSpc>
                <a:spcPct val="100000"/>
              </a:lnSpc>
            </a:pPr>
            <a:r>
              <a:rPr sz="2400" spc="-15" dirty="0">
                <a:latin typeface="Carlito"/>
                <a:cs typeface="Carlito"/>
              </a:rPr>
              <a:t>physically </a:t>
            </a:r>
            <a:r>
              <a:rPr sz="2400" spc="-10" dirty="0">
                <a:latin typeface="Carlito"/>
                <a:cs typeface="Carlito"/>
              </a:rPr>
              <a:t>connected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5" dirty="0">
                <a:latin typeface="Carlito"/>
                <a:cs typeface="Carlito"/>
              </a:rPr>
              <a:t>the </a:t>
            </a:r>
            <a:r>
              <a:rPr sz="2400" spc="-10" dirty="0">
                <a:latin typeface="Carlito"/>
                <a:cs typeface="Carlito"/>
              </a:rPr>
              <a:t>network </a:t>
            </a:r>
            <a:r>
              <a:rPr sz="2400" dirty="0">
                <a:latin typeface="Carlito"/>
                <a:cs typeface="Carlito"/>
              </a:rPr>
              <a:t>with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cables</a:t>
            </a:r>
            <a:endParaRPr sz="2400" dirty="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10" dirty="0">
                <a:latin typeface="Carlito"/>
                <a:cs typeface="Carlito"/>
              </a:rPr>
              <a:t>Found </a:t>
            </a:r>
            <a:r>
              <a:rPr sz="2400" dirty="0">
                <a:latin typeface="Carlito"/>
                <a:cs typeface="Carlito"/>
              </a:rPr>
              <a:t>in </a:t>
            </a:r>
            <a:r>
              <a:rPr sz="2400" spc="-5" dirty="0">
                <a:latin typeface="Carlito"/>
                <a:cs typeface="Carlito"/>
              </a:rPr>
              <a:t>schools, businesses,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10" dirty="0">
                <a:latin typeface="Carlito"/>
                <a:cs typeface="Carlito"/>
              </a:rPr>
              <a:t>government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facilities</a:t>
            </a:r>
            <a:endParaRPr sz="2400" dirty="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Wireless</a:t>
            </a:r>
            <a:endParaRPr sz="2400" dirty="0">
              <a:latin typeface="Carlito"/>
              <a:cs typeface="Carlito"/>
            </a:endParaRPr>
          </a:p>
          <a:p>
            <a:pPr marL="1155700" marR="304800" lvl="2" indent="-2286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dirty="0">
                <a:latin typeface="Carlito"/>
                <a:cs typeface="Carlito"/>
              </a:rPr>
              <a:t>A </a:t>
            </a:r>
            <a:r>
              <a:rPr sz="2400" spc="-10" dirty="0">
                <a:latin typeface="Carlito"/>
                <a:cs typeface="Carlito"/>
              </a:rPr>
              <a:t>network </a:t>
            </a:r>
            <a:r>
              <a:rPr sz="2400" dirty="0">
                <a:latin typeface="Carlito"/>
                <a:cs typeface="Carlito"/>
              </a:rPr>
              <a:t>in which </a:t>
            </a:r>
            <a:r>
              <a:rPr sz="2400" spc="-15" dirty="0">
                <a:latin typeface="Carlito"/>
                <a:cs typeface="Carlito"/>
              </a:rPr>
              <a:t>computers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5" dirty="0">
                <a:latin typeface="Carlito"/>
                <a:cs typeface="Carlito"/>
              </a:rPr>
              <a:t>other devices </a:t>
            </a:r>
            <a:r>
              <a:rPr sz="2400" spc="-15" dirty="0">
                <a:latin typeface="Carlito"/>
                <a:cs typeface="Carlito"/>
              </a:rPr>
              <a:t>are  </a:t>
            </a:r>
            <a:r>
              <a:rPr sz="2400" spc="-10" dirty="0">
                <a:latin typeface="Carlito"/>
                <a:cs typeface="Carlito"/>
              </a:rPr>
              <a:t>connected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5" dirty="0">
                <a:latin typeface="Carlito"/>
                <a:cs typeface="Carlito"/>
              </a:rPr>
              <a:t>the </a:t>
            </a:r>
            <a:r>
              <a:rPr sz="2400" spc="-10" dirty="0">
                <a:latin typeface="Carlito"/>
                <a:cs typeface="Carlito"/>
              </a:rPr>
              <a:t>network </a:t>
            </a:r>
            <a:r>
              <a:rPr sz="2400" dirty="0">
                <a:latin typeface="Carlito"/>
                <a:cs typeface="Carlito"/>
              </a:rPr>
              <a:t>without </a:t>
            </a:r>
            <a:r>
              <a:rPr sz="2400" spc="-15" dirty="0">
                <a:latin typeface="Carlito"/>
                <a:cs typeface="Carlito"/>
              </a:rPr>
              <a:t>physical</a:t>
            </a:r>
            <a:r>
              <a:rPr sz="2400" spc="-5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cables</a:t>
            </a:r>
            <a:endParaRPr sz="2400" dirty="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15" dirty="0">
                <a:latin typeface="Carlito"/>
                <a:cs typeface="Carlito"/>
              </a:rPr>
              <a:t>Data </a:t>
            </a:r>
            <a:r>
              <a:rPr sz="2400" dirty="0">
                <a:latin typeface="Carlito"/>
                <a:cs typeface="Carlito"/>
              </a:rPr>
              <a:t>is </a:t>
            </a:r>
            <a:r>
              <a:rPr sz="2400" spc="-5" dirty="0">
                <a:latin typeface="Carlito"/>
                <a:cs typeface="Carlito"/>
              </a:rPr>
              <a:t>typically </a:t>
            </a:r>
            <a:r>
              <a:rPr sz="2400" spc="-10" dirty="0">
                <a:latin typeface="Carlito"/>
                <a:cs typeface="Carlito"/>
              </a:rPr>
              <a:t>sent </a:t>
            </a:r>
            <a:r>
              <a:rPr sz="2400" spc="-5" dirty="0">
                <a:latin typeface="Carlito"/>
                <a:cs typeface="Carlito"/>
              </a:rPr>
              <a:t>via </a:t>
            </a:r>
            <a:r>
              <a:rPr sz="2400" spc="-10" dirty="0">
                <a:latin typeface="Carlito"/>
                <a:cs typeface="Carlito"/>
              </a:rPr>
              <a:t>radio</a:t>
            </a:r>
            <a:r>
              <a:rPr sz="2400" spc="-55" dirty="0">
                <a:latin typeface="Carlito"/>
                <a:cs typeface="Carlito"/>
              </a:rPr>
              <a:t> </a:t>
            </a:r>
            <a:r>
              <a:rPr sz="2400" spc="-20" dirty="0">
                <a:latin typeface="Carlito"/>
                <a:cs typeface="Carlito"/>
              </a:rPr>
              <a:t>waves</a:t>
            </a:r>
            <a:endParaRPr sz="2400" dirty="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10" dirty="0">
                <a:latin typeface="Carlito"/>
                <a:cs typeface="Carlito"/>
              </a:rPr>
              <a:t>Found </a:t>
            </a:r>
            <a:r>
              <a:rPr sz="2400" dirty="0">
                <a:latin typeface="Carlito"/>
                <a:cs typeface="Carlito"/>
              </a:rPr>
              <a:t>in </a:t>
            </a:r>
            <a:r>
              <a:rPr sz="2400" spc="-5" dirty="0">
                <a:latin typeface="Carlito"/>
                <a:cs typeface="Carlito"/>
              </a:rPr>
              <a:t>homes, schools, </a:t>
            </a:r>
            <a:r>
              <a:rPr sz="2400" dirty="0">
                <a:latin typeface="Carlito"/>
                <a:cs typeface="Carlito"/>
              </a:rPr>
              <a:t>and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businesses</a:t>
            </a:r>
            <a:endParaRPr sz="2400" dirty="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47777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70" dirty="0"/>
              <a:t>Network</a:t>
            </a:r>
            <a:r>
              <a:rPr spc="-265" dirty="0"/>
              <a:t> </a:t>
            </a:r>
            <a:r>
              <a:rPr spc="-505" dirty="0"/>
              <a:t>Characteristics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10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97838"/>
            <a:ext cx="7915275" cy="4914294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55600" marR="5080" indent="-343535">
              <a:lnSpc>
                <a:spcPts val="2590"/>
              </a:lnSpc>
              <a:spcBef>
                <a:spcPts val="42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u="sng" spc="-10" dirty="0">
                <a:latin typeface="Carlito"/>
                <a:cs typeface="Carlito"/>
              </a:rPr>
              <a:t>Network </a:t>
            </a:r>
            <a:r>
              <a:rPr sz="2400" u="sng" spc="-25" dirty="0">
                <a:latin typeface="Carlito"/>
                <a:cs typeface="Carlito"/>
              </a:rPr>
              <a:t>Topologies</a:t>
            </a:r>
            <a:r>
              <a:rPr sz="2400" spc="-25" dirty="0">
                <a:latin typeface="Carlito"/>
                <a:cs typeface="Carlito"/>
              </a:rPr>
              <a:t>: </a:t>
            </a:r>
            <a:r>
              <a:rPr sz="2400" spc="-15" dirty="0">
                <a:latin typeface="Carlito"/>
                <a:cs typeface="Carlito"/>
              </a:rPr>
              <a:t>Indicate </a:t>
            </a:r>
            <a:r>
              <a:rPr sz="2400" spc="-10" dirty="0">
                <a:latin typeface="Carlito"/>
                <a:cs typeface="Carlito"/>
              </a:rPr>
              <a:t>how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5" dirty="0">
                <a:latin typeface="Carlito"/>
                <a:cs typeface="Carlito"/>
              </a:rPr>
              <a:t>devices </a:t>
            </a:r>
            <a:r>
              <a:rPr sz="2400" dirty="0">
                <a:latin typeface="Carlito"/>
                <a:cs typeface="Carlito"/>
              </a:rPr>
              <a:t>in the </a:t>
            </a:r>
            <a:r>
              <a:rPr sz="2400" spc="-10" dirty="0">
                <a:latin typeface="Carlito"/>
                <a:cs typeface="Carlito"/>
              </a:rPr>
              <a:t>network  </a:t>
            </a:r>
            <a:r>
              <a:rPr sz="2400" spc="-15" dirty="0">
                <a:latin typeface="Carlito"/>
                <a:cs typeface="Carlito"/>
              </a:rPr>
              <a:t>are </a:t>
            </a:r>
            <a:r>
              <a:rPr sz="2400" spc="-10" dirty="0">
                <a:latin typeface="Carlito"/>
                <a:cs typeface="Carlito"/>
              </a:rPr>
              <a:t>arranged</a:t>
            </a:r>
            <a:endParaRPr sz="2400" dirty="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254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Star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Networks</a:t>
            </a:r>
            <a:endParaRPr sz="2400" dirty="0">
              <a:latin typeface="Carlito"/>
              <a:cs typeface="Carlito"/>
            </a:endParaRPr>
          </a:p>
          <a:p>
            <a:pPr marL="1155700" marR="1522730" lvl="2" indent="-228600">
              <a:lnSpc>
                <a:spcPts val="2590"/>
              </a:lnSpc>
              <a:spcBef>
                <a:spcPts val="61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dirty="0">
                <a:latin typeface="Carlito"/>
                <a:cs typeface="Carlito"/>
              </a:rPr>
              <a:t>All </a:t>
            </a:r>
            <a:r>
              <a:rPr sz="2400" spc="-15" dirty="0">
                <a:latin typeface="Carlito"/>
                <a:cs typeface="Carlito"/>
              </a:rPr>
              <a:t>networked </a:t>
            </a:r>
            <a:r>
              <a:rPr sz="2400" spc="-5" dirty="0">
                <a:latin typeface="Carlito"/>
                <a:cs typeface="Carlito"/>
              </a:rPr>
              <a:t>devices </a:t>
            </a:r>
            <a:r>
              <a:rPr sz="2400" spc="-10" dirty="0">
                <a:latin typeface="Carlito"/>
                <a:cs typeface="Carlito"/>
              </a:rPr>
              <a:t>connect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dirty="0">
                <a:latin typeface="Carlito"/>
                <a:cs typeface="Carlito"/>
              </a:rPr>
              <a:t>a </a:t>
            </a:r>
            <a:r>
              <a:rPr sz="2400" spc="-10" dirty="0">
                <a:latin typeface="Carlito"/>
                <a:cs typeface="Carlito"/>
              </a:rPr>
              <a:t>central  device/server</a:t>
            </a:r>
            <a:endParaRPr sz="2400" dirty="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254"/>
              </a:spcBef>
              <a:buFont typeface="Arial"/>
              <a:buChar char="•"/>
              <a:tabLst>
                <a:tab pos="1156335" algn="l"/>
              </a:tabLst>
            </a:pPr>
            <a:r>
              <a:rPr sz="2400" dirty="0">
                <a:latin typeface="Carlito"/>
                <a:cs typeface="Carlito"/>
              </a:rPr>
              <a:t>If the </a:t>
            </a:r>
            <a:r>
              <a:rPr sz="2400" spc="-10" dirty="0">
                <a:latin typeface="Carlito"/>
                <a:cs typeface="Carlito"/>
              </a:rPr>
              <a:t>central </a:t>
            </a:r>
            <a:r>
              <a:rPr sz="2400" spc="-5" dirty="0">
                <a:latin typeface="Carlito"/>
                <a:cs typeface="Carlito"/>
              </a:rPr>
              <a:t>device </a:t>
            </a:r>
            <a:r>
              <a:rPr sz="2400" spc="-10" dirty="0">
                <a:latin typeface="Carlito"/>
                <a:cs typeface="Carlito"/>
              </a:rPr>
              <a:t>fails,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10" dirty="0">
                <a:latin typeface="Carlito"/>
                <a:cs typeface="Carlito"/>
              </a:rPr>
              <a:t>network </a:t>
            </a:r>
            <a:r>
              <a:rPr sz="2400" spc="-5" dirty="0">
                <a:latin typeface="Carlito"/>
                <a:cs typeface="Carlito"/>
              </a:rPr>
              <a:t>cannot</a:t>
            </a:r>
            <a:r>
              <a:rPr sz="2400" spc="-60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work</a:t>
            </a:r>
            <a:endParaRPr sz="2400" dirty="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290"/>
              </a:spcBef>
              <a:buFont typeface="Arial"/>
              <a:buChar char="–"/>
              <a:tabLst>
                <a:tab pos="756920" algn="l"/>
              </a:tabLst>
            </a:pPr>
            <a:r>
              <a:rPr sz="2400" dirty="0">
                <a:latin typeface="Carlito"/>
                <a:cs typeface="Carlito"/>
              </a:rPr>
              <a:t>Bus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Network</a:t>
            </a:r>
            <a:endParaRPr sz="2400" dirty="0">
              <a:latin typeface="Carlito"/>
              <a:cs typeface="Carlito"/>
            </a:endParaRPr>
          </a:p>
          <a:p>
            <a:pPr marL="1155700" marR="732790" lvl="2" indent="-228600">
              <a:lnSpc>
                <a:spcPts val="2590"/>
              </a:lnSpc>
              <a:spcBef>
                <a:spcPts val="61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Carlito"/>
                <a:cs typeface="Carlito"/>
              </a:rPr>
              <a:t>Uses </a:t>
            </a:r>
            <a:r>
              <a:rPr sz="2400" dirty="0">
                <a:latin typeface="Carlito"/>
                <a:cs typeface="Carlito"/>
              </a:rPr>
              <a:t>a </a:t>
            </a:r>
            <a:r>
              <a:rPr sz="2400" spc="-10" dirty="0">
                <a:latin typeface="Carlito"/>
                <a:cs typeface="Carlito"/>
              </a:rPr>
              <a:t>central </a:t>
            </a:r>
            <a:r>
              <a:rPr sz="2400" spc="-5" dirty="0">
                <a:latin typeface="Carlito"/>
                <a:cs typeface="Carlito"/>
              </a:rPr>
              <a:t>cable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dirty="0">
                <a:latin typeface="Carlito"/>
                <a:cs typeface="Carlito"/>
              </a:rPr>
              <a:t>which all </a:t>
            </a:r>
            <a:r>
              <a:rPr sz="2400" spc="-10" dirty="0">
                <a:latin typeface="Carlito"/>
                <a:cs typeface="Carlito"/>
              </a:rPr>
              <a:t>network</a:t>
            </a:r>
            <a:r>
              <a:rPr sz="2400" spc="-11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devices  </a:t>
            </a:r>
            <a:r>
              <a:rPr sz="2400" spc="-10" dirty="0">
                <a:latin typeface="Carlito"/>
                <a:cs typeface="Carlito"/>
              </a:rPr>
              <a:t>connect</a:t>
            </a:r>
            <a:endParaRPr sz="2400" dirty="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254"/>
              </a:spcBef>
              <a:buFont typeface="Arial"/>
              <a:buChar char="–"/>
              <a:tabLst>
                <a:tab pos="756920" algn="l"/>
              </a:tabLst>
            </a:pPr>
            <a:r>
              <a:rPr sz="2400" dirty="0">
                <a:latin typeface="Carlito"/>
                <a:cs typeface="Carlito"/>
              </a:rPr>
              <a:t>Mesh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network</a:t>
            </a:r>
            <a:endParaRPr sz="2400" dirty="0">
              <a:latin typeface="Carlito"/>
              <a:cs typeface="Carlito"/>
            </a:endParaRPr>
          </a:p>
          <a:p>
            <a:pPr marL="1155700" marR="674370" lvl="2" indent="-228600">
              <a:lnSpc>
                <a:spcPct val="90000"/>
              </a:lnSpc>
              <a:spcBef>
                <a:spcPts val="57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dirty="0">
                <a:latin typeface="Carlito"/>
                <a:cs typeface="Carlito"/>
              </a:rPr>
              <a:t>Multiple </a:t>
            </a:r>
            <a:r>
              <a:rPr sz="2400" spc="-10" dirty="0">
                <a:latin typeface="Carlito"/>
                <a:cs typeface="Carlito"/>
              </a:rPr>
              <a:t>connections </a:t>
            </a:r>
            <a:r>
              <a:rPr sz="2400" dirty="0">
                <a:latin typeface="Carlito"/>
                <a:cs typeface="Carlito"/>
              </a:rPr>
              <a:t>among the </a:t>
            </a:r>
            <a:r>
              <a:rPr sz="2400" spc="-5" dirty="0">
                <a:latin typeface="Carlito"/>
                <a:cs typeface="Carlito"/>
              </a:rPr>
              <a:t>devices </a:t>
            </a:r>
            <a:r>
              <a:rPr sz="2400" spc="-10" dirty="0">
                <a:latin typeface="Carlito"/>
                <a:cs typeface="Carlito"/>
              </a:rPr>
              <a:t>on </a:t>
            </a:r>
            <a:r>
              <a:rPr sz="2400" dirty="0">
                <a:latin typeface="Carlito"/>
                <a:cs typeface="Carlito"/>
              </a:rPr>
              <a:t>the  </a:t>
            </a:r>
            <a:r>
              <a:rPr sz="2400" spc="-10" dirty="0">
                <a:latin typeface="Carlito"/>
                <a:cs typeface="Carlito"/>
              </a:rPr>
              <a:t>network </a:t>
            </a:r>
            <a:r>
              <a:rPr sz="2400" spc="-5" dirty="0">
                <a:latin typeface="Carlito"/>
                <a:cs typeface="Carlito"/>
              </a:rPr>
              <a:t>so </a:t>
            </a:r>
            <a:r>
              <a:rPr sz="2400" spc="-10" dirty="0">
                <a:latin typeface="Carlito"/>
                <a:cs typeface="Carlito"/>
              </a:rPr>
              <a:t>that </a:t>
            </a:r>
            <a:r>
              <a:rPr sz="2400" spc="-5" dirty="0">
                <a:latin typeface="Carlito"/>
                <a:cs typeface="Carlito"/>
              </a:rPr>
              <a:t>messages </a:t>
            </a:r>
            <a:r>
              <a:rPr sz="2400" spc="-10" dirty="0">
                <a:latin typeface="Carlito"/>
                <a:cs typeface="Carlito"/>
              </a:rPr>
              <a:t>can </a:t>
            </a:r>
            <a:r>
              <a:rPr sz="2400" spc="-25" dirty="0">
                <a:latin typeface="Carlito"/>
                <a:cs typeface="Carlito"/>
              </a:rPr>
              <a:t>take </a:t>
            </a:r>
            <a:r>
              <a:rPr sz="2400" spc="-20" dirty="0">
                <a:latin typeface="Carlito"/>
                <a:cs typeface="Carlito"/>
              </a:rPr>
              <a:t>any </a:t>
            </a:r>
            <a:r>
              <a:rPr sz="2400" spc="-5" dirty="0">
                <a:latin typeface="Carlito"/>
                <a:cs typeface="Carlito"/>
              </a:rPr>
              <a:t>of </a:t>
            </a:r>
            <a:r>
              <a:rPr sz="2400" spc="-15" dirty="0">
                <a:latin typeface="Carlito"/>
                <a:cs typeface="Carlito"/>
              </a:rPr>
              <a:t>several  </a:t>
            </a:r>
            <a:r>
              <a:rPr sz="2400" spc="-5" dirty="0">
                <a:latin typeface="Carlito"/>
                <a:cs typeface="Carlito"/>
              </a:rPr>
              <a:t>possible</a:t>
            </a:r>
            <a:r>
              <a:rPr sz="2400" spc="-2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paths</a:t>
            </a:r>
            <a:endParaRPr sz="2400" dirty="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47777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70" dirty="0"/>
              <a:t>Network</a:t>
            </a:r>
            <a:r>
              <a:rPr spc="-265" dirty="0"/>
              <a:t> </a:t>
            </a:r>
            <a:r>
              <a:rPr spc="-505" dirty="0"/>
              <a:t>Characteristics</a:t>
            </a:r>
          </a:p>
        </p:txBody>
      </p:sp>
      <p:sp>
        <p:nvSpPr>
          <p:cNvPr id="3" name="object 3"/>
          <p:cNvSpPr/>
          <p:nvPr/>
        </p:nvSpPr>
        <p:spPr>
          <a:xfrm>
            <a:off x="1383538" y="1901570"/>
            <a:ext cx="2743164" cy="27431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932045" y="1556842"/>
            <a:ext cx="2280532" cy="481037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403603" y="5517235"/>
            <a:ext cx="1776566" cy="36575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11</a:t>
            </a:fld>
            <a:endParaRPr spc="-16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47777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70" dirty="0"/>
              <a:t>Network</a:t>
            </a:r>
            <a:r>
              <a:rPr spc="-265" dirty="0"/>
              <a:t> </a:t>
            </a:r>
            <a:r>
              <a:rPr spc="-505" dirty="0"/>
              <a:t>Characteristics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12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7748270" cy="379527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u="sng" spc="-10" dirty="0">
                <a:latin typeface="Carlito"/>
                <a:cs typeface="Carlito"/>
              </a:rPr>
              <a:t>Network</a:t>
            </a:r>
            <a:r>
              <a:rPr sz="2400" u="sng" spc="-40" dirty="0">
                <a:latin typeface="Carlito"/>
                <a:cs typeface="Carlito"/>
              </a:rPr>
              <a:t> </a:t>
            </a:r>
            <a:r>
              <a:rPr sz="2400" u="sng" spc="-10" dirty="0">
                <a:latin typeface="Carlito"/>
                <a:cs typeface="Carlito"/>
              </a:rPr>
              <a:t>Architectures</a:t>
            </a:r>
            <a:endParaRPr sz="2400" u="sng" dirty="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Client-Server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Networks</a:t>
            </a:r>
            <a:endParaRPr sz="2400" dirty="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10" dirty="0">
                <a:latin typeface="Carlito"/>
                <a:cs typeface="Carlito"/>
              </a:rPr>
              <a:t>Client</a:t>
            </a:r>
            <a:endParaRPr sz="2400" dirty="0">
              <a:latin typeface="Carlito"/>
              <a:cs typeface="Carlito"/>
            </a:endParaRPr>
          </a:p>
          <a:p>
            <a:pPr marL="1612900" marR="385445" lvl="3" indent="-22860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1613535" algn="l"/>
              </a:tabLst>
            </a:pPr>
            <a:r>
              <a:rPr sz="2400" spc="-10" dirty="0">
                <a:latin typeface="Carlito"/>
                <a:cs typeface="Carlito"/>
              </a:rPr>
              <a:t>Computer </a:t>
            </a:r>
            <a:r>
              <a:rPr sz="2400" spc="-5" dirty="0">
                <a:latin typeface="Carlito"/>
                <a:cs typeface="Carlito"/>
              </a:rPr>
              <a:t>or other device on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10" dirty="0">
                <a:latin typeface="Carlito"/>
                <a:cs typeface="Carlito"/>
              </a:rPr>
              <a:t>network that  requests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10" dirty="0">
                <a:latin typeface="Carlito"/>
                <a:cs typeface="Carlito"/>
              </a:rPr>
              <a:t>utilizes network</a:t>
            </a:r>
            <a:r>
              <a:rPr sz="2400" spc="-5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resources</a:t>
            </a:r>
            <a:endParaRPr sz="2400" dirty="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Carlito"/>
                <a:cs typeface="Carlito"/>
              </a:rPr>
              <a:t>Server</a:t>
            </a:r>
            <a:endParaRPr sz="2400" dirty="0">
              <a:latin typeface="Carlito"/>
              <a:cs typeface="Carlito"/>
            </a:endParaRPr>
          </a:p>
          <a:p>
            <a:pPr marL="1612900" lvl="3" indent="-229235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1613535" algn="l"/>
              </a:tabLst>
            </a:pPr>
            <a:r>
              <a:rPr sz="2400" spc="-10" dirty="0">
                <a:latin typeface="Carlito"/>
                <a:cs typeface="Carlito"/>
              </a:rPr>
              <a:t>Computer dedicated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10" dirty="0">
                <a:latin typeface="Carlito"/>
                <a:cs typeface="Carlito"/>
              </a:rPr>
              <a:t>processing </a:t>
            </a:r>
            <a:r>
              <a:rPr sz="2400" spc="-5" dirty="0">
                <a:latin typeface="Carlito"/>
                <a:cs typeface="Carlito"/>
              </a:rPr>
              <a:t>client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requests</a:t>
            </a:r>
            <a:endParaRPr sz="2400" dirty="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47777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70" dirty="0"/>
              <a:t>Network</a:t>
            </a:r>
            <a:r>
              <a:rPr spc="-265" dirty="0"/>
              <a:t> </a:t>
            </a:r>
            <a:r>
              <a:rPr spc="-505" dirty="0"/>
              <a:t>Characteristics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13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993444" y="1461262"/>
            <a:ext cx="7549515" cy="3718326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287020" marR="3699510" indent="-287020" algn="r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287020" algn="l"/>
              </a:tabLst>
            </a:pPr>
            <a:r>
              <a:rPr sz="2400" spc="-15" dirty="0">
                <a:latin typeface="Carlito"/>
                <a:cs typeface="Carlito"/>
              </a:rPr>
              <a:t>Peer-to-Peer </a:t>
            </a:r>
            <a:r>
              <a:rPr sz="2400" spc="-10" dirty="0">
                <a:latin typeface="Carlito"/>
                <a:cs typeface="Carlito"/>
              </a:rPr>
              <a:t>(P2P)</a:t>
            </a:r>
            <a:r>
              <a:rPr sz="2400" spc="-5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Networks</a:t>
            </a:r>
            <a:endParaRPr sz="2400" dirty="0">
              <a:latin typeface="Carlito"/>
              <a:cs typeface="Carlito"/>
            </a:endParaRPr>
          </a:p>
          <a:p>
            <a:pPr marL="228600" marR="3706495" lvl="1" indent="-228600" algn="r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228600" algn="l"/>
              </a:tabLst>
            </a:pPr>
            <a:r>
              <a:rPr sz="2400" spc="-15" dirty="0">
                <a:latin typeface="Carlito"/>
                <a:cs typeface="Carlito"/>
              </a:rPr>
              <a:t>Central </a:t>
            </a:r>
            <a:r>
              <a:rPr sz="2400" spc="-5" dirty="0">
                <a:latin typeface="Carlito"/>
                <a:cs typeface="Carlito"/>
              </a:rPr>
              <a:t>server </a:t>
            </a:r>
            <a:r>
              <a:rPr sz="2400" dirty="0">
                <a:latin typeface="Carlito"/>
                <a:cs typeface="Carlito"/>
              </a:rPr>
              <a:t>is </a:t>
            </a:r>
            <a:r>
              <a:rPr sz="2400" spc="-5" dirty="0">
                <a:latin typeface="Carlito"/>
                <a:cs typeface="Carlito"/>
              </a:rPr>
              <a:t>not</a:t>
            </a:r>
            <a:r>
              <a:rPr sz="2400" spc="-8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used</a:t>
            </a:r>
            <a:endParaRPr sz="2400" dirty="0">
              <a:latin typeface="Carlito"/>
              <a:cs typeface="Carlito"/>
            </a:endParaRPr>
          </a:p>
          <a:p>
            <a:pPr marL="697865" lvl="1" indent="-2292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698500" algn="l"/>
              </a:tabLst>
            </a:pPr>
            <a:r>
              <a:rPr sz="2400" dirty="0">
                <a:latin typeface="Carlito"/>
                <a:cs typeface="Carlito"/>
              </a:rPr>
              <a:t>All </a:t>
            </a:r>
            <a:r>
              <a:rPr sz="2400" spc="-15" dirty="0">
                <a:latin typeface="Carlito"/>
                <a:cs typeface="Carlito"/>
              </a:rPr>
              <a:t>computers </a:t>
            </a:r>
            <a:r>
              <a:rPr sz="2400" spc="-5" dirty="0">
                <a:latin typeface="Carlito"/>
                <a:cs typeface="Carlito"/>
              </a:rPr>
              <a:t>on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10" dirty="0">
                <a:latin typeface="Carlito"/>
                <a:cs typeface="Carlito"/>
              </a:rPr>
              <a:t>network work </a:t>
            </a:r>
            <a:r>
              <a:rPr sz="2400" spc="-15" dirty="0">
                <a:latin typeface="Carlito"/>
                <a:cs typeface="Carlito"/>
              </a:rPr>
              <a:t>at </a:t>
            </a:r>
            <a:r>
              <a:rPr sz="2400" dirty="0">
                <a:latin typeface="Carlito"/>
                <a:cs typeface="Carlito"/>
              </a:rPr>
              <a:t>the</a:t>
            </a:r>
            <a:r>
              <a:rPr sz="2400" spc="-8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same</a:t>
            </a:r>
            <a:endParaRPr sz="2400" dirty="0">
              <a:latin typeface="Carlito"/>
              <a:cs typeface="Carlito"/>
            </a:endParaRPr>
          </a:p>
          <a:p>
            <a:pPr marL="697865">
              <a:lnSpc>
                <a:spcPct val="100000"/>
              </a:lnSpc>
            </a:pPr>
            <a:r>
              <a:rPr sz="2400" spc="-5" dirty="0">
                <a:latin typeface="Carlito"/>
                <a:cs typeface="Carlito"/>
              </a:rPr>
              <a:t>functional</a:t>
            </a:r>
            <a:r>
              <a:rPr sz="2400" spc="-2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level</a:t>
            </a:r>
            <a:endParaRPr sz="2400" dirty="0">
              <a:latin typeface="Carlito"/>
              <a:cs typeface="Carlito"/>
            </a:endParaRPr>
          </a:p>
          <a:p>
            <a:pPr marL="697865" marR="136525" lvl="1" indent="-2286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10" dirty="0">
                <a:latin typeface="Carlito"/>
                <a:cs typeface="Carlito"/>
              </a:rPr>
              <a:t>Users </a:t>
            </a:r>
            <a:r>
              <a:rPr sz="2400" spc="-20" dirty="0">
                <a:latin typeface="Carlito"/>
                <a:cs typeface="Carlito"/>
              </a:rPr>
              <a:t>have </a:t>
            </a:r>
            <a:r>
              <a:rPr sz="2400" spc="-10" dirty="0">
                <a:latin typeface="Carlito"/>
                <a:cs typeface="Carlito"/>
              </a:rPr>
              <a:t>direct </a:t>
            </a:r>
            <a:r>
              <a:rPr sz="2400" dirty="0">
                <a:latin typeface="Carlito"/>
                <a:cs typeface="Carlito"/>
              </a:rPr>
              <a:t>access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5" dirty="0">
                <a:latin typeface="Carlito"/>
                <a:cs typeface="Carlito"/>
              </a:rPr>
              <a:t>the </a:t>
            </a:r>
            <a:r>
              <a:rPr sz="2400" spc="-15" dirty="0">
                <a:latin typeface="Carlito"/>
                <a:cs typeface="Carlito"/>
              </a:rPr>
              <a:t>computers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5" dirty="0">
                <a:latin typeface="Carlito"/>
                <a:cs typeface="Carlito"/>
              </a:rPr>
              <a:t>devices  </a:t>
            </a:r>
            <a:r>
              <a:rPr sz="2400" spc="-15" dirty="0">
                <a:latin typeface="Carlito"/>
                <a:cs typeface="Carlito"/>
              </a:rPr>
              <a:t>attached to </a:t>
            </a:r>
            <a:r>
              <a:rPr sz="2400" dirty="0">
                <a:latin typeface="Carlito"/>
                <a:cs typeface="Carlito"/>
              </a:rPr>
              <a:t>the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network</a:t>
            </a:r>
            <a:endParaRPr sz="2400" dirty="0">
              <a:latin typeface="Carlito"/>
              <a:cs typeface="Carlito"/>
            </a:endParaRPr>
          </a:p>
          <a:p>
            <a:pPr marL="697865" marR="5080" lvl="1" indent="-228600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5" dirty="0">
                <a:latin typeface="Carlito"/>
                <a:cs typeface="Carlito"/>
              </a:rPr>
              <a:t>Less </a:t>
            </a:r>
            <a:r>
              <a:rPr sz="2400" spc="-15" dirty="0">
                <a:latin typeface="Carlito"/>
                <a:cs typeface="Carlito"/>
              </a:rPr>
              <a:t>complicated </a:t>
            </a:r>
            <a:r>
              <a:rPr sz="2400" dirty="0">
                <a:latin typeface="Carlito"/>
                <a:cs typeface="Carlito"/>
              </a:rPr>
              <a:t>and less </a:t>
            </a:r>
            <a:r>
              <a:rPr sz="2400" spc="-10" dirty="0">
                <a:latin typeface="Carlito"/>
                <a:cs typeface="Carlito"/>
              </a:rPr>
              <a:t>expensive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5" dirty="0">
                <a:latin typeface="Carlito"/>
                <a:cs typeface="Carlito"/>
              </a:rPr>
              <a:t>implement </a:t>
            </a:r>
            <a:r>
              <a:rPr sz="2400" dirty="0">
                <a:latin typeface="Carlito"/>
                <a:cs typeface="Carlito"/>
              </a:rPr>
              <a:t>than  </a:t>
            </a:r>
            <a:r>
              <a:rPr sz="2400" spc="-5" dirty="0">
                <a:latin typeface="Carlito"/>
                <a:cs typeface="Carlito"/>
              </a:rPr>
              <a:t>client-server</a:t>
            </a:r>
            <a:r>
              <a:rPr sz="2400" spc="-15" dirty="0">
                <a:latin typeface="Carlito"/>
                <a:cs typeface="Carlito"/>
              </a:rPr>
              <a:t> </a:t>
            </a:r>
            <a:r>
              <a:rPr sz="2400" spc="-10" dirty="0" smtClean="0">
                <a:latin typeface="Carlito"/>
                <a:cs typeface="Carlito"/>
              </a:rPr>
              <a:t>networks</a:t>
            </a:r>
            <a:endParaRPr sz="2400" dirty="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47777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70" dirty="0"/>
              <a:t>Network</a:t>
            </a:r>
            <a:r>
              <a:rPr spc="-265" dirty="0"/>
              <a:t> </a:t>
            </a:r>
            <a:r>
              <a:rPr spc="-505" dirty="0"/>
              <a:t>Characteristics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14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7713345" cy="5604739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38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u="sng" spc="-10" dirty="0">
                <a:latin typeface="Carlito"/>
                <a:cs typeface="Carlito"/>
              </a:rPr>
              <a:t>Network </a:t>
            </a:r>
            <a:r>
              <a:rPr sz="2400" u="sng" spc="-15" dirty="0">
                <a:latin typeface="Carlito"/>
                <a:cs typeface="Carlito"/>
              </a:rPr>
              <a:t>Size </a:t>
            </a:r>
            <a:r>
              <a:rPr sz="2400" u="sng" dirty="0">
                <a:latin typeface="Carlito"/>
                <a:cs typeface="Carlito"/>
              </a:rPr>
              <a:t>and </a:t>
            </a:r>
            <a:r>
              <a:rPr sz="2400" u="sng" spc="-15" dirty="0">
                <a:latin typeface="Carlito"/>
                <a:cs typeface="Carlito"/>
              </a:rPr>
              <a:t>Coverage</a:t>
            </a:r>
            <a:r>
              <a:rPr sz="2400" u="sng" spc="-30" dirty="0">
                <a:latin typeface="Carlito"/>
                <a:cs typeface="Carlito"/>
              </a:rPr>
              <a:t> </a:t>
            </a:r>
            <a:r>
              <a:rPr sz="2400" u="sng" spc="-10" dirty="0">
                <a:latin typeface="Carlito"/>
                <a:cs typeface="Carlito"/>
              </a:rPr>
              <a:t>Area</a:t>
            </a:r>
            <a:endParaRPr sz="2400" u="sng" dirty="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29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5" dirty="0">
                <a:latin typeface="Carlito"/>
                <a:cs typeface="Carlito"/>
              </a:rPr>
              <a:t>Personal </a:t>
            </a:r>
            <a:r>
              <a:rPr sz="2400" spc="-10" dirty="0">
                <a:latin typeface="Carlito"/>
                <a:cs typeface="Carlito"/>
              </a:rPr>
              <a:t>Area Networks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spc="-35" dirty="0">
                <a:latin typeface="Carlito"/>
                <a:cs typeface="Carlito"/>
              </a:rPr>
              <a:t>(PANs)</a:t>
            </a:r>
            <a:endParaRPr sz="2400" dirty="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290"/>
              </a:spcBef>
              <a:buChar char="•"/>
              <a:tabLst>
                <a:tab pos="1156335" algn="l"/>
              </a:tabLst>
            </a:pPr>
            <a:r>
              <a:rPr sz="2400" spc="-130" dirty="0">
                <a:latin typeface="Arial"/>
                <a:cs typeface="Arial"/>
              </a:rPr>
              <a:t>Connect an </a:t>
            </a:r>
            <a:r>
              <a:rPr sz="2400" spc="-75" dirty="0">
                <a:latin typeface="Arial"/>
                <a:cs typeface="Arial"/>
              </a:rPr>
              <a:t>individual’s </a:t>
            </a:r>
            <a:r>
              <a:rPr sz="2400" spc="-105" dirty="0">
                <a:latin typeface="Arial"/>
                <a:cs typeface="Arial"/>
              </a:rPr>
              <a:t>personal</a:t>
            </a:r>
            <a:r>
              <a:rPr sz="2400" spc="-215" dirty="0">
                <a:latin typeface="Arial"/>
                <a:cs typeface="Arial"/>
              </a:rPr>
              <a:t> </a:t>
            </a:r>
            <a:r>
              <a:rPr sz="2400" spc="-135" dirty="0">
                <a:latin typeface="Arial"/>
                <a:cs typeface="Arial"/>
              </a:rPr>
              <a:t>devices</a:t>
            </a:r>
            <a:endParaRPr sz="2400" dirty="0">
              <a:latin typeface="Arial"/>
              <a:cs typeface="Arial"/>
            </a:endParaRPr>
          </a:p>
          <a:p>
            <a:pPr marL="1384300">
              <a:lnSpc>
                <a:spcPct val="100000"/>
              </a:lnSpc>
              <a:spcBef>
                <a:spcPts val="290"/>
              </a:spcBef>
            </a:pPr>
            <a:r>
              <a:rPr sz="2400" dirty="0">
                <a:latin typeface="Arial"/>
                <a:cs typeface="Arial"/>
              </a:rPr>
              <a:t>– </a:t>
            </a:r>
            <a:r>
              <a:rPr sz="2400" spc="-5" dirty="0">
                <a:latin typeface="Carlito"/>
                <a:cs typeface="Carlito"/>
              </a:rPr>
              <a:t>Devices </a:t>
            </a:r>
            <a:r>
              <a:rPr sz="2400" spc="-10" dirty="0">
                <a:latin typeface="Carlito"/>
                <a:cs typeface="Carlito"/>
              </a:rPr>
              <a:t>must </a:t>
            </a:r>
            <a:r>
              <a:rPr sz="2400" spc="-5" dirty="0">
                <a:latin typeface="Carlito"/>
                <a:cs typeface="Carlito"/>
              </a:rPr>
              <a:t>be </a:t>
            </a:r>
            <a:r>
              <a:rPr sz="2400" spc="-15" dirty="0">
                <a:latin typeface="Carlito"/>
                <a:cs typeface="Carlito"/>
              </a:rPr>
              <a:t>physically located </a:t>
            </a:r>
            <a:r>
              <a:rPr sz="2400" dirty="0">
                <a:latin typeface="Carlito"/>
                <a:cs typeface="Carlito"/>
              </a:rPr>
              <a:t>close</a:t>
            </a:r>
            <a:r>
              <a:rPr sz="2400" spc="-190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together</a:t>
            </a:r>
            <a:endParaRPr sz="2400" dirty="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28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Local Area Networks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(LANs)</a:t>
            </a:r>
            <a:endParaRPr sz="2400" dirty="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29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Carlito"/>
                <a:cs typeface="Carlito"/>
              </a:rPr>
              <a:t>Connect devices </a:t>
            </a:r>
            <a:r>
              <a:rPr sz="2400" spc="-15" dirty="0">
                <a:latin typeface="Carlito"/>
                <a:cs typeface="Carlito"/>
              </a:rPr>
              <a:t>located </a:t>
            </a:r>
            <a:r>
              <a:rPr sz="2400" dirty="0">
                <a:latin typeface="Carlito"/>
                <a:cs typeface="Carlito"/>
              </a:rPr>
              <a:t>in a </a:t>
            </a:r>
            <a:r>
              <a:rPr sz="2400" spc="-5" dirty="0">
                <a:latin typeface="Carlito"/>
                <a:cs typeface="Carlito"/>
              </a:rPr>
              <a:t>small </a:t>
            </a:r>
            <a:r>
              <a:rPr sz="2400" spc="-10" dirty="0">
                <a:latin typeface="Carlito"/>
                <a:cs typeface="Carlito"/>
              </a:rPr>
              <a:t>geographic</a:t>
            </a:r>
            <a:r>
              <a:rPr sz="2400" spc="-6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area</a:t>
            </a:r>
            <a:endParaRPr sz="2400" dirty="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29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Metropolitan Area Networks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(MANs)</a:t>
            </a:r>
            <a:endParaRPr sz="2400" dirty="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28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10" dirty="0">
                <a:latin typeface="Carlito"/>
                <a:cs typeface="Carlito"/>
              </a:rPr>
              <a:t>Cover </a:t>
            </a:r>
            <a:r>
              <a:rPr sz="2400" dirty="0">
                <a:latin typeface="Carlito"/>
                <a:cs typeface="Carlito"/>
              </a:rPr>
              <a:t>a </a:t>
            </a:r>
            <a:r>
              <a:rPr sz="2400" spc="-10" dirty="0">
                <a:latin typeface="Carlito"/>
                <a:cs typeface="Carlito"/>
              </a:rPr>
              <a:t>metropolitan area </a:t>
            </a:r>
            <a:r>
              <a:rPr sz="2400" spc="-5" dirty="0">
                <a:latin typeface="Carlito"/>
                <a:cs typeface="Carlito"/>
              </a:rPr>
              <a:t>such </a:t>
            </a:r>
            <a:r>
              <a:rPr sz="2400" dirty="0">
                <a:latin typeface="Carlito"/>
                <a:cs typeface="Carlito"/>
              </a:rPr>
              <a:t>as a city </a:t>
            </a:r>
            <a:r>
              <a:rPr sz="2400" spc="-5" dirty="0">
                <a:latin typeface="Carlito"/>
                <a:cs typeface="Carlito"/>
              </a:rPr>
              <a:t>or</a:t>
            </a:r>
            <a:r>
              <a:rPr sz="2400" spc="-85" dirty="0">
                <a:latin typeface="Carlito"/>
                <a:cs typeface="Carlito"/>
              </a:rPr>
              <a:t> </a:t>
            </a:r>
            <a:r>
              <a:rPr sz="2400" spc="-15" dirty="0" smtClean="0">
                <a:latin typeface="Carlito"/>
                <a:cs typeface="Carlito"/>
              </a:rPr>
              <a:t>county</a:t>
            </a:r>
            <a:endParaRPr sz="2400" dirty="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295"/>
              </a:spcBef>
              <a:buFont typeface="Arial"/>
              <a:buChar char="–"/>
              <a:tabLst>
                <a:tab pos="756920" algn="l"/>
              </a:tabLst>
            </a:pPr>
            <a:r>
              <a:rPr sz="2400" dirty="0">
                <a:latin typeface="Carlito"/>
                <a:cs typeface="Carlito"/>
              </a:rPr>
              <a:t>Wide </a:t>
            </a:r>
            <a:r>
              <a:rPr sz="2400" spc="-10" dirty="0">
                <a:latin typeface="Carlito"/>
                <a:cs typeface="Carlito"/>
              </a:rPr>
              <a:t>Area Networks</a:t>
            </a:r>
            <a:r>
              <a:rPr sz="2400" spc="-20" dirty="0">
                <a:latin typeface="Carlito"/>
                <a:cs typeface="Carlito"/>
              </a:rPr>
              <a:t> (WANs)</a:t>
            </a:r>
            <a:endParaRPr sz="2400" dirty="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28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10" dirty="0">
                <a:latin typeface="Carlito"/>
                <a:cs typeface="Carlito"/>
              </a:rPr>
              <a:t>Cover </a:t>
            </a:r>
            <a:r>
              <a:rPr sz="2400" dirty="0">
                <a:latin typeface="Carlito"/>
                <a:cs typeface="Carlito"/>
              </a:rPr>
              <a:t>a </a:t>
            </a:r>
            <a:r>
              <a:rPr sz="2400" spc="-15" dirty="0">
                <a:latin typeface="Carlito"/>
                <a:cs typeface="Carlito"/>
              </a:rPr>
              <a:t>large </a:t>
            </a:r>
            <a:r>
              <a:rPr sz="2400" spc="-10" dirty="0">
                <a:latin typeface="Carlito"/>
                <a:cs typeface="Carlito"/>
              </a:rPr>
              <a:t>geographic</a:t>
            </a:r>
            <a:r>
              <a:rPr sz="2400" spc="-1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area</a:t>
            </a:r>
            <a:endParaRPr sz="2400" dirty="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29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45" dirty="0">
                <a:latin typeface="Carlito"/>
                <a:cs typeface="Carlito"/>
              </a:rPr>
              <a:t>Two </a:t>
            </a:r>
            <a:r>
              <a:rPr sz="2400" spc="-5" dirty="0">
                <a:latin typeface="Carlito"/>
                <a:cs typeface="Carlito"/>
              </a:rPr>
              <a:t>or </a:t>
            </a:r>
            <a:r>
              <a:rPr sz="2400" spc="-15" dirty="0">
                <a:latin typeface="Carlito"/>
                <a:cs typeface="Carlito"/>
              </a:rPr>
              <a:t>more </a:t>
            </a:r>
            <a:r>
              <a:rPr sz="2400" spc="-5" dirty="0">
                <a:latin typeface="Carlito"/>
                <a:cs typeface="Carlito"/>
              </a:rPr>
              <a:t>LANs </a:t>
            </a:r>
            <a:r>
              <a:rPr sz="2400" spc="-10" dirty="0">
                <a:latin typeface="Carlito"/>
                <a:cs typeface="Carlito"/>
              </a:rPr>
              <a:t>connected</a:t>
            </a:r>
            <a:r>
              <a:rPr sz="2400" spc="20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together</a:t>
            </a:r>
            <a:endParaRPr sz="2400" dirty="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47777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70" dirty="0"/>
              <a:t>Network</a:t>
            </a:r>
            <a:r>
              <a:rPr spc="-265" dirty="0"/>
              <a:t> </a:t>
            </a:r>
            <a:r>
              <a:rPr spc="-505" dirty="0"/>
              <a:t>Characteristics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15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993444" y="1461262"/>
            <a:ext cx="7450455" cy="4191019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385"/>
              </a:spcBef>
              <a:buFont typeface="Arial"/>
              <a:buChar char="–"/>
              <a:tabLst>
                <a:tab pos="299720" algn="l"/>
              </a:tabLst>
            </a:pPr>
            <a:r>
              <a:rPr sz="2400" u="sng" spc="-10" dirty="0">
                <a:latin typeface="Carlito"/>
                <a:cs typeface="Carlito"/>
              </a:rPr>
              <a:t>Intranets </a:t>
            </a:r>
            <a:r>
              <a:rPr sz="2400" u="sng" dirty="0">
                <a:latin typeface="Carlito"/>
                <a:cs typeface="Carlito"/>
              </a:rPr>
              <a:t>and</a:t>
            </a:r>
            <a:r>
              <a:rPr sz="2400" u="sng" spc="-35" dirty="0">
                <a:latin typeface="Carlito"/>
                <a:cs typeface="Carlito"/>
              </a:rPr>
              <a:t> </a:t>
            </a:r>
            <a:r>
              <a:rPr sz="2400" u="sng" spc="-5" dirty="0">
                <a:latin typeface="Carlito"/>
                <a:cs typeface="Carlito"/>
              </a:rPr>
              <a:t>Extranets</a:t>
            </a:r>
            <a:endParaRPr sz="2400" u="sng" dirty="0">
              <a:latin typeface="Carlito"/>
              <a:cs typeface="Carlito"/>
            </a:endParaRPr>
          </a:p>
          <a:p>
            <a:pPr marL="697865" lvl="1" indent="-229235">
              <a:lnSpc>
                <a:spcPct val="100000"/>
              </a:lnSpc>
              <a:spcBef>
                <a:spcPts val="290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10" dirty="0">
                <a:latin typeface="Carlito"/>
                <a:cs typeface="Carlito"/>
              </a:rPr>
              <a:t>Intranet</a:t>
            </a:r>
            <a:endParaRPr sz="2400" dirty="0">
              <a:latin typeface="Carlito"/>
              <a:cs typeface="Carlito"/>
            </a:endParaRPr>
          </a:p>
          <a:p>
            <a:pPr marL="1155065" lvl="2" indent="-229235">
              <a:lnSpc>
                <a:spcPts val="2735"/>
              </a:lnSpc>
              <a:spcBef>
                <a:spcPts val="290"/>
              </a:spcBef>
              <a:buFont typeface="Arial"/>
              <a:buChar char="–"/>
              <a:tabLst>
                <a:tab pos="1155700" algn="l"/>
              </a:tabLst>
            </a:pPr>
            <a:r>
              <a:rPr sz="2400" spc="-15" dirty="0">
                <a:latin typeface="Carlito"/>
                <a:cs typeface="Carlito"/>
              </a:rPr>
              <a:t>Private </a:t>
            </a:r>
            <a:r>
              <a:rPr sz="2400" spc="-10" dirty="0">
                <a:latin typeface="Carlito"/>
                <a:cs typeface="Carlito"/>
              </a:rPr>
              <a:t>network </a:t>
            </a:r>
            <a:r>
              <a:rPr sz="2400" spc="-5" dirty="0">
                <a:latin typeface="Carlito"/>
                <a:cs typeface="Carlito"/>
              </a:rPr>
              <a:t>designed </a:t>
            </a:r>
            <a:r>
              <a:rPr sz="2400" spc="-20" dirty="0">
                <a:latin typeface="Carlito"/>
                <a:cs typeface="Carlito"/>
              </a:rPr>
              <a:t>to </a:t>
            </a:r>
            <a:r>
              <a:rPr sz="2400" spc="-5" dirty="0">
                <a:latin typeface="Carlito"/>
                <a:cs typeface="Carlito"/>
              </a:rPr>
              <a:t>be used </a:t>
            </a:r>
            <a:r>
              <a:rPr sz="2400" spc="-15" dirty="0">
                <a:latin typeface="Carlito"/>
                <a:cs typeface="Carlito"/>
              </a:rPr>
              <a:t>by </a:t>
            </a:r>
            <a:r>
              <a:rPr sz="2400" dirty="0">
                <a:latin typeface="Carlito"/>
                <a:cs typeface="Carlito"/>
              </a:rPr>
              <a:t>an</a:t>
            </a:r>
          </a:p>
          <a:p>
            <a:pPr marL="1155065">
              <a:lnSpc>
                <a:spcPts val="2735"/>
              </a:lnSpc>
            </a:pPr>
            <a:r>
              <a:rPr sz="2400" spc="-90" dirty="0">
                <a:latin typeface="Arial"/>
                <a:cs typeface="Arial"/>
              </a:rPr>
              <a:t>organizations’ </a:t>
            </a:r>
            <a:r>
              <a:rPr sz="2400" spc="-110" dirty="0">
                <a:latin typeface="Arial"/>
                <a:cs typeface="Arial"/>
              </a:rPr>
              <a:t>employees; </a:t>
            </a:r>
            <a:r>
              <a:rPr sz="2400" spc="-95" dirty="0">
                <a:latin typeface="Arial"/>
                <a:cs typeface="Arial"/>
              </a:rPr>
              <a:t>set </a:t>
            </a:r>
            <a:r>
              <a:rPr sz="2400" spc="-80" dirty="0">
                <a:latin typeface="Arial"/>
                <a:cs typeface="Arial"/>
              </a:rPr>
              <a:t>up </a:t>
            </a:r>
            <a:r>
              <a:rPr sz="2400" spc="-75" dirty="0">
                <a:latin typeface="Arial"/>
                <a:cs typeface="Arial"/>
              </a:rPr>
              <a:t>like </a:t>
            </a:r>
            <a:r>
              <a:rPr sz="2400" spc="-30" dirty="0">
                <a:latin typeface="Arial"/>
                <a:cs typeface="Arial"/>
              </a:rPr>
              <a:t>the</a:t>
            </a:r>
            <a:r>
              <a:rPr sz="2400" spc="-395" dirty="0">
                <a:latin typeface="Arial"/>
                <a:cs typeface="Arial"/>
              </a:rPr>
              <a:t> </a:t>
            </a:r>
            <a:r>
              <a:rPr sz="2400" spc="-30" dirty="0">
                <a:latin typeface="Arial"/>
                <a:cs typeface="Arial"/>
              </a:rPr>
              <a:t>Internet</a:t>
            </a:r>
            <a:endParaRPr sz="2400" dirty="0">
              <a:latin typeface="Arial"/>
              <a:cs typeface="Arial"/>
            </a:endParaRPr>
          </a:p>
          <a:p>
            <a:pPr marL="697865" lvl="1" indent="-229235">
              <a:lnSpc>
                <a:spcPct val="100000"/>
              </a:lnSpc>
              <a:spcBef>
                <a:spcPts val="290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5" dirty="0">
                <a:latin typeface="Carlito"/>
                <a:cs typeface="Carlito"/>
              </a:rPr>
              <a:t>Extranet</a:t>
            </a:r>
            <a:endParaRPr sz="2400" dirty="0">
              <a:latin typeface="Carlito"/>
              <a:cs typeface="Carlito"/>
            </a:endParaRPr>
          </a:p>
          <a:p>
            <a:pPr marL="1155065" marR="946150" lvl="2" indent="-228600">
              <a:lnSpc>
                <a:spcPts val="2590"/>
              </a:lnSpc>
              <a:spcBef>
                <a:spcPts val="615"/>
              </a:spcBef>
              <a:buFont typeface="Arial"/>
              <a:buChar char="–"/>
              <a:tabLst>
                <a:tab pos="1155700" algn="l"/>
              </a:tabLst>
            </a:pPr>
            <a:r>
              <a:rPr sz="2400" spc="-10" dirty="0">
                <a:latin typeface="Carlito"/>
                <a:cs typeface="Carlito"/>
              </a:rPr>
              <a:t>Company network </a:t>
            </a:r>
            <a:r>
              <a:rPr sz="2400" spc="-5" dirty="0">
                <a:latin typeface="Carlito"/>
                <a:cs typeface="Carlito"/>
              </a:rPr>
              <a:t>accessible </a:t>
            </a:r>
            <a:r>
              <a:rPr sz="2400" spc="-10" dirty="0">
                <a:latin typeface="Carlito"/>
                <a:cs typeface="Carlito"/>
              </a:rPr>
              <a:t>by </a:t>
            </a:r>
            <a:r>
              <a:rPr sz="2400" spc="-5" dirty="0">
                <a:latin typeface="Carlito"/>
                <a:cs typeface="Carlito"/>
              </a:rPr>
              <a:t>authorized  </a:t>
            </a:r>
            <a:r>
              <a:rPr sz="2400" spc="-10" dirty="0">
                <a:latin typeface="Carlito"/>
                <a:cs typeface="Carlito"/>
              </a:rPr>
              <a:t>outsiders</a:t>
            </a:r>
            <a:endParaRPr sz="2400" dirty="0">
              <a:latin typeface="Carlito"/>
              <a:cs typeface="Carlito"/>
            </a:endParaRPr>
          </a:p>
          <a:p>
            <a:pPr marL="299085" indent="-287020">
              <a:lnSpc>
                <a:spcPct val="100000"/>
              </a:lnSpc>
              <a:spcBef>
                <a:spcPts val="254"/>
              </a:spcBef>
              <a:buFont typeface="Arial"/>
              <a:buChar char="–"/>
              <a:tabLst>
                <a:tab pos="299720" algn="l"/>
              </a:tabLst>
            </a:pPr>
            <a:r>
              <a:rPr sz="2400" spc="-5" dirty="0">
                <a:latin typeface="Carlito"/>
                <a:cs typeface="Carlito"/>
              </a:rPr>
              <a:t>Virtual </a:t>
            </a:r>
            <a:r>
              <a:rPr sz="2400" spc="-15" dirty="0">
                <a:latin typeface="Carlito"/>
                <a:cs typeface="Carlito"/>
              </a:rPr>
              <a:t>Private </a:t>
            </a:r>
            <a:r>
              <a:rPr sz="2400" spc="-10" dirty="0">
                <a:latin typeface="Carlito"/>
                <a:cs typeface="Carlito"/>
              </a:rPr>
              <a:t>Networks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(VPNs)</a:t>
            </a:r>
            <a:endParaRPr sz="2400" dirty="0">
              <a:latin typeface="Carlito"/>
              <a:cs typeface="Carlito"/>
            </a:endParaRPr>
          </a:p>
          <a:p>
            <a:pPr marL="697865" marR="5080" lvl="1" indent="-228600">
              <a:lnSpc>
                <a:spcPct val="90100"/>
              </a:lnSpc>
              <a:spcBef>
                <a:spcPts val="570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15" dirty="0">
                <a:latin typeface="Carlito"/>
                <a:cs typeface="Carlito"/>
              </a:rPr>
              <a:t>Private, </a:t>
            </a:r>
            <a:r>
              <a:rPr sz="2400" spc="-10" dirty="0">
                <a:latin typeface="Carlito"/>
                <a:cs typeface="Carlito"/>
              </a:rPr>
              <a:t>secure path </a:t>
            </a:r>
            <a:r>
              <a:rPr sz="2400" spc="-15" dirty="0">
                <a:latin typeface="Carlito"/>
                <a:cs typeface="Carlito"/>
              </a:rPr>
              <a:t>over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10" dirty="0">
                <a:latin typeface="Carlito"/>
                <a:cs typeface="Carlito"/>
              </a:rPr>
              <a:t>Internet that provides  </a:t>
            </a:r>
            <a:r>
              <a:rPr sz="2400" spc="-5" dirty="0">
                <a:latin typeface="Carlito"/>
                <a:cs typeface="Carlito"/>
              </a:rPr>
              <a:t>authorized </a:t>
            </a:r>
            <a:r>
              <a:rPr sz="2400" spc="-10" dirty="0">
                <a:latin typeface="Carlito"/>
                <a:cs typeface="Carlito"/>
              </a:rPr>
              <a:t>users </a:t>
            </a:r>
            <a:r>
              <a:rPr sz="2400" dirty="0">
                <a:latin typeface="Carlito"/>
                <a:cs typeface="Carlito"/>
              </a:rPr>
              <a:t>a </a:t>
            </a:r>
            <a:r>
              <a:rPr sz="2400" spc="-10" dirty="0">
                <a:latin typeface="Carlito"/>
                <a:cs typeface="Carlito"/>
              </a:rPr>
              <a:t>secure </a:t>
            </a:r>
            <a:r>
              <a:rPr sz="2400" dirty="0">
                <a:latin typeface="Carlito"/>
                <a:cs typeface="Carlito"/>
              </a:rPr>
              <a:t>means </a:t>
            </a:r>
            <a:r>
              <a:rPr sz="2400" spc="-10" dirty="0">
                <a:latin typeface="Carlito"/>
                <a:cs typeface="Carlito"/>
              </a:rPr>
              <a:t>of </a:t>
            </a:r>
            <a:r>
              <a:rPr sz="2400" dirty="0">
                <a:latin typeface="Carlito"/>
                <a:cs typeface="Carlito"/>
              </a:rPr>
              <a:t>accessing a</a:t>
            </a:r>
            <a:r>
              <a:rPr sz="2400" spc="-130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private  </a:t>
            </a:r>
            <a:r>
              <a:rPr sz="2400" spc="-10" dirty="0">
                <a:latin typeface="Carlito"/>
                <a:cs typeface="Carlito"/>
              </a:rPr>
              <a:t>network </a:t>
            </a:r>
            <a:r>
              <a:rPr sz="2400" dirty="0">
                <a:latin typeface="Carlito"/>
                <a:cs typeface="Carlito"/>
              </a:rPr>
              <a:t>via the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spc="-10" dirty="0" smtClean="0">
                <a:latin typeface="Carlito"/>
                <a:cs typeface="Carlito"/>
              </a:rPr>
              <a:t>Internet</a:t>
            </a:r>
            <a:endParaRPr sz="2400" dirty="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23010">
              <a:lnSpc>
                <a:spcPct val="100000"/>
              </a:lnSpc>
              <a:spcBef>
                <a:spcPts val="100"/>
              </a:spcBef>
            </a:pPr>
            <a:r>
              <a:rPr spc="-455" dirty="0"/>
              <a:t>Data </a:t>
            </a:r>
            <a:r>
              <a:rPr spc="-484" dirty="0"/>
              <a:t>Transmission</a:t>
            </a:r>
            <a:r>
              <a:rPr spc="5" dirty="0"/>
              <a:t> </a:t>
            </a:r>
            <a:r>
              <a:rPr spc="-505" dirty="0"/>
              <a:t>Characteristics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5712460" cy="519950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38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dirty="0">
                <a:latin typeface="Carlito"/>
                <a:cs typeface="Carlito"/>
              </a:rPr>
              <a:t>Bandwidth</a:t>
            </a:r>
          </a:p>
          <a:p>
            <a:pPr marL="756285" marR="214629" lvl="1" indent="-287020">
              <a:lnSpc>
                <a:spcPts val="2600"/>
              </a:lnSpc>
              <a:spcBef>
                <a:spcPts val="61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The amount of </a:t>
            </a:r>
            <a:r>
              <a:rPr sz="2400" spc="-15" dirty="0">
                <a:latin typeface="Carlito"/>
                <a:cs typeface="Carlito"/>
              </a:rPr>
              <a:t>data </a:t>
            </a:r>
            <a:r>
              <a:rPr sz="2400" spc="-10" dirty="0">
                <a:latin typeface="Carlito"/>
                <a:cs typeface="Carlito"/>
              </a:rPr>
              <a:t>that can </a:t>
            </a:r>
            <a:r>
              <a:rPr sz="2400" spc="-5" dirty="0">
                <a:latin typeface="Carlito"/>
                <a:cs typeface="Carlito"/>
              </a:rPr>
              <a:t>be  </a:t>
            </a:r>
            <a:r>
              <a:rPr sz="2400" spc="-15" dirty="0">
                <a:latin typeface="Carlito"/>
                <a:cs typeface="Carlito"/>
              </a:rPr>
              <a:t>transferred </a:t>
            </a:r>
            <a:r>
              <a:rPr sz="2400" dirty="0">
                <a:latin typeface="Carlito"/>
                <a:cs typeface="Carlito"/>
              </a:rPr>
              <a:t>in a </a:t>
            </a:r>
            <a:r>
              <a:rPr sz="2400" spc="-10" dirty="0">
                <a:latin typeface="Carlito"/>
                <a:cs typeface="Carlito"/>
              </a:rPr>
              <a:t>given </a:t>
            </a:r>
            <a:r>
              <a:rPr sz="2400" spc="-5" dirty="0">
                <a:latin typeface="Carlito"/>
                <a:cs typeface="Carlito"/>
              </a:rPr>
              <a:t>period of</a:t>
            </a:r>
            <a:r>
              <a:rPr sz="2400" spc="-6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time</a:t>
            </a:r>
          </a:p>
          <a:p>
            <a:pPr marL="756285" marR="5080" lvl="1" indent="-287020">
              <a:lnSpc>
                <a:spcPts val="2590"/>
              </a:lnSpc>
              <a:spcBef>
                <a:spcPts val="57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Measured </a:t>
            </a:r>
            <a:r>
              <a:rPr sz="2400" dirty="0">
                <a:latin typeface="Carlito"/>
                <a:cs typeface="Carlito"/>
              </a:rPr>
              <a:t>in </a:t>
            </a:r>
            <a:r>
              <a:rPr sz="2400" spc="-5" dirty="0">
                <a:latin typeface="Carlito"/>
                <a:cs typeface="Carlito"/>
              </a:rPr>
              <a:t>bits per </a:t>
            </a:r>
            <a:r>
              <a:rPr sz="2400" spc="-10" dirty="0">
                <a:latin typeface="Carlito"/>
                <a:cs typeface="Carlito"/>
              </a:rPr>
              <a:t>second </a:t>
            </a:r>
            <a:r>
              <a:rPr sz="2400" spc="-5" dirty="0">
                <a:latin typeface="Carlito"/>
                <a:cs typeface="Carlito"/>
              </a:rPr>
              <a:t>(bps),  Kbps (thousands), Mbps (millions ), or  </a:t>
            </a:r>
            <a:r>
              <a:rPr sz="2400" spc="-5" dirty="0" err="1" smtClean="0">
                <a:latin typeface="Carlito"/>
                <a:cs typeface="Carlito"/>
              </a:rPr>
              <a:t>Gbps</a:t>
            </a:r>
            <a:r>
              <a:rPr sz="2400" spc="-25" dirty="0" smtClean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(billions)</a:t>
            </a:r>
            <a:endParaRPr sz="2400" dirty="0">
              <a:latin typeface="Carlito"/>
              <a:cs typeface="Carlito"/>
            </a:endParaRPr>
          </a:p>
          <a:p>
            <a:pPr marL="355600" indent="-343535">
              <a:lnSpc>
                <a:spcPct val="100000"/>
              </a:lnSpc>
              <a:spcBef>
                <a:spcPts val="254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dirty="0">
                <a:latin typeface="Carlito"/>
                <a:cs typeface="Carlito"/>
              </a:rPr>
              <a:t>Analog </a:t>
            </a:r>
            <a:r>
              <a:rPr sz="2400" spc="-10" dirty="0">
                <a:latin typeface="Carlito"/>
                <a:cs typeface="Carlito"/>
              </a:rPr>
              <a:t>vs. Digital</a:t>
            </a:r>
            <a:r>
              <a:rPr sz="2400" spc="-6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Signals</a:t>
            </a:r>
            <a:endParaRPr sz="2400" dirty="0">
              <a:latin typeface="Carlito"/>
              <a:cs typeface="Carlito"/>
            </a:endParaRPr>
          </a:p>
          <a:p>
            <a:pPr marL="756285" marR="563880" lvl="1" indent="-287020">
              <a:lnSpc>
                <a:spcPts val="2590"/>
              </a:lnSpc>
              <a:spcBef>
                <a:spcPts val="615"/>
              </a:spcBef>
              <a:buFont typeface="Arial"/>
              <a:buChar char="–"/>
              <a:tabLst>
                <a:tab pos="756920" algn="l"/>
                <a:tab pos="1700530" algn="l"/>
              </a:tabLst>
            </a:pPr>
            <a:r>
              <a:rPr sz="2400" spc="-15" dirty="0">
                <a:latin typeface="Carlito"/>
                <a:cs typeface="Carlito"/>
              </a:rPr>
              <a:t>Data </a:t>
            </a:r>
            <a:r>
              <a:rPr sz="2400" spc="-10" dirty="0">
                <a:latin typeface="Carlito"/>
                <a:cs typeface="Carlito"/>
              </a:rPr>
              <a:t>represented by two </a:t>
            </a:r>
            <a:r>
              <a:rPr sz="2400" spc="-15" dirty="0">
                <a:latin typeface="Carlito"/>
                <a:cs typeface="Carlito"/>
              </a:rPr>
              <a:t>discrete  states:	</a:t>
            </a:r>
            <a:r>
              <a:rPr sz="2400" spc="-5" dirty="0">
                <a:latin typeface="Carlito"/>
                <a:cs typeface="Carlito"/>
              </a:rPr>
              <a:t>0s </a:t>
            </a:r>
            <a:r>
              <a:rPr sz="2400" dirty="0">
                <a:latin typeface="Carlito"/>
                <a:cs typeface="Carlito"/>
              </a:rPr>
              <a:t>and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1s</a:t>
            </a:r>
          </a:p>
          <a:p>
            <a:pPr marL="756285" lvl="1" indent="-287020">
              <a:lnSpc>
                <a:spcPts val="2735"/>
              </a:lnSpc>
              <a:spcBef>
                <a:spcPts val="254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Conventional </a:t>
            </a:r>
            <a:r>
              <a:rPr sz="2400" spc="-5" dirty="0">
                <a:latin typeface="Carlito"/>
                <a:cs typeface="Carlito"/>
              </a:rPr>
              <a:t>telephone </a:t>
            </a:r>
            <a:r>
              <a:rPr sz="2400" spc="-20" dirty="0">
                <a:latin typeface="Carlito"/>
                <a:cs typeface="Carlito"/>
              </a:rPr>
              <a:t>systems</a:t>
            </a:r>
            <a:r>
              <a:rPr sz="2400" spc="-4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use</a:t>
            </a:r>
            <a:endParaRPr sz="2400" dirty="0">
              <a:latin typeface="Carlito"/>
              <a:cs typeface="Carlito"/>
            </a:endParaRPr>
          </a:p>
          <a:p>
            <a:pPr marL="756285">
              <a:lnSpc>
                <a:spcPts val="2735"/>
              </a:lnSpc>
            </a:pPr>
            <a:r>
              <a:rPr sz="2400" dirty="0">
                <a:latin typeface="Carlito"/>
                <a:cs typeface="Carlito"/>
              </a:rPr>
              <a:t>analog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signals</a:t>
            </a:r>
            <a:endParaRPr sz="2400" dirty="0">
              <a:latin typeface="Carlito"/>
              <a:cs typeface="Carlito"/>
            </a:endParaRPr>
          </a:p>
          <a:p>
            <a:pPr marL="1155700" marR="342265" lvl="2" indent="-228600">
              <a:lnSpc>
                <a:spcPts val="2590"/>
              </a:lnSpc>
              <a:spcBef>
                <a:spcPts val="62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10" dirty="0">
                <a:latin typeface="Carlito"/>
                <a:cs typeface="Carlito"/>
              </a:rPr>
              <a:t>Represent </a:t>
            </a:r>
            <a:r>
              <a:rPr sz="2400" spc="-15" dirty="0">
                <a:latin typeface="Carlito"/>
                <a:cs typeface="Carlito"/>
              </a:rPr>
              <a:t>data </a:t>
            </a:r>
            <a:r>
              <a:rPr sz="2400" dirty="0">
                <a:latin typeface="Carlito"/>
                <a:cs typeface="Carlito"/>
              </a:rPr>
              <a:t>with</a:t>
            </a:r>
            <a:r>
              <a:rPr sz="2400" spc="-8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continuous  </a:t>
            </a:r>
            <a:r>
              <a:rPr sz="2400" spc="-20" dirty="0">
                <a:latin typeface="Carlito"/>
                <a:cs typeface="Carlito"/>
              </a:rPr>
              <a:t>waves</a:t>
            </a:r>
            <a:endParaRPr sz="2400" dirty="0">
              <a:latin typeface="Carlito"/>
              <a:cs typeface="Carli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248400" y="1874036"/>
            <a:ext cx="2774865" cy="408022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16</a:t>
            </a:fld>
            <a:endParaRPr spc="-16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23010">
              <a:lnSpc>
                <a:spcPct val="100000"/>
              </a:lnSpc>
              <a:spcBef>
                <a:spcPts val="100"/>
              </a:spcBef>
            </a:pPr>
            <a:r>
              <a:rPr spc="-455" dirty="0"/>
              <a:t>Data </a:t>
            </a:r>
            <a:r>
              <a:rPr spc="-484" dirty="0"/>
              <a:t>Transmission</a:t>
            </a:r>
            <a:r>
              <a:rPr spc="5" dirty="0"/>
              <a:t> </a:t>
            </a:r>
            <a:r>
              <a:rPr spc="-505" dirty="0"/>
              <a:t>Characteristics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4805680" cy="368427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20" dirty="0">
                <a:latin typeface="Carlito"/>
                <a:cs typeface="Carlito"/>
              </a:rPr>
              <a:t>Transmission </a:t>
            </a:r>
            <a:r>
              <a:rPr sz="2400" spc="-30" dirty="0">
                <a:latin typeface="Carlito"/>
                <a:cs typeface="Carlito"/>
              </a:rPr>
              <a:t>Type </a:t>
            </a:r>
            <a:r>
              <a:rPr sz="2400" dirty="0">
                <a:latin typeface="Carlito"/>
                <a:cs typeface="Carlito"/>
              </a:rPr>
              <a:t>and</a:t>
            </a:r>
            <a:r>
              <a:rPr sz="2400" spc="1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Timing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Serial</a:t>
            </a:r>
            <a:endParaRPr sz="2400">
              <a:latin typeface="Carlito"/>
              <a:cs typeface="Carlito"/>
            </a:endParaRPr>
          </a:p>
          <a:p>
            <a:pPr marL="1155700" marR="290195" lvl="2" indent="-228600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15" dirty="0">
                <a:latin typeface="Carlito"/>
                <a:cs typeface="Carlito"/>
              </a:rPr>
              <a:t>Data </a:t>
            </a:r>
            <a:r>
              <a:rPr sz="2400" spc="-10" dirty="0">
                <a:latin typeface="Carlito"/>
                <a:cs typeface="Carlito"/>
              </a:rPr>
              <a:t>sent one </a:t>
            </a:r>
            <a:r>
              <a:rPr sz="2400" spc="-5" dirty="0">
                <a:latin typeface="Carlito"/>
                <a:cs typeface="Carlito"/>
              </a:rPr>
              <a:t>bit </a:t>
            </a:r>
            <a:r>
              <a:rPr sz="2400" spc="-15" dirty="0">
                <a:latin typeface="Carlito"/>
                <a:cs typeface="Carlito"/>
              </a:rPr>
              <a:t>at </a:t>
            </a:r>
            <a:r>
              <a:rPr sz="2400" dirty="0">
                <a:latin typeface="Carlito"/>
                <a:cs typeface="Carlito"/>
              </a:rPr>
              <a:t>a</a:t>
            </a:r>
            <a:r>
              <a:rPr sz="2400" spc="-7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time,  </a:t>
            </a:r>
            <a:r>
              <a:rPr sz="2400" spc="-5" dirty="0">
                <a:latin typeface="Carlito"/>
                <a:cs typeface="Carlito"/>
              </a:rPr>
              <a:t>one </a:t>
            </a:r>
            <a:r>
              <a:rPr sz="2400" spc="-10" dirty="0">
                <a:latin typeface="Carlito"/>
                <a:cs typeface="Carlito"/>
              </a:rPr>
              <a:t>after </a:t>
            </a:r>
            <a:r>
              <a:rPr sz="2400" spc="-25" dirty="0">
                <a:latin typeface="Carlito"/>
                <a:cs typeface="Carlito"/>
              </a:rPr>
              <a:t>another, </a:t>
            </a:r>
            <a:r>
              <a:rPr sz="2400" dirty="0">
                <a:latin typeface="Carlito"/>
                <a:cs typeface="Carlito"/>
              </a:rPr>
              <a:t>along a  </a:t>
            </a:r>
            <a:r>
              <a:rPr sz="2400" spc="-5" dirty="0">
                <a:latin typeface="Carlito"/>
                <a:cs typeface="Carlito"/>
              </a:rPr>
              <a:t>single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path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5" dirty="0">
                <a:latin typeface="Carlito"/>
                <a:cs typeface="Carlito"/>
              </a:rPr>
              <a:t>Parallel</a:t>
            </a:r>
            <a:endParaRPr sz="2400">
              <a:latin typeface="Carlito"/>
              <a:cs typeface="Carlito"/>
            </a:endParaRPr>
          </a:p>
          <a:p>
            <a:pPr marL="1155700" marR="5080" lvl="2" indent="-228600" algn="just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15" dirty="0">
                <a:latin typeface="Carlito"/>
                <a:cs typeface="Carlito"/>
              </a:rPr>
              <a:t>Data </a:t>
            </a:r>
            <a:r>
              <a:rPr sz="2400" spc="-10" dirty="0">
                <a:latin typeface="Carlito"/>
                <a:cs typeface="Carlito"/>
              </a:rPr>
              <a:t>sent </a:t>
            </a:r>
            <a:r>
              <a:rPr sz="2400" spc="-15" dirty="0">
                <a:latin typeface="Carlito"/>
                <a:cs typeface="Carlito"/>
              </a:rPr>
              <a:t>at </a:t>
            </a:r>
            <a:r>
              <a:rPr sz="2400" spc="-5" dirty="0">
                <a:latin typeface="Carlito"/>
                <a:cs typeface="Carlito"/>
              </a:rPr>
              <a:t>least one </a:t>
            </a:r>
            <a:r>
              <a:rPr sz="2400" spc="-10" dirty="0">
                <a:latin typeface="Carlito"/>
                <a:cs typeface="Carlito"/>
              </a:rPr>
              <a:t>byte </a:t>
            </a:r>
            <a:r>
              <a:rPr sz="2400" spc="-15" dirty="0">
                <a:latin typeface="Carlito"/>
                <a:cs typeface="Carlito"/>
              </a:rPr>
              <a:t>at  </a:t>
            </a:r>
            <a:r>
              <a:rPr sz="2400" dirty="0">
                <a:latin typeface="Carlito"/>
                <a:cs typeface="Carlito"/>
              </a:rPr>
              <a:t>time with each </a:t>
            </a:r>
            <a:r>
              <a:rPr sz="2400" spc="-5" dirty="0">
                <a:latin typeface="Carlito"/>
                <a:cs typeface="Carlito"/>
              </a:rPr>
              <a:t>bit </a:t>
            </a:r>
            <a:r>
              <a:rPr sz="2400" dirty="0">
                <a:latin typeface="Carlito"/>
                <a:cs typeface="Carlito"/>
              </a:rPr>
              <a:t>in the</a:t>
            </a:r>
            <a:r>
              <a:rPr sz="2400" spc="-13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byte  </a:t>
            </a:r>
            <a:r>
              <a:rPr sz="2400" spc="-5" dirty="0">
                <a:latin typeface="Carlito"/>
                <a:cs typeface="Carlito"/>
              </a:rPr>
              <a:t>taking </a:t>
            </a:r>
            <a:r>
              <a:rPr sz="2400" dirty="0">
                <a:latin typeface="Carlito"/>
                <a:cs typeface="Carlito"/>
              </a:rPr>
              <a:t>a </a:t>
            </a:r>
            <a:r>
              <a:rPr sz="2400" spc="-20" dirty="0">
                <a:latin typeface="Carlito"/>
                <a:cs typeface="Carlito"/>
              </a:rPr>
              <a:t>different</a:t>
            </a:r>
            <a:r>
              <a:rPr sz="2400" spc="-4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path</a:t>
            </a:r>
            <a:endParaRPr sz="2400">
              <a:latin typeface="Carlito"/>
              <a:cs typeface="Carli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974299" y="1823248"/>
            <a:ext cx="2563637" cy="338817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372225" y="5517235"/>
            <a:ext cx="1324736" cy="54194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17</a:t>
            </a:fld>
            <a:endParaRPr spc="-16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23010">
              <a:lnSpc>
                <a:spcPct val="100000"/>
              </a:lnSpc>
              <a:spcBef>
                <a:spcPts val="100"/>
              </a:spcBef>
            </a:pPr>
            <a:r>
              <a:rPr spc="-455" dirty="0"/>
              <a:t>Data </a:t>
            </a:r>
            <a:r>
              <a:rPr spc="-484" dirty="0"/>
              <a:t>Transmission</a:t>
            </a:r>
            <a:r>
              <a:rPr spc="5" dirty="0"/>
              <a:t> </a:t>
            </a:r>
            <a:r>
              <a:rPr spc="-505" dirty="0"/>
              <a:t>Characteristics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18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8023225" cy="426974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10" dirty="0">
                <a:latin typeface="Carlito"/>
                <a:cs typeface="Carlito"/>
              </a:rPr>
              <a:t>Synchronous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spc="-20" dirty="0">
                <a:latin typeface="Carlito"/>
                <a:cs typeface="Carlito"/>
              </a:rPr>
              <a:t>Transmission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Blocks of </a:t>
            </a:r>
            <a:r>
              <a:rPr sz="2400" spc="-15" dirty="0">
                <a:latin typeface="Carlito"/>
                <a:cs typeface="Carlito"/>
              </a:rPr>
              <a:t>data are transferred </a:t>
            </a:r>
            <a:r>
              <a:rPr sz="2400" spc="-10" dirty="0">
                <a:latin typeface="Carlito"/>
                <a:cs typeface="Carlito"/>
              </a:rPr>
              <a:t>at </a:t>
            </a:r>
            <a:r>
              <a:rPr sz="2400" spc="-30" dirty="0">
                <a:latin typeface="Carlito"/>
                <a:cs typeface="Carlito"/>
              </a:rPr>
              <a:t>regular, </a:t>
            </a:r>
            <a:r>
              <a:rPr sz="2400" spc="-5" dirty="0">
                <a:latin typeface="Carlito"/>
                <a:cs typeface="Carlito"/>
              </a:rPr>
              <a:t>specified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intervals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Most </a:t>
            </a:r>
            <a:r>
              <a:rPr sz="2400" spc="-15" dirty="0">
                <a:latin typeface="Carlito"/>
                <a:cs typeface="Carlito"/>
              </a:rPr>
              <a:t>data </a:t>
            </a:r>
            <a:r>
              <a:rPr sz="2400" spc="-5" dirty="0">
                <a:latin typeface="Carlito"/>
                <a:cs typeface="Carlito"/>
              </a:rPr>
              <a:t>transmissions within </a:t>
            </a:r>
            <a:r>
              <a:rPr sz="2400" dirty="0">
                <a:latin typeface="Carlito"/>
                <a:cs typeface="Carlito"/>
              </a:rPr>
              <a:t>a </a:t>
            </a:r>
            <a:r>
              <a:rPr sz="2400" spc="-10" dirty="0">
                <a:latin typeface="Carlito"/>
                <a:cs typeface="Carlito"/>
              </a:rPr>
              <a:t>computer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15" dirty="0">
                <a:latin typeface="Carlito"/>
                <a:cs typeface="Carlito"/>
              </a:rPr>
              <a:t>over</a:t>
            </a:r>
            <a:r>
              <a:rPr sz="2400" spc="-5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a</a:t>
            </a:r>
            <a:endParaRPr sz="2400">
              <a:latin typeface="Carlito"/>
              <a:cs typeface="Carlito"/>
            </a:endParaRPr>
          </a:p>
          <a:p>
            <a:pPr marL="756285">
              <a:lnSpc>
                <a:spcPct val="100000"/>
              </a:lnSpc>
            </a:pPr>
            <a:r>
              <a:rPr sz="2400" spc="-10" dirty="0">
                <a:latin typeface="Carlito"/>
                <a:cs typeface="Carlito"/>
              </a:rPr>
              <a:t>network </a:t>
            </a:r>
            <a:r>
              <a:rPr sz="2400" spc="-15" dirty="0">
                <a:latin typeface="Carlito"/>
                <a:cs typeface="Carlito"/>
              </a:rPr>
              <a:t>are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synchronous</a:t>
            </a:r>
            <a:endParaRPr sz="2400">
              <a:latin typeface="Carlito"/>
              <a:cs typeface="Carlito"/>
            </a:endParaRPr>
          </a:p>
          <a:p>
            <a:pPr marL="355600" indent="-3435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10" dirty="0">
                <a:latin typeface="Carlito"/>
                <a:cs typeface="Carlito"/>
              </a:rPr>
              <a:t>Asynchronous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spc="-20" dirty="0">
                <a:latin typeface="Carlito"/>
                <a:cs typeface="Carlito"/>
              </a:rPr>
              <a:t>Transmission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5" dirty="0">
                <a:latin typeface="Carlito"/>
                <a:cs typeface="Carlito"/>
              </a:rPr>
              <a:t>Data </a:t>
            </a:r>
            <a:r>
              <a:rPr sz="2400" dirty="0">
                <a:latin typeface="Carlito"/>
                <a:cs typeface="Carlito"/>
              </a:rPr>
              <a:t>is </a:t>
            </a:r>
            <a:r>
              <a:rPr sz="2400" spc="-10" dirty="0">
                <a:latin typeface="Carlito"/>
                <a:cs typeface="Carlito"/>
              </a:rPr>
              <a:t>sent </a:t>
            </a:r>
            <a:r>
              <a:rPr sz="2400" dirty="0">
                <a:latin typeface="Carlito"/>
                <a:cs typeface="Carlito"/>
              </a:rPr>
              <a:t>when </a:t>
            </a:r>
            <a:r>
              <a:rPr sz="2400" spc="-10" dirty="0">
                <a:latin typeface="Carlito"/>
                <a:cs typeface="Carlito"/>
              </a:rPr>
              <a:t>ready </a:t>
            </a:r>
            <a:r>
              <a:rPr sz="2400" spc="-5" dirty="0">
                <a:latin typeface="Carlito"/>
                <a:cs typeface="Carlito"/>
              </a:rPr>
              <a:t>without being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synchronized</a:t>
            </a:r>
            <a:endParaRPr sz="2400">
              <a:latin typeface="Carlito"/>
              <a:cs typeface="Carlito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Start </a:t>
            </a:r>
            <a:r>
              <a:rPr sz="2400" spc="-5" dirty="0">
                <a:latin typeface="Carlito"/>
                <a:cs typeface="Carlito"/>
              </a:rPr>
              <a:t>bits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20" dirty="0">
                <a:latin typeface="Carlito"/>
                <a:cs typeface="Carlito"/>
              </a:rPr>
              <a:t>stop </a:t>
            </a:r>
            <a:r>
              <a:rPr sz="2400" spc="-5" dirty="0">
                <a:latin typeface="Carlito"/>
                <a:cs typeface="Carlito"/>
              </a:rPr>
              <a:t>bits used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5" dirty="0">
                <a:latin typeface="Carlito"/>
                <a:cs typeface="Carlito"/>
              </a:rPr>
              <a:t>identify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5" dirty="0">
                <a:latin typeface="Carlito"/>
                <a:cs typeface="Carlito"/>
              </a:rPr>
              <a:t>bits </a:t>
            </a:r>
            <a:r>
              <a:rPr sz="2400" spc="-10" dirty="0">
                <a:latin typeface="Carlito"/>
                <a:cs typeface="Carlito"/>
              </a:rPr>
              <a:t>that </a:t>
            </a:r>
            <a:r>
              <a:rPr sz="2400" spc="-5" dirty="0">
                <a:latin typeface="Carlito"/>
                <a:cs typeface="Carlito"/>
              </a:rPr>
              <a:t>belong  </a:t>
            </a:r>
            <a:r>
              <a:rPr sz="2400" dirty="0">
                <a:latin typeface="Carlito"/>
                <a:cs typeface="Carlito"/>
              </a:rPr>
              <a:t>in each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byte</a:t>
            </a:r>
            <a:endParaRPr sz="2400">
              <a:latin typeface="Carlito"/>
              <a:cs typeface="Carlito"/>
            </a:endParaRPr>
          </a:p>
          <a:p>
            <a:pPr marL="355600" indent="-3435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10" dirty="0">
                <a:latin typeface="Carlito"/>
                <a:cs typeface="Carlito"/>
              </a:rPr>
              <a:t>Isochronous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spc="-20" dirty="0">
                <a:latin typeface="Carlito"/>
                <a:cs typeface="Carlito"/>
              </a:rPr>
              <a:t>Transmission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5" dirty="0">
                <a:latin typeface="Carlito"/>
                <a:cs typeface="Carlito"/>
              </a:rPr>
              <a:t>Data </a:t>
            </a:r>
            <a:r>
              <a:rPr sz="2400" spc="-10" dirty="0">
                <a:latin typeface="Carlito"/>
                <a:cs typeface="Carlito"/>
              </a:rPr>
              <a:t>sent </a:t>
            </a:r>
            <a:r>
              <a:rPr sz="2400" spc="-15" dirty="0">
                <a:latin typeface="Carlito"/>
                <a:cs typeface="Carlito"/>
              </a:rPr>
              <a:t>at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5" dirty="0">
                <a:latin typeface="Carlito"/>
                <a:cs typeface="Carlito"/>
              </a:rPr>
              <a:t>same </a:t>
            </a:r>
            <a:r>
              <a:rPr sz="2400" dirty="0">
                <a:latin typeface="Carlito"/>
                <a:cs typeface="Carlito"/>
              </a:rPr>
              <a:t>time as </a:t>
            </a:r>
            <a:r>
              <a:rPr sz="2400" spc="-40" dirty="0">
                <a:latin typeface="Carlito"/>
                <a:cs typeface="Carlito"/>
              </a:rPr>
              <a:t>other, </a:t>
            </a:r>
            <a:r>
              <a:rPr sz="2400" spc="-15" dirty="0">
                <a:latin typeface="Carlito"/>
                <a:cs typeface="Carlito"/>
              </a:rPr>
              <a:t>related,</a:t>
            </a:r>
            <a:r>
              <a:rPr sz="2400" spc="-10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data</a:t>
            </a: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196330"/>
            <a:chOff x="0" y="0"/>
            <a:chExt cx="9144000" cy="6196330"/>
          </a:xfrm>
        </p:grpSpPr>
        <p:sp>
          <p:nvSpPr>
            <p:cNvPr id="3" name="object 3"/>
            <p:cNvSpPr/>
            <p:nvPr/>
          </p:nvSpPr>
          <p:spPr>
            <a:xfrm>
              <a:off x="683564" y="1484782"/>
              <a:ext cx="7691170" cy="406865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339720" y="5373217"/>
              <a:ext cx="1019759" cy="82296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23010">
              <a:lnSpc>
                <a:spcPct val="100000"/>
              </a:lnSpc>
              <a:spcBef>
                <a:spcPts val="100"/>
              </a:spcBef>
            </a:pPr>
            <a:r>
              <a:rPr spc="-455" dirty="0"/>
              <a:t>Data </a:t>
            </a:r>
            <a:r>
              <a:rPr spc="-484" dirty="0"/>
              <a:t>Transmission</a:t>
            </a:r>
            <a:r>
              <a:rPr spc="5" dirty="0"/>
              <a:t> </a:t>
            </a:r>
            <a:r>
              <a:rPr spc="-505" dirty="0"/>
              <a:t>Characteristics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19</a:t>
            </a:fld>
            <a:endParaRPr spc="-165" dirty="0"/>
          </a:p>
        </p:txBody>
      </p:sp>
    </p:spTree>
    <p:extLst>
      <p:ext uri="{BB962C8B-B14F-4D97-AF65-F5344CB8AC3E}">
        <p14:creationId xmlns:p14="http://schemas.microsoft.com/office/powerpoint/2010/main" val="38936567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23010">
              <a:lnSpc>
                <a:spcPct val="100000"/>
              </a:lnSpc>
              <a:spcBef>
                <a:spcPts val="100"/>
              </a:spcBef>
            </a:pPr>
            <a:r>
              <a:rPr spc="-455" dirty="0"/>
              <a:t>Data </a:t>
            </a:r>
            <a:r>
              <a:rPr spc="-484" dirty="0"/>
              <a:t>Transmission</a:t>
            </a:r>
            <a:r>
              <a:rPr spc="5" dirty="0"/>
              <a:t> </a:t>
            </a:r>
            <a:r>
              <a:rPr spc="-505" dirty="0"/>
              <a:t>Characteristics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20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7864475" cy="266001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10" dirty="0">
                <a:latin typeface="Carlito"/>
                <a:cs typeface="Carlito"/>
              </a:rPr>
              <a:t>Simplex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spc="-20" dirty="0">
                <a:latin typeface="Carlito"/>
                <a:cs typeface="Carlito"/>
              </a:rPr>
              <a:t>Transmission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5" dirty="0">
                <a:latin typeface="Carlito"/>
                <a:cs typeface="Carlito"/>
              </a:rPr>
              <a:t>Data </a:t>
            </a:r>
            <a:r>
              <a:rPr sz="2400" spc="-20" dirty="0">
                <a:latin typeface="Carlito"/>
                <a:cs typeface="Carlito"/>
              </a:rPr>
              <a:t>travels </a:t>
            </a:r>
            <a:r>
              <a:rPr sz="2400" dirty="0">
                <a:latin typeface="Carlito"/>
                <a:cs typeface="Carlito"/>
              </a:rPr>
              <a:t>in a </a:t>
            </a:r>
            <a:r>
              <a:rPr sz="2400" spc="-5" dirty="0">
                <a:latin typeface="Carlito"/>
                <a:cs typeface="Carlito"/>
              </a:rPr>
              <a:t>single direction</a:t>
            </a:r>
            <a:r>
              <a:rPr sz="2400" spc="-5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only</a:t>
            </a:r>
            <a:endParaRPr sz="2400">
              <a:latin typeface="Carlito"/>
              <a:cs typeface="Carlito"/>
            </a:endParaRPr>
          </a:p>
          <a:p>
            <a:pPr marL="355600" indent="-3435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10" dirty="0">
                <a:latin typeface="Carlito"/>
                <a:cs typeface="Carlito"/>
              </a:rPr>
              <a:t>Half-Duplex</a:t>
            </a:r>
            <a:r>
              <a:rPr sz="2400" spc="-20" dirty="0">
                <a:latin typeface="Carlito"/>
                <a:cs typeface="Carlito"/>
              </a:rPr>
              <a:t> Transmission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5" dirty="0">
                <a:latin typeface="Carlito"/>
                <a:cs typeface="Carlito"/>
              </a:rPr>
              <a:t>Data </a:t>
            </a:r>
            <a:r>
              <a:rPr sz="2400" spc="-20" dirty="0">
                <a:latin typeface="Carlito"/>
                <a:cs typeface="Carlito"/>
              </a:rPr>
              <a:t>travels </a:t>
            </a:r>
            <a:r>
              <a:rPr sz="2400" dirty="0">
                <a:latin typeface="Carlito"/>
                <a:cs typeface="Carlito"/>
              </a:rPr>
              <a:t>in either </a:t>
            </a:r>
            <a:r>
              <a:rPr sz="2400" spc="-5" dirty="0">
                <a:latin typeface="Carlito"/>
                <a:cs typeface="Carlito"/>
              </a:rPr>
              <a:t>direction but only </a:t>
            </a:r>
            <a:r>
              <a:rPr sz="2400" spc="-10" dirty="0">
                <a:latin typeface="Carlito"/>
                <a:cs typeface="Carlito"/>
              </a:rPr>
              <a:t>one </a:t>
            </a:r>
            <a:r>
              <a:rPr sz="2400" spc="-25" dirty="0">
                <a:latin typeface="Carlito"/>
                <a:cs typeface="Carlito"/>
              </a:rPr>
              <a:t>way </a:t>
            </a:r>
            <a:r>
              <a:rPr sz="2400" spc="-15" dirty="0">
                <a:latin typeface="Carlito"/>
                <a:cs typeface="Carlito"/>
              </a:rPr>
              <a:t>at </a:t>
            </a:r>
            <a:r>
              <a:rPr sz="2400" dirty="0">
                <a:latin typeface="Carlito"/>
                <a:cs typeface="Carlito"/>
              </a:rPr>
              <a:t>a</a:t>
            </a:r>
            <a:r>
              <a:rPr sz="2400" spc="-5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time</a:t>
            </a:r>
            <a:endParaRPr sz="2400">
              <a:latin typeface="Carlito"/>
              <a:cs typeface="Carlito"/>
            </a:endParaRPr>
          </a:p>
          <a:p>
            <a:pPr marL="355600" indent="-3435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10" dirty="0">
                <a:latin typeface="Carlito"/>
                <a:cs typeface="Carlito"/>
              </a:rPr>
              <a:t>Full-Duplex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spc="-20" dirty="0">
                <a:latin typeface="Carlito"/>
                <a:cs typeface="Carlito"/>
              </a:rPr>
              <a:t>Transmission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5" dirty="0">
                <a:latin typeface="Carlito"/>
                <a:cs typeface="Carlito"/>
              </a:rPr>
              <a:t>Data </a:t>
            </a:r>
            <a:r>
              <a:rPr sz="2400" spc="-20" dirty="0">
                <a:latin typeface="Carlito"/>
                <a:cs typeface="Carlito"/>
              </a:rPr>
              <a:t>travels </a:t>
            </a:r>
            <a:r>
              <a:rPr sz="2400" dirty="0">
                <a:latin typeface="Carlito"/>
                <a:cs typeface="Carlito"/>
              </a:rPr>
              <a:t>in </a:t>
            </a:r>
            <a:r>
              <a:rPr sz="2400" spc="-5" dirty="0">
                <a:latin typeface="Carlito"/>
                <a:cs typeface="Carlito"/>
              </a:rPr>
              <a:t>both </a:t>
            </a:r>
            <a:r>
              <a:rPr sz="2400" spc="-10" dirty="0">
                <a:latin typeface="Carlito"/>
                <a:cs typeface="Carlito"/>
              </a:rPr>
              <a:t>directions </a:t>
            </a:r>
            <a:r>
              <a:rPr sz="2400" spc="-15" dirty="0">
                <a:latin typeface="Carlito"/>
                <a:cs typeface="Carlito"/>
              </a:rPr>
              <a:t>at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5" dirty="0">
                <a:latin typeface="Carlito"/>
                <a:cs typeface="Carlito"/>
              </a:rPr>
              <a:t>same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time</a:t>
            </a:r>
            <a:endParaRPr sz="2400"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11304914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23010">
              <a:lnSpc>
                <a:spcPct val="100000"/>
              </a:lnSpc>
              <a:spcBef>
                <a:spcPts val="100"/>
              </a:spcBef>
            </a:pPr>
            <a:r>
              <a:rPr spc="-455" dirty="0"/>
              <a:t>Data </a:t>
            </a:r>
            <a:r>
              <a:rPr spc="-484" dirty="0"/>
              <a:t>Transmission</a:t>
            </a:r>
            <a:r>
              <a:rPr spc="5" dirty="0"/>
              <a:t> </a:t>
            </a:r>
            <a:r>
              <a:rPr spc="-505" dirty="0"/>
              <a:t>Characteristics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21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8001000" cy="492823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5" dirty="0">
                <a:latin typeface="Carlito"/>
                <a:cs typeface="Carlito"/>
              </a:rPr>
              <a:t>Delivery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Method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Circuit-Switching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10" dirty="0">
                <a:latin typeface="Carlito"/>
                <a:cs typeface="Carlito"/>
              </a:rPr>
              <a:t>Dedicated path </a:t>
            </a:r>
            <a:r>
              <a:rPr sz="2400" spc="-15" dirty="0">
                <a:latin typeface="Carlito"/>
                <a:cs typeface="Carlito"/>
              </a:rPr>
              <a:t>over </a:t>
            </a:r>
            <a:r>
              <a:rPr sz="2400" dirty="0">
                <a:latin typeface="Carlito"/>
                <a:cs typeface="Carlito"/>
              </a:rPr>
              <a:t>a </a:t>
            </a:r>
            <a:r>
              <a:rPr sz="2400" spc="-10" dirty="0">
                <a:latin typeface="Carlito"/>
                <a:cs typeface="Carlito"/>
              </a:rPr>
              <a:t>network </a:t>
            </a:r>
            <a:r>
              <a:rPr sz="2400" dirty="0">
                <a:latin typeface="Carlito"/>
                <a:cs typeface="Carlito"/>
              </a:rPr>
              <a:t>is </a:t>
            </a:r>
            <a:r>
              <a:rPr sz="2400" spc="-5" dirty="0">
                <a:latin typeface="Carlito"/>
                <a:cs typeface="Carlito"/>
              </a:rPr>
              <a:t>established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between</a:t>
            </a:r>
            <a:endParaRPr sz="2400">
              <a:latin typeface="Carlito"/>
              <a:cs typeface="Carlito"/>
            </a:endParaRPr>
          </a:p>
          <a:p>
            <a:pPr marL="1155700">
              <a:lnSpc>
                <a:spcPct val="100000"/>
              </a:lnSpc>
            </a:pPr>
            <a:r>
              <a:rPr sz="2400" spc="-5" dirty="0">
                <a:latin typeface="Carlito"/>
                <a:cs typeface="Carlito"/>
              </a:rPr>
              <a:t>sender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10" dirty="0">
                <a:latin typeface="Carlito"/>
                <a:cs typeface="Carlito"/>
              </a:rPr>
              <a:t>receiver; </a:t>
            </a:r>
            <a:r>
              <a:rPr sz="2400" dirty="0">
                <a:latin typeface="Carlito"/>
                <a:cs typeface="Carlito"/>
              </a:rPr>
              <a:t>all </a:t>
            </a:r>
            <a:r>
              <a:rPr sz="2400" spc="-15" dirty="0">
                <a:latin typeface="Carlito"/>
                <a:cs typeface="Carlito"/>
              </a:rPr>
              <a:t>data </a:t>
            </a:r>
            <a:r>
              <a:rPr sz="2400" spc="-20" dirty="0">
                <a:latin typeface="Carlito"/>
                <a:cs typeface="Carlito"/>
              </a:rPr>
              <a:t>follows </a:t>
            </a:r>
            <a:r>
              <a:rPr sz="2400" spc="-10" dirty="0">
                <a:latin typeface="Carlito"/>
                <a:cs typeface="Carlito"/>
              </a:rPr>
              <a:t>that</a:t>
            </a:r>
            <a:r>
              <a:rPr sz="2400" spc="-2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path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5" dirty="0">
                <a:latin typeface="Carlito"/>
                <a:cs typeface="Carlito"/>
              </a:rPr>
              <a:t>Packet-Switching</a:t>
            </a:r>
            <a:endParaRPr sz="2400">
              <a:latin typeface="Carlito"/>
              <a:cs typeface="Carlito"/>
            </a:endParaRPr>
          </a:p>
          <a:p>
            <a:pPr marL="1155700" marR="111760" lvl="2" indent="-228600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Carlito"/>
                <a:cs typeface="Carlito"/>
              </a:rPr>
              <a:t>Messages </a:t>
            </a:r>
            <a:r>
              <a:rPr sz="2400" spc="-15" dirty="0">
                <a:latin typeface="Carlito"/>
                <a:cs typeface="Carlito"/>
              </a:rPr>
              <a:t>are separated into </a:t>
            </a:r>
            <a:r>
              <a:rPr sz="2400" spc="-5" dirty="0">
                <a:latin typeface="Carlito"/>
                <a:cs typeface="Carlito"/>
              </a:rPr>
              <a:t>small units called </a:t>
            </a:r>
            <a:r>
              <a:rPr sz="2400" spc="-15" dirty="0">
                <a:latin typeface="Carlito"/>
                <a:cs typeface="Carlito"/>
              </a:rPr>
              <a:t>packets 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20" dirty="0">
                <a:latin typeface="Carlito"/>
                <a:cs typeface="Carlito"/>
              </a:rPr>
              <a:t>travel </a:t>
            </a:r>
            <a:r>
              <a:rPr sz="2400" dirty="0">
                <a:latin typeface="Carlito"/>
                <a:cs typeface="Carlito"/>
              </a:rPr>
              <a:t>along the </a:t>
            </a:r>
            <a:r>
              <a:rPr sz="2400" spc="-10" dirty="0">
                <a:latin typeface="Carlito"/>
                <a:cs typeface="Carlito"/>
              </a:rPr>
              <a:t>network separately; </a:t>
            </a:r>
            <a:r>
              <a:rPr sz="2400" spc="-15" dirty="0">
                <a:latin typeface="Carlito"/>
                <a:cs typeface="Carlito"/>
              </a:rPr>
              <a:t>packets are  </a:t>
            </a:r>
            <a:r>
              <a:rPr sz="2400" spc="-10" dirty="0">
                <a:latin typeface="Carlito"/>
                <a:cs typeface="Carlito"/>
              </a:rPr>
              <a:t>reassembled </a:t>
            </a:r>
            <a:r>
              <a:rPr sz="2400" spc="-5" dirty="0">
                <a:latin typeface="Carlito"/>
                <a:cs typeface="Carlito"/>
              </a:rPr>
              <a:t>once </a:t>
            </a:r>
            <a:r>
              <a:rPr sz="2400" spc="-10" dirty="0">
                <a:latin typeface="Carlito"/>
                <a:cs typeface="Carlito"/>
              </a:rPr>
              <a:t>destination </a:t>
            </a:r>
            <a:r>
              <a:rPr sz="2400" spc="-5" dirty="0">
                <a:latin typeface="Carlito"/>
                <a:cs typeface="Carlito"/>
              </a:rPr>
              <a:t>is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reached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Broadcasting</a:t>
            </a:r>
            <a:endParaRPr sz="2400">
              <a:latin typeface="Carlito"/>
              <a:cs typeface="Carlito"/>
            </a:endParaRPr>
          </a:p>
          <a:p>
            <a:pPr marL="1155700" marR="5080" lvl="2" indent="-228600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15" dirty="0">
                <a:latin typeface="Carlito"/>
                <a:cs typeface="Carlito"/>
              </a:rPr>
              <a:t>Data </a:t>
            </a:r>
            <a:r>
              <a:rPr sz="2400" dirty="0">
                <a:latin typeface="Carlito"/>
                <a:cs typeface="Carlito"/>
              </a:rPr>
              <a:t>is </a:t>
            </a:r>
            <a:r>
              <a:rPr sz="2400" spc="-10" dirty="0">
                <a:latin typeface="Carlito"/>
                <a:cs typeface="Carlito"/>
              </a:rPr>
              <a:t>sent </a:t>
            </a:r>
            <a:r>
              <a:rPr sz="2400" spc="-5" dirty="0">
                <a:latin typeface="Carlito"/>
                <a:cs typeface="Carlito"/>
              </a:rPr>
              <a:t>out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dirty="0">
                <a:latin typeface="Carlito"/>
                <a:cs typeface="Carlito"/>
              </a:rPr>
              <a:t>all </a:t>
            </a:r>
            <a:r>
              <a:rPr sz="2400" spc="-5" dirty="0">
                <a:latin typeface="Carlito"/>
                <a:cs typeface="Carlito"/>
              </a:rPr>
              <a:t>other nodes </a:t>
            </a:r>
            <a:r>
              <a:rPr sz="2400" spc="-10" dirty="0">
                <a:latin typeface="Carlito"/>
                <a:cs typeface="Carlito"/>
              </a:rPr>
              <a:t>on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10" dirty="0">
                <a:latin typeface="Carlito"/>
                <a:cs typeface="Carlito"/>
              </a:rPr>
              <a:t>network </a:t>
            </a:r>
            <a:r>
              <a:rPr sz="2400" dirty="0">
                <a:latin typeface="Carlito"/>
                <a:cs typeface="Carlito"/>
              </a:rPr>
              <a:t>and  </a:t>
            </a:r>
            <a:r>
              <a:rPr sz="2400" spc="-10" dirty="0">
                <a:latin typeface="Carlito"/>
                <a:cs typeface="Carlito"/>
              </a:rPr>
              <a:t>retrieved </a:t>
            </a:r>
            <a:r>
              <a:rPr sz="2400" spc="-5" dirty="0">
                <a:latin typeface="Carlito"/>
                <a:cs typeface="Carlito"/>
              </a:rPr>
              <a:t>only </a:t>
            </a:r>
            <a:r>
              <a:rPr sz="2400" spc="-10" dirty="0">
                <a:latin typeface="Carlito"/>
                <a:cs typeface="Carlito"/>
              </a:rPr>
              <a:t>by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10" dirty="0">
                <a:latin typeface="Carlito"/>
                <a:cs typeface="Carlito"/>
              </a:rPr>
              <a:t>intended recipient; </a:t>
            </a:r>
            <a:r>
              <a:rPr sz="2400" spc="-5" dirty="0">
                <a:latin typeface="Carlito"/>
                <a:cs typeface="Carlito"/>
              </a:rPr>
              <a:t>primarily used  </a:t>
            </a:r>
            <a:r>
              <a:rPr sz="2400" dirty="0">
                <a:latin typeface="Carlito"/>
                <a:cs typeface="Carlito"/>
              </a:rPr>
              <a:t>with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LANs</a:t>
            </a:r>
            <a:endParaRPr sz="2400"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40041035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23010">
              <a:lnSpc>
                <a:spcPct val="100000"/>
              </a:lnSpc>
              <a:spcBef>
                <a:spcPts val="100"/>
              </a:spcBef>
            </a:pPr>
            <a:r>
              <a:rPr spc="-455" dirty="0"/>
              <a:t>Data </a:t>
            </a:r>
            <a:r>
              <a:rPr spc="-484" dirty="0"/>
              <a:t>Transmission</a:t>
            </a:r>
            <a:r>
              <a:rPr spc="5" dirty="0"/>
              <a:t> </a:t>
            </a:r>
            <a:r>
              <a:rPr spc="-505" dirty="0"/>
              <a:t>Characteristics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66407" y="1704975"/>
            <a:ext cx="8086725" cy="4530090"/>
            <a:chOff x="466407" y="1704975"/>
            <a:chExt cx="8086725" cy="4530090"/>
          </a:xfrm>
        </p:grpSpPr>
        <p:sp>
          <p:nvSpPr>
            <p:cNvPr id="4" name="object 4"/>
            <p:cNvSpPr/>
            <p:nvPr/>
          </p:nvSpPr>
          <p:spPr>
            <a:xfrm>
              <a:off x="466407" y="1704975"/>
              <a:ext cx="8086725" cy="359092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403603" y="5229199"/>
              <a:ext cx="1327149" cy="100584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22</a:t>
            </a:fld>
            <a:endParaRPr spc="-165" dirty="0"/>
          </a:p>
        </p:txBody>
      </p:sp>
    </p:spTree>
    <p:extLst>
      <p:ext uri="{BB962C8B-B14F-4D97-AF65-F5344CB8AC3E}">
        <p14:creationId xmlns:p14="http://schemas.microsoft.com/office/powerpoint/2010/main" val="15635692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377062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30" dirty="0"/>
              <a:t>Networking</a:t>
            </a:r>
            <a:r>
              <a:rPr spc="-254" dirty="0"/>
              <a:t> </a:t>
            </a:r>
            <a:r>
              <a:rPr spc="-380" dirty="0"/>
              <a:t>Media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23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7625080" cy="5130251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38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10" dirty="0">
                <a:latin typeface="Carlito"/>
                <a:cs typeface="Carlito"/>
              </a:rPr>
              <a:t>Wired Networking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Media</a:t>
            </a:r>
          </a:p>
          <a:p>
            <a:pPr marL="756285" lvl="1" indent="-287020">
              <a:lnSpc>
                <a:spcPct val="100000"/>
              </a:lnSpc>
              <a:spcBef>
                <a:spcPts val="29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20" dirty="0">
                <a:latin typeface="Carlito"/>
                <a:cs typeface="Carlito"/>
              </a:rPr>
              <a:t>Twisted-Pair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Cable</a:t>
            </a:r>
            <a:endParaRPr sz="2400" dirty="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29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20" dirty="0">
                <a:latin typeface="Carlito"/>
                <a:cs typeface="Carlito"/>
              </a:rPr>
              <a:t>Pairs </a:t>
            </a:r>
            <a:r>
              <a:rPr sz="2400" spc="-5" dirty="0">
                <a:latin typeface="Carlito"/>
                <a:cs typeface="Carlito"/>
              </a:rPr>
              <a:t>of </a:t>
            </a:r>
            <a:r>
              <a:rPr sz="2400" spc="-10" dirty="0">
                <a:latin typeface="Carlito"/>
                <a:cs typeface="Carlito"/>
              </a:rPr>
              <a:t>insulated wires twisted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together</a:t>
            </a:r>
            <a:endParaRPr sz="2400" dirty="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29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Carlito"/>
                <a:cs typeface="Carlito"/>
              </a:rPr>
              <a:t>Used </a:t>
            </a:r>
            <a:r>
              <a:rPr sz="2400" spc="-20" dirty="0">
                <a:latin typeface="Carlito"/>
                <a:cs typeface="Carlito"/>
              </a:rPr>
              <a:t>for </a:t>
            </a:r>
            <a:r>
              <a:rPr sz="2400" spc="-5" dirty="0">
                <a:latin typeface="Carlito"/>
                <a:cs typeface="Carlito"/>
              </a:rPr>
              <a:t>telephone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10" dirty="0">
                <a:latin typeface="Carlito"/>
                <a:cs typeface="Carlito"/>
              </a:rPr>
              <a:t>network connections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(LANs)</a:t>
            </a:r>
            <a:endParaRPr sz="2400" dirty="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28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Coaxial</a:t>
            </a:r>
            <a:r>
              <a:rPr sz="2400" spc="-4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Cable</a:t>
            </a:r>
            <a:endParaRPr sz="2400" dirty="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29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Carlito"/>
                <a:cs typeface="Carlito"/>
              </a:rPr>
              <a:t>Thick </a:t>
            </a:r>
            <a:r>
              <a:rPr sz="2400" spc="-10" dirty="0">
                <a:latin typeface="Carlito"/>
                <a:cs typeface="Carlito"/>
              </a:rPr>
              <a:t>center wire surrounded by</a:t>
            </a:r>
            <a:r>
              <a:rPr sz="2400" spc="-5" dirty="0">
                <a:latin typeface="Carlito"/>
                <a:cs typeface="Carlito"/>
              </a:rPr>
              <a:t> insulation</a:t>
            </a:r>
            <a:endParaRPr sz="2400" dirty="0">
              <a:latin typeface="Carlito"/>
              <a:cs typeface="Carlito"/>
            </a:endParaRPr>
          </a:p>
          <a:p>
            <a:pPr marL="1155700" marR="405130" lvl="2" indent="-228600">
              <a:lnSpc>
                <a:spcPts val="2590"/>
              </a:lnSpc>
              <a:spcBef>
                <a:spcPts val="61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Carlito"/>
                <a:cs typeface="Carlito"/>
              </a:rPr>
              <a:t>Used </a:t>
            </a:r>
            <a:r>
              <a:rPr sz="2400" spc="-20" dirty="0">
                <a:latin typeface="Carlito"/>
                <a:cs typeface="Carlito"/>
              </a:rPr>
              <a:t>for </a:t>
            </a:r>
            <a:r>
              <a:rPr sz="2400" spc="-5" dirty="0" smtClean="0">
                <a:latin typeface="Carlito"/>
                <a:cs typeface="Carlito"/>
              </a:rPr>
              <a:t>cable </a:t>
            </a:r>
            <a:r>
              <a:rPr sz="2400" spc="-5" dirty="0">
                <a:latin typeface="Carlito"/>
                <a:cs typeface="Carlito"/>
              </a:rPr>
              <a:t>television  delivery</a:t>
            </a:r>
            <a:endParaRPr sz="2400" dirty="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254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Fiber-Optic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Cable</a:t>
            </a:r>
            <a:endParaRPr sz="2400" dirty="0">
              <a:latin typeface="Carlito"/>
              <a:cs typeface="Carlito"/>
            </a:endParaRPr>
          </a:p>
          <a:p>
            <a:pPr marL="1155700" marR="34290" lvl="2" indent="-228600">
              <a:lnSpc>
                <a:spcPts val="2590"/>
              </a:lnSpc>
              <a:spcBef>
                <a:spcPts val="62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10" dirty="0">
                <a:latin typeface="Carlito"/>
                <a:cs typeface="Carlito"/>
              </a:rPr>
              <a:t>Utilizes hundreds </a:t>
            </a:r>
            <a:r>
              <a:rPr sz="2400" spc="-5" dirty="0">
                <a:latin typeface="Carlito"/>
                <a:cs typeface="Carlito"/>
              </a:rPr>
              <a:t>of thin </a:t>
            </a:r>
            <a:r>
              <a:rPr sz="2400" spc="-10" dirty="0">
                <a:latin typeface="Carlito"/>
                <a:cs typeface="Carlito"/>
              </a:rPr>
              <a:t>transparent </a:t>
            </a:r>
            <a:r>
              <a:rPr sz="2400" dirty="0">
                <a:latin typeface="Carlito"/>
                <a:cs typeface="Carlito"/>
              </a:rPr>
              <a:t>clear glass </a:t>
            </a:r>
            <a:r>
              <a:rPr sz="2400" spc="-5" dirty="0">
                <a:latin typeface="Carlito"/>
                <a:cs typeface="Carlito"/>
              </a:rPr>
              <a:t>or  </a:t>
            </a:r>
            <a:r>
              <a:rPr sz="2400" spc="-10" dirty="0">
                <a:latin typeface="Carlito"/>
                <a:cs typeface="Carlito"/>
              </a:rPr>
              <a:t>plastic fibers </a:t>
            </a:r>
            <a:r>
              <a:rPr sz="2400" spc="-15" dirty="0">
                <a:latin typeface="Carlito"/>
                <a:cs typeface="Carlito"/>
              </a:rPr>
              <a:t>over </a:t>
            </a:r>
            <a:r>
              <a:rPr sz="2400" dirty="0">
                <a:latin typeface="Carlito"/>
                <a:cs typeface="Carlito"/>
              </a:rPr>
              <a:t>which </a:t>
            </a:r>
            <a:r>
              <a:rPr sz="2400" spc="-5" dirty="0">
                <a:latin typeface="Carlito"/>
                <a:cs typeface="Carlito"/>
              </a:rPr>
              <a:t>lasers </a:t>
            </a:r>
            <a:r>
              <a:rPr sz="2400" spc="-10" dirty="0">
                <a:latin typeface="Carlito"/>
                <a:cs typeface="Carlito"/>
              </a:rPr>
              <a:t>transmit </a:t>
            </a:r>
            <a:r>
              <a:rPr sz="2400" spc="-15" dirty="0">
                <a:latin typeface="Carlito"/>
                <a:cs typeface="Carlito"/>
              </a:rPr>
              <a:t>data </a:t>
            </a:r>
            <a:r>
              <a:rPr sz="2400" dirty="0">
                <a:latin typeface="Carlito"/>
                <a:cs typeface="Carlito"/>
              </a:rPr>
              <a:t>as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light</a:t>
            </a:r>
            <a:endParaRPr sz="2400" dirty="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25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Carlito"/>
                <a:cs typeface="Carlito"/>
              </a:rPr>
              <a:t>Used </a:t>
            </a:r>
            <a:r>
              <a:rPr sz="2400" spc="-20" dirty="0">
                <a:latin typeface="Carlito"/>
                <a:cs typeface="Carlito"/>
              </a:rPr>
              <a:t>for </a:t>
            </a:r>
            <a:r>
              <a:rPr sz="2400" spc="-5" dirty="0">
                <a:latin typeface="Carlito"/>
                <a:cs typeface="Carlito"/>
              </a:rPr>
              <a:t>high-speed</a:t>
            </a:r>
            <a:r>
              <a:rPr sz="2400" spc="1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communications</a:t>
            </a:r>
            <a:endParaRPr sz="2400" dirty="0"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28192602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377062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30" dirty="0"/>
              <a:t>Networking</a:t>
            </a:r>
            <a:r>
              <a:rPr spc="-254" dirty="0"/>
              <a:t> </a:t>
            </a:r>
            <a:r>
              <a:rPr spc="-380" dirty="0"/>
              <a:t>Media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36994" y="1700783"/>
            <a:ext cx="7884795" cy="4237355"/>
            <a:chOff x="536994" y="1700783"/>
            <a:chExt cx="7884795" cy="4237355"/>
          </a:xfrm>
        </p:grpSpPr>
        <p:sp>
          <p:nvSpPr>
            <p:cNvPr id="4" name="object 4"/>
            <p:cNvSpPr/>
            <p:nvPr/>
          </p:nvSpPr>
          <p:spPr>
            <a:xfrm>
              <a:off x="536994" y="1770266"/>
              <a:ext cx="6876254" cy="416744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164323" y="1700783"/>
              <a:ext cx="1257300" cy="6096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24</a:t>
            </a:fld>
            <a:endParaRPr spc="-165" dirty="0"/>
          </a:p>
        </p:txBody>
      </p:sp>
    </p:spTree>
    <p:extLst>
      <p:ext uri="{BB962C8B-B14F-4D97-AF65-F5344CB8AC3E}">
        <p14:creationId xmlns:p14="http://schemas.microsoft.com/office/powerpoint/2010/main" val="22691565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377062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30" dirty="0"/>
              <a:t>Networking</a:t>
            </a:r>
            <a:r>
              <a:rPr spc="-254" dirty="0"/>
              <a:t> </a:t>
            </a:r>
            <a:r>
              <a:rPr spc="-380" dirty="0"/>
              <a:t>Media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25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7937500" cy="4123054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5" dirty="0">
                <a:latin typeface="Carlito"/>
                <a:cs typeface="Carlito"/>
              </a:rPr>
              <a:t>Wireless </a:t>
            </a:r>
            <a:r>
              <a:rPr sz="2400" spc="-10" dirty="0">
                <a:latin typeface="Carlito"/>
                <a:cs typeface="Carlito"/>
              </a:rPr>
              <a:t>Networking</a:t>
            </a:r>
            <a:r>
              <a:rPr sz="2400" spc="-4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Media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5" dirty="0">
                <a:latin typeface="Carlito"/>
                <a:cs typeface="Carlito"/>
              </a:rPr>
              <a:t>Data </a:t>
            </a:r>
            <a:r>
              <a:rPr sz="2400" dirty="0">
                <a:latin typeface="Carlito"/>
                <a:cs typeface="Carlito"/>
              </a:rPr>
              <a:t>is </a:t>
            </a:r>
            <a:r>
              <a:rPr sz="2400" spc="-10" dirty="0">
                <a:latin typeface="Carlito"/>
                <a:cs typeface="Carlito"/>
              </a:rPr>
              <a:t>sent through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10" dirty="0">
                <a:latin typeface="Carlito"/>
                <a:cs typeface="Carlito"/>
              </a:rPr>
              <a:t>airwaves </a:t>
            </a:r>
            <a:r>
              <a:rPr sz="2400" spc="-5" dirty="0">
                <a:latin typeface="Carlito"/>
                <a:cs typeface="Carlito"/>
              </a:rPr>
              <a:t>using </a:t>
            </a:r>
            <a:r>
              <a:rPr sz="2400" spc="-10" dirty="0">
                <a:latin typeface="Carlito"/>
                <a:cs typeface="Carlito"/>
              </a:rPr>
              <a:t>radio</a:t>
            </a:r>
            <a:r>
              <a:rPr sz="2400" spc="-7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signals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The Electromagnetic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5" dirty="0">
                <a:latin typeface="Carlito"/>
                <a:cs typeface="Carlito"/>
              </a:rPr>
              <a:t>Wireless</a:t>
            </a:r>
            <a:r>
              <a:rPr sz="2400" spc="-5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Spectrum</a:t>
            </a:r>
            <a:endParaRPr sz="2400">
              <a:latin typeface="Carlito"/>
              <a:cs typeface="Carlito"/>
            </a:endParaRPr>
          </a:p>
          <a:p>
            <a:pPr marL="1155700" marR="567690" lvl="2" indent="-2286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Carlito"/>
                <a:cs typeface="Carlito"/>
              </a:rPr>
              <a:t>Radio frequencies </a:t>
            </a:r>
            <a:r>
              <a:rPr sz="2400" spc="-15" dirty="0">
                <a:latin typeface="Carlito"/>
                <a:cs typeface="Carlito"/>
              </a:rPr>
              <a:t>are </a:t>
            </a:r>
            <a:r>
              <a:rPr sz="2400" dirty="0">
                <a:latin typeface="Carlito"/>
                <a:cs typeface="Carlito"/>
              </a:rPr>
              <a:t>assigned </a:t>
            </a:r>
            <a:r>
              <a:rPr sz="2400" spc="-10" dirty="0">
                <a:latin typeface="Carlito"/>
                <a:cs typeface="Carlito"/>
              </a:rPr>
              <a:t>by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15" dirty="0">
                <a:latin typeface="Carlito"/>
                <a:cs typeface="Carlito"/>
              </a:rPr>
              <a:t>FCC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15" dirty="0">
                <a:latin typeface="Carlito"/>
                <a:cs typeface="Carlito"/>
              </a:rPr>
              <a:t>are  </a:t>
            </a:r>
            <a:r>
              <a:rPr sz="2400" spc="-10" dirty="0">
                <a:latin typeface="Carlito"/>
                <a:cs typeface="Carlito"/>
              </a:rPr>
              <a:t>measured </a:t>
            </a:r>
            <a:r>
              <a:rPr sz="2400" dirty="0">
                <a:latin typeface="Carlito"/>
                <a:cs typeface="Carlito"/>
              </a:rPr>
              <a:t>in </a:t>
            </a:r>
            <a:r>
              <a:rPr sz="2400" spc="-5" dirty="0">
                <a:latin typeface="Carlito"/>
                <a:cs typeface="Carlito"/>
              </a:rPr>
              <a:t>hertz</a:t>
            </a:r>
            <a:r>
              <a:rPr sz="2400" spc="-2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(Hz)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Carlito"/>
                <a:cs typeface="Carlito"/>
              </a:rPr>
              <a:t>The electromagnetic spectrum </a:t>
            </a:r>
            <a:r>
              <a:rPr sz="2400" dirty="0">
                <a:latin typeface="Carlito"/>
                <a:cs typeface="Carlito"/>
              </a:rPr>
              <a:t>is </a:t>
            </a:r>
            <a:r>
              <a:rPr sz="2400" spc="-5" dirty="0">
                <a:latin typeface="Carlito"/>
                <a:cs typeface="Carlito"/>
              </a:rPr>
              <a:t>the </a:t>
            </a:r>
            <a:r>
              <a:rPr sz="2400" spc="-15" dirty="0">
                <a:latin typeface="Carlito"/>
                <a:cs typeface="Carlito"/>
              </a:rPr>
              <a:t>range </a:t>
            </a:r>
            <a:r>
              <a:rPr sz="2400" spc="-5" dirty="0">
                <a:latin typeface="Carlito"/>
                <a:cs typeface="Carlito"/>
              </a:rPr>
              <a:t>of</a:t>
            </a:r>
            <a:r>
              <a:rPr sz="2400" spc="-9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common</a:t>
            </a:r>
            <a:endParaRPr sz="2400">
              <a:latin typeface="Carlito"/>
              <a:cs typeface="Carlito"/>
            </a:endParaRPr>
          </a:p>
          <a:p>
            <a:pPr marL="1155700">
              <a:lnSpc>
                <a:spcPct val="100000"/>
              </a:lnSpc>
            </a:pPr>
            <a:r>
              <a:rPr sz="2400" spc="-5" dirty="0">
                <a:latin typeface="Carlito"/>
                <a:cs typeface="Carlito"/>
              </a:rPr>
              <a:t>electromagnetic </a:t>
            </a:r>
            <a:r>
              <a:rPr sz="2400" spc="-10" dirty="0">
                <a:latin typeface="Carlito"/>
                <a:cs typeface="Carlito"/>
              </a:rPr>
              <a:t>radiation</a:t>
            </a:r>
            <a:r>
              <a:rPr sz="2400" spc="-6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(energy)</a:t>
            </a:r>
            <a:endParaRPr sz="2400">
              <a:latin typeface="Carlito"/>
              <a:cs typeface="Carlito"/>
            </a:endParaRPr>
          </a:p>
          <a:p>
            <a:pPr marL="1155700" marR="695325" lvl="2" indent="-2286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20" dirty="0">
                <a:latin typeface="Carlito"/>
                <a:cs typeface="Carlito"/>
              </a:rPr>
              <a:t>Different </a:t>
            </a:r>
            <a:r>
              <a:rPr sz="2400" spc="-5" dirty="0">
                <a:latin typeface="Carlito"/>
                <a:cs typeface="Carlito"/>
              </a:rPr>
              <a:t>parts of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5" dirty="0">
                <a:latin typeface="Carlito"/>
                <a:cs typeface="Carlito"/>
              </a:rPr>
              <a:t>spectrum </a:t>
            </a:r>
            <a:r>
              <a:rPr sz="2400" spc="-20" dirty="0">
                <a:latin typeface="Carlito"/>
                <a:cs typeface="Carlito"/>
              </a:rPr>
              <a:t>have different  </a:t>
            </a:r>
            <a:r>
              <a:rPr sz="2400" spc="-5" dirty="0">
                <a:latin typeface="Carlito"/>
                <a:cs typeface="Carlito"/>
              </a:rPr>
              <a:t>properties, </a:t>
            </a:r>
            <a:r>
              <a:rPr sz="2400" dirty="0">
                <a:latin typeface="Carlito"/>
                <a:cs typeface="Carlito"/>
              </a:rPr>
              <a:t>which </a:t>
            </a:r>
            <a:r>
              <a:rPr sz="2400" spc="-20" dirty="0">
                <a:latin typeface="Carlito"/>
                <a:cs typeface="Carlito"/>
              </a:rPr>
              <a:t>make </a:t>
            </a:r>
            <a:r>
              <a:rPr sz="2400" spc="-5" dirty="0">
                <a:latin typeface="Carlito"/>
                <a:cs typeface="Carlito"/>
              </a:rPr>
              <a:t>certain frequencies</a:t>
            </a:r>
            <a:r>
              <a:rPr sz="2400" spc="-9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more  appropriate </a:t>
            </a:r>
            <a:r>
              <a:rPr sz="2400" spc="-20" dirty="0">
                <a:latin typeface="Carlito"/>
                <a:cs typeface="Carlito"/>
              </a:rPr>
              <a:t>for </a:t>
            </a:r>
            <a:r>
              <a:rPr sz="2400" spc="-5" dirty="0">
                <a:latin typeface="Carlito"/>
                <a:cs typeface="Carlito"/>
              </a:rPr>
              <a:t>certain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applications</a:t>
            </a:r>
            <a:endParaRPr sz="2400"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326229974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377062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30" dirty="0"/>
              <a:t>Networking</a:t>
            </a:r>
            <a:r>
              <a:rPr spc="-254" dirty="0"/>
              <a:t> </a:t>
            </a:r>
            <a:r>
              <a:rPr spc="-380" dirty="0"/>
              <a:t>Media</a:t>
            </a:r>
          </a:p>
        </p:txBody>
      </p:sp>
      <p:sp>
        <p:nvSpPr>
          <p:cNvPr id="3" name="object 3"/>
          <p:cNvSpPr/>
          <p:nvPr/>
        </p:nvSpPr>
        <p:spPr>
          <a:xfrm>
            <a:off x="2195702" y="1699666"/>
            <a:ext cx="4400550" cy="435292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876288" y="3068954"/>
            <a:ext cx="1403730" cy="134441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26</a:t>
            </a:fld>
            <a:endParaRPr spc="-165" dirty="0"/>
          </a:p>
        </p:txBody>
      </p:sp>
    </p:spTree>
    <p:extLst>
      <p:ext uri="{BB962C8B-B14F-4D97-AF65-F5344CB8AC3E}">
        <p14:creationId xmlns:p14="http://schemas.microsoft.com/office/powerpoint/2010/main" val="22236376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377062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30" dirty="0"/>
              <a:t>Networking</a:t>
            </a:r>
            <a:r>
              <a:rPr spc="-254" dirty="0"/>
              <a:t> </a:t>
            </a:r>
            <a:r>
              <a:rPr spc="-380" dirty="0"/>
              <a:t>Media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27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534414"/>
            <a:ext cx="8455660" cy="40139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465455" indent="-34353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5" dirty="0">
                <a:latin typeface="Carlito"/>
                <a:cs typeface="Carlito"/>
              </a:rPr>
              <a:t>Frequencies </a:t>
            </a:r>
            <a:r>
              <a:rPr sz="2400" dirty="0">
                <a:latin typeface="Carlito"/>
                <a:cs typeface="Carlito"/>
              </a:rPr>
              <a:t>assigned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dirty="0">
                <a:latin typeface="Carlito"/>
                <a:cs typeface="Carlito"/>
              </a:rPr>
              <a:t>an </a:t>
            </a:r>
            <a:r>
              <a:rPr sz="2400" spc="-5" dirty="0">
                <a:latin typeface="Carlito"/>
                <a:cs typeface="Carlito"/>
              </a:rPr>
              <a:t>application usually </a:t>
            </a:r>
            <a:r>
              <a:rPr sz="2400" spc="-10" dirty="0">
                <a:latin typeface="Carlito"/>
                <a:cs typeface="Carlito"/>
              </a:rPr>
              <a:t>consist </a:t>
            </a:r>
            <a:r>
              <a:rPr sz="2400" spc="-5" dirty="0">
                <a:latin typeface="Carlito"/>
                <a:cs typeface="Carlito"/>
              </a:rPr>
              <a:t>of</a:t>
            </a:r>
            <a:r>
              <a:rPr sz="2400" spc="-12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a  </a:t>
            </a:r>
            <a:r>
              <a:rPr sz="2400" spc="-15" dirty="0">
                <a:latin typeface="Carlito"/>
                <a:cs typeface="Carlito"/>
              </a:rPr>
              <a:t>range </a:t>
            </a:r>
            <a:r>
              <a:rPr sz="2400" spc="-5" dirty="0">
                <a:latin typeface="Carlito"/>
                <a:cs typeface="Carlito"/>
              </a:rPr>
              <a:t>of frequencies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5" dirty="0">
                <a:latin typeface="Carlito"/>
                <a:cs typeface="Carlito"/>
              </a:rPr>
              <a:t>be used </a:t>
            </a:r>
            <a:r>
              <a:rPr sz="2400" dirty="0">
                <a:latin typeface="Carlito"/>
                <a:cs typeface="Carlito"/>
              </a:rPr>
              <a:t>as </a:t>
            </a:r>
            <a:r>
              <a:rPr sz="2400" spc="-5" dirty="0">
                <a:latin typeface="Carlito"/>
                <a:cs typeface="Carlito"/>
              </a:rPr>
              <a:t>needed</a:t>
            </a:r>
            <a:endParaRPr sz="2400">
              <a:latin typeface="Carlito"/>
              <a:cs typeface="Carlito"/>
            </a:endParaRPr>
          </a:p>
          <a:p>
            <a:pPr marL="355600" indent="-3435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10" dirty="0">
                <a:latin typeface="Carlito"/>
                <a:cs typeface="Carlito"/>
              </a:rPr>
              <a:t>Most </a:t>
            </a:r>
            <a:r>
              <a:rPr sz="2400" spc="-5" dirty="0">
                <a:latin typeface="Carlito"/>
                <a:cs typeface="Carlito"/>
              </a:rPr>
              <a:t>wireless </a:t>
            </a:r>
            <a:r>
              <a:rPr sz="2400" spc="-10" dirty="0">
                <a:latin typeface="Carlito"/>
                <a:cs typeface="Carlito"/>
              </a:rPr>
              <a:t>networking </a:t>
            </a:r>
            <a:r>
              <a:rPr sz="2400" spc="-5" dirty="0">
                <a:latin typeface="Carlito"/>
                <a:cs typeface="Carlito"/>
              </a:rPr>
              <a:t>applications use frequencies </a:t>
            </a:r>
            <a:r>
              <a:rPr sz="2400">
                <a:latin typeface="Carlito"/>
                <a:cs typeface="Carlito"/>
              </a:rPr>
              <a:t>in</a:t>
            </a:r>
            <a:r>
              <a:rPr sz="2400" spc="-40">
                <a:latin typeface="Carlito"/>
                <a:cs typeface="Carlito"/>
              </a:rPr>
              <a:t> </a:t>
            </a:r>
            <a:r>
              <a:rPr sz="2400" smtClean="0">
                <a:latin typeface="Carlito"/>
                <a:cs typeface="Carlito"/>
              </a:rPr>
              <a:t>the</a:t>
            </a:r>
            <a:r>
              <a:rPr lang="en-US" sz="2400" dirty="0" smtClean="0">
                <a:latin typeface="Carlito"/>
                <a:cs typeface="Carlito"/>
              </a:rPr>
              <a:t> </a:t>
            </a:r>
            <a:r>
              <a:rPr sz="2400" smtClean="0">
                <a:latin typeface="Carlito"/>
                <a:cs typeface="Carlito"/>
              </a:rPr>
              <a:t>RF </a:t>
            </a:r>
            <a:r>
              <a:rPr sz="2400" spc="-5" dirty="0">
                <a:latin typeface="Carlito"/>
                <a:cs typeface="Carlito"/>
              </a:rPr>
              <a:t>band </a:t>
            </a:r>
            <a:r>
              <a:rPr sz="2400" spc="-15" dirty="0">
                <a:latin typeface="Carlito"/>
                <a:cs typeface="Carlito"/>
              </a:rPr>
              <a:t>at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5" dirty="0">
                <a:latin typeface="Carlito"/>
                <a:cs typeface="Carlito"/>
              </a:rPr>
              <a:t>low </a:t>
            </a:r>
            <a:r>
              <a:rPr sz="2400" dirty="0">
                <a:latin typeface="Carlito"/>
                <a:cs typeface="Carlito"/>
              </a:rPr>
              <a:t>end </a:t>
            </a:r>
            <a:r>
              <a:rPr sz="2400" spc="-5" dirty="0">
                <a:latin typeface="Carlito"/>
                <a:cs typeface="Carlito"/>
              </a:rPr>
              <a:t>of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25" dirty="0">
                <a:latin typeface="Carlito"/>
                <a:cs typeface="Carlito"/>
              </a:rPr>
              <a:t>spectrum</a:t>
            </a:r>
            <a:r>
              <a:rPr sz="2400" spc="-25" dirty="0">
                <a:latin typeface="Arial"/>
                <a:cs typeface="Arial"/>
              </a:rPr>
              <a:t>—</a:t>
            </a:r>
            <a:r>
              <a:rPr sz="2400" spc="-25" dirty="0">
                <a:latin typeface="Carlito"/>
                <a:cs typeface="Carlito"/>
              </a:rPr>
              <a:t>up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5" dirty="0">
                <a:latin typeface="Carlito"/>
                <a:cs typeface="Carlito"/>
              </a:rPr>
              <a:t>300</a:t>
            </a:r>
            <a:r>
              <a:rPr sz="2400" spc="-5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GHz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Often </a:t>
            </a:r>
            <a:r>
              <a:rPr sz="2400" spc="-5" dirty="0">
                <a:latin typeface="Carlito"/>
                <a:cs typeface="Carlito"/>
              </a:rPr>
              <a:t>called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i="1" dirty="0">
                <a:latin typeface="Carlito"/>
                <a:cs typeface="Carlito"/>
              </a:rPr>
              <a:t>wireless</a:t>
            </a:r>
            <a:r>
              <a:rPr sz="2400" i="1" spc="-30" dirty="0">
                <a:latin typeface="Carlito"/>
                <a:cs typeface="Carlito"/>
              </a:rPr>
              <a:t> </a:t>
            </a:r>
            <a:r>
              <a:rPr sz="2400" i="1" spc="-5" dirty="0">
                <a:latin typeface="Carlito"/>
                <a:cs typeface="Carlito"/>
              </a:rPr>
              <a:t>spectrum</a:t>
            </a:r>
            <a:endParaRPr sz="2400">
              <a:latin typeface="Carlito"/>
              <a:cs typeface="Carlito"/>
            </a:endParaRPr>
          </a:p>
          <a:p>
            <a:pPr marL="355600" marR="5080" indent="-3435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5" dirty="0">
                <a:latin typeface="Carlito"/>
                <a:cs typeface="Carlito"/>
              </a:rPr>
              <a:t>The 900 </a:t>
            </a:r>
            <a:r>
              <a:rPr sz="2400" dirty="0">
                <a:latin typeface="Carlito"/>
                <a:cs typeface="Carlito"/>
              </a:rPr>
              <a:t>MHz, </a:t>
            </a:r>
            <a:r>
              <a:rPr sz="2400" spc="-5" dirty="0">
                <a:latin typeface="Carlito"/>
                <a:cs typeface="Carlito"/>
              </a:rPr>
              <a:t>2.4GHz, </a:t>
            </a:r>
            <a:r>
              <a:rPr sz="2400" dirty="0">
                <a:latin typeface="Carlito"/>
                <a:cs typeface="Carlito"/>
              </a:rPr>
              <a:t>5 GHz, and </a:t>
            </a:r>
            <a:r>
              <a:rPr sz="2400" spc="-5" dirty="0">
                <a:latin typeface="Carlito"/>
                <a:cs typeface="Carlito"/>
              </a:rPr>
              <a:t>5.8 </a:t>
            </a:r>
            <a:r>
              <a:rPr sz="2400" dirty="0">
                <a:latin typeface="Carlito"/>
                <a:cs typeface="Carlito"/>
              </a:rPr>
              <a:t>GHz </a:t>
            </a:r>
            <a:r>
              <a:rPr sz="2400" spc="-5" dirty="0">
                <a:latin typeface="Carlito"/>
                <a:cs typeface="Carlito"/>
              </a:rPr>
              <a:t>frequencies </a:t>
            </a:r>
            <a:r>
              <a:rPr sz="2400" spc="-15" dirty="0">
                <a:latin typeface="Carlito"/>
                <a:cs typeface="Carlito"/>
              </a:rPr>
              <a:t>are  </a:t>
            </a:r>
            <a:r>
              <a:rPr sz="2400" dirty="0">
                <a:latin typeface="Carlito"/>
                <a:cs typeface="Carlito"/>
              </a:rPr>
              <a:t>within an </a:t>
            </a:r>
            <a:r>
              <a:rPr sz="2400" spc="-5" dirty="0">
                <a:latin typeface="Carlito"/>
                <a:cs typeface="Carlito"/>
              </a:rPr>
              <a:t>unlicensed part of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5" dirty="0">
                <a:latin typeface="Carlito"/>
                <a:cs typeface="Carlito"/>
              </a:rPr>
              <a:t>spectrum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10" dirty="0">
                <a:latin typeface="Carlito"/>
                <a:cs typeface="Carlito"/>
              </a:rPr>
              <a:t>can </a:t>
            </a:r>
            <a:r>
              <a:rPr sz="2400" spc="-5" dirty="0">
                <a:latin typeface="Carlito"/>
                <a:cs typeface="Carlito"/>
              </a:rPr>
              <a:t>be used </a:t>
            </a:r>
            <a:r>
              <a:rPr sz="2400" spc="-10" dirty="0">
                <a:latin typeface="Carlito"/>
                <a:cs typeface="Carlito"/>
              </a:rPr>
              <a:t>by  </a:t>
            </a:r>
            <a:r>
              <a:rPr sz="2400" spc="-20" dirty="0">
                <a:latin typeface="Carlito"/>
                <a:cs typeface="Carlito"/>
              </a:rPr>
              <a:t>any </a:t>
            </a:r>
            <a:r>
              <a:rPr sz="2400" spc="-10" dirty="0">
                <a:latin typeface="Carlito"/>
                <a:cs typeface="Carlito"/>
              </a:rPr>
              <a:t>product </a:t>
            </a:r>
            <a:r>
              <a:rPr sz="2400" spc="-5" dirty="0">
                <a:latin typeface="Carlito"/>
                <a:cs typeface="Carlito"/>
              </a:rPr>
              <a:t>or</a:t>
            </a:r>
            <a:r>
              <a:rPr sz="2400" spc="-1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individual</a:t>
            </a:r>
            <a:endParaRPr sz="2400">
              <a:latin typeface="Carlito"/>
              <a:cs typeface="Carlito"/>
            </a:endParaRPr>
          </a:p>
          <a:p>
            <a:pPr marL="756285" marR="1371600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  <a:tab pos="2693035" algn="l"/>
              </a:tabLst>
            </a:pPr>
            <a:r>
              <a:rPr sz="2400" spc="-10" dirty="0">
                <a:latin typeface="Carlito"/>
                <a:cs typeface="Carlito"/>
              </a:rPr>
              <a:t>Cordless </a:t>
            </a:r>
            <a:r>
              <a:rPr sz="2400" dirty="0">
                <a:latin typeface="Carlito"/>
                <a:cs typeface="Carlito"/>
              </a:rPr>
              <a:t>landline </a:t>
            </a:r>
            <a:r>
              <a:rPr sz="2400" spc="-5" dirty="0">
                <a:latin typeface="Carlito"/>
                <a:cs typeface="Carlito"/>
              </a:rPr>
              <a:t>phones, </a:t>
            </a:r>
            <a:r>
              <a:rPr sz="2400" spc="-20">
                <a:latin typeface="Carlito"/>
                <a:cs typeface="Carlito"/>
              </a:rPr>
              <a:t>garage </a:t>
            </a:r>
            <a:r>
              <a:rPr sz="2400" spc="-10" smtClean="0">
                <a:latin typeface="Carlito"/>
                <a:cs typeface="Carlito"/>
              </a:rPr>
              <a:t>door</a:t>
            </a:r>
            <a:r>
              <a:rPr lang="en-US" sz="2400" spc="-10" dirty="0" smtClean="0">
                <a:latin typeface="Carlito"/>
                <a:cs typeface="Carlito"/>
              </a:rPr>
              <a:t> </a:t>
            </a:r>
            <a:r>
              <a:rPr sz="2400" spc="-10" smtClean="0">
                <a:latin typeface="Carlito"/>
                <a:cs typeface="Carlito"/>
              </a:rPr>
              <a:t>openers</a:t>
            </a:r>
            <a:r>
              <a:rPr sz="2400" spc="-10" dirty="0">
                <a:latin typeface="Carlito"/>
                <a:cs typeface="Carlito"/>
              </a:rPr>
              <a:t>,  </a:t>
            </a:r>
            <a:r>
              <a:rPr sz="2400" spc="-5" dirty="0">
                <a:latin typeface="Carlito"/>
                <a:cs typeface="Carlito"/>
              </a:rPr>
              <a:t>Wi-Fi</a:t>
            </a:r>
            <a:r>
              <a:rPr sz="2400" spc="-5">
                <a:latin typeface="Carlito"/>
                <a:cs typeface="Carlito"/>
              </a:rPr>
              <a:t>,</a:t>
            </a:r>
            <a:r>
              <a:rPr sz="2400" spc="-15">
                <a:latin typeface="Carlito"/>
                <a:cs typeface="Carlito"/>
              </a:rPr>
              <a:t> </a:t>
            </a:r>
            <a:r>
              <a:rPr sz="2400" smtClean="0">
                <a:latin typeface="Carlito"/>
                <a:cs typeface="Carlito"/>
              </a:rPr>
              <a:t>WiMAX,</a:t>
            </a:r>
            <a:r>
              <a:rPr lang="en-US" sz="2400" dirty="0" smtClean="0">
                <a:latin typeface="Carlito"/>
                <a:cs typeface="Carlito"/>
              </a:rPr>
              <a:t> </a:t>
            </a:r>
            <a:r>
              <a:rPr sz="2400" smtClean="0">
                <a:latin typeface="Carlito"/>
                <a:cs typeface="Carlito"/>
              </a:rPr>
              <a:t>and</a:t>
            </a:r>
            <a:r>
              <a:rPr sz="2400" spc="-5" smtClean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Bluetooth</a:t>
            </a:r>
            <a:endParaRPr sz="2400"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266408961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377062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30" dirty="0"/>
              <a:t>Networking</a:t>
            </a:r>
            <a:r>
              <a:rPr spc="-254" dirty="0"/>
              <a:t> </a:t>
            </a:r>
            <a:r>
              <a:rPr spc="-380" dirty="0"/>
              <a:t>Media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28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97838"/>
            <a:ext cx="8049895" cy="4165884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38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dirty="0">
                <a:latin typeface="Carlito"/>
                <a:cs typeface="Carlito"/>
              </a:rPr>
              <a:t>Cellular </a:t>
            </a:r>
            <a:r>
              <a:rPr sz="2400" spc="-5" dirty="0">
                <a:latin typeface="Carlito"/>
                <a:cs typeface="Carlito"/>
              </a:rPr>
              <a:t>Radio</a:t>
            </a:r>
            <a:r>
              <a:rPr sz="2400" spc="-45" dirty="0">
                <a:latin typeface="Carlito"/>
                <a:cs typeface="Carlito"/>
              </a:rPr>
              <a:t> </a:t>
            </a:r>
            <a:r>
              <a:rPr sz="2400" spc="-20" dirty="0">
                <a:latin typeface="Carlito"/>
                <a:cs typeface="Carlito"/>
              </a:rPr>
              <a:t>Transmissions</a:t>
            </a:r>
            <a:endParaRPr sz="2400">
              <a:latin typeface="Carlito"/>
              <a:cs typeface="Carlito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29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Use </a:t>
            </a:r>
            <a:r>
              <a:rPr sz="2400" dirty="0">
                <a:latin typeface="Carlito"/>
                <a:cs typeface="Carlito"/>
              </a:rPr>
              <a:t>cellular </a:t>
            </a:r>
            <a:r>
              <a:rPr sz="2400" spc="-20" dirty="0">
                <a:latin typeface="Carlito"/>
                <a:cs typeface="Carlito"/>
              </a:rPr>
              <a:t>towers </a:t>
            </a:r>
            <a:r>
              <a:rPr sz="2400" dirty="0">
                <a:latin typeface="Carlito"/>
                <a:cs typeface="Carlito"/>
              </a:rPr>
              <a:t>within </a:t>
            </a:r>
            <a:r>
              <a:rPr sz="2400" spc="-10" dirty="0">
                <a:latin typeface="Carlito"/>
                <a:cs typeface="Carlito"/>
              </a:rPr>
              <a:t>honeycomb-shaped </a:t>
            </a:r>
            <a:r>
              <a:rPr sz="2400" spc="-15" dirty="0">
                <a:latin typeface="Carlito"/>
                <a:cs typeface="Carlito"/>
              </a:rPr>
              <a:t>zones </a:t>
            </a:r>
            <a:r>
              <a:rPr sz="2400" spc="-5" dirty="0">
                <a:latin typeface="Carlito"/>
                <a:cs typeface="Carlito"/>
              </a:rPr>
              <a:t>called  </a:t>
            </a:r>
            <a:r>
              <a:rPr sz="2400" dirty="0">
                <a:latin typeface="Carlito"/>
                <a:cs typeface="Carlito"/>
              </a:rPr>
              <a:t>cells</a:t>
            </a:r>
            <a:endParaRPr sz="2400">
              <a:latin typeface="Carlito"/>
              <a:cs typeface="Carlito"/>
            </a:endParaRPr>
          </a:p>
          <a:p>
            <a:pPr marL="756285" marR="412750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Calls </a:t>
            </a:r>
            <a:r>
              <a:rPr sz="2400" spc="-15" dirty="0">
                <a:latin typeface="Carlito"/>
                <a:cs typeface="Carlito"/>
              </a:rPr>
              <a:t>are </a:t>
            </a:r>
            <a:r>
              <a:rPr sz="2400" spc="-20" dirty="0">
                <a:latin typeface="Carlito"/>
                <a:cs typeface="Carlito"/>
              </a:rPr>
              <a:t>transferred </a:t>
            </a:r>
            <a:r>
              <a:rPr sz="2400" spc="-15" dirty="0">
                <a:latin typeface="Carlito"/>
                <a:cs typeface="Carlito"/>
              </a:rPr>
              <a:t>from </a:t>
            </a:r>
            <a:r>
              <a:rPr sz="2400" dirty="0">
                <a:latin typeface="Carlito"/>
                <a:cs typeface="Carlito"/>
              </a:rPr>
              <a:t>cell </a:t>
            </a:r>
            <a:r>
              <a:rPr sz="2400" spc="-15" dirty="0">
                <a:latin typeface="Carlito"/>
                <a:cs typeface="Carlito"/>
              </a:rPr>
              <a:t>tower to </a:t>
            </a:r>
            <a:r>
              <a:rPr sz="2400" dirty="0">
                <a:latin typeface="Carlito"/>
                <a:cs typeface="Carlito"/>
              </a:rPr>
              <a:t>cell </a:t>
            </a:r>
            <a:r>
              <a:rPr sz="2400" spc="-15" dirty="0">
                <a:latin typeface="Carlito"/>
                <a:cs typeface="Carlito"/>
              </a:rPr>
              <a:t>tower </a:t>
            </a:r>
            <a:r>
              <a:rPr sz="2400" dirty="0">
                <a:latin typeface="Carlito"/>
                <a:cs typeface="Carlito"/>
              </a:rPr>
              <a:t>as the  individual</a:t>
            </a:r>
            <a:r>
              <a:rPr sz="2400" spc="-2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moves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Cell </a:t>
            </a:r>
            <a:r>
              <a:rPr sz="2400" spc="-15" dirty="0">
                <a:latin typeface="Carlito"/>
                <a:cs typeface="Carlito"/>
              </a:rPr>
              <a:t>tower forwards </a:t>
            </a:r>
            <a:r>
              <a:rPr sz="2400" spc="-5" dirty="0">
                <a:latin typeface="Carlito"/>
                <a:cs typeface="Carlito"/>
              </a:rPr>
              <a:t>call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dirty="0">
                <a:latin typeface="Carlito"/>
                <a:cs typeface="Carlito"/>
              </a:rPr>
              <a:t>the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MTSO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Char char="–"/>
              <a:tabLst>
                <a:tab pos="756920" algn="l"/>
              </a:tabLst>
            </a:pPr>
            <a:r>
              <a:rPr sz="2400" spc="-265" dirty="0">
                <a:latin typeface="Arial"/>
                <a:cs typeface="Arial"/>
              </a:rPr>
              <a:t>MTSO </a:t>
            </a:r>
            <a:r>
              <a:rPr sz="2400" spc="-80" dirty="0">
                <a:latin typeface="Arial"/>
                <a:cs typeface="Arial"/>
              </a:rPr>
              <a:t>routes </a:t>
            </a:r>
            <a:r>
              <a:rPr sz="2400" spc="-90" dirty="0">
                <a:latin typeface="Arial"/>
                <a:cs typeface="Arial"/>
              </a:rPr>
              <a:t>call </a:t>
            </a:r>
            <a:r>
              <a:rPr sz="2400" spc="20" dirty="0">
                <a:latin typeface="Arial"/>
                <a:cs typeface="Arial"/>
              </a:rPr>
              <a:t>to </a:t>
            </a:r>
            <a:r>
              <a:rPr sz="2400" spc="-35" dirty="0">
                <a:latin typeface="Arial"/>
                <a:cs typeface="Arial"/>
              </a:rPr>
              <a:t>the </a:t>
            </a:r>
            <a:r>
              <a:rPr sz="2400" spc="-65" dirty="0">
                <a:latin typeface="Arial"/>
                <a:cs typeface="Arial"/>
              </a:rPr>
              <a:t>recipient’s</a:t>
            </a:r>
            <a:r>
              <a:rPr sz="2400" spc="-375" dirty="0">
                <a:latin typeface="Arial"/>
                <a:cs typeface="Arial"/>
              </a:rPr>
              <a:t> </a:t>
            </a:r>
            <a:r>
              <a:rPr sz="2400" spc="-95" dirty="0">
                <a:latin typeface="Arial"/>
                <a:cs typeface="Arial"/>
              </a:rPr>
              <a:t>phone</a:t>
            </a:r>
            <a:endParaRPr sz="24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5" dirty="0">
                <a:latin typeface="Carlito"/>
                <a:cs typeface="Carlito"/>
              </a:rPr>
              <a:t>Data </a:t>
            </a:r>
            <a:r>
              <a:rPr sz="2400" spc="-10" dirty="0">
                <a:latin typeface="Carlito"/>
                <a:cs typeface="Carlito"/>
              </a:rPr>
              <a:t>sent </a:t>
            </a:r>
            <a:r>
              <a:rPr sz="2400" spc="-5" dirty="0">
                <a:latin typeface="Carlito"/>
                <a:cs typeface="Carlito"/>
              </a:rPr>
              <a:t>via </a:t>
            </a:r>
            <a:r>
              <a:rPr sz="2400" dirty="0">
                <a:latin typeface="Carlito"/>
                <a:cs typeface="Carlito"/>
              </a:rPr>
              <a:t>cell </a:t>
            </a:r>
            <a:r>
              <a:rPr sz="2400" spc="-5" dirty="0">
                <a:latin typeface="Carlito"/>
                <a:cs typeface="Carlito"/>
              </a:rPr>
              <a:t>phones </a:t>
            </a:r>
            <a:r>
              <a:rPr sz="2400" spc="-15" dirty="0">
                <a:latin typeface="Carlito"/>
                <a:cs typeface="Carlito"/>
              </a:rPr>
              <a:t>works </a:t>
            </a:r>
            <a:r>
              <a:rPr sz="2400" dirty="0">
                <a:latin typeface="Carlito"/>
                <a:cs typeface="Carlito"/>
              </a:rPr>
              <a:t>in </a:t>
            </a:r>
            <a:r>
              <a:rPr sz="2400" spc="-5" dirty="0">
                <a:latin typeface="Carlito"/>
                <a:cs typeface="Carlito"/>
              </a:rPr>
              <a:t>similar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manner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The speed of </a:t>
            </a:r>
            <a:r>
              <a:rPr sz="2400" dirty="0">
                <a:latin typeface="Carlito"/>
                <a:cs typeface="Carlito"/>
              </a:rPr>
              <a:t>cellular </a:t>
            </a:r>
            <a:r>
              <a:rPr sz="2400" spc="-10" dirty="0">
                <a:latin typeface="Carlito"/>
                <a:cs typeface="Carlito"/>
              </a:rPr>
              <a:t>radio </a:t>
            </a:r>
            <a:r>
              <a:rPr sz="2400" spc="-5" dirty="0">
                <a:latin typeface="Carlito"/>
                <a:cs typeface="Carlito"/>
              </a:rPr>
              <a:t>transmissions depends </a:t>
            </a:r>
            <a:r>
              <a:rPr sz="2400" spc="-5">
                <a:latin typeface="Carlito"/>
                <a:cs typeface="Carlito"/>
              </a:rPr>
              <a:t>on</a:t>
            </a:r>
            <a:r>
              <a:rPr sz="2400" spc="-60">
                <a:latin typeface="Carlito"/>
                <a:cs typeface="Carlito"/>
              </a:rPr>
              <a:t> </a:t>
            </a:r>
            <a:r>
              <a:rPr sz="2400" smtClean="0">
                <a:latin typeface="Carlito"/>
                <a:cs typeface="Carlito"/>
              </a:rPr>
              <a:t>the</a:t>
            </a:r>
            <a:r>
              <a:rPr lang="en-US" sz="2400" dirty="0" smtClean="0">
                <a:latin typeface="Carlito"/>
                <a:cs typeface="Carlito"/>
              </a:rPr>
              <a:t> </a:t>
            </a:r>
            <a:r>
              <a:rPr sz="2400" smtClean="0">
                <a:latin typeface="Carlito"/>
                <a:cs typeface="Carlito"/>
              </a:rPr>
              <a:t>type </a:t>
            </a:r>
            <a:r>
              <a:rPr sz="2400" spc="-5" dirty="0">
                <a:latin typeface="Carlito"/>
                <a:cs typeface="Carlito"/>
              </a:rPr>
              <a:t>of </a:t>
            </a:r>
            <a:r>
              <a:rPr sz="2400" dirty="0">
                <a:latin typeface="Carlito"/>
                <a:cs typeface="Carlito"/>
              </a:rPr>
              <a:t>cellular </a:t>
            </a:r>
            <a:r>
              <a:rPr sz="2400" spc="-15" dirty="0">
                <a:latin typeface="Carlito"/>
                <a:cs typeface="Carlito"/>
              </a:rPr>
              <a:t>standard </a:t>
            </a:r>
            <a:r>
              <a:rPr sz="2400" spc="-5" dirty="0">
                <a:latin typeface="Carlito"/>
                <a:cs typeface="Carlito"/>
              </a:rPr>
              <a:t>being</a:t>
            </a:r>
            <a:r>
              <a:rPr sz="2400" spc="-6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used</a:t>
            </a:r>
            <a:endParaRPr sz="2400"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151858991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133465"/>
            <a:chOff x="0" y="0"/>
            <a:chExt cx="9144000" cy="6133465"/>
          </a:xfrm>
        </p:grpSpPr>
        <p:sp>
          <p:nvSpPr>
            <p:cNvPr id="3" name="object 3"/>
            <p:cNvSpPr/>
            <p:nvPr/>
          </p:nvSpPr>
          <p:spPr>
            <a:xfrm>
              <a:off x="827582" y="1484782"/>
              <a:ext cx="7019925" cy="46482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308342" y="3501009"/>
              <a:ext cx="1419225" cy="55245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377062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30" dirty="0"/>
              <a:t>Networking</a:t>
            </a:r>
            <a:r>
              <a:rPr spc="-254" dirty="0"/>
              <a:t> </a:t>
            </a:r>
            <a:r>
              <a:rPr spc="-380" dirty="0"/>
              <a:t>Media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29</a:t>
            </a:fld>
            <a:endParaRPr spc="-165" dirty="0"/>
          </a:p>
        </p:txBody>
      </p:sp>
    </p:spTree>
    <p:extLst>
      <p:ext uri="{BB962C8B-B14F-4D97-AF65-F5344CB8AC3E}">
        <p14:creationId xmlns:p14="http://schemas.microsoft.com/office/powerpoint/2010/main" val="185379719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377062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30" dirty="0"/>
              <a:t>Networking</a:t>
            </a:r>
            <a:r>
              <a:rPr spc="-254" dirty="0"/>
              <a:t> </a:t>
            </a:r>
            <a:r>
              <a:rPr spc="-380" dirty="0"/>
              <a:t>Media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30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7971790" cy="445262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38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20" dirty="0">
                <a:latin typeface="Carlito"/>
                <a:cs typeface="Carlito"/>
              </a:rPr>
              <a:t>Microwave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10" dirty="0">
                <a:latin typeface="Carlito"/>
                <a:cs typeface="Carlito"/>
              </a:rPr>
              <a:t>Satellite</a:t>
            </a:r>
            <a:r>
              <a:rPr sz="2400" spc="-45" dirty="0">
                <a:latin typeface="Carlito"/>
                <a:cs typeface="Carlito"/>
              </a:rPr>
              <a:t> </a:t>
            </a:r>
            <a:r>
              <a:rPr sz="2400" spc="-20" dirty="0">
                <a:latin typeface="Carlito"/>
                <a:cs typeface="Carlito"/>
              </a:rPr>
              <a:t>Transmissions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29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5" dirty="0">
                <a:latin typeface="Carlito"/>
                <a:cs typeface="Carlito"/>
              </a:rPr>
              <a:t>Microwaves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ts val="2735"/>
              </a:lnSpc>
              <a:spcBef>
                <a:spcPts val="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Carlito"/>
                <a:cs typeface="Carlito"/>
              </a:rPr>
              <a:t>High-frequency </a:t>
            </a:r>
            <a:r>
              <a:rPr sz="2400" spc="-10" dirty="0">
                <a:latin typeface="Carlito"/>
                <a:cs typeface="Carlito"/>
              </a:rPr>
              <a:t>radio </a:t>
            </a:r>
            <a:r>
              <a:rPr sz="2400" spc="-5" dirty="0">
                <a:latin typeface="Carlito"/>
                <a:cs typeface="Carlito"/>
              </a:rPr>
              <a:t>signals </a:t>
            </a:r>
            <a:r>
              <a:rPr sz="2400" spc="-10" dirty="0">
                <a:latin typeface="Carlito"/>
                <a:cs typeface="Carlito"/>
              </a:rPr>
              <a:t>that </a:t>
            </a:r>
            <a:r>
              <a:rPr sz="2400" spc="-15" dirty="0">
                <a:latin typeface="Carlito"/>
                <a:cs typeface="Carlito"/>
              </a:rPr>
              <a:t>are </a:t>
            </a:r>
            <a:r>
              <a:rPr sz="2400" spc="-10" dirty="0">
                <a:latin typeface="Carlito"/>
                <a:cs typeface="Carlito"/>
              </a:rPr>
              <a:t>sent </a:t>
            </a:r>
            <a:r>
              <a:rPr sz="2400" dirty="0">
                <a:latin typeface="Carlito"/>
                <a:cs typeface="Carlito"/>
              </a:rPr>
              <a:t>and</a:t>
            </a:r>
            <a:r>
              <a:rPr sz="2400" spc="-10" dirty="0">
                <a:latin typeface="Carlito"/>
                <a:cs typeface="Carlito"/>
              </a:rPr>
              <a:t> received</a:t>
            </a:r>
            <a:endParaRPr sz="2400">
              <a:latin typeface="Carlito"/>
              <a:cs typeface="Carlito"/>
            </a:endParaRPr>
          </a:p>
          <a:p>
            <a:pPr marL="1155700">
              <a:lnSpc>
                <a:spcPts val="2735"/>
              </a:lnSpc>
            </a:pPr>
            <a:r>
              <a:rPr sz="2400" spc="-5" dirty="0">
                <a:latin typeface="Carlito"/>
                <a:cs typeface="Carlito"/>
              </a:rPr>
              <a:t>using </a:t>
            </a:r>
            <a:r>
              <a:rPr sz="2400" spc="-20" dirty="0">
                <a:latin typeface="Carlito"/>
                <a:cs typeface="Carlito"/>
              </a:rPr>
              <a:t>microwave </a:t>
            </a:r>
            <a:r>
              <a:rPr sz="2400" spc="-10" dirty="0">
                <a:latin typeface="Carlito"/>
                <a:cs typeface="Carlito"/>
              </a:rPr>
              <a:t>stations </a:t>
            </a:r>
            <a:r>
              <a:rPr sz="2400" spc="-5" dirty="0">
                <a:latin typeface="Carlito"/>
                <a:cs typeface="Carlito"/>
              </a:rPr>
              <a:t>or</a:t>
            </a:r>
            <a:r>
              <a:rPr sz="2400" spc="-4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satellites</a:t>
            </a:r>
            <a:endParaRPr sz="2400">
              <a:latin typeface="Carlito"/>
              <a:cs typeface="Carlito"/>
            </a:endParaRPr>
          </a:p>
          <a:p>
            <a:pPr marL="1155700" marR="435609" lvl="2" indent="-228600">
              <a:lnSpc>
                <a:spcPts val="2590"/>
              </a:lnSpc>
              <a:spcBef>
                <a:spcPts val="61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Carlito"/>
                <a:cs typeface="Carlito"/>
              </a:rPr>
              <a:t>Signals </a:t>
            </a:r>
            <a:r>
              <a:rPr sz="2400" spc="-15" dirty="0">
                <a:latin typeface="Carlito"/>
                <a:cs typeface="Carlito"/>
              </a:rPr>
              <a:t>are </a:t>
            </a:r>
            <a:r>
              <a:rPr sz="2400" dirty="0">
                <a:latin typeface="Carlito"/>
                <a:cs typeface="Carlito"/>
              </a:rPr>
              <a:t>line </a:t>
            </a:r>
            <a:r>
              <a:rPr sz="2400" spc="-5" dirty="0">
                <a:latin typeface="Carlito"/>
                <a:cs typeface="Carlito"/>
              </a:rPr>
              <a:t>of </a:t>
            </a:r>
            <a:r>
              <a:rPr sz="2400" spc="-10" dirty="0">
                <a:latin typeface="Carlito"/>
                <a:cs typeface="Carlito"/>
              </a:rPr>
              <a:t>sight, </a:t>
            </a:r>
            <a:r>
              <a:rPr sz="2400" spc="-5" dirty="0">
                <a:latin typeface="Carlito"/>
                <a:cs typeface="Carlito"/>
              </a:rPr>
              <a:t>so </a:t>
            </a:r>
            <a:r>
              <a:rPr sz="2400" spc="-20" dirty="0">
                <a:latin typeface="Carlito"/>
                <a:cs typeface="Carlito"/>
              </a:rPr>
              <a:t>microwave </a:t>
            </a:r>
            <a:r>
              <a:rPr sz="2400" spc="-10" dirty="0">
                <a:latin typeface="Carlito"/>
                <a:cs typeface="Carlito"/>
              </a:rPr>
              <a:t>stations </a:t>
            </a:r>
            <a:r>
              <a:rPr sz="2400" spc="-15" dirty="0">
                <a:latin typeface="Carlito"/>
                <a:cs typeface="Carlito"/>
              </a:rPr>
              <a:t>are  </a:t>
            </a:r>
            <a:r>
              <a:rPr sz="2400" spc="-5" dirty="0">
                <a:latin typeface="Carlito"/>
                <a:cs typeface="Carlito"/>
              </a:rPr>
              <a:t>usually built on </a:t>
            </a:r>
            <a:r>
              <a:rPr sz="2400" spc="-10" dirty="0">
                <a:latin typeface="Carlito"/>
                <a:cs typeface="Carlito"/>
              </a:rPr>
              <a:t>tall </a:t>
            </a:r>
            <a:r>
              <a:rPr sz="2400" spc="-5" dirty="0">
                <a:latin typeface="Carlito"/>
                <a:cs typeface="Carlito"/>
              </a:rPr>
              <a:t>buildings, </a:t>
            </a:r>
            <a:r>
              <a:rPr sz="2400" spc="-20" dirty="0">
                <a:latin typeface="Carlito"/>
                <a:cs typeface="Carlito"/>
              </a:rPr>
              <a:t>towers,</a:t>
            </a:r>
            <a:r>
              <a:rPr sz="2400" spc="-50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mountaintops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254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20" dirty="0">
                <a:latin typeface="Carlito"/>
                <a:cs typeface="Carlito"/>
              </a:rPr>
              <a:t>Microwave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stations</a:t>
            </a:r>
            <a:endParaRPr sz="2400">
              <a:latin typeface="Carlito"/>
              <a:cs typeface="Carlito"/>
            </a:endParaRPr>
          </a:p>
          <a:p>
            <a:pPr marL="1155700" marR="386080" lvl="2" indent="-228600">
              <a:lnSpc>
                <a:spcPts val="2590"/>
              </a:lnSpc>
              <a:spcBef>
                <a:spcPts val="61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10" dirty="0">
                <a:latin typeface="Carlito"/>
                <a:cs typeface="Carlito"/>
              </a:rPr>
              <a:t>Earth-based stations that transmit </a:t>
            </a:r>
            <a:r>
              <a:rPr sz="2400" spc="-5" dirty="0">
                <a:latin typeface="Carlito"/>
                <a:cs typeface="Carlito"/>
              </a:rPr>
              <a:t>signals directly </a:t>
            </a:r>
            <a:r>
              <a:rPr sz="2400" spc="-15" dirty="0">
                <a:latin typeface="Carlito"/>
                <a:cs typeface="Carlito"/>
              </a:rPr>
              <a:t>to  </a:t>
            </a:r>
            <a:r>
              <a:rPr sz="2400" dirty="0">
                <a:latin typeface="Carlito"/>
                <a:cs typeface="Carlito"/>
              </a:rPr>
              <a:t>each </a:t>
            </a:r>
            <a:r>
              <a:rPr sz="2400" spc="-5" dirty="0">
                <a:latin typeface="Carlito"/>
                <a:cs typeface="Carlito"/>
              </a:rPr>
              <a:t>other </a:t>
            </a:r>
            <a:r>
              <a:rPr sz="2400" dirty="0">
                <a:latin typeface="Carlito"/>
                <a:cs typeface="Carlito"/>
              </a:rPr>
              <a:t>within a </a:t>
            </a:r>
            <a:r>
              <a:rPr sz="2400" spc="-15" dirty="0">
                <a:latin typeface="Carlito"/>
                <a:cs typeface="Carlito"/>
              </a:rPr>
              <a:t>range </a:t>
            </a:r>
            <a:r>
              <a:rPr sz="2400" spc="-5" dirty="0">
                <a:latin typeface="Carlito"/>
                <a:cs typeface="Carlito"/>
              </a:rPr>
              <a:t>of </a:t>
            </a:r>
            <a:r>
              <a:rPr sz="2400" dirty="0">
                <a:latin typeface="Carlito"/>
                <a:cs typeface="Carlito"/>
              </a:rPr>
              <a:t>30</a:t>
            </a:r>
            <a:r>
              <a:rPr sz="2400" spc="-7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miles</a:t>
            </a:r>
            <a:endParaRPr sz="2400">
              <a:latin typeface="Carlito"/>
              <a:cs typeface="Carlito"/>
            </a:endParaRPr>
          </a:p>
          <a:p>
            <a:pPr marL="1155700" marR="473709" lvl="2" indent="-228600">
              <a:lnSpc>
                <a:spcPts val="259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10" dirty="0">
                <a:latin typeface="Carlito"/>
                <a:cs typeface="Carlito"/>
              </a:rPr>
              <a:t>Stations </a:t>
            </a:r>
            <a:r>
              <a:rPr sz="2400" spc="-5" dirty="0">
                <a:latin typeface="Carlito"/>
                <a:cs typeface="Carlito"/>
              </a:rPr>
              <a:t>designed </a:t>
            </a:r>
            <a:r>
              <a:rPr sz="2400" spc="-20" dirty="0">
                <a:latin typeface="Carlito"/>
                <a:cs typeface="Carlito"/>
              </a:rPr>
              <a:t>to </a:t>
            </a:r>
            <a:r>
              <a:rPr sz="2400" spc="-15" dirty="0">
                <a:latin typeface="Carlito"/>
                <a:cs typeface="Carlito"/>
              </a:rPr>
              <a:t>communicate </a:t>
            </a:r>
            <a:r>
              <a:rPr sz="2400" dirty="0">
                <a:latin typeface="Carlito"/>
                <a:cs typeface="Carlito"/>
              </a:rPr>
              <a:t>with </a:t>
            </a:r>
            <a:r>
              <a:rPr sz="2400" spc="-10" dirty="0">
                <a:latin typeface="Carlito"/>
                <a:cs typeface="Carlito"/>
              </a:rPr>
              <a:t>satellites  </a:t>
            </a:r>
            <a:r>
              <a:rPr sz="2400" spc="-5" dirty="0">
                <a:latin typeface="Carlito"/>
                <a:cs typeface="Carlito"/>
              </a:rPr>
              <a:t>(television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10" dirty="0">
                <a:latin typeface="Carlito"/>
                <a:cs typeface="Carlito"/>
              </a:rPr>
              <a:t>internet </a:t>
            </a:r>
            <a:r>
              <a:rPr sz="2400" dirty="0">
                <a:latin typeface="Carlito"/>
                <a:cs typeface="Carlito"/>
              </a:rPr>
              <a:t>services) </a:t>
            </a:r>
            <a:r>
              <a:rPr sz="2400" spc="-15" dirty="0">
                <a:latin typeface="Carlito"/>
                <a:cs typeface="Carlito"/>
              </a:rPr>
              <a:t>are </a:t>
            </a:r>
            <a:r>
              <a:rPr sz="2400" spc="-5" dirty="0">
                <a:latin typeface="Carlito"/>
                <a:cs typeface="Carlito"/>
              </a:rPr>
              <a:t>called </a:t>
            </a:r>
            <a:r>
              <a:rPr sz="2400" spc="-10" dirty="0">
                <a:latin typeface="Carlito"/>
                <a:cs typeface="Carlito"/>
              </a:rPr>
              <a:t>satellite  </a:t>
            </a:r>
            <a:r>
              <a:rPr sz="2400" spc="-5" dirty="0">
                <a:latin typeface="Carlito"/>
                <a:cs typeface="Carlito"/>
              </a:rPr>
              <a:t>dishes</a:t>
            </a:r>
            <a:endParaRPr sz="2400"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107682099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odule">
  <a:themeElements>
    <a:clrScheme name="Module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Module">
      <a:maj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Modul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7500"/>
                <a:satMod val="137000"/>
              </a:schemeClr>
            </a:gs>
            <a:gs pos="55000">
              <a:schemeClr val="phClr">
                <a:shade val="69000"/>
                <a:satMod val="137000"/>
              </a:schemeClr>
            </a:gs>
            <a:gs pos="100000">
              <a:schemeClr val="phClr">
                <a:shade val="98000"/>
                <a:satMod val="137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300000"/>
              </a:schemeClr>
            </a:gs>
            <a:gs pos="12000">
              <a:schemeClr val="phClr">
                <a:tint val="48000"/>
                <a:satMod val="300000"/>
              </a:schemeClr>
            </a:gs>
            <a:gs pos="20000">
              <a:schemeClr val="phClr">
                <a:tint val="49000"/>
                <a:satMod val="30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10000" t="-25000" r="10000" b="125000"/>
          </a:path>
        </a:gradFill>
        <a:blipFill>
          <a:blip xmlns:r="http://schemas.openxmlformats.org/officeDocument/2006/relationships" r:embed="rId1">
            <a:duotone>
              <a:schemeClr val="phClr">
                <a:shade val="75000"/>
                <a:satMod val="105000"/>
              </a:schemeClr>
              <a:schemeClr val="phClr">
                <a:tint val="95000"/>
                <a:satMod val="105000"/>
              </a:schemeClr>
            </a:duotone>
          </a:blip>
          <a:tile tx="0" ty="0" sx="38000" sy="38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Module</Template>
  <TotalTime>15578389</TotalTime>
  <Words>1406</Words>
  <Application>Microsoft Office PowerPoint</Application>
  <PresentationFormat>On-screen Show (4:3)</PresentationFormat>
  <Paragraphs>229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8" baseType="lpstr">
      <vt:lpstr>Arial</vt:lpstr>
      <vt:lpstr>Calibri</vt:lpstr>
      <vt:lpstr>Carlito</vt:lpstr>
      <vt:lpstr>Corbel</vt:lpstr>
      <vt:lpstr>Wingdings</vt:lpstr>
      <vt:lpstr>Wingdings 2</vt:lpstr>
      <vt:lpstr>Wingdings 3</vt:lpstr>
      <vt:lpstr>Module</vt:lpstr>
      <vt:lpstr>CSC 101 – Introduction to Computing</vt:lpstr>
      <vt:lpstr>What Is a Network?</vt:lpstr>
      <vt:lpstr>Networking Applications</vt:lpstr>
      <vt:lpstr>Networking Applications</vt:lpstr>
      <vt:lpstr>Networking Applications</vt:lpstr>
      <vt:lpstr>Networking Applications</vt:lpstr>
      <vt:lpstr>Networking Applications</vt:lpstr>
      <vt:lpstr>Networking Applications</vt:lpstr>
      <vt:lpstr>Network Characteristics</vt:lpstr>
      <vt:lpstr>Network Characteristics</vt:lpstr>
      <vt:lpstr>Network Characteristics</vt:lpstr>
      <vt:lpstr>Network Characteristics</vt:lpstr>
      <vt:lpstr>Network Characteristics</vt:lpstr>
      <vt:lpstr>Network Characteristics</vt:lpstr>
      <vt:lpstr>Network Characteristics</vt:lpstr>
      <vt:lpstr>Data Transmission Characteristics</vt:lpstr>
      <vt:lpstr>Data Transmission Characteristics</vt:lpstr>
      <vt:lpstr>Data Transmission Characteristics</vt:lpstr>
      <vt:lpstr>Data Transmission Characteristics</vt:lpstr>
      <vt:lpstr>Data Transmission Characteristics</vt:lpstr>
      <vt:lpstr>Data Transmission Characteristics</vt:lpstr>
      <vt:lpstr>Data Transmission Characteristics</vt:lpstr>
      <vt:lpstr>Networking Media</vt:lpstr>
      <vt:lpstr>Networking Media</vt:lpstr>
      <vt:lpstr>Networking Media</vt:lpstr>
      <vt:lpstr>Networking Media</vt:lpstr>
      <vt:lpstr>Networking Media</vt:lpstr>
      <vt:lpstr>Networking Media</vt:lpstr>
      <vt:lpstr>Networking Media</vt:lpstr>
      <vt:lpstr>Networking Media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Shehla</dc:creator>
  <cp:lastModifiedBy>Windows User</cp:lastModifiedBy>
  <cp:revision>174</cp:revision>
  <dcterms:created xsi:type="dcterms:W3CDTF">2015-07-29T13:27:11Z</dcterms:created>
  <dcterms:modified xsi:type="dcterms:W3CDTF">2025-10-19T11:23:34Z</dcterms:modified>
</cp:coreProperties>
</file>