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32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E5577-169D-4A54-A9D8-62F9D5126F1A}" type="slidenum">
              <a:rPr lang="en-US" smtClean="0">
                <a:latin typeface="Arial" pitchFamily="34" charset="0"/>
              </a:rPr>
              <a:pPr/>
              <a:t>28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45059" name="Text Box 1"/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/>
          <a:p>
            <a:endParaRPr lang="en-US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/>
          <a:lstStyle/>
          <a:p>
            <a:endParaRPr 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math.comsci.us/radix/hexadecimal.html" TargetMode="External"/><Relationship Id="rId2" Type="http://schemas.openxmlformats.org/officeDocument/2006/relationships/hyperlink" Target="http://www.lookuptables.com/ebcdic_scancodes.ph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Lecture </a:t>
            </a:r>
            <a:r>
              <a:rPr lang="en-US" smtClean="0"/>
              <a:t>04 (Ch 02)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Number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391400" cy="4724399"/>
          </a:xfrm>
        </p:spPr>
        <p:txBody>
          <a:bodyPr/>
          <a:lstStyle/>
          <a:p>
            <a:r>
              <a:rPr lang="en-US" dirty="0" smtClean="0"/>
              <a:t>Decimal to Binary and Binary to Decimal</a:t>
            </a:r>
          </a:p>
          <a:p>
            <a:r>
              <a:rPr lang="en-US" dirty="0" smtClean="0"/>
              <a:t>Decimal to Octal and Octal to Decimal</a:t>
            </a:r>
          </a:p>
          <a:p>
            <a:r>
              <a:rPr lang="en-US" dirty="0" smtClean="0"/>
              <a:t>Decimal to Hexadecimal and Hexadecimal to Decimal</a:t>
            </a:r>
          </a:p>
          <a:p>
            <a:r>
              <a:rPr lang="en-US" dirty="0" smtClean="0"/>
              <a:t>Binary to Hexadecimal</a:t>
            </a:r>
          </a:p>
          <a:p>
            <a:r>
              <a:rPr lang="en-US" dirty="0" smtClean="0"/>
              <a:t>Octal to Hexadecimal</a:t>
            </a:r>
          </a:p>
          <a:p>
            <a:r>
              <a:rPr lang="en-US" dirty="0" smtClean="0"/>
              <a:t>Hexadecimal to Binary and Octal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5333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00200"/>
            <a:ext cx="6477000" cy="499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761999"/>
          </a:xfrm>
        </p:spPr>
        <p:txBody>
          <a:bodyPr/>
          <a:lstStyle/>
          <a:p>
            <a:r>
              <a:rPr lang="en-US" sz="3200" dirty="0" smtClean="0"/>
              <a:t>(151)</a:t>
            </a:r>
            <a:r>
              <a:rPr lang="en-US" sz="3200" baseline="-25000" dirty="0" smtClean="0"/>
              <a:t>10</a:t>
            </a:r>
            <a:r>
              <a:rPr lang="en-US" sz="3200" dirty="0" smtClean="0"/>
              <a:t> = (10010111)</a:t>
            </a:r>
            <a:r>
              <a:rPr lang="en-US" sz="3200" baseline="-25000" dirty="0" smtClean="0"/>
              <a:t>2</a:t>
            </a:r>
            <a:endParaRPr lang="en-US" sz="3200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6781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Decimal to Binary (with Fractions)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761999"/>
          </a:xfrm>
        </p:spPr>
        <p:txBody>
          <a:bodyPr/>
          <a:lstStyle/>
          <a:p>
            <a:r>
              <a:rPr lang="en-US" dirty="0" smtClean="0"/>
              <a:t>(12.75)</a:t>
            </a:r>
            <a:r>
              <a:rPr lang="en-US" baseline="-25000" dirty="0" smtClean="0"/>
              <a:t>10</a:t>
            </a:r>
            <a:r>
              <a:rPr lang="en-US" dirty="0" smtClean="0"/>
              <a:t>  = (1100.11)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828800"/>
            <a:ext cx="6913179" cy="445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457199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371600"/>
            <a:ext cx="5867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4191000"/>
            <a:ext cx="5181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143000"/>
            <a:ext cx="7391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1"/>
            <a:ext cx="70104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6858000" cy="2133600"/>
          </a:xfrm>
        </p:spPr>
        <p:txBody>
          <a:bodyPr/>
          <a:lstStyle/>
          <a:p>
            <a:r>
              <a:rPr lang="en-US" dirty="0" smtClean="0"/>
              <a:t>1110001</a:t>
            </a:r>
            <a:r>
              <a:rPr lang="en-US" baseline="-25000" dirty="0" smtClean="0"/>
              <a:t>2</a:t>
            </a:r>
            <a:r>
              <a:rPr lang="en-US" dirty="0" smtClean="0"/>
              <a:t>  = 113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8</a:t>
            </a:fld>
            <a:endParaRPr lang="en-US" altLang="zh-TW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752600"/>
            <a:ext cx="734906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Binary to Decimal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9</a:t>
            </a:fld>
            <a:endParaRPr lang="en-US" altLang="zh-TW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143000"/>
            <a:ext cx="51816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lum bright="-35000" contrast="77000"/>
          </a:blip>
          <a:srcRect/>
          <a:stretch>
            <a:fillRect/>
          </a:stretch>
        </p:blipFill>
        <p:spPr bwMode="auto">
          <a:xfrm>
            <a:off x="381000" y="3886200"/>
            <a:ext cx="4876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819400"/>
            <a:ext cx="3886200" cy="914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11100111101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 = 1853</a:t>
            </a:r>
            <a:r>
              <a:rPr lang="en-US" sz="2400" baseline="-25000" dirty="0" smtClean="0"/>
              <a:t>10</a:t>
            </a:r>
          </a:p>
          <a:p>
            <a:r>
              <a:rPr lang="en-US" sz="2400" dirty="0" smtClean="0"/>
              <a:t>11011010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 = 218</a:t>
            </a:r>
            <a:r>
              <a:rPr lang="en-US" sz="2400" baseline="-25000" dirty="0" smtClean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100" dirty="0" smtClean="0"/>
              <a:t>Binary to Decimal (with Fractions)</a:t>
            </a:r>
            <a:endParaRPr lang="en-US" sz="4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990600"/>
          </a:xfrm>
        </p:spPr>
        <p:txBody>
          <a:bodyPr/>
          <a:lstStyle/>
          <a:p>
            <a:r>
              <a:rPr lang="en-US" dirty="0" smtClean="0"/>
              <a:t>(10.011010101)</a:t>
            </a:r>
            <a:r>
              <a:rPr lang="en-US" baseline="-25000" dirty="0" smtClean="0"/>
              <a:t>2  </a:t>
            </a:r>
            <a:r>
              <a:rPr lang="en-US" dirty="0" smtClean="0"/>
              <a:t>= (2.416015625)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451541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Decimal to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Octal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533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4321</a:t>
            </a:r>
            <a:r>
              <a:rPr lang="en-US" baseline="-25000" dirty="0" smtClean="0"/>
              <a:t>10</a:t>
            </a:r>
            <a:r>
              <a:rPr lang="en-US" dirty="0" smtClean="0"/>
              <a:t>  =  10341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69000" contrast="100000"/>
          </a:blip>
          <a:srcRect/>
          <a:stretch>
            <a:fillRect/>
          </a:stretch>
        </p:blipFill>
        <p:spPr bwMode="auto">
          <a:xfrm>
            <a:off x="685800" y="2133600"/>
            <a:ext cx="564865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to Octal (Fractions)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0.05</a:t>
            </a:r>
            <a:r>
              <a:rPr lang="en-US" baseline="-25000" dirty="0" smtClean="0"/>
              <a:t>10</a:t>
            </a:r>
            <a:r>
              <a:rPr lang="en-US" dirty="0" smtClean="0"/>
              <a:t> = 0.03146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6705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Octal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43200"/>
            <a:ext cx="7315200" cy="533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743</a:t>
            </a:r>
            <a:r>
              <a:rPr lang="en-US" baseline="-25000" dirty="0" smtClean="0"/>
              <a:t>8</a:t>
            </a:r>
            <a:r>
              <a:rPr lang="en-US" dirty="0" smtClean="0"/>
              <a:t> = 483</a:t>
            </a:r>
            <a:r>
              <a:rPr lang="en-US" baseline="-25000" dirty="0" smtClean="0"/>
              <a:t>10</a:t>
            </a:r>
            <a:r>
              <a:rPr lang="en-US" dirty="0" smtClean="0"/>
              <a:t>		26525</a:t>
            </a:r>
            <a:r>
              <a:rPr lang="en-US" baseline="-25000" dirty="0" smtClean="0"/>
              <a:t>8</a:t>
            </a:r>
            <a:r>
              <a:rPr lang="en-US" dirty="0" smtClean="0"/>
              <a:t> = 11605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14</a:t>
            </a:fld>
            <a:endParaRPr lang="en-US" altLang="zh-TW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505200"/>
            <a:ext cx="345077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3505200"/>
            <a:ext cx="3740708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143000"/>
            <a:ext cx="658998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Decimal to Octal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15</a:t>
            </a:fld>
            <a:endParaRPr lang="en-US" altLang="zh-TW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Exercise Octal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43200"/>
            <a:ext cx="7315200" cy="2667000"/>
          </a:xfrm>
        </p:spPr>
        <p:txBody>
          <a:bodyPr/>
          <a:lstStyle/>
          <a:p>
            <a:r>
              <a:rPr lang="en-US" dirty="0" smtClean="0"/>
              <a:t>26601</a:t>
            </a:r>
            <a:r>
              <a:rPr lang="en-US" baseline="-25000" dirty="0" smtClean="0"/>
              <a:t>8</a:t>
            </a:r>
            <a:r>
              <a:rPr lang="en-US" dirty="0" smtClean="0"/>
              <a:t> =</a:t>
            </a:r>
          </a:p>
          <a:p>
            <a:r>
              <a:rPr lang="en-US" dirty="0" smtClean="0"/>
              <a:t>1422</a:t>
            </a:r>
            <a:r>
              <a:rPr lang="en-US" baseline="-25000" dirty="0" smtClean="0"/>
              <a:t>8 =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6589986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3174" y="1219200"/>
            <a:ext cx="7274943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Decimal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18</a:t>
            </a:fld>
            <a:endParaRPr lang="en-US" altLang="zh-TW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7010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to 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609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1143000"/>
            <a:ext cx="4038600" cy="265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191000"/>
            <a:ext cx="678561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67200" y="3200400"/>
            <a:ext cx="362712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14800" y="1143000"/>
            <a:ext cx="362712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to Decimal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315200" cy="1905000"/>
          </a:xfrm>
        </p:spPr>
        <p:txBody>
          <a:bodyPr/>
          <a:lstStyle/>
          <a:p>
            <a:r>
              <a:rPr lang="en-US" dirty="0" smtClean="0"/>
              <a:t>(ABC.123)</a:t>
            </a:r>
            <a:r>
              <a:rPr lang="en-US" baseline="-25000" dirty="0" smtClean="0"/>
              <a:t>16 </a:t>
            </a:r>
            <a:r>
              <a:rPr lang="en-US" dirty="0" smtClean="0"/>
              <a:t>= (2748.0710449219)</a:t>
            </a:r>
            <a:r>
              <a:rPr lang="en-US" baseline="-25000" dirty="0" smtClean="0"/>
              <a:t>10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20</a:t>
            </a:fld>
            <a:endParaRPr lang="en-US" altLang="zh-TW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lum bright="-21000" contrast="43000"/>
          </a:blip>
          <a:srcRect/>
          <a:stretch>
            <a:fillRect/>
          </a:stretch>
        </p:blipFill>
        <p:spPr bwMode="auto">
          <a:xfrm>
            <a:off x="838200" y="1752600"/>
            <a:ext cx="4495800" cy="4703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Base 2 to Base 16</a:t>
            </a:r>
          </a:p>
        </p:txBody>
      </p:sp>
      <p:pic>
        <p:nvPicPr>
          <p:cNvPr id="71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09600" y="1219200"/>
            <a:ext cx="7049440" cy="5029200"/>
          </a:xfrm>
          <a:noFill/>
        </p:spPr>
      </p:pic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62600" y="6405562"/>
            <a:ext cx="2128838" cy="3762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4343400" cy="1219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22</a:t>
            </a:fld>
            <a:endParaRPr lang="en-US" altLang="zh-TW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5105400"/>
            <a:ext cx="3813354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43000"/>
            <a:ext cx="4419600" cy="4046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/>
          <a:lstStyle/>
          <a:p>
            <a:r>
              <a:rPr lang="en-US" dirty="0" smtClean="0"/>
              <a:t>Hexadecimal to Binary and Octal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7315200" cy="251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23</a:t>
            </a:fld>
            <a:endParaRPr lang="en-US" altLang="zh-TW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7049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to Hexadecimal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37338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24</a:t>
            </a:fld>
            <a:endParaRPr lang="en-US" altLang="zh-TW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7049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Exercise Binary to Hexadecimal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038600" cy="4835525"/>
          </a:xfrm>
        </p:spPr>
        <p:txBody>
          <a:bodyPr/>
          <a:lstStyle/>
          <a:p>
            <a:r>
              <a:rPr lang="en-US" dirty="0" smtClean="0"/>
              <a:t>(10110101010101)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295400"/>
            <a:ext cx="4114800" cy="4835525"/>
          </a:xfrm>
        </p:spPr>
        <p:txBody>
          <a:bodyPr/>
          <a:lstStyle/>
          <a:p>
            <a:r>
              <a:rPr lang="en-US" dirty="0" smtClean="0"/>
              <a:t>(1100010010)</a:t>
            </a:r>
            <a:r>
              <a:rPr lang="en-US" baseline="-25000" dirty="0" smtClean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25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Exercise Octal to Hexadecimal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038600" cy="4835525"/>
          </a:xfrm>
        </p:spPr>
        <p:txBody>
          <a:bodyPr/>
          <a:lstStyle/>
          <a:p>
            <a:r>
              <a:rPr lang="en-US" dirty="0" smtClean="0"/>
              <a:t>(344)</a:t>
            </a:r>
            <a:r>
              <a:rPr lang="en-US" baseline="-25000" dirty="0" smtClean="0"/>
              <a:t>8</a:t>
            </a:r>
            <a:endParaRPr lang="en-US" baseline="-25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5800" y="1295400"/>
            <a:ext cx="4114800" cy="4835525"/>
          </a:xfrm>
        </p:spPr>
        <p:txBody>
          <a:bodyPr/>
          <a:lstStyle/>
          <a:p>
            <a:r>
              <a:rPr lang="en-US" dirty="0" smtClean="0"/>
              <a:t>(1422)</a:t>
            </a:r>
            <a:r>
              <a:rPr lang="en-US" baseline="-25000" dirty="0" smtClean="0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26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 Program</a:t>
            </a:r>
          </a:p>
        </p:txBody>
      </p:sp>
      <p:pic>
        <p:nvPicPr>
          <p:cNvPr id="614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8800" y="2935224"/>
            <a:ext cx="4648200" cy="3044571"/>
          </a:xfrm>
          <a:noFill/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" y="60198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effectLst/>
              </a:rPr>
              <a:t>http://www.goldenkstar.com/number-system-school-software-maths.htm</a:t>
            </a:r>
            <a:endParaRPr lang="en-US" dirty="0">
              <a:effectLst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04800" y="1219200"/>
            <a:ext cx="7239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Genius Maker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sz="3000" kern="0" dirty="0" smtClean="0">
                <a:effectLst/>
                <a:latin typeface="+mn-lt"/>
              </a:rPr>
              <a:t>Free software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 number system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562600" y="6405562"/>
            <a:ext cx="2128838" cy="3762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A147E1F-7BB4-41CD-B102-3D0DDA38FA7B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1638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458200" cy="762000"/>
          </a:xfrm>
        </p:spPr>
        <p:txBody>
          <a:bodyPr/>
          <a:lstStyle/>
          <a:p>
            <a:pPr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 smtClean="0"/>
              <a:t>Summary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143000"/>
            <a:ext cx="7848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Number System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Decimal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Binary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Octal</a:t>
            </a:r>
          </a:p>
          <a:p>
            <a:pPr marL="800100" lvl="1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kumimoji="0" lang="en-US" altLang="zh-TW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新細明體" pitchFamily="18" charset="-120"/>
                <a:cs typeface="+mn-cs"/>
              </a:rPr>
              <a:t>Hexadecimal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</a:rPr>
              <a:t>Number conversion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altLang="zh-TW" sz="26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kumimoji="0" lang="en-US" altLang="zh-TW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239000" cy="911225"/>
          </a:xfrm>
        </p:spPr>
        <p:txBody>
          <a:bodyPr/>
          <a:lstStyle/>
          <a:p>
            <a:r>
              <a:rPr lang="en-US" dirty="0" smtClean="0"/>
              <a:t>Recommended Websites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7848600" cy="5029200"/>
          </a:xfrm>
        </p:spPr>
        <p:txBody>
          <a:bodyPr/>
          <a:lstStyle/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29</a:t>
            </a:fld>
            <a:endParaRPr lang="en-US" altLang="zh-TW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7315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2"/>
              </a:rPr>
              <a:t>http://www.cdrummond.qc.ca/cegep/informat/Professeurs/Alain/files/ascii.htm</a:t>
            </a: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2"/>
              </a:rPr>
              <a:t>http://www.lookuptables.com/ebcdic_scancodes.php</a:t>
            </a: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TW" sz="3000" kern="0" dirty="0" smtClean="0">
                <a:effectLst/>
                <a:latin typeface="+mn-lt"/>
                <a:ea typeface="新細明體" pitchFamily="18" charset="-120"/>
                <a:hlinkClick r:id="rId3"/>
              </a:rPr>
              <a:t>http://math.comsci.us/radix/hexadecimal.html</a:t>
            </a: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lang="en-US" altLang="zh-TW" sz="3000" kern="0" dirty="0" smtClean="0">
              <a:effectLst/>
              <a:latin typeface="+mn-lt"/>
              <a:ea typeface="新細明體" pitchFamily="18" charset="-120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/>
            </a:pPr>
            <a:endParaRPr kumimoji="0" lang="en-US" altLang="zh-TW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086600" cy="911225"/>
          </a:xfrm>
        </p:spPr>
        <p:txBody>
          <a:bodyPr/>
          <a:lstStyle/>
          <a:p>
            <a:r>
              <a:rPr lang="en-US" dirty="0" smtClean="0"/>
              <a:t>Number System - Exercise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4800" y="1219200"/>
          <a:ext cx="7315200" cy="475488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95400"/>
                <a:gridCol w="2590800"/>
                <a:gridCol w="1600200"/>
                <a:gridCol w="1828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Decimal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Octal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Hexadecimal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(1100010010)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(1422)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(312)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(555)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(1000101011)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(1053)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(22B)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(228)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(11100100)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(179)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(10110011)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(786)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(483)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(111100011)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(743)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(1E3)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(4012)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(111110101100)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(7643)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(FAC)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(4321)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(1000011100001)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(10341)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(10E1)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(1853)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(11100111101)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(3475)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(73D)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(9526)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0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(1001010011011)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(22466)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(2536)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(11605)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(10110101010101)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(26525)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(2D55)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(48879)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(111111011101111)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(137357)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(BEEF)</a:t>
                      </a:r>
                      <a:r>
                        <a:rPr lang="en-US" sz="2000" baseline="-25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30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15577671</TotalTime>
  <Words>352</Words>
  <Application>Microsoft Office PowerPoint</Application>
  <PresentationFormat>On-screen Show (4:3)</PresentationFormat>
  <Paragraphs>145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Module</vt:lpstr>
      <vt:lpstr>CSC 101 – Introduction to Computing</vt:lpstr>
      <vt:lpstr>Number Conversion</vt:lpstr>
      <vt:lpstr>Decimal To Binary</vt:lpstr>
      <vt:lpstr>Decimal To Binary</vt:lpstr>
      <vt:lpstr>Decimal to Binary (with Fractions)</vt:lpstr>
      <vt:lpstr>Binary to Decimal</vt:lpstr>
      <vt:lpstr>Binary to Decimal</vt:lpstr>
      <vt:lpstr>Binary to Decimal</vt:lpstr>
      <vt:lpstr>Binary to Decimal</vt:lpstr>
      <vt:lpstr>Binary to Decimal (with Fractions)</vt:lpstr>
      <vt:lpstr>Exercise Decimal to Binary</vt:lpstr>
      <vt:lpstr>Decimal to Octal</vt:lpstr>
      <vt:lpstr>Decimal to Octal (Fractions)</vt:lpstr>
      <vt:lpstr>Octal to Decimal</vt:lpstr>
      <vt:lpstr>Exercise Decimal to Octal</vt:lpstr>
      <vt:lpstr>Exercise Octal to Decimal</vt:lpstr>
      <vt:lpstr>Decimal to Hexadecimal</vt:lpstr>
      <vt:lpstr>Decimal to Hexadecimal</vt:lpstr>
      <vt:lpstr>Hexadecimal to Decimal</vt:lpstr>
      <vt:lpstr>Hexadecimal to Decimal </vt:lpstr>
      <vt:lpstr>Comparison Base 2 to Base 16</vt:lpstr>
      <vt:lpstr>Binary to Hexadecimal</vt:lpstr>
      <vt:lpstr>Hexadecimal to Binary and Octal</vt:lpstr>
      <vt:lpstr>Octal to Hexadecimal</vt:lpstr>
      <vt:lpstr> Exercise Binary to Hexadecimal</vt:lpstr>
      <vt:lpstr> Exercise Octal to Hexadecimal</vt:lpstr>
      <vt:lpstr>Number System Program</vt:lpstr>
      <vt:lpstr>Summary</vt:lpstr>
      <vt:lpstr>Recommended Websites</vt:lpstr>
      <vt:lpstr>Number System - Exercise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124</cp:revision>
  <dcterms:created xsi:type="dcterms:W3CDTF">2015-07-29T13:27:11Z</dcterms:created>
  <dcterms:modified xsi:type="dcterms:W3CDTF">2022-09-25T16:27:59Z</dcterms:modified>
</cp:coreProperties>
</file>