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60" r:id="rId1"/>
  </p:sldMasterIdLst>
  <p:notesMasterIdLst>
    <p:notesMasterId r:id="rId61"/>
  </p:notesMasterIdLst>
  <p:sldIdLst>
    <p:sldId id="256" r:id="rId2"/>
    <p:sldId id="323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6" r:id="rId45"/>
    <p:sldId id="307" r:id="rId46"/>
    <p:sldId id="308" r:id="rId47"/>
    <p:sldId id="309" r:id="rId48"/>
    <p:sldId id="310" r:id="rId49"/>
    <p:sldId id="311" r:id="rId50"/>
    <p:sldId id="314" r:id="rId51"/>
    <p:sldId id="315" r:id="rId52"/>
    <p:sldId id="316" r:id="rId53"/>
    <p:sldId id="317" r:id="rId54"/>
    <p:sldId id="318" r:id="rId55"/>
    <p:sldId id="319" r:id="rId56"/>
    <p:sldId id="320" r:id="rId57"/>
    <p:sldId id="321" r:id="rId58"/>
    <p:sldId id="322" r:id="rId59"/>
    <p:sldId id="324" r:id="rId6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5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D47964-3B62-4D5B-A939-DE505F670888}" type="datetimeFigureOut">
              <a:rPr lang="en-US" smtClean="0"/>
              <a:pPr/>
              <a:t>10/3/2022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C7BA28-8807-43C5-99C4-A55965820A4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dirty="0" smtClean="0"/>
              <a:t>Click to edit Master subtitle style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10/3/2022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10/3/2022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10/3/2022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10/3/2022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10/3/2022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10/3/2022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10/3/2022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10/3/2022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6D0A0426-1E93-4650-A475-F448298E202D}" type="datetimeFigureOut">
              <a:rPr lang="en-US" smtClean="0"/>
              <a:pPr/>
              <a:t>10/3/2022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10/3/2022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10/3/2022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  <a:p>
            <a:pPr lvl="1" eaLnBrk="1" latinLnBrk="0" hangingPunct="1"/>
            <a:r>
              <a:rPr kumimoji="0" lang="en-US" dirty="0" smtClean="0"/>
              <a:t>Second level</a:t>
            </a:r>
          </a:p>
          <a:p>
            <a:pPr lvl="2" eaLnBrk="1" latinLnBrk="0" hangingPunct="1"/>
            <a:r>
              <a:rPr kumimoji="0" lang="en-US" dirty="0" smtClean="0"/>
              <a:t>Third level</a:t>
            </a:r>
          </a:p>
          <a:p>
            <a:pPr lvl="3" eaLnBrk="1" latinLnBrk="0" hangingPunct="1"/>
            <a:r>
              <a:rPr kumimoji="0" lang="en-US" dirty="0" smtClean="0"/>
              <a:t>Fourth level</a:t>
            </a:r>
          </a:p>
          <a:p>
            <a:pPr lvl="4" eaLnBrk="1" latinLnBrk="0" hangingPunct="1"/>
            <a:r>
              <a:rPr kumimoji="0" lang="en-US" dirty="0" smtClean="0"/>
              <a:t>Fifth level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6D0A0426-1E93-4650-A475-F448298E202D}" type="datetimeFigureOut">
              <a:rPr lang="en-US" smtClean="0"/>
              <a:pPr/>
              <a:t>10/3/2022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CSC 101 – Introduction to </a:t>
            </a:r>
            <a:r>
              <a:rPr lang="en-US" b="1" dirty="0" smtClean="0"/>
              <a:t>ICT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Lecture </a:t>
            </a:r>
            <a:r>
              <a:rPr lang="en-US" dirty="0" smtClean="0"/>
              <a:t>06 (Morley Ch5,6)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 </a:t>
            </a:r>
            <a:r>
              <a:rPr lang="en-US" sz="3400" dirty="0" smtClean="0"/>
              <a:t>Computer </a:t>
            </a:r>
            <a:r>
              <a:rPr lang="en-US" sz="3400" dirty="0" smtClean="0"/>
              <a:t>Software</a:t>
            </a:r>
          </a:p>
          <a:p>
            <a:pPr lvl="1"/>
            <a:r>
              <a:rPr lang="en-US" sz="3400" dirty="0" smtClean="0"/>
              <a:t>System Software </a:t>
            </a:r>
          </a:p>
          <a:p>
            <a:pPr lvl="1"/>
            <a:r>
              <a:rPr lang="en-US" sz="3400" dirty="0" smtClean="0"/>
              <a:t>Application Software</a:t>
            </a:r>
          </a:p>
          <a:p>
            <a:r>
              <a:rPr lang="en-US" sz="3400" dirty="0" smtClean="0"/>
              <a:t>Operating </a:t>
            </a:r>
            <a:r>
              <a:rPr lang="en-US" sz="3400" dirty="0" smtClean="0"/>
              <a:t>System (OS</a:t>
            </a:r>
            <a:r>
              <a:rPr lang="en-US" sz="3400" dirty="0" smtClean="0"/>
              <a:t>)</a:t>
            </a:r>
          </a:p>
          <a:p>
            <a:pPr lvl="1"/>
            <a:r>
              <a:rPr lang="en-US" sz="3400" dirty="0" smtClean="0"/>
              <a:t>Basic </a:t>
            </a:r>
            <a:r>
              <a:rPr lang="en-US" sz="3400" dirty="0" smtClean="0"/>
              <a:t>Purpose of </a:t>
            </a:r>
            <a:r>
              <a:rPr lang="en-US" sz="3400" dirty="0" smtClean="0"/>
              <a:t>OS </a:t>
            </a:r>
          </a:p>
          <a:p>
            <a:pPr lvl="1"/>
            <a:r>
              <a:rPr lang="en-US" sz="3400" dirty="0" smtClean="0"/>
              <a:t>Types </a:t>
            </a:r>
            <a:r>
              <a:rPr lang="en-US" sz="3400" dirty="0" smtClean="0"/>
              <a:t>of </a:t>
            </a:r>
            <a:r>
              <a:rPr lang="en-US" sz="3400" dirty="0" smtClean="0"/>
              <a:t>OS </a:t>
            </a:r>
            <a:endParaRPr lang="en-US" sz="3400" dirty="0" smtClean="0"/>
          </a:p>
          <a:p>
            <a:r>
              <a:rPr lang="en-GB" sz="3400" dirty="0" smtClean="0"/>
              <a:t> </a:t>
            </a:r>
            <a:r>
              <a:rPr lang="en-US" sz="3400" dirty="0" smtClean="0"/>
              <a:t>Operating </a:t>
            </a:r>
            <a:r>
              <a:rPr lang="en-US" sz="3400" dirty="0" smtClean="0"/>
              <a:t>System </a:t>
            </a:r>
            <a:r>
              <a:rPr lang="en-US" sz="3400" dirty="0" smtClean="0"/>
              <a:t>Functions</a:t>
            </a:r>
          </a:p>
          <a:p>
            <a:pPr lvl="1"/>
            <a:r>
              <a:rPr lang="en-US" sz="3400" dirty="0" smtClean="0"/>
              <a:t>Providing </a:t>
            </a:r>
            <a:r>
              <a:rPr lang="en-US" sz="3400" dirty="0" smtClean="0"/>
              <a:t>User </a:t>
            </a:r>
            <a:r>
              <a:rPr lang="en-US" sz="3400" dirty="0" smtClean="0"/>
              <a:t>Interface</a:t>
            </a:r>
          </a:p>
          <a:p>
            <a:pPr lvl="1"/>
            <a:r>
              <a:rPr lang="en-US" sz="3400" dirty="0" smtClean="0"/>
              <a:t>Running Programs</a:t>
            </a:r>
          </a:p>
          <a:p>
            <a:pPr lvl="1"/>
            <a:r>
              <a:rPr lang="en-US" sz="3400" dirty="0" smtClean="0"/>
              <a:t>Managing Hardware </a:t>
            </a:r>
          </a:p>
          <a:p>
            <a:r>
              <a:rPr lang="en-US" sz="3400" dirty="0" smtClean="0"/>
              <a:t>Utility Programs </a:t>
            </a:r>
          </a:p>
          <a:p>
            <a:r>
              <a:rPr lang="en-US" sz="3400" dirty="0" smtClean="0"/>
              <a:t>PC </a:t>
            </a:r>
            <a:r>
              <a:rPr lang="en-US" sz="3400" dirty="0" smtClean="0"/>
              <a:t>Operating </a:t>
            </a:r>
            <a:r>
              <a:rPr lang="en-US" sz="3400" dirty="0" smtClean="0"/>
              <a:t>System</a:t>
            </a:r>
          </a:p>
          <a:p>
            <a:r>
              <a:rPr lang="en-US" sz="3400" dirty="0" smtClean="0"/>
              <a:t>Network </a:t>
            </a:r>
            <a:r>
              <a:rPr lang="en-US" sz="3400" dirty="0" smtClean="0"/>
              <a:t>Operating </a:t>
            </a:r>
            <a:r>
              <a:rPr lang="en-US" sz="3400" dirty="0" smtClean="0"/>
              <a:t>System</a:t>
            </a:r>
          </a:p>
          <a:p>
            <a:r>
              <a:rPr lang="en-US" sz="3400" dirty="0" smtClean="0"/>
              <a:t>Embedded </a:t>
            </a:r>
            <a:r>
              <a:rPr lang="en-US" sz="3400" dirty="0" smtClean="0"/>
              <a:t>Operating </a:t>
            </a:r>
            <a:r>
              <a:rPr lang="en-US" sz="3400" dirty="0" smtClean="0"/>
              <a:t>System</a:t>
            </a:r>
            <a:endParaRPr lang="en-GB" sz="3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110" marR="5080">
              <a:lnSpc>
                <a:spcPct val="100000"/>
              </a:lnSpc>
              <a:spcBef>
                <a:spcPts val="100"/>
              </a:spcBef>
            </a:pPr>
            <a:r>
              <a:rPr spc="-480" dirty="0"/>
              <a:t>System </a:t>
            </a:r>
            <a:r>
              <a:rPr spc="-434" dirty="0"/>
              <a:t>Software </a:t>
            </a:r>
            <a:r>
              <a:rPr spc="-465" dirty="0"/>
              <a:t>vs. </a:t>
            </a:r>
            <a:r>
              <a:rPr spc="-360" dirty="0"/>
              <a:t>Application  </a:t>
            </a:r>
            <a:r>
              <a:rPr spc="-434" dirty="0"/>
              <a:t>Software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752080" cy="48545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20" dirty="0">
                <a:latin typeface="Carlito"/>
                <a:cs typeface="Carlito"/>
              </a:rPr>
              <a:t>System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Software</a:t>
            </a:r>
            <a:endParaRPr sz="2400">
              <a:latin typeface="Carlito"/>
              <a:cs typeface="Carlito"/>
            </a:endParaRPr>
          </a:p>
          <a:p>
            <a:pPr marL="756285" marR="5334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operating </a:t>
            </a:r>
            <a:r>
              <a:rPr sz="2400" spc="-25" dirty="0">
                <a:latin typeface="Carlito"/>
                <a:cs typeface="Carlito"/>
              </a:rPr>
              <a:t>system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utility </a:t>
            </a:r>
            <a:r>
              <a:rPr sz="2400" spc="-15" dirty="0">
                <a:latin typeface="Carlito"/>
                <a:cs typeface="Carlito"/>
              </a:rPr>
              <a:t>programs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spc="-15" dirty="0">
                <a:latin typeface="Carlito"/>
                <a:cs typeface="Carlito"/>
              </a:rPr>
              <a:t>control </a:t>
            </a:r>
            <a:r>
              <a:rPr sz="2400" dirty="0">
                <a:latin typeface="Carlito"/>
                <a:cs typeface="Carlito"/>
              </a:rPr>
              <a:t>a  </a:t>
            </a:r>
            <a:r>
              <a:rPr sz="2400" spc="-10" dirty="0">
                <a:latin typeface="Carlito"/>
                <a:cs typeface="Carlito"/>
              </a:rPr>
              <a:t>computer </a:t>
            </a:r>
            <a:r>
              <a:rPr sz="2400" spc="-25" dirty="0">
                <a:latin typeface="Carlito"/>
                <a:cs typeface="Carlito"/>
              </a:rPr>
              <a:t>system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allow </a:t>
            </a:r>
            <a:r>
              <a:rPr sz="2400" spc="-10" dirty="0">
                <a:latin typeface="Carlito"/>
                <a:cs typeface="Carlito"/>
              </a:rPr>
              <a:t>you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use </a:t>
            </a:r>
            <a:r>
              <a:rPr sz="2400" spc="-10" dirty="0">
                <a:latin typeface="Carlito"/>
                <a:cs typeface="Carlito"/>
              </a:rPr>
              <a:t>your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computer</a:t>
            </a:r>
            <a:endParaRPr sz="2400">
              <a:latin typeface="Carlito"/>
              <a:cs typeface="Carlito"/>
            </a:endParaRPr>
          </a:p>
          <a:p>
            <a:pPr marL="1155700" marR="341630" lvl="2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Enables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boot </a:t>
            </a:r>
            <a:r>
              <a:rPr sz="2400" spc="-10" dirty="0">
                <a:latin typeface="Carlito"/>
                <a:cs typeface="Carlito"/>
              </a:rPr>
              <a:t>process, </a:t>
            </a:r>
            <a:r>
              <a:rPr sz="2400" spc="-5" dirty="0">
                <a:latin typeface="Carlito"/>
                <a:cs typeface="Carlito"/>
              </a:rPr>
              <a:t>launches applications,  </a:t>
            </a:r>
            <a:r>
              <a:rPr sz="2400" spc="-20" dirty="0">
                <a:latin typeface="Carlito"/>
                <a:cs typeface="Carlito"/>
              </a:rPr>
              <a:t>transfers </a:t>
            </a:r>
            <a:r>
              <a:rPr sz="2400" spc="-5" dirty="0">
                <a:latin typeface="Carlito"/>
                <a:cs typeface="Carlito"/>
              </a:rPr>
              <a:t>files, </a:t>
            </a:r>
            <a:r>
              <a:rPr sz="2400" spc="-15" dirty="0">
                <a:latin typeface="Carlito"/>
                <a:cs typeface="Carlito"/>
              </a:rPr>
              <a:t>controls hardware </a:t>
            </a:r>
            <a:r>
              <a:rPr sz="2400" spc="-10" dirty="0">
                <a:latin typeface="Carlito"/>
                <a:cs typeface="Carlito"/>
              </a:rPr>
              <a:t>configuration,  </a:t>
            </a:r>
            <a:r>
              <a:rPr sz="2400" spc="-5" dirty="0">
                <a:latin typeface="Carlito"/>
                <a:cs typeface="Carlito"/>
              </a:rPr>
              <a:t>manages files </a:t>
            </a:r>
            <a:r>
              <a:rPr sz="2400" spc="-10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hard </a:t>
            </a:r>
            <a:r>
              <a:rPr sz="2400" spc="-10" dirty="0">
                <a:latin typeface="Carlito"/>
                <a:cs typeface="Carlito"/>
              </a:rPr>
              <a:t>drive,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protects </a:t>
            </a:r>
            <a:r>
              <a:rPr sz="2400" spc="-15" dirty="0">
                <a:latin typeface="Carlito"/>
                <a:cs typeface="Carlito"/>
              </a:rPr>
              <a:t>from  </a:t>
            </a:r>
            <a:r>
              <a:rPr sz="2400" spc="-10" dirty="0">
                <a:latin typeface="Carlito"/>
                <a:cs typeface="Carlito"/>
              </a:rPr>
              <a:t>unauthorized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use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Application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Software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Programs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spc="-5" dirty="0">
                <a:latin typeface="Carlito"/>
                <a:cs typeface="Carlito"/>
              </a:rPr>
              <a:t>allow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user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perform </a:t>
            </a:r>
            <a:r>
              <a:rPr sz="2400" spc="-5" dirty="0">
                <a:latin typeface="Carlito"/>
                <a:cs typeface="Carlito"/>
              </a:rPr>
              <a:t>specific </a:t>
            </a:r>
            <a:r>
              <a:rPr sz="2400" spc="-10" dirty="0">
                <a:latin typeface="Carlito"/>
                <a:cs typeface="Carlito"/>
              </a:rPr>
              <a:t>tasks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a  </a:t>
            </a:r>
            <a:r>
              <a:rPr sz="2400" spc="-10" dirty="0">
                <a:latin typeface="Carlito"/>
                <a:cs typeface="Carlito"/>
              </a:rPr>
              <a:t>computer</a:t>
            </a:r>
            <a:endParaRPr sz="2400">
              <a:latin typeface="Carlito"/>
              <a:cs typeface="Carlito"/>
            </a:endParaRPr>
          </a:p>
          <a:p>
            <a:pPr marL="1155700" marR="9271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  <a:tab pos="4384040" algn="l"/>
              </a:tabLst>
            </a:pPr>
            <a:r>
              <a:rPr sz="2400" spc="-40" dirty="0">
                <a:latin typeface="Carlito"/>
                <a:cs typeface="Carlito"/>
              </a:rPr>
              <a:t>Word</a:t>
            </a:r>
            <a:r>
              <a:rPr sz="2400" spc="-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processing,</a:t>
            </a:r>
            <a:r>
              <a:rPr sz="2400" spc="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playing	games, </a:t>
            </a:r>
            <a:r>
              <a:rPr sz="2400" spc="-15" dirty="0">
                <a:latin typeface="Carlito"/>
                <a:cs typeface="Carlito"/>
              </a:rPr>
              <a:t>browsing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Web,  </a:t>
            </a:r>
            <a:r>
              <a:rPr sz="2400" spc="-10" dirty="0">
                <a:latin typeface="Carlito"/>
                <a:cs typeface="Carlito"/>
              </a:rPr>
              <a:t>listening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music,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etc.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4983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35" dirty="0"/>
              <a:t>The </a:t>
            </a:r>
            <a:r>
              <a:rPr sz="3600" spc="-375" dirty="0"/>
              <a:t>Operating</a:t>
            </a:r>
            <a:r>
              <a:rPr sz="3600" spc="-600" dirty="0"/>
              <a:t> </a:t>
            </a:r>
            <a:r>
              <a:rPr sz="3600" spc="-545" dirty="0"/>
              <a:t>System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823200" cy="42697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Operating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System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collection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5" dirty="0">
                <a:latin typeface="Carlito"/>
                <a:cs typeface="Carlito"/>
              </a:rPr>
              <a:t>programs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spc="-5" dirty="0">
                <a:latin typeface="Carlito"/>
                <a:cs typeface="Carlito"/>
              </a:rPr>
              <a:t>manage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coordinate </a:t>
            </a:r>
            <a:r>
              <a:rPr sz="2400" dirty="0">
                <a:latin typeface="Carlito"/>
                <a:cs typeface="Carlito"/>
              </a:rPr>
              <a:t>the  activities </a:t>
            </a:r>
            <a:r>
              <a:rPr sz="2400" spc="-5" dirty="0">
                <a:latin typeface="Carlito"/>
                <a:cs typeface="Carlito"/>
              </a:rPr>
              <a:t>taking place </a:t>
            </a:r>
            <a:r>
              <a:rPr sz="2400" dirty="0">
                <a:latin typeface="Carlito"/>
                <a:cs typeface="Carlito"/>
              </a:rPr>
              <a:t>within a</a:t>
            </a:r>
            <a:r>
              <a:rPr sz="2400" spc="-10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computer</a:t>
            </a:r>
            <a:endParaRPr sz="2400">
              <a:latin typeface="Carlito"/>
              <a:cs typeface="Carlito"/>
            </a:endParaRPr>
          </a:p>
          <a:p>
            <a:pPr marL="756285" marR="5317490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Acts as an  </a:t>
            </a:r>
            <a:r>
              <a:rPr sz="2400" spc="-5" dirty="0">
                <a:latin typeface="Carlito"/>
                <a:cs typeface="Carlito"/>
              </a:rPr>
              <a:t>intermediary  </a:t>
            </a:r>
            <a:r>
              <a:rPr sz="2400" spc="-10" dirty="0">
                <a:latin typeface="Carlito"/>
                <a:cs typeface="Carlito"/>
              </a:rPr>
              <a:t>between </a:t>
            </a:r>
            <a:r>
              <a:rPr sz="2400" dirty="0">
                <a:latin typeface="Carlito"/>
                <a:cs typeface="Carlito"/>
              </a:rPr>
              <a:t>the  </a:t>
            </a:r>
            <a:r>
              <a:rPr sz="2400" spc="-5" dirty="0">
                <a:latin typeface="Carlito"/>
                <a:cs typeface="Carlito"/>
              </a:rPr>
              <a:t>user </a:t>
            </a:r>
            <a:r>
              <a:rPr sz="2400" dirty="0">
                <a:latin typeface="Carlito"/>
                <a:cs typeface="Carlito"/>
              </a:rPr>
              <a:t>and the  </a:t>
            </a:r>
            <a:r>
              <a:rPr sz="2400" spc="-10" dirty="0">
                <a:latin typeface="Carlito"/>
                <a:cs typeface="Carlito"/>
              </a:rPr>
              <a:t>computer</a:t>
            </a:r>
            <a:r>
              <a:rPr sz="2400" spc="-10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and  </a:t>
            </a:r>
            <a:r>
              <a:rPr sz="2400" spc="-5" dirty="0">
                <a:latin typeface="Carlito"/>
                <a:cs typeface="Carlito"/>
              </a:rPr>
              <a:t>between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the</a:t>
            </a:r>
            <a:endParaRPr sz="2400">
              <a:latin typeface="Carlito"/>
              <a:cs typeface="Carlito"/>
            </a:endParaRPr>
          </a:p>
          <a:p>
            <a:pPr marL="756285" marR="4415155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Carlito"/>
                <a:cs typeface="Carlito"/>
              </a:rPr>
              <a:t>application </a:t>
            </a:r>
            <a:r>
              <a:rPr sz="2400" spc="-15" dirty="0">
                <a:latin typeface="Carlito"/>
                <a:cs typeface="Carlito"/>
              </a:rPr>
              <a:t>programs 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25" dirty="0">
                <a:latin typeface="Carlito"/>
                <a:cs typeface="Carlito"/>
              </a:rPr>
              <a:t>system</a:t>
            </a:r>
            <a:r>
              <a:rPr sz="2400" spc="-9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hardware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48417" y="6073549"/>
            <a:ext cx="1066184" cy="5330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55972" y="2780917"/>
            <a:ext cx="4514487" cy="32112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</a:t>
            </a:fld>
            <a:endParaRPr spc="-16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0940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15" dirty="0"/>
              <a:t>Functions </a:t>
            </a:r>
            <a:r>
              <a:rPr spc="-250" dirty="0"/>
              <a:t>of </a:t>
            </a:r>
            <a:r>
              <a:rPr spc="-415" dirty="0"/>
              <a:t>an </a:t>
            </a:r>
            <a:r>
              <a:rPr spc="-330" dirty="0"/>
              <a:t>Operating</a:t>
            </a:r>
            <a:r>
              <a:rPr spc="250" dirty="0"/>
              <a:t> </a:t>
            </a:r>
            <a:r>
              <a:rPr spc="-480" dirty="0"/>
              <a:t>System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306309" cy="42697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Interfacing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10" dirty="0">
                <a:latin typeface="Carlito"/>
                <a:cs typeface="Carlito"/>
              </a:rPr>
              <a:t>Users </a:t>
            </a:r>
            <a:r>
              <a:rPr sz="2400" spc="-5" dirty="0">
                <a:latin typeface="Carlito"/>
                <a:cs typeface="Carlito"/>
              </a:rPr>
              <a:t>(typically </a:t>
            </a:r>
            <a:r>
              <a:rPr sz="2400" dirty="0">
                <a:latin typeface="Carlito"/>
                <a:cs typeface="Carlito"/>
              </a:rPr>
              <a:t>via a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GUI)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Booting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Computer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Loads essential part of </a:t>
            </a:r>
            <a:r>
              <a:rPr sz="2400" spc="-10" dirty="0">
                <a:latin typeface="Carlito"/>
                <a:cs typeface="Carlito"/>
              </a:rPr>
              <a:t>operating </a:t>
            </a:r>
            <a:r>
              <a:rPr sz="2400" spc="-25" dirty="0">
                <a:latin typeface="Carlito"/>
                <a:cs typeface="Carlito"/>
              </a:rPr>
              <a:t>system </a:t>
            </a:r>
            <a:r>
              <a:rPr sz="2400" spc="-10" dirty="0">
                <a:latin typeface="Carlito"/>
                <a:cs typeface="Carlito"/>
              </a:rPr>
              <a:t>(kernel)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into</a:t>
            </a:r>
            <a:endParaRPr sz="2400">
              <a:latin typeface="Carlito"/>
              <a:cs typeface="Carlito"/>
            </a:endParaRPr>
          </a:p>
          <a:p>
            <a:pPr marL="756285">
              <a:lnSpc>
                <a:spcPct val="100000"/>
              </a:lnSpc>
            </a:pPr>
            <a:r>
              <a:rPr sz="2400" dirty="0">
                <a:latin typeface="Carlito"/>
                <a:cs typeface="Carlito"/>
              </a:rPr>
              <a:t>memory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Reads </a:t>
            </a:r>
            <a:r>
              <a:rPr sz="2400" spc="-5" dirty="0">
                <a:latin typeface="Carlito"/>
                <a:cs typeface="Carlito"/>
              </a:rPr>
              <a:t>opening </a:t>
            </a:r>
            <a:r>
              <a:rPr sz="2400" spc="-15" dirty="0">
                <a:latin typeface="Carlito"/>
                <a:cs typeface="Carlito"/>
              </a:rPr>
              <a:t>batch </a:t>
            </a:r>
            <a:r>
              <a:rPr sz="2400" spc="-5" dirty="0">
                <a:latin typeface="Carlito"/>
                <a:cs typeface="Carlito"/>
              </a:rPr>
              <a:t>of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instructions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Determines </a:t>
            </a:r>
            <a:r>
              <a:rPr sz="2400" spc="-15" dirty="0">
                <a:latin typeface="Carlito"/>
                <a:cs typeface="Carlito"/>
              </a:rPr>
              <a:t>hardware </a:t>
            </a:r>
            <a:r>
              <a:rPr sz="2400" spc="-10" dirty="0">
                <a:latin typeface="Carlito"/>
                <a:cs typeface="Carlito"/>
              </a:rPr>
              <a:t>connected </a:t>
            </a:r>
            <a:r>
              <a:rPr sz="2400" spc="-15" dirty="0">
                <a:latin typeface="Carlito"/>
                <a:cs typeface="Carlito"/>
              </a:rPr>
              <a:t>to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computer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Configuring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Devices</a:t>
            </a:r>
            <a:endParaRPr sz="2400">
              <a:latin typeface="Carlito"/>
              <a:cs typeface="Carlito"/>
            </a:endParaRPr>
          </a:p>
          <a:p>
            <a:pPr marL="756285" marR="3746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Device </a:t>
            </a:r>
            <a:r>
              <a:rPr sz="2400" spc="-15" dirty="0">
                <a:latin typeface="Carlito"/>
                <a:cs typeface="Carlito"/>
              </a:rPr>
              <a:t>drivers are </a:t>
            </a:r>
            <a:r>
              <a:rPr sz="2400" spc="-10" dirty="0">
                <a:latin typeface="Carlito"/>
                <a:cs typeface="Carlito"/>
              </a:rPr>
              <a:t>often </a:t>
            </a:r>
            <a:r>
              <a:rPr sz="2400" spc="-5" dirty="0">
                <a:latin typeface="Carlito"/>
                <a:cs typeface="Carlito"/>
              </a:rPr>
              <a:t>needed;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10" dirty="0">
                <a:latin typeface="Carlito"/>
                <a:cs typeface="Carlito"/>
              </a:rPr>
              <a:t>reinstalled </a:t>
            </a:r>
            <a:r>
              <a:rPr sz="2400" dirty="0">
                <a:latin typeface="Carlito"/>
                <a:cs typeface="Carlito"/>
              </a:rPr>
              <a:t>if  </a:t>
            </a:r>
            <a:r>
              <a:rPr sz="2400" spc="-5" dirty="0">
                <a:latin typeface="Carlito"/>
                <a:cs typeface="Carlito"/>
              </a:rPr>
              <a:t>needed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Plug and </a:t>
            </a:r>
            <a:r>
              <a:rPr sz="2400" spc="-15" dirty="0">
                <a:latin typeface="Carlito"/>
                <a:cs typeface="Carlito"/>
              </a:rPr>
              <a:t>Play </a:t>
            </a:r>
            <a:r>
              <a:rPr sz="2400" spc="-5" dirty="0">
                <a:latin typeface="Carlito"/>
                <a:cs typeface="Carlito"/>
              </a:rPr>
              <a:t>devices </a:t>
            </a:r>
            <a:r>
              <a:rPr sz="2400" spc="-15" dirty="0">
                <a:latin typeface="Carlito"/>
                <a:cs typeface="Carlito"/>
              </a:rPr>
              <a:t>are recognized</a:t>
            </a:r>
            <a:r>
              <a:rPr sz="2400" spc="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automatically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0940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15" dirty="0"/>
              <a:t>Functions </a:t>
            </a:r>
            <a:r>
              <a:rPr spc="-250" dirty="0"/>
              <a:t>of </a:t>
            </a:r>
            <a:r>
              <a:rPr spc="-415" dirty="0"/>
              <a:t>an </a:t>
            </a:r>
            <a:r>
              <a:rPr spc="-330" dirty="0"/>
              <a:t>Operating</a:t>
            </a:r>
            <a:r>
              <a:rPr spc="250" dirty="0"/>
              <a:t> </a:t>
            </a:r>
            <a:r>
              <a:rPr spc="-480" dirty="0"/>
              <a:t>System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6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881620" cy="430593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Managing </a:t>
            </a:r>
            <a:r>
              <a:rPr sz="2400" spc="-10" dirty="0">
                <a:latin typeface="Carlito"/>
                <a:cs typeface="Carlito"/>
              </a:rPr>
              <a:t>Network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Connections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Manages </a:t>
            </a:r>
            <a:r>
              <a:rPr sz="2400" spc="-10" dirty="0">
                <a:latin typeface="Carlito"/>
                <a:cs typeface="Carlito"/>
              </a:rPr>
              <a:t>wired connections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home or </a:t>
            </a:r>
            <a:r>
              <a:rPr sz="2400" spc="-10" dirty="0">
                <a:latin typeface="Carlito"/>
                <a:cs typeface="Carlito"/>
              </a:rPr>
              <a:t>office</a:t>
            </a:r>
            <a:r>
              <a:rPr sz="2400" spc="-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ts val="2735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Manages wireless </a:t>
            </a:r>
            <a:r>
              <a:rPr sz="2400" spc="-10" dirty="0">
                <a:latin typeface="Carlito"/>
                <a:cs typeface="Carlito"/>
              </a:rPr>
              <a:t>connections </a:t>
            </a:r>
            <a:r>
              <a:rPr sz="2400" spc="-15" dirty="0">
                <a:latin typeface="Carlito"/>
                <a:cs typeface="Carlito"/>
              </a:rPr>
              <a:t>at </a:t>
            </a:r>
            <a:r>
              <a:rPr sz="2400" spc="-5" dirty="0">
                <a:latin typeface="Carlito"/>
                <a:cs typeface="Carlito"/>
              </a:rPr>
              <a:t>home, school, </a:t>
            </a:r>
            <a:r>
              <a:rPr sz="2400" spc="-10" dirty="0">
                <a:latin typeface="Carlito"/>
                <a:cs typeface="Carlito"/>
              </a:rPr>
              <a:t>work,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or</a:t>
            </a:r>
            <a:endParaRPr sz="2400">
              <a:latin typeface="Carlito"/>
              <a:cs typeface="Carlito"/>
            </a:endParaRPr>
          </a:p>
          <a:p>
            <a:pPr marL="756285">
              <a:lnSpc>
                <a:spcPts val="2735"/>
              </a:lnSpc>
            </a:pP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go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Managing and </a:t>
            </a:r>
            <a:r>
              <a:rPr sz="2400" spc="-5" dirty="0">
                <a:latin typeface="Carlito"/>
                <a:cs typeface="Carlito"/>
              </a:rPr>
              <a:t>Monitoring </a:t>
            </a:r>
            <a:r>
              <a:rPr sz="2400" spc="-10" dirty="0">
                <a:latin typeface="Carlito"/>
                <a:cs typeface="Carlito"/>
              </a:rPr>
              <a:t>Resources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Jobs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Makes </a:t>
            </a:r>
            <a:r>
              <a:rPr sz="2400" spc="-10" dirty="0">
                <a:latin typeface="Carlito"/>
                <a:cs typeface="Carlito"/>
              </a:rPr>
              <a:t>resources available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devices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programs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ts val="2590"/>
              </a:lnSpc>
              <a:spcBef>
                <a:spcPts val="61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Monitors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problems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attempts to correct </a:t>
            </a:r>
            <a:r>
              <a:rPr sz="2400" spc="-5" dirty="0">
                <a:latin typeface="Carlito"/>
                <a:cs typeface="Carlito"/>
              </a:rPr>
              <a:t>those that  </a:t>
            </a:r>
            <a:r>
              <a:rPr sz="2400" dirty="0">
                <a:latin typeface="Carlito"/>
                <a:cs typeface="Carlito"/>
              </a:rPr>
              <a:t>arise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5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Schedules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jobs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Jobs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be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printed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Files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10" dirty="0">
                <a:latin typeface="Carlito"/>
                <a:cs typeface="Carlito"/>
              </a:rPr>
              <a:t>retrieved </a:t>
            </a:r>
            <a:r>
              <a:rPr sz="2400" spc="-15" dirty="0">
                <a:latin typeface="Carlito"/>
                <a:cs typeface="Carlito"/>
              </a:rPr>
              <a:t>from hard </a:t>
            </a:r>
            <a:r>
              <a:rPr sz="2400" spc="-10" dirty="0">
                <a:latin typeface="Carlito"/>
                <a:cs typeface="Carlito"/>
              </a:rPr>
              <a:t>drive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0940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15" dirty="0"/>
              <a:t>Functions </a:t>
            </a:r>
            <a:r>
              <a:rPr spc="-250" dirty="0"/>
              <a:t>of </a:t>
            </a:r>
            <a:r>
              <a:rPr spc="-415" dirty="0"/>
              <a:t>an </a:t>
            </a:r>
            <a:r>
              <a:rPr spc="-330" dirty="0"/>
              <a:t>Operating</a:t>
            </a:r>
            <a:r>
              <a:rPr spc="250" dirty="0"/>
              <a:t> </a:t>
            </a:r>
            <a:r>
              <a:rPr spc="-480" dirty="0"/>
              <a:t>System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7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449820" cy="346456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File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Management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Keeps track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20" dirty="0">
                <a:latin typeface="Carlito"/>
                <a:cs typeface="Carlito"/>
              </a:rPr>
              <a:t>stored </a:t>
            </a:r>
            <a:r>
              <a:rPr sz="2400" spc="-5" dirty="0">
                <a:latin typeface="Carlito"/>
                <a:cs typeface="Carlito"/>
              </a:rPr>
              <a:t>files </a:t>
            </a:r>
            <a:r>
              <a:rPr sz="2400" spc="-10" dirty="0">
                <a:latin typeface="Carlito"/>
                <a:cs typeface="Carlito"/>
              </a:rPr>
              <a:t>on computer </a:t>
            </a:r>
            <a:r>
              <a:rPr sz="2400" spc="-5" dirty="0">
                <a:latin typeface="Carlito"/>
                <a:cs typeface="Carlito"/>
              </a:rPr>
              <a:t>so they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spc="-5" dirty="0">
                <a:latin typeface="Carlito"/>
                <a:cs typeface="Carlito"/>
              </a:rPr>
              <a:t>be  </a:t>
            </a:r>
            <a:r>
              <a:rPr sz="2400" spc="-10" dirty="0">
                <a:latin typeface="Carlito"/>
                <a:cs typeface="Carlito"/>
              </a:rPr>
              <a:t>retrieved </a:t>
            </a:r>
            <a:r>
              <a:rPr sz="2400" dirty="0">
                <a:latin typeface="Carlito"/>
                <a:cs typeface="Carlito"/>
              </a:rPr>
              <a:t>when</a:t>
            </a:r>
            <a:r>
              <a:rPr sz="2400" spc="-5" dirty="0">
                <a:latin typeface="Carlito"/>
                <a:cs typeface="Carlito"/>
              </a:rPr>
              <a:t> needed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Files usually </a:t>
            </a:r>
            <a:r>
              <a:rPr sz="2400" spc="-10" dirty="0">
                <a:latin typeface="Carlito"/>
                <a:cs typeface="Carlito"/>
              </a:rPr>
              <a:t>viewed </a:t>
            </a:r>
            <a:r>
              <a:rPr sz="2400" dirty="0">
                <a:latin typeface="Carlito"/>
                <a:cs typeface="Carlito"/>
              </a:rPr>
              <a:t>in a </a:t>
            </a:r>
            <a:r>
              <a:rPr sz="2400" spc="-10" dirty="0">
                <a:latin typeface="Carlito"/>
                <a:cs typeface="Carlito"/>
              </a:rPr>
              <a:t>hierarchical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format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Security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20" dirty="0">
                <a:latin typeface="Carlito"/>
                <a:cs typeface="Carlito"/>
              </a:rPr>
              <a:t>Passwords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Biometric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characteristics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Firewalls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0940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15" dirty="0"/>
              <a:t>Functions </a:t>
            </a:r>
            <a:r>
              <a:rPr spc="-250" dirty="0"/>
              <a:t>of </a:t>
            </a:r>
            <a:r>
              <a:rPr spc="-415" dirty="0"/>
              <a:t>an </a:t>
            </a:r>
            <a:r>
              <a:rPr spc="-330" dirty="0"/>
              <a:t>Operating</a:t>
            </a:r>
            <a:r>
              <a:rPr spc="250" dirty="0"/>
              <a:t> </a:t>
            </a:r>
            <a:r>
              <a:rPr spc="-480" dirty="0"/>
              <a:t>System</a:t>
            </a:r>
          </a:p>
        </p:txBody>
      </p:sp>
      <p:sp>
        <p:nvSpPr>
          <p:cNvPr id="3" name="object 3"/>
          <p:cNvSpPr/>
          <p:nvPr/>
        </p:nvSpPr>
        <p:spPr>
          <a:xfrm>
            <a:off x="1547622" y="1620517"/>
            <a:ext cx="4540517" cy="43174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26352" y="2561463"/>
            <a:ext cx="1280160" cy="4648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8</a:t>
            </a:fld>
            <a:endParaRPr spc="-16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110" marR="508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Processing Techniques </a:t>
            </a:r>
            <a:r>
              <a:rPr spc="-270" dirty="0"/>
              <a:t>for </a:t>
            </a:r>
            <a:r>
              <a:rPr spc="-445" dirty="0"/>
              <a:t>Increased  </a:t>
            </a:r>
            <a:r>
              <a:rPr spc="-425" dirty="0"/>
              <a:t>Efficiency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9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845425" cy="295211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Multitasking</a:t>
            </a:r>
            <a:endParaRPr sz="2400">
              <a:latin typeface="Carlito"/>
              <a:cs typeface="Carlito"/>
            </a:endParaRPr>
          </a:p>
          <a:p>
            <a:pPr marL="756285" marR="2794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dirty="0">
                <a:latin typeface="Carlito"/>
                <a:cs typeface="Carlito"/>
              </a:rPr>
              <a:t>ability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an </a:t>
            </a:r>
            <a:r>
              <a:rPr sz="2400" spc="-15" dirty="0">
                <a:latin typeface="Carlito"/>
                <a:cs typeface="Carlito"/>
              </a:rPr>
              <a:t>operating </a:t>
            </a:r>
            <a:r>
              <a:rPr sz="2400" spc="-25" dirty="0">
                <a:latin typeface="Carlito"/>
                <a:cs typeface="Carlito"/>
              </a:rPr>
              <a:t>system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20" dirty="0">
                <a:latin typeface="Carlito"/>
                <a:cs typeface="Carlito"/>
              </a:rPr>
              <a:t>have </a:t>
            </a:r>
            <a:r>
              <a:rPr sz="2400" spc="-10" dirty="0">
                <a:latin typeface="Carlito"/>
                <a:cs typeface="Carlito"/>
              </a:rPr>
              <a:t>more </a:t>
            </a:r>
            <a:r>
              <a:rPr sz="2400" dirty="0">
                <a:latin typeface="Carlito"/>
                <a:cs typeface="Carlito"/>
              </a:rPr>
              <a:t>than </a:t>
            </a:r>
            <a:r>
              <a:rPr sz="2400" spc="-5" dirty="0">
                <a:latin typeface="Carlito"/>
                <a:cs typeface="Carlito"/>
              </a:rPr>
              <a:t>one  </a:t>
            </a:r>
            <a:r>
              <a:rPr sz="2400" spc="-15" dirty="0">
                <a:latin typeface="Carlito"/>
                <a:cs typeface="Carlito"/>
              </a:rPr>
              <a:t>program </a:t>
            </a:r>
            <a:r>
              <a:rPr sz="2400" spc="-5" dirty="0">
                <a:latin typeface="Carlito"/>
                <a:cs typeface="Carlito"/>
              </a:rPr>
              <a:t>(task) open </a:t>
            </a:r>
            <a:r>
              <a:rPr sz="2400" spc="-15" dirty="0">
                <a:latin typeface="Carlito"/>
                <a:cs typeface="Carlito"/>
              </a:rPr>
              <a:t>at </a:t>
            </a:r>
            <a:r>
              <a:rPr sz="2400" spc="-10" dirty="0">
                <a:latin typeface="Carlito"/>
                <a:cs typeface="Carlito"/>
              </a:rPr>
              <a:t>one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time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CPU </a:t>
            </a:r>
            <a:r>
              <a:rPr sz="2400" spc="-20" dirty="0">
                <a:latin typeface="Carlito"/>
                <a:cs typeface="Carlito"/>
              </a:rPr>
              <a:t>rotates </a:t>
            </a:r>
            <a:r>
              <a:rPr sz="2400" spc="-5" dirty="0">
                <a:latin typeface="Carlito"/>
                <a:cs typeface="Carlito"/>
              </a:rPr>
              <a:t>between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tasks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Switching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10" dirty="0">
                <a:latin typeface="Carlito"/>
                <a:cs typeface="Carlito"/>
              </a:rPr>
              <a:t>done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quickly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Appears </a:t>
            </a:r>
            <a:r>
              <a:rPr sz="2400" dirty="0">
                <a:latin typeface="Carlito"/>
                <a:cs typeface="Carlito"/>
              </a:rPr>
              <a:t>as </a:t>
            </a:r>
            <a:r>
              <a:rPr sz="2400" spc="-5" dirty="0">
                <a:latin typeface="Carlito"/>
                <a:cs typeface="Carlito"/>
              </a:rPr>
              <a:t>though </a:t>
            </a:r>
            <a:r>
              <a:rPr sz="2400" dirty="0">
                <a:latin typeface="Carlito"/>
                <a:cs typeface="Carlito"/>
              </a:rPr>
              <a:t>all </a:t>
            </a:r>
            <a:r>
              <a:rPr sz="2400" spc="-15" dirty="0">
                <a:latin typeface="Carlito"/>
                <a:cs typeface="Carlito"/>
              </a:rPr>
              <a:t>programs executing at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9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same</a:t>
            </a:r>
            <a:endParaRPr sz="2400">
              <a:latin typeface="Carlito"/>
              <a:cs typeface="Carlito"/>
            </a:endParaRPr>
          </a:p>
          <a:p>
            <a:pPr marL="1155700">
              <a:lnSpc>
                <a:spcPct val="100000"/>
              </a:lnSpc>
            </a:pPr>
            <a:r>
              <a:rPr sz="2400" dirty="0">
                <a:latin typeface="Carlito"/>
                <a:cs typeface="Carlito"/>
              </a:rPr>
              <a:t>time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110" marR="508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Processing Techniques </a:t>
            </a:r>
            <a:r>
              <a:rPr spc="-270" dirty="0"/>
              <a:t>for </a:t>
            </a:r>
            <a:r>
              <a:rPr spc="-445" dirty="0"/>
              <a:t>Increased  </a:t>
            </a:r>
            <a:r>
              <a:rPr spc="-425" dirty="0"/>
              <a:t>Efficiency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10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513320" cy="419608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Multithreading</a:t>
            </a:r>
            <a:endParaRPr sz="2400">
              <a:latin typeface="Carlito"/>
              <a:cs typeface="Carlito"/>
            </a:endParaRPr>
          </a:p>
          <a:p>
            <a:pPr marL="756285" marR="12763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dirty="0">
                <a:latin typeface="Carlito"/>
                <a:cs typeface="Carlito"/>
              </a:rPr>
              <a:t>ability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20" dirty="0">
                <a:latin typeface="Carlito"/>
                <a:cs typeface="Carlito"/>
              </a:rPr>
              <a:t>rotate </a:t>
            </a:r>
            <a:r>
              <a:rPr sz="2400" spc="-5" dirty="0">
                <a:latin typeface="Carlito"/>
                <a:cs typeface="Carlito"/>
              </a:rPr>
              <a:t>between </a:t>
            </a:r>
            <a:r>
              <a:rPr sz="2400" dirty="0">
                <a:latin typeface="Carlito"/>
                <a:cs typeface="Carlito"/>
              </a:rPr>
              <a:t>multiple </a:t>
            </a:r>
            <a:r>
              <a:rPr sz="2400" spc="-5" dirty="0">
                <a:latin typeface="Carlito"/>
                <a:cs typeface="Carlito"/>
              </a:rPr>
              <a:t>threads so</a:t>
            </a:r>
            <a:r>
              <a:rPr sz="2400" spc="-1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that  processing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10" dirty="0">
                <a:latin typeface="Carlito"/>
                <a:cs typeface="Carlito"/>
              </a:rPr>
              <a:t>completed </a:t>
            </a:r>
            <a:r>
              <a:rPr sz="2400" spc="-20" dirty="0">
                <a:latin typeface="Carlito"/>
                <a:cs typeface="Carlito"/>
              </a:rPr>
              <a:t>faster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more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efficiently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Thread</a:t>
            </a:r>
            <a:endParaRPr sz="2400">
              <a:latin typeface="Carlito"/>
              <a:cs typeface="Carlito"/>
            </a:endParaRPr>
          </a:p>
          <a:p>
            <a:pPr marL="1155700" marR="283845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Sequence of instructions </a:t>
            </a:r>
            <a:r>
              <a:rPr sz="2400" dirty="0">
                <a:latin typeface="Carlito"/>
                <a:cs typeface="Carlito"/>
              </a:rPr>
              <a:t>within a </a:t>
            </a:r>
            <a:r>
              <a:rPr sz="2400" spc="-15" dirty="0">
                <a:latin typeface="Carlito"/>
                <a:cs typeface="Carlito"/>
              </a:rPr>
              <a:t>program </a:t>
            </a:r>
            <a:r>
              <a:rPr sz="2400" spc="-10" dirty="0">
                <a:latin typeface="Carlito"/>
                <a:cs typeface="Carlito"/>
              </a:rPr>
              <a:t>that</a:t>
            </a:r>
            <a:r>
              <a:rPr sz="2400" spc="-10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is  </a:t>
            </a:r>
            <a:r>
              <a:rPr sz="2400" spc="-5" dirty="0">
                <a:latin typeface="Carlito"/>
                <a:cs typeface="Carlito"/>
              </a:rPr>
              <a:t>independent </a:t>
            </a:r>
            <a:r>
              <a:rPr sz="2400" spc="-10" dirty="0">
                <a:latin typeface="Carlito"/>
                <a:cs typeface="Carlito"/>
              </a:rPr>
              <a:t>of </a:t>
            </a:r>
            <a:r>
              <a:rPr sz="2400" spc="-5" dirty="0">
                <a:latin typeface="Carlito"/>
                <a:cs typeface="Carlito"/>
              </a:rPr>
              <a:t>other</a:t>
            </a:r>
            <a:r>
              <a:rPr sz="2400" spc="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thread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Multiprocessing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Parallel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Processing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Multiple </a:t>
            </a:r>
            <a:r>
              <a:rPr sz="2400" spc="-15" dirty="0">
                <a:latin typeface="Carlito"/>
                <a:cs typeface="Carlito"/>
              </a:rPr>
              <a:t>processors </a:t>
            </a:r>
            <a:r>
              <a:rPr sz="2400" spc="-5" dirty="0">
                <a:latin typeface="Carlito"/>
                <a:cs typeface="Carlito"/>
              </a:rPr>
              <a:t>(or </a:t>
            </a:r>
            <a:r>
              <a:rPr sz="2400" dirty="0">
                <a:latin typeface="Carlito"/>
                <a:cs typeface="Carlito"/>
              </a:rPr>
              <a:t>multiple </a:t>
            </a:r>
            <a:r>
              <a:rPr sz="2400" spc="-15" dirty="0">
                <a:latin typeface="Carlito"/>
                <a:cs typeface="Carlito"/>
              </a:rPr>
              <a:t>cores) are </a:t>
            </a: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5" dirty="0">
                <a:latin typeface="Carlito"/>
                <a:cs typeface="Carlito"/>
              </a:rPr>
              <a:t>one  </a:t>
            </a:r>
            <a:r>
              <a:rPr sz="2400" spc="-10" dirty="0">
                <a:latin typeface="Carlito"/>
                <a:cs typeface="Carlito"/>
              </a:rPr>
              <a:t>computer </a:t>
            </a:r>
            <a:r>
              <a:rPr sz="2400" spc="-25" dirty="0">
                <a:latin typeface="Carlito"/>
                <a:cs typeface="Carlito"/>
              </a:rPr>
              <a:t>system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perform work more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efficiently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45" dirty="0">
                <a:latin typeface="Carlito"/>
                <a:cs typeface="Carlito"/>
              </a:rPr>
              <a:t>Tasks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10" dirty="0">
                <a:latin typeface="Carlito"/>
                <a:cs typeface="Carlito"/>
              </a:rPr>
              <a:t>performed</a:t>
            </a:r>
            <a:r>
              <a:rPr sz="2400" spc="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sequentially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110" marR="508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Processing Techniques </a:t>
            </a:r>
            <a:r>
              <a:rPr spc="-270" dirty="0"/>
              <a:t>for </a:t>
            </a:r>
            <a:r>
              <a:rPr spc="-445" dirty="0"/>
              <a:t>Increased  </a:t>
            </a:r>
            <a:r>
              <a:rPr spc="-425" dirty="0"/>
              <a:t>Efficiency</a:t>
            </a:r>
          </a:p>
        </p:txBody>
      </p:sp>
      <p:sp>
        <p:nvSpPr>
          <p:cNvPr id="3" name="object 3"/>
          <p:cNvSpPr/>
          <p:nvPr/>
        </p:nvSpPr>
        <p:spPr>
          <a:xfrm>
            <a:off x="575346" y="1794632"/>
            <a:ext cx="8135380" cy="33088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40754" y="5333974"/>
            <a:ext cx="1276350" cy="7905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11</a:t>
            </a:fld>
            <a:endParaRPr spc="-16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110" marR="508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Processing Techniques </a:t>
            </a:r>
            <a:r>
              <a:rPr spc="-270" dirty="0"/>
              <a:t>for </a:t>
            </a:r>
            <a:r>
              <a:rPr spc="-445" dirty="0"/>
              <a:t>Increased  </a:t>
            </a:r>
            <a:r>
              <a:rPr spc="-425" dirty="0"/>
              <a:t>Efficiency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795895" cy="214757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Memory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Management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Optimizing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use of </a:t>
            </a:r>
            <a:r>
              <a:rPr sz="2400" dirty="0">
                <a:latin typeface="Carlito"/>
                <a:cs typeface="Carlito"/>
              </a:rPr>
              <a:t>main memory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(RAM)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Virtual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memory</a:t>
            </a:r>
            <a:endParaRPr sz="2400">
              <a:latin typeface="Carlito"/>
              <a:cs typeface="Carlito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Memory-management technique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spc="-5" dirty="0">
                <a:latin typeface="Carlito"/>
                <a:cs typeface="Carlito"/>
              </a:rPr>
              <a:t>uses </a:t>
            </a:r>
            <a:r>
              <a:rPr sz="2400" spc="-15" dirty="0">
                <a:latin typeface="Carlito"/>
                <a:cs typeface="Carlito"/>
              </a:rPr>
              <a:t>hard </a:t>
            </a:r>
            <a:r>
              <a:rPr sz="2400" spc="-10" dirty="0">
                <a:latin typeface="Carlito"/>
                <a:cs typeface="Carlito"/>
              </a:rPr>
              <a:t>drive  </a:t>
            </a:r>
            <a:r>
              <a:rPr sz="2400" spc="-5" dirty="0">
                <a:latin typeface="Carlito"/>
                <a:cs typeface="Carlito"/>
              </a:rPr>
              <a:t>space </a:t>
            </a:r>
            <a:r>
              <a:rPr sz="2400" dirty="0">
                <a:latin typeface="Carlito"/>
                <a:cs typeface="Carlito"/>
              </a:rPr>
              <a:t>as additional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RAM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87125" y="3715145"/>
            <a:ext cx="5411875" cy="24350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194804" y="4698872"/>
            <a:ext cx="1531620" cy="5257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12</a:t>
            </a:fld>
            <a:endParaRPr spc="-16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110" marR="5080">
              <a:lnSpc>
                <a:spcPct val="100000"/>
              </a:lnSpc>
              <a:spcBef>
                <a:spcPts val="100"/>
              </a:spcBef>
            </a:pPr>
            <a:r>
              <a:rPr spc="-430" dirty="0"/>
              <a:t>Processing Techniques </a:t>
            </a:r>
            <a:r>
              <a:rPr spc="-270" dirty="0"/>
              <a:t>for </a:t>
            </a:r>
            <a:r>
              <a:rPr spc="-445" dirty="0"/>
              <a:t>Increased  </a:t>
            </a:r>
            <a:r>
              <a:rPr spc="-425" dirty="0"/>
              <a:t>Efficiency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13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025130" cy="33178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Buffering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1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Spooling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Buffer</a:t>
            </a:r>
            <a:endParaRPr sz="2400">
              <a:latin typeface="Carlito"/>
              <a:cs typeface="Carlito"/>
            </a:endParaRPr>
          </a:p>
          <a:p>
            <a:pPr marL="1155700" marR="408305" lvl="2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Area </a:t>
            </a:r>
            <a:r>
              <a:rPr sz="2400" dirty="0">
                <a:latin typeface="Carlito"/>
                <a:cs typeface="Carlito"/>
              </a:rPr>
              <a:t>in RAM </a:t>
            </a:r>
            <a:r>
              <a:rPr sz="2400" spc="-5" dirty="0">
                <a:latin typeface="Carlito"/>
                <a:cs typeface="Carlito"/>
              </a:rPr>
              <a:t>or on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hard </a:t>
            </a:r>
            <a:r>
              <a:rPr sz="2400" spc="-10" dirty="0">
                <a:latin typeface="Carlito"/>
                <a:cs typeface="Carlito"/>
              </a:rPr>
              <a:t>drive designated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hold 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10" dirty="0">
                <a:latin typeface="Carlito"/>
                <a:cs typeface="Carlito"/>
              </a:rPr>
              <a:t>by </a:t>
            </a:r>
            <a:r>
              <a:rPr sz="2400" spc="-20" dirty="0">
                <a:latin typeface="Carlito"/>
                <a:cs typeface="Carlito"/>
              </a:rPr>
              <a:t>different </a:t>
            </a:r>
            <a:r>
              <a:rPr sz="2400" spc="-15" dirty="0">
                <a:latin typeface="Carlito"/>
                <a:cs typeface="Carlito"/>
              </a:rPr>
              <a:t>hardware </a:t>
            </a:r>
            <a:r>
              <a:rPr sz="2400" spc="-5" dirty="0">
                <a:latin typeface="Carlito"/>
                <a:cs typeface="Carlito"/>
              </a:rPr>
              <a:t>devices </a:t>
            </a:r>
            <a:r>
              <a:rPr sz="2400" spc="-10" dirty="0">
                <a:latin typeface="Carlito"/>
                <a:cs typeface="Carlito"/>
              </a:rPr>
              <a:t>or  </a:t>
            </a:r>
            <a:r>
              <a:rPr sz="2400" spc="-15" dirty="0">
                <a:latin typeface="Carlito"/>
                <a:cs typeface="Carlito"/>
              </a:rPr>
              <a:t>programs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Buffering </a:t>
            </a:r>
            <a:r>
              <a:rPr sz="2400" spc="-5" dirty="0">
                <a:latin typeface="Carlito"/>
                <a:cs typeface="Carlito"/>
              </a:rPr>
              <a:t>or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Spooling</a:t>
            </a:r>
            <a:endParaRPr sz="2400">
              <a:latin typeface="Carlito"/>
              <a:cs typeface="Carlito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Placing </a:t>
            </a:r>
            <a:r>
              <a:rPr sz="2400" spc="-5" dirty="0">
                <a:latin typeface="Carlito"/>
                <a:cs typeface="Carlito"/>
              </a:rPr>
              <a:t>items </a:t>
            </a:r>
            <a:r>
              <a:rPr sz="2400" dirty="0">
                <a:latin typeface="Carlito"/>
                <a:cs typeface="Carlito"/>
              </a:rPr>
              <a:t>in a </a:t>
            </a:r>
            <a:r>
              <a:rPr sz="2400" spc="-20" dirty="0">
                <a:latin typeface="Carlito"/>
                <a:cs typeface="Carlito"/>
              </a:rPr>
              <a:t>buffer </a:t>
            </a:r>
            <a:r>
              <a:rPr sz="2400" spc="-5" dirty="0">
                <a:latin typeface="Carlito"/>
                <a:cs typeface="Carlito"/>
              </a:rPr>
              <a:t>so they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10" dirty="0">
                <a:latin typeface="Carlito"/>
                <a:cs typeface="Carlito"/>
              </a:rPr>
              <a:t>retrieved by </a:t>
            </a:r>
            <a:r>
              <a:rPr sz="2400" dirty="0">
                <a:latin typeface="Carlito"/>
                <a:cs typeface="Carlito"/>
              </a:rPr>
              <a:t>the  </a:t>
            </a:r>
            <a:r>
              <a:rPr sz="2400" spc="-10" dirty="0">
                <a:latin typeface="Carlito"/>
                <a:cs typeface="Carlito"/>
              </a:rPr>
              <a:t>appropriate </a:t>
            </a:r>
            <a:r>
              <a:rPr sz="2400" spc="-5" dirty="0">
                <a:latin typeface="Carlito"/>
                <a:cs typeface="Carlito"/>
              </a:rPr>
              <a:t>device </a:t>
            </a:r>
            <a:r>
              <a:rPr sz="2400" dirty="0">
                <a:latin typeface="Carlito"/>
                <a:cs typeface="Carlito"/>
              </a:rPr>
              <a:t>when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needed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110" marR="5080">
              <a:lnSpc>
                <a:spcPct val="100000"/>
              </a:lnSpc>
              <a:spcBef>
                <a:spcPts val="100"/>
              </a:spcBef>
            </a:pPr>
            <a:r>
              <a:rPr spc="-390" dirty="0"/>
              <a:t>Differences </a:t>
            </a:r>
            <a:r>
              <a:rPr spc="-345" dirty="0"/>
              <a:t>Among </a:t>
            </a:r>
            <a:r>
              <a:rPr spc="-330" dirty="0"/>
              <a:t>Operating  </a:t>
            </a:r>
            <a:r>
              <a:rPr spc="-500" dirty="0"/>
              <a:t>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4921250" cy="25869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Command Line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Interface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Require users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input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commands  </a:t>
            </a:r>
            <a:r>
              <a:rPr sz="2400" spc="-5" dirty="0">
                <a:latin typeface="Carlito"/>
                <a:cs typeface="Carlito"/>
              </a:rPr>
              <a:t>using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keyboard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Graphical </a:t>
            </a:r>
            <a:r>
              <a:rPr sz="2400" spc="-5" dirty="0">
                <a:latin typeface="Carlito"/>
                <a:cs typeface="Carlito"/>
              </a:rPr>
              <a:t>User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Interface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Graphics </a:t>
            </a:r>
            <a:r>
              <a:rPr sz="2400" spc="-5" dirty="0">
                <a:latin typeface="Carlito"/>
                <a:cs typeface="Carlito"/>
              </a:rPr>
              <a:t>based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interface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10" dirty="0">
                <a:latin typeface="Carlito"/>
                <a:cs typeface="Carlito"/>
              </a:rPr>
              <a:t>by most operating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systems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15230" y="1487512"/>
            <a:ext cx="4204335" cy="4966335"/>
            <a:chOff x="4515230" y="1487512"/>
            <a:chExt cx="4204335" cy="4966335"/>
          </a:xfrm>
        </p:grpSpPr>
        <p:sp>
          <p:nvSpPr>
            <p:cNvPr id="5" name="object 5"/>
            <p:cNvSpPr/>
            <p:nvPr/>
          </p:nvSpPr>
          <p:spPr>
            <a:xfrm>
              <a:off x="6014847" y="1487512"/>
              <a:ext cx="2704210" cy="496582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15230" y="5130901"/>
              <a:ext cx="1303020" cy="73151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14</a:t>
            </a:fld>
            <a:endParaRPr spc="-16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110" marR="5080">
              <a:lnSpc>
                <a:spcPct val="100000"/>
              </a:lnSpc>
              <a:spcBef>
                <a:spcPts val="100"/>
              </a:spcBef>
            </a:pPr>
            <a:r>
              <a:rPr spc="-390" dirty="0"/>
              <a:t>Differences </a:t>
            </a:r>
            <a:r>
              <a:rPr spc="-345" dirty="0"/>
              <a:t>Among </a:t>
            </a:r>
            <a:r>
              <a:rPr spc="-330" dirty="0"/>
              <a:t>Operating  </a:t>
            </a:r>
            <a:r>
              <a:rPr spc="-500" dirty="0"/>
              <a:t>Systems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15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801609" cy="42697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Categories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5" dirty="0">
                <a:latin typeface="Carlito"/>
                <a:cs typeface="Carlito"/>
              </a:rPr>
              <a:t>Operating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Systems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Personal </a:t>
            </a:r>
            <a:r>
              <a:rPr sz="2400" spc="-10" dirty="0">
                <a:latin typeface="Carlito"/>
                <a:cs typeface="Carlito"/>
              </a:rPr>
              <a:t>(Desktop) Operating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Systems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10" dirty="0">
                <a:latin typeface="Carlito"/>
                <a:cs typeface="Carlito"/>
              </a:rPr>
              <a:t>installed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single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computer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Server </a:t>
            </a:r>
            <a:r>
              <a:rPr sz="2400" spc="-10" dirty="0">
                <a:latin typeface="Carlito"/>
                <a:cs typeface="Carlito"/>
              </a:rPr>
              <a:t>(Network) Operating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Systems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10" dirty="0">
                <a:latin typeface="Carlito"/>
                <a:cs typeface="Carlito"/>
              </a:rPr>
              <a:t>installed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network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server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Client </a:t>
            </a:r>
            <a:r>
              <a:rPr sz="2400" spc="-15" dirty="0">
                <a:latin typeface="Carlito"/>
                <a:cs typeface="Carlito"/>
              </a:rPr>
              <a:t>computers </a:t>
            </a:r>
            <a:r>
              <a:rPr sz="2400" spc="-10" dirty="0">
                <a:latin typeface="Carlito"/>
                <a:cs typeface="Carlito"/>
              </a:rPr>
              <a:t>still </a:t>
            </a:r>
            <a:r>
              <a:rPr sz="2400" spc="-5" dirty="0">
                <a:latin typeface="Carlito"/>
                <a:cs typeface="Carlito"/>
              </a:rPr>
              <a:t>use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personal operating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system</a:t>
            </a:r>
            <a:endParaRPr sz="2400">
              <a:latin typeface="Carlito"/>
              <a:cs typeface="Carlito"/>
            </a:endParaRPr>
          </a:p>
          <a:p>
            <a:pPr marL="1155700" marR="305435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Server </a:t>
            </a:r>
            <a:r>
              <a:rPr sz="2400" spc="-10" dirty="0">
                <a:latin typeface="Carlito"/>
                <a:cs typeface="Carlito"/>
              </a:rPr>
              <a:t>operating </a:t>
            </a:r>
            <a:r>
              <a:rPr sz="2400" spc="-25" dirty="0">
                <a:latin typeface="Carlito"/>
                <a:cs typeface="Carlito"/>
              </a:rPr>
              <a:t>system </a:t>
            </a:r>
            <a:r>
              <a:rPr sz="2400" spc="-15" dirty="0">
                <a:latin typeface="Carlito"/>
                <a:cs typeface="Carlito"/>
              </a:rPr>
              <a:t>controls </a:t>
            </a:r>
            <a:r>
              <a:rPr sz="2400" dirty="0">
                <a:latin typeface="Carlito"/>
                <a:cs typeface="Carlito"/>
              </a:rPr>
              <a:t>access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network  resources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Mobile </a:t>
            </a:r>
            <a:r>
              <a:rPr sz="2400" dirty="0">
                <a:latin typeface="Carlito"/>
                <a:cs typeface="Carlito"/>
              </a:rPr>
              <a:t>and embedded </a:t>
            </a:r>
            <a:r>
              <a:rPr sz="2400" spc="-10" dirty="0">
                <a:latin typeface="Carlito"/>
                <a:cs typeface="Carlito"/>
              </a:rPr>
              <a:t>operating </a:t>
            </a:r>
            <a:r>
              <a:rPr sz="2400" spc="-20" dirty="0">
                <a:latin typeface="Carlito"/>
                <a:cs typeface="Carlito"/>
              </a:rPr>
              <a:t>systems </a:t>
            </a:r>
            <a:r>
              <a:rPr sz="2400" spc="-15" dirty="0">
                <a:latin typeface="Carlito"/>
                <a:cs typeface="Carlito"/>
              </a:rPr>
              <a:t>are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also</a:t>
            </a:r>
            <a:endParaRPr sz="2400">
              <a:latin typeface="Carlito"/>
              <a:cs typeface="Carlito"/>
            </a:endParaRPr>
          </a:p>
          <a:p>
            <a:pPr marL="756285">
              <a:lnSpc>
                <a:spcPct val="100000"/>
              </a:lnSpc>
            </a:pPr>
            <a:r>
              <a:rPr sz="2400" spc="-10" dirty="0">
                <a:latin typeface="Carlito"/>
                <a:cs typeface="Carlito"/>
              </a:rPr>
              <a:t>common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110" marR="5080">
              <a:lnSpc>
                <a:spcPct val="100000"/>
              </a:lnSpc>
              <a:spcBef>
                <a:spcPts val="100"/>
              </a:spcBef>
            </a:pPr>
            <a:r>
              <a:rPr spc="-390" dirty="0"/>
              <a:t>Differences </a:t>
            </a:r>
            <a:r>
              <a:rPr spc="-345" dirty="0"/>
              <a:t>Among </a:t>
            </a:r>
            <a:r>
              <a:rPr spc="-330" dirty="0"/>
              <a:t>Operating  </a:t>
            </a:r>
            <a:r>
              <a:rPr spc="-500" dirty="0"/>
              <a:t>Systems</a:t>
            </a:r>
          </a:p>
        </p:txBody>
      </p:sp>
      <p:sp>
        <p:nvSpPr>
          <p:cNvPr id="3" name="object 3"/>
          <p:cNvSpPr/>
          <p:nvPr/>
        </p:nvSpPr>
        <p:spPr>
          <a:xfrm>
            <a:off x="947512" y="1740614"/>
            <a:ext cx="7507593" cy="42569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16</a:t>
            </a:fld>
            <a:endParaRPr spc="-16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110" marR="5080">
              <a:lnSpc>
                <a:spcPct val="100000"/>
              </a:lnSpc>
              <a:spcBef>
                <a:spcPts val="100"/>
              </a:spcBef>
            </a:pPr>
            <a:r>
              <a:rPr spc="-330" dirty="0"/>
              <a:t>Operating </a:t>
            </a:r>
            <a:r>
              <a:rPr spc="-500" dirty="0"/>
              <a:t>Systems </a:t>
            </a:r>
            <a:r>
              <a:rPr spc="-270" dirty="0"/>
              <a:t>for </a:t>
            </a:r>
            <a:r>
              <a:rPr spc="-409" dirty="0"/>
              <a:t>Personal  </a:t>
            </a:r>
            <a:r>
              <a:rPr spc="-395" dirty="0"/>
              <a:t>Computers </a:t>
            </a:r>
            <a:r>
              <a:rPr spc="-360" dirty="0"/>
              <a:t>and</a:t>
            </a:r>
            <a:r>
              <a:rPr spc="5" dirty="0"/>
              <a:t> </a:t>
            </a:r>
            <a:r>
              <a:rPr spc="-455" dirty="0"/>
              <a:t>Servers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17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786370" cy="353758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DOS (Disk </a:t>
            </a:r>
            <a:r>
              <a:rPr sz="2400" spc="-10" dirty="0">
                <a:latin typeface="Carlito"/>
                <a:cs typeface="Carlito"/>
              </a:rPr>
              <a:t>Operating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System)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DOS traditionally used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command-line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interface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Dominant </a:t>
            </a:r>
            <a:r>
              <a:rPr sz="2400" spc="-10" dirty="0">
                <a:latin typeface="Carlito"/>
                <a:cs typeface="Carlito"/>
              </a:rPr>
              <a:t>operating </a:t>
            </a:r>
            <a:r>
              <a:rPr sz="2400" spc="-25" dirty="0">
                <a:latin typeface="Carlito"/>
                <a:cs typeface="Carlito"/>
              </a:rPr>
              <a:t>system </a:t>
            </a:r>
            <a:r>
              <a:rPr sz="2400" dirty="0">
                <a:latin typeface="Carlito"/>
                <a:cs typeface="Carlito"/>
              </a:rPr>
              <a:t>in the </a:t>
            </a:r>
            <a:r>
              <a:rPr sz="2400" spc="-5" dirty="0">
                <a:latin typeface="Carlito"/>
                <a:cs typeface="Carlito"/>
              </a:rPr>
              <a:t>1980s </a:t>
            </a:r>
            <a:r>
              <a:rPr sz="2400" dirty="0">
                <a:latin typeface="Carlito"/>
                <a:cs typeface="Carlito"/>
              </a:rPr>
              <a:t>and early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1990s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PC-DOS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Created </a:t>
            </a:r>
            <a:r>
              <a:rPr sz="2400" spc="-5" dirty="0">
                <a:latin typeface="Carlito"/>
                <a:cs typeface="Carlito"/>
              </a:rPr>
              <a:t>originally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5" dirty="0">
                <a:latin typeface="Carlito"/>
                <a:cs typeface="Carlito"/>
              </a:rPr>
              <a:t>IBM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microcomputers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MS-DOS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Created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5" dirty="0">
                <a:latin typeface="Carlito"/>
                <a:cs typeface="Carlito"/>
              </a:rPr>
              <a:t>use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5" dirty="0">
                <a:latin typeface="Carlito"/>
                <a:cs typeface="Carlito"/>
              </a:rPr>
              <a:t>IBM-compatible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computers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Can </a:t>
            </a:r>
            <a:r>
              <a:rPr sz="2400" spc="-10" dirty="0">
                <a:latin typeface="Carlito"/>
                <a:cs typeface="Carlito"/>
              </a:rPr>
              <a:t>enter </a:t>
            </a:r>
            <a:r>
              <a:rPr sz="2400" spc="-5" dirty="0">
                <a:latin typeface="Carlito"/>
                <a:cs typeface="Carlito"/>
              </a:rPr>
              <a:t>DOS </a:t>
            </a:r>
            <a:r>
              <a:rPr sz="2400" spc="-10" dirty="0">
                <a:latin typeface="Carlito"/>
                <a:cs typeface="Carlito"/>
              </a:rPr>
              <a:t>commands </a:t>
            </a:r>
            <a:r>
              <a:rPr sz="2400" dirty="0">
                <a:latin typeface="Carlito"/>
                <a:cs typeface="Carlito"/>
              </a:rPr>
              <a:t>in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Windows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1449705"/>
            <a:chOff x="0" y="0"/>
            <a:chExt cx="9144000" cy="1449705"/>
          </a:xfrm>
        </p:grpSpPr>
        <p:sp>
          <p:nvSpPr>
            <p:cNvPr id="3" name="object 3"/>
            <p:cNvSpPr/>
            <p:nvPr/>
          </p:nvSpPr>
          <p:spPr>
            <a:xfrm>
              <a:off x="0" y="1376425"/>
              <a:ext cx="9144000" cy="7302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8767"/>
              <a:ext cx="1572768" cy="138988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1572768" cy="138683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806701" y="382651"/>
            <a:ext cx="9334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25" dirty="0">
                <a:latin typeface="Arial Black"/>
                <a:cs typeface="Arial Black"/>
              </a:rPr>
              <a:t>DOS</a:t>
            </a:r>
            <a:endParaRPr sz="3600">
              <a:latin typeface="Arial Black"/>
              <a:cs typeface="Arial Black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394789" y="2233722"/>
            <a:ext cx="1516038" cy="15231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96473" y="2309352"/>
            <a:ext cx="6390627" cy="297082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18</a:t>
            </a:fld>
            <a:endParaRPr spc="-16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18846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30" dirty="0"/>
              <a:t>Windows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19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71155" cy="383095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Windows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predominant personal operating </a:t>
            </a:r>
            <a:r>
              <a:rPr sz="2400" spc="-25" dirty="0">
                <a:latin typeface="Carlito"/>
                <a:cs typeface="Carlito"/>
              </a:rPr>
              <a:t>system </a:t>
            </a:r>
            <a:r>
              <a:rPr sz="2400" spc="-5" dirty="0">
                <a:latin typeface="Carlito"/>
                <a:cs typeface="Carlito"/>
              </a:rPr>
              <a:t>developed </a:t>
            </a:r>
            <a:r>
              <a:rPr sz="2400" spc="-10" dirty="0">
                <a:latin typeface="Carlito"/>
                <a:cs typeface="Carlito"/>
              </a:rPr>
              <a:t>by  Microsoft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Corporation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spc="-5" dirty="0">
                <a:latin typeface="Carlito"/>
                <a:cs typeface="Carlito"/>
              </a:rPr>
              <a:t>1.0 </a:t>
            </a:r>
            <a:r>
              <a:rPr sz="2400" spc="-10" dirty="0">
                <a:latin typeface="Carlito"/>
                <a:cs typeface="Carlito"/>
              </a:rPr>
              <a:t>through Windows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Vista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spc="-5" dirty="0">
                <a:latin typeface="Carlito"/>
                <a:cs typeface="Carlito"/>
              </a:rPr>
              <a:t>1.0 released </a:t>
            </a:r>
            <a:r>
              <a:rPr sz="2400" dirty="0">
                <a:latin typeface="Carlito"/>
                <a:cs typeface="Carlito"/>
              </a:rPr>
              <a:t>in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1985</a:t>
            </a:r>
            <a:endParaRPr sz="2400">
              <a:latin typeface="Carlito"/>
              <a:cs typeface="Carlito"/>
            </a:endParaRPr>
          </a:p>
          <a:p>
            <a:pPr marL="138430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Arial"/>
                <a:cs typeface="Arial"/>
              </a:rPr>
              <a:t>– </a:t>
            </a:r>
            <a:r>
              <a:rPr sz="2400" spc="-10" dirty="0">
                <a:latin typeface="Carlito"/>
                <a:cs typeface="Carlito"/>
              </a:rPr>
              <a:t>Windows 1.0 through Windows </a:t>
            </a:r>
            <a:r>
              <a:rPr sz="2400" dirty="0">
                <a:latin typeface="Carlito"/>
                <a:cs typeface="Carlito"/>
              </a:rPr>
              <a:t>3.x </a:t>
            </a:r>
            <a:r>
              <a:rPr sz="2400" spc="-15" dirty="0">
                <a:latin typeface="Carlito"/>
                <a:cs typeface="Carlito"/>
              </a:rPr>
              <a:t>were</a:t>
            </a:r>
            <a:r>
              <a:rPr sz="2400" spc="-2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operating</a:t>
            </a:r>
            <a:endParaRPr sz="2400">
              <a:latin typeface="Carlito"/>
              <a:cs typeface="Carlito"/>
            </a:endParaRPr>
          </a:p>
          <a:p>
            <a:pPr marL="1612900">
              <a:lnSpc>
                <a:spcPct val="100000"/>
              </a:lnSpc>
            </a:pPr>
            <a:r>
              <a:rPr sz="2400" spc="-10" dirty="0">
                <a:latin typeface="Carlito"/>
                <a:cs typeface="Carlito"/>
              </a:rPr>
              <a:t>environments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DOS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spc="-5" dirty="0">
                <a:latin typeface="Carlito"/>
                <a:cs typeface="Carlito"/>
              </a:rPr>
              <a:t>95, </a:t>
            </a: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spc="-5" dirty="0">
                <a:latin typeface="Carlito"/>
                <a:cs typeface="Carlito"/>
              </a:rPr>
              <a:t>98,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dirty="0">
                <a:latin typeface="Carlito"/>
                <a:cs typeface="Carlito"/>
              </a:rPr>
              <a:t>ME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personal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computers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18846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30" dirty="0"/>
              <a:t>Windows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20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1450594" y="1461262"/>
            <a:ext cx="6878955" cy="390397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spc="-5" dirty="0">
                <a:latin typeface="Carlito"/>
                <a:cs typeface="Carlito"/>
              </a:rPr>
              <a:t>NT (New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Technology)</a:t>
            </a:r>
            <a:endParaRPr sz="2400">
              <a:latin typeface="Carlito"/>
              <a:cs typeface="Carlito"/>
            </a:endParaRPr>
          </a:p>
          <a:p>
            <a:pPr marL="698500" marR="27305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698500" algn="l"/>
              </a:tabLst>
            </a:pPr>
            <a:r>
              <a:rPr sz="2400" spc="-15" dirty="0">
                <a:latin typeface="Carlito"/>
                <a:cs typeface="Carlito"/>
              </a:rPr>
              <a:t>First </a:t>
            </a:r>
            <a:r>
              <a:rPr sz="2400" spc="-5" dirty="0">
                <a:latin typeface="Carlito"/>
                <a:cs typeface="Carlito"/>
              </a:rPr>
              <a:t>32-bit </a:t>
            </a:r>
            <a:r>
              <a:rPr sz="2400" spc="-15" dirty="0">
                <a:latin typeface="Carlito"/>
                <a:cs typeface="Carlito"/>
              </a:rPr>
              <a:t>version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dirty="0">
                <a:latin typeface="Carlito"/>
                <a:cs typeface="Carlito"/>
              </a:rPr>
              <a:t>high-  end </a:t>
            </a:r>
            <a:r>
              <a:rPr sz="2400" spc="-15" dirty="0">
                <a:latin typeface="Carlito"/>
                <a:cs typeface="Carlito"/>
              </a:rPr>
              <a:t>workstations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servers</a:t>
            </a:r>
            <a:endParaRPr sz="2400">
              <a:latin typeface="Carlito"/>
              <a:cs typeface="Carlito"/>
            </a:endParaRPr>
          </a:p>
          <a:p>
            <a:pPr marL="698500" lvl="1" indent="-22860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Replaced </a:t>
            </a:r>
            <a:r>
              <a:rPr sz="2400" spc="-10" dirty="0">
                <a:latin typeface="Carlito"/>
                <a:cs typeface="Carlito"/>
              </a:rPr>
              <a:t>by Windows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2000</a:t>
            </a:r>
            <a:endParaRPr sz="24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spc="-5" dirty="0">
                <a:latin typeface="Carlito"/>
                <a:cs typeface="Carlito"/>
              </a:rPr>
              <a:t>XP</a:t>
            </a:r>
            <a:endParaRPr sz="2400">
              <a:latin typeface="Carlito"/>
              <a:cs typeface="Carlito"/>
            </a:endParaRPr>
          </a:p>
          <a:p>
            <a:pPr marL="698500" lvl="1" indent="-22860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Replaced both </a:t>
            </a: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spc="-5" dirty="0">
                <a:latin typeface="Carlito"/>
                <a:cs typeface="Carlito"/>
              </a:rPr>
              <a:t>2000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Windows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</a:t>
            </a:r>
            <a:endParaRPr sz="24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spc="-15" dirty="0">
                <a:latin typeface="Carlito"/>
                <a:cs typeface="Carlito"/>
              </a:rPr>
              <a:t>Vista</a:t>
            </a:r>
            <a:endParaRPr sz="2400">
              <a:latin typeface="Carlito"/>
              <a:cs typeface="Carlito"/>
            </a:endParaRPr>
          </a:p>
          <a:p>
            <a:pPr marL="69850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Replaced </a:t>
            </a:r>
            <a:r>
              <a:rPr sz="2400" spc="-10" dirty="0">
                <a:latin typeface="Carlito"/>
                <a:cs typeface="Carlito"/>
              </a:rPr>
              <a:t>Windows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XP</a:t>
            </a:r>
            <a:endParaRPr sz="2400">
              <a:latin typeface="Carlito"/>
              <a:cs typeface="Carlito"/>
            </a:endParaRPr>
          </a:p>
          <a:p>
            <a:pPr marL="698500" lvl="1" indent="-22860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Introduced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Aero </a:t>
            </a:r>
            <a:r>
              <a:rPr sz="2400" spc="-15" dirty="0">
                <a:latin typeface="Carlito"/>
                <a:cs typeface="Carlito"/>
              </a:rPr>
              <a:t>interface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Sidebar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feature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18846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30" dirty="0"/>
              <a:t>Windows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21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461262"/>
            <a:ext cx="6769734" cy="437896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385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dirty="0">
                <a:latin typeface="Carlito"/>
                <a:cs typeface="Carlito"/>
              </a:rPr>
              <a:t>7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Released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15" dirty="0">
                <a:latin typeface="Carlito"/>
                <a:cs typeface="Carlito"/>
              </a:rPr>
              <a:t>late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2009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Home Premium (primary </a:t>
            </a:r>
            <a:r>
              <a:rPr sz="2400" spc="-15" dirty="0">
                <a:latin typeface="Carlito"/>
                <a:cs typeface="Carlito"/>
              </a:rPr>
              <a:t>version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5" dirty="0">
                <a:latin typeface="Carlito"/>
                <a:cs typeface="Carlito"/>
              </a:rPr>
              <a:t>home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users)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Professional </a:t>
            </a:r>
            <a:r>
              <a:rPr sz="2400" dirty="0">
                <a:latin typeface="Carlito"/>
                <a:cs typeface="Carlito"/>
              </a:rPr>
              <a:t>(primary </a:t>
            </a:r>
            <a:r>
              <a:rPr sz="2400" spc="-15" dirty="0">
                <a:latin typeface="Carlito"/>
                <a:cs typeface="Carlito"/>
              </a:rPr>
              <a:t>version </a:t>
            </a:r>
            <a:r>
              <a:rPr sz="2400" spc="-20" dirty="0">
                <a:latin typeface="Carlito"/>
                <a:cs typeface="Carlito"/>
              </a:rPr>
              <a:t>for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businesses)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Libraries </a:t>
            </a:r>
            <a:r>
              <a:rPr sz="2400" spc="-20" dirty="0">
                <a:latin typeface="Carlito"/>
                <a:cs typeface="Carlito"/>
              </a:rPr>
              <a:t>feature </a:t>
            </a:r>
            <a:r>
              <a:rPr sz="2400" spc="-10" dirty="0">
                <a:latin typeface="Carlito"/>
                <a:cs typeface="Carlito"/>
              </a:rPr>
              <a:t>gives you </a:t>
            </a:r>
            <a:r>
              <a:rPr sz="2400" dirty="0">
                <a:latin typeface="Carlito"/>
                <a:cs typeface="Carlito"/>
              </a:rPr>
              <a:t>virtual</a:t>
            </a:r>
            <a:r>
              <a:rPr sz="2400" spc="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folders</a:t>
            </a:r>
            <a:endParaRPr sz="24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dirty="0">
                <a:latin typeface="Carlito"/>
                <a:cs typeface="Carlito"/>
              </a:rPr>
              <a:t>8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Current </a:t>
            </a:r>
            <a:r>
              <a:rPr sz="2400" spc="-15" dirty="0">
                <a:latin typeface="Carlito"/>
                <a:cs typeface="Carlito"/>
              </a:rPr>
              <a:t>version </a:t>
            </a:r>
            <a:r>
              <a:rPr sz="2400" spc="-5" dirty="0">
                <a:latin typeface="Carlito"/>
                <a:cs typeface="Carlito"/>
              </a:rPr>
              <a:t>of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Windows</a:t>
            </a:r>
            <a:endParaRPr sz="2400">
              <a:latin typeface="Carlito"/>
              <a:cs typeface="Carlito"/>
            </a:endParaRPr>
          </a:p>
          <a:p>
            <a:pPr marL="697865" marR="8255" lvl="1" indent="-228600">
              <a:lnSpc>
                <a:spcPts val="2590"/>
              </a:lnSpc>
              <a:spcBef>
                <a:spcPts val="615"/>
              </a:spcBef>
              <a:buFont typeface="Arial"/>
              <a:buChar char="•"/>
              <a:tabLst>
                <a:tab pos="765175" algn="l"/>
                <a:tab pos="765810" algn="l"/>
              </a:tabLst>
            </a:pPr>
            <a:r>
              <a:rPr dirty="0"/>
              <a:t>	</a:t>
            </a: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be used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5" dirty="0">
                <a:latin typeface="Carlito"/>
                <a:cs typeface="Carlito"/>
              </a:rPr>
              <a:t>smartphones, </a:t>
            </a:r>
            <a:r>
              <a:rPr sz="2400" spc="-10" dirty="0">
                <a:latin typeface="Carlito"/>
                <a:cs typeface="Carlito"/>
              </a:rPr>
              <a:t>desktop  </a:t>
            </a:r>
            <a:r>
              <a:rPr sz="2400" spc="-15" dirty="0">
                <a:latin typeface="Carlito"/>
                <a:cs typeface="Carlito"/>
              </a:rPr>
              <a:t>computers,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dirty="0">
                <a:latin typeface="Carlito"/>
                <a:cs typeface="Carlito"/>
              </a:rPr>
              <a:t>without a </a:t>
            </a:r>
            <a:r>
              <a:rPr sz="2400" spc="-15" dirty="0">
                <a:latin typeface="Carlito"/>
                <a:cs typeface="Carlito"/>
              </a:rPr>
              <a:t>keyboard </a:t>
            </a:r>
            <a:r>
              <a:rPr sz="2400" spc="-5" dirty="0">
                <a:latin typeface="Carlito"/>
                <a:cs typeface="Carlito"/>
              </a:rPr>
              <a:t>or</a:t>
            </a:r>
            <a:r>
              <a:rPr sz="2400" spc="-11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mouse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Supports multi-touch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input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rlito"/>
                <a:cs typeface="Carlito"/>
              </a:rPr>
              <a:t>Includes </a:t>
            </a:r>
            <a:r>
              <a:rPr sz="2400" spc="-10" dirty="0">
                <a:latin typeface="Carlito"/>
                <a:cs typeface="Carlito"/>
              </a:rPr>
              <a:t>Start screen, </a:t>
            </a:r>
            <a:r>
              <a:rPr sz="2400" dirty="0">
                <a:latin typeface="Carlito"/>
                <a:cs typeface="Carlito"/>
              </a:rPr>
              <a:t>tiles, and charms</a:t>
            </a:r>
            <a:r>
              <a:rPr sz="2400" spc="-9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bar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79603"/>
            <a:ext cx="18846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30" dirty="0"/>
              <a:t>Windows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683564" y="1556854"/>
            <a:ext cx="7604125" cy="5137785"/>
            <a:chOff x="683564" y="1556854"/>
            <a:chExt cx="7604125" cy="5137785"/>
          </a:xfrm>
        </p:grpSpPr>
        <p:sp>
          <p:nvSpPr>
            <p:cNvPr id="4" name="object 4"/>
            <p:cNvSpPr/>
            <p:nvPr/>
          </p:nvSpPr>
          <p:spPr>
            <a:xfrm>
              <a:off x="683564" y="1556854"/>
              <a:ext cx="7604023" cy="470446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80126" y="6237312"/>
              <a:ext cx="1095375" cy="4572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22</a:t>
            </a:fld>
            <a:endParaRPr spc="-16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18846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30" dirty="0"/>
              <a:t>Windows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23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461262"/>
            <a:ext cx="7283450" cy="390397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spc="-5" dirty="0">
                <a:latin typeface="Carlito"/>
                <a:cs typeface="Carlito"/>
              </a:rPr>
              <a:t>Server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version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5" dirty="0">
                <a:latin typeface="Carlito"/>
                <a:cs typeface="Carlito"/>
              </a:rPr>
              <a:t>server</a:t>
            </a:r>
            <a:r>
              <a:rPr sz="2400" spc="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use</a:t>
            </a:r>
            <a:endParaRPr sz="2400">
              <a:latin typeface="Carlito"/>
              <a:cs typeface="Carlito"/>
            </a:endParaRPr>
          </a:p>
          <a:p>
            <a:pPr marL="1155065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1155700" algn="l"/>
              </a:tabLst>
            </a:pP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spc="-5" dirty="0">
                <a:latin typeface="Carlito"/>
                <a:cs typeface="Carlito"/>
              </a:rPr>
              <a:t>Server 2012 </a:t>
            </a:r>
            <a:r>
              <a:rPr sz="2400" dirty="0">
                <a:latin typeface="Carlito"/>
                <a:cs typeface="Carlito"/>
              </a:rPr>
              <a:t>is the </a:t>
            </a:r>
            <a:r>
              <a:rPr sz="2400" spc="-15" dirty="0">
                <a:latin typeface="Carlito"/>
                <a:cs typeface="Carlito"/>
              </a:rPr>
              <a:t>latest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version</a:t>
            </a:r>
            <a:endParaRPr sz="2400">
              <a:latin typeface="Carlito"/>
              <a:cs typeface="Carlito"/>
            </a:endParaRPr>
          </a:p>
          <a:p>
            <a:pPr marL="1155065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1155700" algn="l"/>
              </a:tabLst>
            </a:pPr>
            <a:r>
              <a:rPr sz="2400" spc="-5" dirty="0">
                <a:latin typeface="Carlito"/>
                <a:cs typeface="Carlito"/>
              </a:rPr>
              <a:t>Supports both virtualization </a:t>
            </a:r>
            <a:r>
              <a:rPr sz="2400" dirty="0">
                <a:latin typeface="Carlito"/>
                <a:cs typeface="Carlito"/>
              </a:rPr>
              <a:t>and cloud</a:t>
            </a:r>
            <a:r>
              <a:rPr sz="2400" spc="-10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computing</a:t>
            </a:r>
            <a:endParaRPr sz="2400">
              <a:latin typeface="Carlito"/>
              <a:cs typeface="Carlito"/>
            </a:endParaRPr>
          </a:p>
          <a:p>
            <a:pPr marL="365760" indent="-353695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365760" algn="l"/>
                <a:tab pos="366395" algn="l"/>
              </a:tabLst>
            </a:pP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spc="-5" dirty="0">
                <a:latin typeface="Carlito"/>
                <a:cs typeface="Carlito"/>
              </a:rPr>
              <a:t>Home Server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Preinstalled </a:t>
            </a:r>
            <a:r>
              <a:rPr sz="2400" spc="-5" dirty="0">
                <a:latin typeface="Carlito"/>
                <a:cs typeface="Carlito"/>
              </a:rPr>
              <a:t>on home server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devices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provide </a:t>
            </a:r>
            <a:r>
              <a:rPr sz="2400" dirty="0">
                <a:latin typeface="Carlito"/>
                <a:cs typeface="Carlito"/>
              </a:rPr>
              <a:t>services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home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</a:t>
            </a:r>
            <a:endParaRPr sz="2400">
              <a:latin typeface="Carlito"/>
              <a:cs typeface="Carlito"/>
            </a:endParaRPr>
          </a:p>
          <a:p>
            <a:pPr marL="697865" marR="3556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Can be set up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back up </a:t>
            </a:r>
            <a:r>
              <a:rPr sz="2400" dirty="0">
                <a:latin typeface="Carlito"/>
                <a:cs typeface="Carlito"/>
              </a:rPr>
              <a:t>all </a:t>
            </a:r>
            <a:r>
              <a:rPr sz="2400" spc="-5" dirty="0">
                <a:latin typeface="Carlito"/>
                <a:cs typeface="Carlito"/>
              </a:rPr>
              <a:t>devices </a:t>
            </a:r>
            <a:r>
              <a:rPr sz="2400" dirty="0">
                <a:latin typeface="Carlito"/>
                <a:cs typeface="Carlito"/>
              </a:rPr>
              <a:t>in the </a:t>
            </a:r>
            <a:r>
              <a:rPr sz="2400" spc="-5" dirty="0">
                <a:latin typeface="Carlito"/>
                <a:cs typeface="Carlito"/>
              </a:rPr>
              <a:t>home on </a:t>
            </a:r>
            <a:r>
              <a:rPr sz="2400" dirty="0">
                <a:latin typeface="Carlito"/>
                <a:cs typeface="Carlito"/>
              </a:rPr>
              <a:t>a  </a:t>
            </a:r>
            <a:r>
              <a:rPr sz="2400" spc="-5" dirty="0">
                <a:latin typeface="Carlito"/>
                <a:cs typeface="Carlito"/>
              </a:rPr>
              <a:t>regular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basis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15932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95" dirty="0"/>
              <a:t>Mac</a:t>
            </a:r>
            <a:r>
              <a:rPr sz="3600" spc="-290" dirty="0"/>
              <a:t> </a:t>
            </a:r>
            <a:r>
              <a:rPr sz="3600" spc="-490" dirty="0"/>
              <a:t>OS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24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525384" cy="390397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Mac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OS</a:t>
            </a:r>
            <a:endParaRPr sz="2400">
              <a:latin typeface="Carlito"/>
              <a:cs typeface="Carlito"/>
            </a:endParaRPr>
          </a:p>
          <a:p>
            <a:pPr marL="756285" marR="23622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Proprietary operating </a:t>
            </a:r>
            <a:r>
              <a:rPr sz="2400" spc="-25" dirty="0">
                <a:latin typeface="Carlito"/>
                <a:cs typeface="Carlito"/>
              </a:rPr>
              <a:t>system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5" dirty="0">
                <a:latin typeface="Carlito"/>
                <a:cs typeface="Carlito"/>
              </a:rPr>
              <a:t>computers </a:t>
            </a:r>
            <a:r>
              <a:rPr sz="2400" dirty="0">
                <a:latin typeface="Carlito"/>
                <a:cs typeface="Carlito"/>
              </a:rPr>
              <a:t>made </a:t>
            </a:r>
            <a:r>
              <a:rPr sz="2400" spc="-10" dirty="0">
                <a:latin typeface="Carlito"/>
                <a:cs typeface="Carlito"/>
              </a:rPr>
              <a:t>by  </a:t>
            </a:r>
            <a:r>
              <a:rPr sz="2400" dirty="0">
                <a:latin typeface="Carlito"/>
                <a:cs typeface="Carlito"/>
              </a:rPr>
              <a:t>Apple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Corporation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Based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UNIX </a:t>
            </a:r>
            <a:r>
              <a:rPr sz="2400" spc="-10" dirty="0">
                <a:latin typeface="Carlito"/>
                <a:cs typeface="Carlito"/>
              </a:rPr>
              <a:t>operating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system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Originally set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standard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graphical </a:t>
            </a:r>
            <a:r>
              <a:rPr sz="2400" spc="-5" dirty="0">
                <a:latin typeface="Carlito"/>
                <a:cs typeface="Carlito"/>
              </a:rPr>
              <a:t>user</a:t>
            </a:r>
            <a:r>
              <a:rPr sz="2400" spc="-9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interfaces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Mac </a:t>
            </a:r>
            <a:r>
              <a:rPr sz="2400" spc="-5" dirty="0">
                <a:latin typeface="Carlito"/>
                <a:cs typeface="Carlito"/>
              </a:rPr>
              <a:t>OS </a:t>
            </a:r>
            <a:r>
              <a:rPr sz="2400" dirty="0">
                <a:latin typeface="Carlito"/>
                <a:cs typeface="Carlito"/>
              </a:rPr>
              <a:t>X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Family</a:t>
            </a:r>
            <a:endParaRPr sz="2400">
              <a:latin typeface="Carlito"/>
              <a:cs typeface="Carlito"/>
            </a:endParaRPr>
          </a:p>
          <a:p>
            <a:pPr marL="1223010" lvl="2" indent="-29591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222375" algn="l"/>
                <a:tab pos="1223010" algn="l"/>
              </a:tabLst>
            </a:pPr>
            <a:r>
              <a:rPr sz="2400" dirty="0">
                <a:latin typeface="Carlito"/>
                <a:cs typeface="Carlito"/>
              </a:rPr>
              <a:t>Mac </a:t>
            </a:r>
            <a:r>
              <a:rPr sz="2400" spc="-5" dirty="0">
                <a:latin typeface="Carlito"/>
                <a:cs typeface="Carlito"/>
              </a:rPr>
              <a:t>OS </a:t>
            </a:r>
            <a:r>
              <a:rPr sz="2400" dirty="0">
                <a:latin typeface="Carlito"/>
                <a:cs typeface="Carlito"/>
              </a:rPr>
              <a:t>X </a:t>
            </a:r>
            <a:r>
              <a:rPr sz="2400" spc="-10" dirty="0">
                <a:latin typeface="Carlito"/>
                <a:cs typeface="Carlito"/>
              </a:rPr>
              <a:t>Mountain </a:t>
            </a:r>
            <a:r>
              <a:rPr sz="2400" spc="-5" dirty="0">
                <a:latin typeface="Carlito"/>
                <a:cs typeface="Carlito"/>
              </a:rPr>
              <a:t>Lion </a:t>
            </a:r>
            <a:r>
              <a:rPr sz="2400" dirty="0">
                <a:latin typeface="Carlito"/>
                <a:cs typeface="Carlito"/>
              </a:rPr>
              <a:t>and Mac </a:t>
            </a:r>
            <a:r>
              <a:rPr sz="2400" spc="-5" dirty="0">
                <a:latin typeface="Carlito"/>
                <a:cs typeface="Carlito"/>
              </a:rPr>
              <a:t>OS </a:t>
            </a:r>
            <a:r>
              <a:rPr sz="2400" dirty="0">
                <a:latin typeface="Carlito"/>
                <a:cs typeface="Carlito"/>
              </a:rPr>
              <a:t>X</a:t>
            </a:r>
            <a:r>
              <a:rPr sz="2400" spc="-9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Mavericks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Mac </a:t>
            </a:r>
            <a:r>
              <a:rPr sz="2400" spc="-5" dirty="0">
                <a:latin typeface="Carlito"/>
                <a:cs typeface="Carlito"/>
              </a:rPr>
              <a:t>OS </a:t>
            </a:r>
            <a:r>
              <a:rPr sz="2400" dirty="0">
                <a:latin typeface="Carlito"/>
                <a:cs typeface="Carlito"/>
              </a:rPr>
              <a:t>X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Server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Server </a:t>
            </a:r>
            <a:r>
              <a:rPr sz="2400" spc="-15" dirty="0">
                <a:latin typeface="Carlito"/>
                <a:cs typeface="Carlito"/>
              </a:rPr>
              <a:t>version </a:t>
            </a:r>
            <a:r>
              <a:rPr sz="2400" spc="-10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Mac </a:t>
            </a:r>
            <a:r>
              <a:rPr sz="2400" spc="-5" dirty="0">
                <a:latin typeface="Carlito"/>
                <a:cs typeface="Carlito"/>
              </a:rPr>
              <a:t>OS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X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15932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95" dirty="0"/>
              <a:t>Mac</a:t>
            </a:r>
            <a:r>
              <a:rPr sz="3600" spc="-290" dirty="0"/>
              <a:t> </a:t>
            </a:r>
            <a:r>
              <a:rPr sz="3600" spc="-490" dirty="0"/>
              <a:t>OS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6582918" y="2478023"/>
            <a:ext cx="1247775" cy="5524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99591" y="1786986"/>
            <a:ext cx="4636279" cy="44063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25</a:t>
            </a:fld>
            <a:endParaRPr spc="-16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10731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90" dirty="0"/>
              <a:t>UNIX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26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39405" cy="45618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UNIX</a:t>
            </a:r>
            <a:endParaRPr sz="2400">
              <a:latin typeface="Carlito"/>
              <a:cs typeface="Carlito"/>
            </a:endParaRPr>
          </a:p>
          <a:p>
            <a:pPr marL="756285" marR="110744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Operating </a:t>
            </a:r>
            <a:r>
              <a:rPr sz="2400" spc="-25" dirty="0">
                <a:latin typeface="Carlito"/>
                <a:cs typeface="Carlito"/>
              </a:rPr>
              <a:t>system </a:t>
            </a:r>
            <a:r>
              <a:rPr sz="2400" spc="-5" dirty="0">
                <a:latin typeface="Carlito"/>
                <a:cs typeface="Carlito"/>
              </a:rPr>
              <a:t>developed </a:t>
            </a:r>
            <a:r>
              <a:rPr sz="2400" dirty="0">
                <a:latin typeface="Carlito"/>
                <a:cs typeface="Carlito"/>
              </a:rPr>
              <a:t>in the </a:t>
            </a:r>
            <a:r>
              <a:rPr sz="2400" spc="-15" dirty="0">
                <a:latin typeface="Carlito"/>
                <a:cs typeface="Carlito"/>
              </a:rPr>
              <a:t>late </a:t>
            </a:r>
            <a:r>
              <a:rPr sz="2400" spc="-5" dirty="0">
                <a:latin typeface="Carlito"/>
                <a:cs typeface="Carlito"/>
              </a:rPr>
              <a:t>1960s </a:t>
            </a:r>
            <a:r>
              <a:rPr sz="2400" spc="-25" dirty="0">
                <a:latin typeface="Carlito"/>
                <a:cs typeface="Carlito"/>
              </a:rPr>
              <a:t>for  </a:t>
            </a:r>
            <a:r>
              <a:rPr sz="2400" spc="-10" dirty="0">
                <a:latin typeface="Carlito"/>
                <a:cs typeface="Carlito"/>
              </a:rPr>
              <a:t>midrange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servers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20" dirty="0">
                <a:latin typeface="Carlito"/>
                <a:cs typeface="Carlito"/>
              </a:rPr>
              <a:t>Multiuser, </a:t>
            </a:r>
            <a:r>
              <a:rPr sz="2400" spc="-5" dirty="0">
                <a:latin typeface="Carlito"/>
                <a:cs typeface="Carlito"/>
              </a:rPr>
              <a:t>multitasking </a:t>
            </a:r>
            <a:r>
              <a:rPr sz="2400" spc="-10" dirty="0">
                <a:latin typeface="Carlito"/>
                <a:cs typeface="Carlito"/>
              </a:rPr>
              <a:t>operating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system</a:t>
            </a:r>
            <a:endParaRPr sz="2400">
              <a:latin typeface="Carlito"/>
              <a:cs typeface="Carlito"/>
            </a:endParaRPr>
          </a:p>
          <a:p>
            <a:pPr marL="756285" marR="78803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More expensive, requires </a:t>
            </a:r>
            <a:r>
              <a:rPr sz="2400" spc="-5" dirty="0">
                <a:latin typeface="Carlito"/>
                <a:cs typeface="Carlito"/>
              </a:rPr>
              <a:t>high </a:t>
            </a:r>
            <a:r>
              <a:rPr sz="2400" spc="-10" dirty="0">
                <a:latin typeface="Carlito"/>
                <a:cs typeface="Carlito"/>
              </a:rPr>
              <a:t>level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0" dirty="0">
                <a:latin typeface="Carlito"/>
                <a:cs typeface="Carlito"/>
              </a:rPr>
              <a:t>technical  </a:t>
            </a:r>
            <a:r>
              <a:rPr sz="2400" spc="-5" dirty="0">
                <a:latin typeface="Carlito"/>
                <a:cs typeface="Carlito"/>
              </a:rPr>
              <a:t>knowledge; </a:t>
            </a:r>
            <a:r>
              <a:rPr sz="2400" spc="-10" dirty="0">
                <a:latin typeface="Carlito"/>
                <a:cs typeface="Carlito"/>
              </a:rPr>
              <a:t>harder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install, </a:t>
            </a:r>
            <a:r>
              <a:rPr sz="2400" spc="-5" dirty="0">
                <a:latin typeface="Carlito"/>
                <a:cs typeface="Carlito"/>
              </a:rPr>
              <a:t>maintain,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upgrade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80"/>
              </a:spcBef>
              <a:buChar char="–"/>
              <a:tabLst>
                <a:tab pos="756920" algn="l"/>
              </a:tabLst>
            </a:pPr>
            <a:r>
              <a:rPr sz="2400" spc="-70" dirty="0">
                <a:latin typeface="Arial"/>
                <a:cs typeface="Arial"/>
              </a:rPr>
              <a:t>“UNIX” </a:t>
            </a:r>
            <a:r>
              <a:rPr sz="2400" spc="-20" dirty="0">
                <a:latin typeface="Arial"/>
                <a:cs typeface="Arial"/>
              </a:rPr>
              <a:t>initially </a:t>
            </a:r>
            <a:r>
              <a:rPr sz="2400" spc="-60" dirty="0">
                <a:latin typeface="Arial"/>
                <a:cs typeface="Arial"/>
              </a:rPr>
              <a:t>referred </a:t>
            </a:r>
            <a:r>
              <a:rPr sz="2400" spc="20" dirty="0">
                <a:latin typeface="Arial"/>
                <a:cs typeface="Arial"/>
              </a:rPr>
              <a:t>to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60" dirty="0">
                <a:latin typeface="Arial"/>
                <a:cs typeface="Arial"/>
              </a:rPr>
              <a:t>original </a:t>
            </a:r>
            <a:r>
              <a:rPr sz="2400" spc="-204" dirty="0">
                <a:latin typeface="Arial"/>
                <a:cs typeface="Arial"/>
              </a:rPr>
              <a:t>UNIX </a:t>
            </a:r>
            <a:r>
              <a:rPr sz="2400" spc="-75" dirty="0">
                <a:latin typeface="Arial"/>
                <a:cs typeface="Arial"/>
              </a:rPr>
              <a:t>operating  </a:t>
            </a:r>
            <a:r>
              <a:rPr sz="2400" spc="-20" dirty="0">
                <a:latin typeface="Carlito"/>
                <a:cs typeface="Carlito"/>
              </a:rPr>
              <a:t>system, </a:t>
            </a:r>
            <a:r>
              <a:rPr sz="2400" spc="-10" dirty="0">
                <a:latin typeface="Carlito"/>
                <a:cs typeface="Carlito"/>
              </a:rPr>
              <a:t>now </a:t>
            </a:r>
            <a:r>
              <a:rPr sz="2400" spc="-30" dirty="0">
                <a:latin typeface="Carlito"/>
                <a:cs typeface="Carlito"/>
              </a:rPr>
              <a:t>refers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group of </a:t>
            </a:r>
            <a:r>
              <a:rPr sz="2400" spc="-5" dirty="0">
                <a:latin typeface="Carlito"/>
                <a:cs typeface="Carlito"/>
              </a:rPr>
              <a:t>similar </a:t>
            </a:r>
            <a:r>
              <a:rPr sz="2400" spc="-10" dirty="0">
                <a:latin typeface="Carlito"/>
                <a:cs typeface="Carlito"/>
              </a:rPr>
              <a:t>operating </a:t>
            </a:r>
            <a:r>
              <a:rPr sz="2400" spc="-20" dirty="0">
                <a:latin typeface="Carlito"/>
                <a:cs typeface="Carlito"/>
              </a:rPr>
              <a:t>systems  </a:t>
            </a:r>
            <a:r>
              <a:rPr sz="2400" spc="-5" dirty="0">
                <a:latin typeface="Carlito"/>
                <a:cs typeface="Carlito"/>
              </a:rPr>
              <a:t>based on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UNIX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Single UNIX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Specification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dirty="0">
                <a:latin typeface="Carlito"/>
                <a:cs typeface="Carlito"/>
              </a:rPr>
              <a:t>A </a:t>
            </a:r>
            <a:r>
              <a:rPr sz="2400" spc="-15" dirty="0">
                <a:latin typeface="Carlito"/>
                <a:cs typeface="Carlito"/>
              </a:rPr>
              <a:t>standardized </a:t>
            </a:r>
            <a:r>
              <a:rPr sz="2400" spc="-5" dirty="0">
                <a:latin typeface="Carlito"/>
                <a:cs typeface="Carlito"/>
              </a:rPr>
              <a:t>UNIX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environment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10795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5" dirty="0"/>
              <a:t>Linux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27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053705" cy="448881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Linux</a:t>
            </a:r>
            <a:endParaRPr sz="2400">
              <a:latin typeface="Carlito"/>
              <a:cs typeface="Carlito"/>
            </a:endParaRPr>
          </a:p>
          <a:p>
            <a:pPr marL="756285" marR="8572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Developed </a:t>
            </a:r>
            <a:r>
              <a:rPr sz="2400" spc="-10" dirty="0">
                <a:latin typeface="Carlito"/>
                <a:cs typeface="Carlito"/>
              </a:rPr>
              <a:t>by </a:t>
            </a:r>
            <a:r>
              <a:rPr sz="2400" spc="-5" dirty="0">
                <a:latin typeface="Carlito"/>
                <a:cs typeface="Carlito"/>
              </a:rPr>
              <a:t>Linus </a:t>
            </a:r>
            <a:r>
              <a:rPr sz="2400" spc="-35" dirty="0">
                <a:latin typeface="Carlito"/>
                <a:cs typeface="Carlito"/>
              </a:rPr>
              <a:t>Torvalds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20" dirty="0">
                <a:latin typeface="Carlito"/>
                <a:cs typeface="Carlito"/>
              </a:rPr>
              <a:t>1991</a:t>
            </a:r>
            <a:r>
              <a:rPr sz="2400" spc="-20" dirty="0">
                <a:latin typeface="Arial"/>
                <a:cs typeface="Arial"/>
              </a:rPr>
              <a:t>—</a:t>
            </a:r>
            <a:r>
              <a:rPr sz="2400" spc="-20" dirty="0">
                <a:latin typeface="Carlito"/>
                <a:cs typeface="Carlito"/>
              </a:rPr>
              <a:t>resembles </a:t>
            </a:r>
            <a:r>
              <a:rPr sz="2400" spc="-5" dirty="0">
                <a:latin typeface="Carlito"/>
                <a:cs typeface="Carlito"/>
              </a:rPr>
              <a:t>UNIX but  </a:t>
            </a:r>
            <a:r>
              <a:rPr sz="2400" spc="-10" dirty="0">
                <a:latin typeface="Carlito"/>
                <a:cs typeface="Carlito"/>
              </a:rPr>
              <a:t>was </a:t>
            </a:r>
            <a:r>
              <a:rPr sz="2400" spc="-5" dirty="0">
                <a:latin typeface="Carlito"/>
                <a:cs typeface="Carlito"/>
              </a:rPr>
              <a:t>developed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independently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Is </a:t>
            </a:r>
            <a:r>
              <a:rPr sz="2400" spc="-10" dirty="0">
                <a:latin typeface="Carlito"/>
                <a:cs typeface="Carlito"/>
              </a:rPr>
              <a:t>open-source software; </a:t>
            </a:r>
            <a:r>
              <a:rPr sz="2400" spc="-5" dirty="0">
                <a:latin typeface="Carlito"/>
                <a:cs typeface="Carlito"/>
              </a:rPr>
              <a:t>has been </a:t>
            </a:r>
            <a:r>
              <a:rPr sz="2400" spc="-15" dirty="0">
                <a:latin typeface="Carlito"/>
                <a:cs typeface="Carlito"/>
              </a:rPr>
              <a:t>collaboratively </a:t>
            </a:r>
            <a:r>
              <a:rPr sz="2400" dirty="0">
                <a:latin typeface="Carlito"/>
                <a:cs typeface="Carlito"/>
              </a:rPr>
              <a:t>modified  </a:t>
            </a:r>
            <a:r>
              <a:rPr sz="2400" spc="-10" dirty="0">
                <a:latin typeface="Carlito"/>
                <a:cs typeface="Carlito"/>
              </a:rPr>
              <a:t>by </a:t>
            </a:r>
            <a:r>
              <a:rPr sz="2400" spc="-15" dirty="0">
                <a:latin typeface="Carlito"/>
                <a:cs typeface="Carlito"/>
              </a:rPr>
              <a:t>volunteer programmers </a:t>
            </a:r>
            <a:r>
              <a:rPr sz="2400" dirty="0">
                <a:latin typeface="Carlito"/>
                <a:cs typeface="Carlito"/>
              </a:rPr>
              <a:t>all </a:t>
            </a:r>
            <a:r>
              <a:rPr sz="2400" spc="-15" dirty="0">
                <a:latin typeface="Carlito"/>
                <a:cs typeface="Carlito"/>
              </a:rPr>
              <a:t>over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world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Originally used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command </a:t>
            </a:r>
            <a:r>
              <a:rPr sz="2400" dirty="0">
                <a:latin typeface="Carlito"/>
                <a:cs typeface="Carlito"/>
              </a:rPr>
              <a:t>line </a:t>
            </a:r>
            <a:r>
              <a:rPr sz="2400" spc="-10" dirty="0">
                <a:latin typeface="Carlito"/>
                <a:cs typeface="Carlito"/>
              </a:rPr>
              <a:t>interface, most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recent</a:t>
            </a:r>
            <a:endParaRPr sz="2400">
              <a:latin typeface="Carlito"/>
              <a:cs typeface="Carlito"/>
            </a:endParaRPr>
          </a:p>
          <a:p>
            <a:pPr marL="756285">
              <a:lnSpc>
                <a:spcPct val="100000"/>
              </a:lnSpc>
            </a:pPr>
            <a:r>
              <a:rPr sz="2400" spc="-15" dirty="0">
                <a:latin typeface="Carlito"/>
                <a:cs typeface="Carlito"/>
              </a:rPr>
              <a:t>versions </a:t>
            </a:r>
            <a:r>
              <a:rPr sz="2400" spc="-5" dirty="0">
                <a:latin typeface="Carlito"/>
                <a:cs typeface="Carlito"/>
              </a:rPr>
              <a:t>use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GUI</a:t>
            </a:r>
            <a:endParaRPr sz="2400">
              <a:latin typeface="Carlito"/>
              <a:cs typeface="Carlito"/>
            </a:endParaRPr>
          </a:p>
          <a:p>
            <a:pPr marL="756285" marR="68580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  <a:tab pos="7399020" algn="l"/>
              </a:tabLst>
            </a:pPr>
            <a:r>
              <a:rPr sz="2400" spc="-5" dirty="0">
                <a:latin typeface="Carlito"/>
                <a:cs typeface="Carlito"/>
              </a:rPr>
              <a:t>St</a:t>
            </a:r>
            <a:r>
              <a:rPr sz="2400" spc="-35" dirty="0">
                <a:latin typeface="Carlito"/>
                <a:cs typeface="Carlito"/>
              </a:rPr>
              <a:t>r</a:t>
            </a:r>
            <a:r>
              <a:rPr sz="2400" spc="-5" dirty="0">
                <a:latin typeface="Carlito"/>
                <a:cs typeface="Carlito"/>
              </a:rPr>
              <a:t>on</a:t>
            </a:r>
            <a:r>
              <a:rPr sz="2400" dirty="0">
                <a:latin typeface="Carlito"/>
                <a:cs typeface="Carlito"/>
              </a:rPr>
              <a:t>g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supp</a:t>
            </a:r>
            <a:r>
              <a:rPr sz="2400" spc="-10" dirty="0">
                <a:latin typeface="Carlito"/>
                <a:cs typeface="Carlito"/>
              </a:rPr>
              <a:t>o</a:t>
            </a:r>
            <a:r>
              <a:rPr sz="2400" dirty="0">
                <a:latin typeface="Carlito"/>
                <a:cs typeface="Carlito"/>
              </a:rPr>
              <a:t>rt </a:t>
            </a:r>
            <a:r>
              <a:rPr sz="2400" spc="-5" dirty="0">
                <a:latin typeface="Carlito"/>
                <a:cs typeface="Carlito"/>
              </a:rPr>
              <a:t>f</a:t>
            </a:r>
            <a:r>
              <a:rPr sz="2400" spc="-35" dirty="0">
                <a:latin typeface="Carlito"/>
                <a:cs typeface="Carlito"/>
              </a:rPr>
              <a:t>r</a:t>
            </a:r>
            <a:r>
              <a:rPr sz="2400" spc="-5" dirty="0">
                <a:latin typeface="Carlito"/>
                <a:cs typeface="Carlito"/>
              </a:rPr>
              <a:t>o</a:t>
            </a:r>
            <a:r>
              <a:rPr sz="2400" dirty="0">
                <a:latin typeface="Carlito"/>
                <a:cs typeface="Carlito"/>
              </a:rPr>
              <a:t>m</a:t>
            </a:r>
            <a:r>
              <a:rPr sz="2400" spc="-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main</a:t>
            </a:r>
            <a:r>
              <a:rPr sz="2400" spc="-30" dirty="0">
                <a:latin typeface="Carlito"/>
                <a:cs typeface="Carlito"/>
              </a:rPr>
              <a:t>s</a:t>
            </a:r>
            <a:r>
              <a:rPr sz="2400" dirty="0">
                <a:latin typeface="Carlito"/>
                <a:cs typeface="Carlito"/>
              </a:rPr>
              <a:t>t</a:t>
            </a:r>
            <a:r>
              <a:rPr sz="2400" spc="-35" dirty="0">
                <a:latin typeface="Carlito"/>
                <a:cs typeface="Carlito"/>
              </a:rPr>
              <a:t>r</a:t>
            </a:r>
            <a:r>
              <a:rPr sz="2400" dirty="0">
                <a:latin typeface="Carlito"/>
                <a:cs typeface="Carlito"/>
              </a:rPr>
              <a:t>e</a:t>
            </a:r>
            <a:r>
              <a:rPr sz="2400" spc="5" dirty="0">
                <a:latin typeface="Carlito"/>
                <a:cs typeface="Carlito"/>
              </a:rPr>
              <a:t>a</a:t>
            </a:r>
            <a:r>
              <a:rPr sz="2400" dirty="0">
                <a:latin typeface="Carlito"/>
                <a:cs typeface="Carlito"/>
              </a:rPr>
              <a:t>m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c</a:t>
            </a:r>
            <a:r>
              <a:rPr sz="2400" spc="-5" dirty="0">
                <a:latin typeface="Carlito"/>
                <a:cs typeface="Carlito"/>
              </a:rPr>
              <a:t>ompanies</a:t>
            </a:r>
            <a:r>
              <a:rPr sz="2400" dirty="0">
                <a:latin typeface="Carlito"/>
                <a:cs typeface="Carlito"/>
              </a:rPr>
              <a:t>,</a:t>
            </a:r>
            <a:r>
              <a:rPr sz="2400" spc="-5" dirty="0">
                <a:latin typeface="Carlito"/>
                <a:cs typeface="Carlito"/>
              </a:rPr>
              <a:t> suc</a:t>
            </a:r>
            <a:r>
              <a:rPr sz="2400" dirty="0">
                <a:latin typeface="Carlito"/>
                <a:cs typeface="Carlito"/>
              </a:rPr>
              <a:t>h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as	</a:t>
            </a:r>
            <a:r>
              <a:rPr sz="2400" spc="-10" dirty="0">
                <a:latin typeface="Carlito"/>
                <a:cs typeface="Carlito"/>
              </a:rPr>
              <a:t>I</a:t>
            </a:r>
            <a:r>
              <a:rPr sz="2400" dirty="0">
                <a:latin typeface="Carlito"/>
                <a:cs typeface="Carlito"/>
              </a:rPr>
              <a:t>BM,  </a:t>
            </a:r>
            <a:r>
              <a:rPr sz="2400" spc="-5" dirty="0">
                <a:latin typeface="Carlito"/>
                <a:cs typeface="Carlito"/>
              </a:rPr>
              <a:t>NVIDIA, </a:t>
            </a:r>
            <a:r>
              <a:rPr sz="2400" spc="-105" dirty="0">
                <a:latin typeface="Carlito"/>
                <a:cs typeface="Carlito"/>
              </a:rPr>
              <a:t>HP, </a:t>
            </a:r>
            <a:r>
              <a:rPr sz="2400" spc="-5" dirty="0">
                <a:latin typeface="Carlito"/>
                <a:cs typeface="Carlito"/>
              </a:rPr>
              <a:t>Dell,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8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Novell</a:t>
            </a:r>
            <a:endParaRPr sz="2400">
              <a:latin typeface="Carlito"/>
              <a:cs typeface="Carlito"/>
            </a:endParaRPr>
          </a:p>
          <a:p>
            <a:pPr marL="756285" marR="426084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Individuals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organizations are </a:t>
            </a:r>
            <a:r>
              <a:rPr sz="2400" spc="-5" dirty="0">
                <a:latin typeface="Carlito"/>
                <a:cs typeface="Carlito"/>
              </a:rPr>
              <a:t>switching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Linux </a:t>
            </a:r>
            <a:r>
              <a:rPr sz="2400" dirty="0">
                <a:latin typeface="Carlito"/>
                <a:cs typeface="Carlito"/>
              </a:rPr>
              <a:t>and  </a:t>
            </a:r>
            <a:r>
              <a:rPr sz="2400" spc="-5" dirty="0">
                <a:latin typeface="Carlito"/>
                <a:cs typeface="Carlito"/>
              </a:rPr>
              <a:t>other open </a:t>
            </a:r>
            <a:r>
              <a:rPr sz="2400" spc="-10" dirty="0">
                <a:latin typeface="Carlito"/>
                <a:cs typeface="Carlito"/>
              </a:rPr>
              <a:t>source </a:t>
            </a:r>
            <a:r>
              <a:rPr sz="2400" spc="-15" dirty="0">
                <a:latin typeface="Carlito"/>
                <a:cs typeface="Carlito"/>
              </a:rPr>
              <a:t>software </a:t>
            </a:r>
            <a:r>
              <a:rPr sz="2400" spc="-5" dirty="0">
                <a:latin typeface="Carlito"/>
                <a:cs typeface="Carlito"/>
              </a:rPr>
              <a:t>because of</a:t>
            </a:r>
            <a:r>
              <a:rPr sz="240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cost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10795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5" dirty="0"/>
              <a:t>Linux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6893965" y="2270404"/>
            <a:ext cx="1423736" cy="913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800" y="2132856"/>
            <a:ext cx="6311674" cy="34671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28</a:t>
            </a:fld>
            <a:endParaRPr spc="-16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23374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0" dirty="0"/>
              <a:t>Chrome</a:t>
            </a:r>
            <a:r>
              <a:rPr sz="3600" spc="-295" dirty="0"/>
              <a:t> </a:t>
            </a:r>
            <a:r>
              <a:rPr sz="3600" spc="-490" dirty="0"/>
              <a:t>OS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29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049895" cy="25869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Chrome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OS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20" dirty="0">
                <a:latin typeface="Carlito"/>
                <a:cs typeface="Carlito"/>
              </a:rPr>
              <a:t>first </a:t>
            </a:r>
            <a:r>
              <a:rPr sz="2400" dirty="0">
                <a:latin typeface="Carlito"/>
                <a:cs typeface="Carlito"/>
              </a:rPr>
              <a:t>cloud </a:t>
            </a:r>
            <a:r>
              <a:rPr sz="2400" spc="-10" dirty="0">
                <a:latin typeface="Carlito"/>
                <a:cs typeface="Carlito"/>
              </a:rPr>
              <a:t>operating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system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Essentially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Chrome </a:t>
            </a:r>
            <a:r>
              <a:rPr sz="2400" spc="-30" dirty="0">
                <a:latin typeface="Carlito"/>
                <a:cs typeface="Carlito"/>
              </a:rPr>
              <a:t>Web </a:t>
            </a:r>
            <a:r>
              <a:rPr sz="2400" spc="-15" dirty="0">
                <a:latin typeface="Carlito"/>
                <a:cs typeface="Carlito"/>
              </a:rPr>
              <a:t>browser </a:t>
            </a:r>
            <a:r>
              <a:rPr sz="2400" spc="-5" dirty="0">
                <a:latin typeface="Carlito"/>
                <a:cs typeface="Carlito"/>
              </a:rPr>
              <a:t>redesigned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run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</a:t>
            </a:r>
            <a:endParaRPr sz="2400">
              <a:latin typeface="Carlito"/>
              <a:cs typeface="Carlito"/>
            </a:endParaRPr>
          </a:p>
          <a:p>
            <a:pPr marL="756285">
              <a:lnSpc>
                <a:spcPct val="100000"/>
              </a:lnSpc>
            </a:pPr>
            <a:r>
              <a:rPr sz="2400" spc="-30" dirty="0">
                <a:latin typeface="Carlito"/>
                <a:cs typeface="Carlito"/>
              </a:rPr>
              <a:t>computer, </a:t>
            </a:r>
            <a:r>
              <a:rPr sz="2400" dirty="0">
                <a:latin typeface="Carlito"/>
                <a:cs typeface="Carlito"/>
              </a:rPr>
              <a:t>in addition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accessing </a:t>
            </a:r>
            <a:r>
              <a:rPr sz="2400" spc="-30" dirty="0">
                <a:latin typeface="Carlito"/>
                <a:cs typeface="Carlito"/>
              </a:rPr>
              <a:t>Web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resources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Replaces traditional </a:t>
            </a:r>
            <a:r>
              <a:rPr sz="2400" spc="-10" dirty="0">
                <a:latin typeface="Carlito"/>
                <a:cs typeface="Carlito"/>
              </a:rPr>
              <a:t>desktop </a:t>
            </a:r>
            <a:r>
              <a:rPr sz="2400" spc="-15" dirty="0">
                <a:latin typeface="Carlito"/>
                <a:cs typeface="Carlito"/>
              </a:rPr>
              <a:t>operating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systems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Is </a:t>
            </a:r>
            <a:r>
              <a:rPr sz="2400" spc="-10" dirty="0">
                <a:latin typeface="Carlito"/>
                <a:cs typeface="Carlito"/>
              </a:rPr>
              <a:t>currently </a:t>
            </a:r>
            <a:r>
              <a:rPr sz="2400" spc="-5" dirty="0">
                <a:latin typeface="Carlito"/>
                <a:cs typeface="Carlito"/>
              </a:rPr>
              <a:t>only </a:t>
            </a:r>
            <a:r>
              <a:rPr sz="2400" spc="-10" dirty="0">
                <a:latin typeface="Carlito"/>
                <a:cs typeface="Carlito"/>
              </a:rPr>
              <a:t>available preinstalled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spc="-10" dirty="0">
                <a:latin typeface="Carlito"/>
                <a:cs typeface="Carlito"/>
              </a:rPr>
              <a:t>Chrome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devices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50266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34" dirty="0"/>
              <a:t>Technology </a:t>
            </a:r>
            <a:r>
              <a:rPr sz="3600" spc="-405" dirty="0"/>
              <a:t>and </a:t>
            </a:r>
            <a:r>
              <a:rPr sz="3600" spc="-490" dirty="0"/>
              <a:t>You</a:t>
            </a:r>
            <a:r>
              <a:rPr sz="3600" spc="95" dirty="0"/>
              <a:t> </a:t>
            </a:r>
            <a:r>
              <a:rPr sz="3600" spc="-600" dirty="0"/>
              <a:t>Box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6795134" cy="430593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2400" b="1" dirty="0">
                <a:latin typeface="Carlito"/>
                <a:cs typeface="Carlito"/>
              </a:rPr>
              <a:t>Smart</a:t>
            </a:r>
            <a:r>
              <a:rPr sz="2400" b="1" spc="-25" dirty="0">
                <a:latin typeface="Carlito"/>
                <a:cs typeface="Carlito"/>
              </a:rPr>
              <a:t> </a:t>
            </a:r>
            <a:r>
              <a:rPr sz="2400" b="1" spc="-10" dirty="0">
                <a:latin typeface="Carlito"/>
                <a:cs typeface="Carlito"/>
              </a:rPr>
              <a:t>Cars</a:t>
            </a:r>
            <a:endParaRPr sz="2400">
              <a:latin typeface="Carlito"/>
              <a:cs typeface="Carlito"/>
            </a:endParaRPr>
          </a:p>
          <a:p>
            <a:pPr marL="756285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Use of </a:t>
            </a:r>
            <a:r>
              <a:rPr sz="2400" spc="-15" dirty="0">
                <a:latin typeface="Carlito"/>
                <a:cs typeface="Carlito"/>
              </a:rPr>
              <a:t>computers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15" dirty="0">
                <a:latin typeface="Carlito"/>
                <a:cs typeface="Carlito"/>
              </a:rPr>
              <a:t>cars </a:t>
            </a:r>
            <a:r>
              <a:rPr sz="2400" spc="-5" dirty="0">
                <a:latin typeface="Carlito"/>
                <a:cs typeface="Carlito"/>
              </a:rPr>
              <a:t>has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skyrocketed</a:t>
            </a:r>
            <a:endParaRPr sz="2400">
              <a:latin typeface="Carlito"/>
              <a:cs typeface="Carlito"/>
            </a:endParaRPr>
          </a:p>
          <a:p>
            <a:pPr marL="756285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Self-driving </a:t>
            </a:r>
            <a:r>
              <a:rPr sz="2400" spc="-20" dirty="0">
                <a:latin typeface="Carlito"/>
                <a:cs typeface="Carlito"/>
              </a:rPr>
              <a:t>systems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self-parking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systems</a:t>
            </a:r>
            <a:endParaRPr sz="2400">
              <a:latin typeface="Carlito"/>
              <a:cs typeface="Carlito"/>
            </a:endParaRPr>
          </a:p>
          <a:p>
            <a:pPr marL="756285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Lane </a:t>
            </a:r>
            <a:r>
              <a:rPr sz="2400" spc="-10" dirty="0">
                <a:latin typeface="Carlito"/>
                <a:cs typeface="Carlito"/>
              </a:rPr>
              <a:t>departure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blind spot detection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systems</a:t>
            </a:r>
            <a:endParaRPr sz="2400">
              <a:latin typeface="Carlito"/>
              <a:cs typeface="Carlito"/>
            </a:endParaRPr>
          </a:p>
          <a:p>
            <a:pPr marL="756285" indent="-287020">
              <a:lnSpc>
                <a:spcPct val="100000"/>
              </a:lnSpc>
              <a:spcBef>
                <a:spcPts val="28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Windshield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displays</a:t>
            </a:r>
            <a:endParaRPr sz="2400">
              <a:latin typeface="Carlito"/>
              <a:cs typeface="Carlito"/>
            </a:endParaRPr>
          </a:p>
          <a:p>
            <a:pPr marL="756285" indent="-287020">
              <a:lnSpc>
                <a:spcPts val="2735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Collision warnings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auto</a:t>
            </a:r>
            <a:endParaRPr sz="2400">
              <a:latin typeface="Carlito"/>
              <a:cs typeface="Carlito"/>
            </a:endParaRPr>
          </a:p>
          <a:p>
            <a:pPr marL="756285">
              <a:lnSpc>
                <a:spcPts val="2735"/>
              </a:lnSpc>
            </a:pPr>
            <a:r>
              <a:rPr sz="2400" spc="-25" dirty="0">
                <a:latin typeface="Carlito"/>
                <a:cs typeface="Carlito"/>
              </a:rPr>
              <a:t>brake </a:t>
            </a:r>
            <a:r>
              <a:rPr sz="2400" spc="-20" dirty="0">
                <a:latin typeface="Carlito"/>
                <a:cs typeface="Carlito"/>
              </a:rPr>
              <a:t>systems</a:t>
            </a:r>
            <a:endParaRPr sz="2400">
              <a:latin typeface="Carlito"/>
              <a:cs typeface="Carlito"/>
            </a:endParaRPr>
          </a:p>
          <a:p>
            <a:pPr marL="756285" marR="2860040" indent="-287020">
              <a:lnSpc>
                <a:spcPts val="2590"/>
              </a:lnSpc>
              <a:spcBef>
                <a:spcPts val="61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Keyless </a:t>
            </a:r>
            <a:r>
              <a:rPr sz="2400" spc="-5" dirty="0">
                <a:latin typeface="Carlito"/>
                <a:cs typeface="Carlito"/>
              </a:rPr>
              <a:t>entry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ignition  </a:t>
            </a:r>
            <a:r>
              <a:rPr sz="2400" spc="-20" dirty="0">
                <a:latin typeface="Carlito"/>
                <a:cs typeface="Carlito"/>
              </a:rPr>
              <a:t>systems</a:t>
            </a:r>
            <a:endParaRPr sz="2400">
              <a:latin typeface="Carlito"/>
              <a:cs typeface="Carlito"/>
            </a:endParaRPr>
          </a:p>
          <a:p>
            <a:pPr marL="756285" indent="-287020">
              <a:lnSpc>
                <a:spcPct val="100000"/>
              </a:lnSpc>
              <a:spcBef>
                <a:spcPts val="254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Distraction-prevention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systems</a:t>
            </a:r>
            <a:endParaRPr sz="2400">
              <a:latin typeface="Carlito"/>
              <a:cs typeface="Carlito"/>
            </a:endParaRPr>
          </a:p>
          <a:p>
            <a:pPr marL="756285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Safety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5" dirty="0">
                <a:latin typeface="Carlito"/>
                <a:cs typeface="Carlito"/>
              </a:rPr>
              <a:t>gadgets </a:t>
            </a:r>
            <a:r>
              <a:rPr sz="2400" dirty="0">
                <a:latin typeface="Carlito"/>
                <a:cs typeface="Carlito"/>
              </a:rPr>
              <a:t>is a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concern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92090" y="3573017"/>
            <a:ext cx="3676650" cy="27241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30</a:t>
            </a:fld>
            <a:endParaRPr spc="-16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110" marR="5080">
              <a:lnSpc>
                <a:spcPct val="100000"/>
              </a:lnSpc>
              <a:spcBef>
                <a:spcPts val="100"/>
              </a:spcBef>
            </a:pPr>
            <a:r>
              <a:rPr spc="-330" dirty="0"/>
              <a:t>Operating </a:t>
            </a:r>
            <a:r>
              <a:rPr spc="-500" dirty="0"/>
              <a:t>Systems </a:t>
            </a:r>
            <a:r>
              <a:rPr spc="-270" dirty="0"/>
              <a:t>for </a:t>
            </a:r>
            <a:r>
              <a:rPr spc="-285" dirty="0"/>
              <a:t>Mobile  </a:t>
            </a:r>
            <a:r>
              <a:rPr spc="-455" dirty="0"/>
              <a:t>Devices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31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042909" cy="42697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spc="-5" dirty="0">
                <a:latin typeface="Carlito"/>
                <a:cs typeface="Carlito"/>
              </a:rPr>
              <a:t>Phone 8, </a:t>
            </a: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spc="-90" dirty="0">
                <a:latin typeface="Carlito"/>
                <a:cs typeface="Carlito"/>
              </a:rPr>
              <a:t>RT,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Windows</a:t>
            </a:r>
            <a:r>
              <a:rPr sz="2400" spc="8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Embedded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Windows Phone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Latest version </a:t>
            </a:r>
            <a:r>
              <a:rPr sz="2400" spc="-10" dirty="0">
                <a:latin typeface="Carlito"/>
                <a:cs typeface="Carlito"/>
              </a:rPr>
              <a:t>of Windows </a:t>
            </a: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20" dirty="0">
                <a:latin typeface="Carlito"/>
                <a:cs typeface="Carlito"/>
              </a:rPr>
              <a:t>for</a:t>
            </a:r>
            <a:r>
              <a:rPr sz="2400" spc="-5" dirty="0">
                <a:latin typeface="Carlito"/>
                <a:cs typeface="Carlito"/>
              </a:rPr>
              <a:t> smartphones</a:t>
            </a:r>
            <a:endParaRPr sz="2400">
              <a:latin typeface="Carlito"/>
              <a:cs typeface="Carlito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spc="-5" dirty="0">
                <a:latin typeface="Carlito"/>
                <a:cs typeface="Carlito"/>
              </a:rPr>
              <a:t>Phone </a:t>
            </a:r>
            <a:r>
              <a:rPr sz="2400" dirty="0">
                <a:latin typeface="Carlito"/>
                <a:cs typeface="Carlito"/>
              </a:rPr>
              <a:t>8 is </a:t>
            </a:r>
            <a:r>
              <a:rPr sz="2400" spc="-5" dirty="0">
                <a:latin typeface="Carlito"/>
                <a:cs typeface="Carlito"/>
              </a:rPr>
              <a:t>based </a:t>
            </a:r>
            <a:r>
              <a:rPr sz="2400" spc="-10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dirty="0">
                <a:latin typeface="Carlito"/>
                <a:cs typeface="Carlito"/>
              </a:rPr>
              <a:t>8 </a:t>
            </a:r>
            <a:r>
              <a:rPr sz="2400" spc="-10" dirty="0">
                <a:latin typeface="Carlito"/>
                <a:cs typeface="Carlito"/>
              </a:rPr>
              <a:t>operating  </a:t>
            </a:r>
            <a:r>
              <a:rPr sz="2400" spc="-25" dirty="0">
                <a:latin typeface="Carlito"/>
                <a:cs typeface="Carlito"/>
              </a:rPr>
              <a:t>system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spc="-15" dirty="0">
                <a:latin typeface="Carlito"/>
                <a:cs typeface="Carlito"/>
              </a:rPr>
              <a:t>RT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5" dirty="0">
                <a:latin typeface="Carlito"/>
                <a:cs typeface="Carlito"/>
              </a:rPr>
              <a:t>tablet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use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spc="-5" dirty="0">
                <a:latin typeface="Carlito"/>
                <a:cs typeface="Carlito"/>
              </a:rPr>
              <a:t>Embedded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Designed primarily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consumer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industrial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devices</a:t>
            </a:r>
            <a:endParaRPr sz="2400">
              <a:latin typeface="Carlito"/>
              <a:cs typeface="Carlito"/>
            </a:endParaRPr>
          </a:p>
          <a:p>
            <a:pPr marL="1155700">
              <a:lnSpc>
                <a:spcPct val="100000"/>
              </a:lnSpc>
            </a:pP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5" dirty="0">
                <a:latin typeface="Carlito"/>
                <a:cs typeface="Carlito"/>
              </a:rPr>
              <a:t>not </a:t>
            </a:r>
            <a:r>
              <a:rPr sz="2400" spc="-10" dirty="0">
                <a:latin typeface="Carlito"/>
                <a:cs typeface="Carlito"/>
              </a:rPr>
              <a:t>personal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computers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110" marR="5080">
              <a:lnSpc>
                <a:spcPct val="100000"/>
              </a:lnSpc>
              <a:spcBef>
                <a:spcPts val="100"/>
              </a:spcBef>
            </a:pPr>
            <a:r>
              <a:rPr spc="-330" dirty="0"/>
              <a:t>Operating </a:t>
            </a:r>
            <a:r>
              <a:rPr spc="-500" dirty="0"/>
              <a:t>Systems </a:t>
            </a:r>
            <a:r>
              <a:rPr spc="-270" dirty="0"/>
              <a:t>for </a:t>
            </a:r>
            <a:r>
              <a:rPr spc="-285" dirty="0"/>
              <a:t>Mobile  </a:t>
            </a:r>
            <a:r>
              <a:rPr spc="-420" dirty="0"/>
              <a:t>Phones </a:t>
            </a:r>
            <a:r>
              <a:rPr spc="-360" dirty="0"/>
              <a:t>and </a:t>
            </a:r>
            <a:r>
              <a:rPr spc="-340" dirty="0"/>
              <a:t>Other</a:t>
            </a:r>
            <a:r>
              <a:rPr spc="165" dirty="0"/>
              <a:t> </a:t>
            </a:r>
            <a:r>
              <a:rPr spc="-450" dirty="0"/>
              <a:t>Devices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32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461262"/>
            <a:ext cx="7550784" cy="37572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65760" indent="-353695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365760" algn="l"/>
                <a:tab pos="366395" algn="l"/>
              </a:tabLst>
            </a:pPr>
            <a:r>
              <a:rPr sz="2400" spc="-10" dirty="0">
                <a:latin typeface="Carlito"/>
                <a:cs typeface="Carlito"/>
              </a:rPr>
              <a:t>Android</a:t>
            </a:r>
            <a:endParaRPr sz="2400">
              <a:latin typeface="Carlito"/>
              <a:cs typeface="Carlito"/>
            </a:endParaRPr>
          </a:p>
          <a:p>
            <a:pPr marL="697865" marR="57658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Linux-based </a:t>
            </a:r>
            <a:r>
              <a:rPr sz="2400" spc="-10" dirty="0">
                <a:latin typeface="Carlito"/>
                <a:cs typeface="Carlito"/>
              </a:rPr>
              <a:t>operating </a:t>
            </a:r>
            <a:r>
              <a:rPr sz="2400" spc="-25" dirty="0">
                <a:latin typeface="Carlito"/>
                <a:cs typeface="Carlito"/>
              </a:rPr>
              <a:t>system </a:t>
            </a:r>
            <a:r>
              <a:rPr sz="2400" spc="-15" dirty="0">
                <a:latin typeface="Carlito"/>
                <a:cs typeface="Carlito"/>
              </a:rPr>
              <a:t>created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10" dirty="0">
                <a:latin typeface="Carlito"/>
                <a:cs typeface="Carlito"/>
              </a:rPr>
              <a:t>current  </a:t>
            </a:r>
            <a:r>
              <a:rPr sz="2400" spc="-5" dirty="0">
                <a:latin typeface="Carlito"/>
                <a:cs typeface="Carlito"/>
              </a:rPr>
              <a:t>mobile device capabilities </a:t>
            </a:r>
            <a:r>
              <a:rPr sz="2400" dirty="0">
                <a:latin typeface="Carlito"/>
                <a:cs typeface="Carlito"/>
              </a:rPr>
              <a:t>in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mind</a:t>
            </a:r>
            <a:endParaRPr sz="2400">
              <a:latin typeface="Carlito"/>
              <a:cs typeface="Carlito"/>
            </a:endParaRPr>
          </a:p>
          <a:p>
            <a:pPr marL="697865" marR="321945" lvl="1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Can </a:t>
            </a:r>
            <a:r>
              <a:rPr sz="2400" spc="-15" dirty="0">
                <a:latin typeface="Carlito"/>
                <a:cs typeface="Carlito"/>
              </a:rPr>
              <a:t>create </a:t>
            </a:r>
            <a:r>
              <a:rPr sz="2400" spc="-5" dirty="0">
                <a:latin typeface="Carlito"/>
                <a:cs typeface="Carlito"/>
              </a:rPr>
              <a:t>applications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spc="-25" dirty="0">
                <a:latin typeface="Carlito"/>
                <a:cs typeface="Carlito"/>
              </a:rPr>
              <a:t>take </a:t>
            </a:r>
            <a:r>
              <a:rPr sz="2400" spc="-5" dirty="0">
                <a:latin typeface="Carlito"/>
                <a:cs typeface="Carlito"/>
              </a:rPr>
              <a:t>full </a:t>
            </a:r>
            <a:r>
              <a:rPr sz="2400" spc="-15" dirty="0">
                <a:latin typeface="Carlito"/>
                <a:cs typeface="Carlito"/>
              </a:rPr>
              <a:t>advantage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all  the </a:t>
            </a:r>
            <a:r>
              <a:rPr sz="2400" spc="-15" dirty="0">
                <a:latin typeface="Carlito"/>
                <a:cs typeface="Carlito"/>
              </a:rPr>
              <a:t>features </a:t>
            </a:r>
            <a:r>
              <a:rPr sz="2400" dirty="0">
                <a:latin typeface="Carlito"/>
                <a:cs typeface="Carlito"/>
              </a:rPr>
              <a:t>a mobile </a:t>
            </a:r>
            <a:r>
              <a:rPr sz="2400" spc="-5" dirty="0">
                <a:latin typeface="Carlito"/>
                <a:cs typeface="Carlito"/>
              </a:rPr>
              <a:t>device has </a:t>
            </a:r>
            <a:r>
              <a:rPr sz="2400" spc="-15" dirty="0">
                <a:latin typeface="Carlito"/>
                <a:cs typeface="Carlito"/>
              </a:rPr>
              <a:t>to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offer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Open</a:t>
            </a:r>
            <a:r>
              <a:rPr sz="2400" spc="-15" dirty="0">
                <a:latin typeface="Carlito"/>
                <a:cs typeface="Carlito"/>
              </a:rPr>
              <a:t> platform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Current </a:t>
            </a:r>
            <a:r>
              <a:rPr sz="2400" spc="-15" dirty="0">
                <a:latin typeface="Carlito"/>
                <a:cs typeface="Carlito"/>
              </a:rPr>
              <a:t>version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10" dirty="0">
                <a:latin typeface="Carlito"/>
                <a:cs typeface="Carlito"/>
              </a:rPr>
              <a:t>Android 4.3, </a:t>
            </a:r>
            <a:r>
              <a:rPr sz="2400" dirty="0">
                <a:latin typeface="Carlito"/>
                <a:cs typeface="Carlito"/>
              </a:rPr>
              <a:t>also </a:t>
            </a:r>
            <a:r>
              <a:rPr sz="2400" spc="-5" dirty="0">
                <a:latin typeface="Carlito"/>
                <a:cs typeface="Carlito"/>
              </a:rPr>
              <a:t>known </a:t>
            </a:r>
            <a:r>
              <a:rPr sz="2400" dirty="0">
                <a:latin typeface="Carlito"/>
                <a:cs typeface="Carlito"/>
              </a:rPr>
              <a:t>as Jelly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Bean</a:t>
            </a:r>
            <a:endParaRPr sz="2400">
              <a:latin typeface="Carlito"/>
              <a:cs typeface="Carlito"/>
            </a:endParaRPr>
          </a:p>
          <a:p>
            <a:pPr marL="697865" marR="635635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Devices support multitasking, </a:t>
            </a:r>
            <a:r>
              <a:rPr sz="2400" dirty="0">
                <a:latin typeface="Carlito"/>
                <a:cs typeface="Carlito"/>
              </a:rPr>
              <a:t>multiple </a:t>
            </a:r>
            <a:r>
              <a:rPr sz="2400" spc="-15" dirty="0">
                <a:latin typeface="Carlito"/>
                <a:cs typeface="Carlito"/>
              </a:rPr>
              <a:t>cores, </a:t>
            </a:r>
            <a:r>
              <a:rPr sz="2400" spc="-10" dirty="0">
                <a:latin typeface="Carlito"/>
                <a:cs typeface="Carlito"/>
              </a:rPr>
              <a:t>NFC  </a:t>
            </a:r>
            <a:r>
              <a:rPr sz="2400" spc="-5" dirty="0">
                <a:latin typeface="Carlito"/>
                <a:cs typeface="Carlito"/>
              </a:rPr>
              <a:t>mobile </a:t>
            </a:r>
            <a:r>
              <a:rPr sz="2400" spc="-15" dirty="0">
                <a:latin typeface="Carlito"/>
                <a:cs typeface="Carlito"/>
              </a:rPr>
              <a:t>payment </a:t>
            </a:r>
            <a:r>
              <a:rPr sz="2400" spc="-5" dirty="0">
                <a:latin typeface="Carlito"/>
                <a:cs typeface="Carlito"/>
              </a:rPr>
              <a:t>transactions, </a:t>
            </a:r>
            <a:r>
              <a:rPr sz="2400" spc="-10" dirty="0">
                <a:latin typeface="Carlito"/>
                <a:cs typeface="Carlito"/>
              </a:rPr>
              <a:t>Internet </a:t>
            </a:r>
            <a:r>
              <a:rPr sz="2400" spc="-5" dirty="0">
                <a:latin typeface="Carlito"/>
                <a:cs typeface="Carlito"/>
              </a:rPr>
              <a:t>phone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calls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110" marR="5080">
              <a:lnSpc>
                <a:spcPct val="100000"/>
              </a:lnSpc>
              <a:spcBef>
                <a:spcPts val="100"/>
              </a:spcBef>
            </a:pPr>
            <a:r>
              <a:rPr spc="-330" dirty="0"/>
              <a:t>Operating </a:t>
            </a:r>
            <a:r>
              <a:rPr spc="-500" dirty="0"/>
              <a:t>Systems </a:t>
            </a:r>
            <a:r>
              <a:rPr spc="-270" dirty="0"/>
              <a:t>for </a:t>
            </a:r>
            <a:r>
              <a:rPr spc="-285" dirty="0"/>
              <a:t>Mobile  </a:t>
            </a:r>
            <a:r>
              <a:rPr spc="-420" dirty="0"/>
              <a:t>Phones </a:t>
            </a:r>
            <a:r>
              <a:rPr spc="-360" dirty="0"/>
              <a:t>and </a:t>
            </a:r>
            <a:r>
              <a:rPr spc="-340" dirty="0"/>
              <a:t>Other</a:t>
            </a:r>
            <a:r>
              <a:rPr spc="165" dirty="0"/>
              <a:t> </a:t>
            </a:r>
            <a:r>
              <a:rPr spc="-450" dirty="0"/>
              <a:t>Devices</a:t>
            </a:r>
          </a:p>
        </p:txBody>
      </p:sp>
      <p:sp>
        <p:nvSpPr>
          <p:cNvPr id="3" name="object 3"/>
          <p:cNvSpPr/>
          <p:nvPr/>
        </p:nvSpPr>
        <p:spPr>
          <a:xfrm>
            <a:off x="1045964" y="2130769"/>
            <a:ext cx="5249614" cy="35688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42021" y="3379700"/>
            <a:ext cx="1430809" cy="6920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33</a:t>
            </a:fld>
            <a:endParaRPr spc="-16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110" marR="5080">
              <a:lnSpc>
                <a:spcPct val="100000"/>
              </a:lnSpc>
              <a:spcBef>
                <a:spcPts val="100"/>
              </a:spcBef>
            </a:pPr>
            <a:r>
              <a:rPr spc="-330" dirty="0"/>
              <a:t>Operating </a:t>
            </a:r>
            <a:r>
              <a:rPr spc="-500" dirty="0"/>
              <a:t>Systems </a:t>
            </a:r>
            <a:r>
              <a:rPr spc="-270" dirty="0"/>
              <a:t>for </a:t>
            </a:r>
            <a:r>
              <a:rPr spc="-285" dirty="0"/>
              <a:t>Mobile  </a:t>
            </a:r>
            <a:r>
              <a:rPr spc="-420" dirty="0"/>
              <a:t>Phones </a:t>
            </a:r>
            <a:r>
              <a:rPr spc="-360" dirty="0"/>
              <a:t>and </a:t>
            </a:r>
            <a:r>
              <a:rPr spc="-340" dirty="0"/>
              <a:t>Other</a:t>
            </a:r>
            <a:r>
              <a:rPr spc="165" dirty="0"/>
              <a:t> </a:t>
            </a:r>
            <a:r>
              <a:rPr spc="-450" dirty="0"/>
              <a:t>Devices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34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461262"/>
            <a:ext cx="7497445" cy="33178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299720" algn="l"/>
              </a:tabLst>
            </a:pPr>
            <a:r>
              <a:rPr sz="2400" dirty="0">
                <a:latin typeface="Carlito"/>
                <a:cs typeface="Carlito"/>
              </a:rPr>
              <a:t>iOS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dirty="0">
                <a:latin typeface="Carlito"/>
                <a:cs typeface="Carlito"/>
              </a:rPr>
              <a:t>Apple Mobile </a:t>
            </a:r>
            <a:r>
              <a:rPr sz="2400" spc="-5" dirty="0">
                <a:latin typeface="Carlito"/>
                <a:cs typeface="Carlito"/>
              </a:rPr>
              <a:t>phones </a:t>
            </a:r>
            <a:r>
              <a:rPr sz="2400" dirty="0">
                <a:latin typeface="Carlito"/>
                <a:cs typeface="Carlito"/>
              </a:rPr>
              <a:t>and mobile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devices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Current </a:t>
            </a:r>
            <a:r>
              <a:rPr sz="2400" spc="-15" dirty="0">
                <a:latin typeface="Carlito"/>
                <a:cs typeface="Carlito"/>
              </a:rPr>
              <a:t>version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5" dirty="0">
                <a:latin typeface="Carlito"/>
                <a:cs typeface="Carlito"/>
              </a:rPr>
              <a:t>iOS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7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Supports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multitasking</a:t>
            </a:r>
            <a:endParaRPr sz="2400">
              <a:latin typeface="Carlito"/>
              <a:cs typeface="Carlito"/>
            </a:endParaRPr>
          </a:p>
          <a:p>
            <a:pPr marL="697865" marR="508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Carlito"/>
                <a:cs typeface="Carlito"/>
              </a:rPr>
              <a:t>Includes </a:t>
            </a:r>
            <a:r>
              <a:rPr sz="2400" spc="-15" dirty="0">
                <a:latin typeface="Carlito"/>
                <a:cs typeface="Carlito"/>
              </a:rPr>
              <a:t>Safari </a:t>
            </a:r>
            <a:r>
              <a:rPr sz="2400" spc="-30" dirty="0">
                <a:latin typeface="Carlito"/>
                <a:cs typeface="Carlito"/>
              </a:rPr>
              <a:t>Web </a:t>
            </a:r>
            <a:r>
              <a:rPr sz="2400" spc="-40" dirty="0">
                <a:latin typeface="Carlito"/>
                <a:cs typeface="Carlito"/>
              </a:rPr>
              <a:t>browser,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Siri </a:t>
            </a:r>
            <a:r>
              <a:rPr sz="2400" spc="-10" dirty="0">
                <a:latin typeface="Carlito"/>
                <a:cs typeface="Carlito"/>
              </a:rPr>
              <a:t>intelligent  assistant, </a:t>
            </a:r>
            <a:r>
              <a:rPr sz="2400" i="1" spc="-10" dirty="0">
                <a:latin typeface="Carlito"/>
                <a:cs typeface="Carlito"/>
              </a:rPr>
              <a:t>Facetime </a:t>
            </a:r>
            <a:r>
              <a:rPr sz="2400" spc="-5" dirty="0">
                <a:latin typeface="Carlito"/>
                <a:cs typeface="Carlito"/>
              </a:rPr>
              <a:t>video </a:t>
            </a:r>
            <a:r>
              <a:rPr sz="2400" dirty="0">
                <a:latin typeface="Carlito"/>
                <a:cs typeface="Carlito"/>
              </a:rPr>
              <a:t>calling, </a:t>
            </a:r>
            <a:r>
              <a:rPr sz="2400" i="1" dirty="0">
                <a:latin typeface="Carlito"/>
                <a:cs typeface="Carlito"/>
              </a:rPr>
              <a:t>AirDrop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send items 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others,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apps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dirty="0">
                <a:latin typeface="Carlito"/>
                <a:cs typeface="Carlito"/>
              </a:rPr>
              <a:t>email, messaging, music, and  </a:t>
            </a:r>
            <a:r>
              <a:rPr sz="2400" spc="-10" dirty="0">
                <a:latin typeface="Carlito"/>
                <a:cs typeface="Carlito"/>
              </a:rPr>
              <a:t>search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110" marR="5080">
              <a:lnSpc>
                <a:spcPct val="100000"/>
              </a:lnSpc>
              <a:spcBef>
                <a:spcPts val="100"/>
              </a:spcBef>
            </a:pPr>
            <a:r>
              <a:rPr spc="-330" dirty="0"/>
              <a:t>Operating </a:t>
            </a:r>
            <a:r>
              <a:rPr spc="-500" dirty="0"/>
              <a:t>Systems </a:t>
            </a:r>
            <a:r>
              <a:rPr spc="-270" dirty="0"/>
              <a:t>for </a:t>
            </a:r>
            <a:r>
              <a:rPr spc="-285" dirty="0"/>
              <a:t>Mobile  </a:t>
            </a:r>
            <a:r>
              <a:rPr spc="-420" dirty="0"/>
              <a:t>Phones </a:t>
            </a:r>
            <a:r>
              <a:rPr spc="-360" dirty="0"/>
              <a:t>and </a:t>
            </a:r>
            <a:r>
              <a:rPr spc="-340" dirty="0"/>
              <a:t>Other</a:t>
            </a:r>
            <a:r>
              <a:rPr spc="165" dirty="0"/>
              <a:t> </a:t>
            </a:r>
            <a:r>
              <a:rPr spc="-450" dirty="0"/>
              <a:t>Devices</a:t>
            </a:r>
          </a:p>
        </p:txBody>
      </p:sp>
      <p:sp>
        <p:nvSpPr>
          <p:cNvPr id="3" name="object 3"/>
          <p:cNvSpPr/>
          <p:nvPr/>
        </p:nvSpPr>
        <p:spPr>
          <a:xfrm>
            <a:off x="1469376" y="2112169"/>
            <a:ext cx="4456062" cy="35681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491859" y="3044570"/>
            <a:ext cx="1095375" cy="3333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35</a:t>
            </a:fld>
            <a:endParaRPr spc="-16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110" marR="5080">
              <a:lnSpc>
                <a:spcPct val="100000"/>
              </a:lnSpc>
              <a:spcBef>
                <a:spcPts val="100"/>
              </a:spcBef>
            </a:pPr>
            <a:r>
              <a:rPr spc="-330" dirty="0"/>
              <a:t>Operating </a:t>
            </a:r>
            <a:r>
              <a:rPr spc="-500" dirty="0"/>
              <a:t>Systems </a:t>
            </a:r>
            <a:r>
              <a:rPr spc="-270" dirty="0"/>
              <a:t>for </a:t>
            </a:r>
            <a:r>
              <a:rPr spc="-285" dirty="0"/>
              <a:t>Mobile  </a:t>
            </a:r>
            <a:r>
              <a:rPr spc="-420" dirty="0"/>
              <a:t>Phones </a:t>
            </a:r>
            <a:r>
              <a:rPr spc="-360" dirty="0"/>
              <a:t>and </a:t>
            </a:r>
            <a:r>
              <a:rPr spc="-340" dirty="0"/>
              <a:t>Other</a:t>
            </a:r>
            <a:r>
              <a:rPr spc="165" dirty="0"/>
              <a:t> </a:t>
            </a:r>
            <a:r>
              <a:rPr spc="-450" dirty="0"/>
              <a:t>Devices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36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461262"/>
            <a:ext cx="7572375" cy="25869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299720" algn="l"/>
              </a:tabLst>
            </a:pPr>
            <a:r>
              <a:rPr sz="2400" dirty="0">
                <a:latin typeface="Carlito"/>
                <a:cs typeface="Carlito"/>
              </a:rPr>
              <a:t>Blackberry </a:t>
            </a:r>
            <a:r>
              <a:rPr sz="2400" spc="-5" dirty="0">
                <a:latin typeface="Carlito"/>
                <a:cs typeface="Carlito"/>
              </a:rPr>
              <a:t>OS </a:t>
            </a:r>
            <a:r>
              <a:rPr sz="2400" dirty="0">
                <a:latin typeface="Carlito"/>
                <a:cs typeface="Carlito"/>
              </a:rPr>
              <a:t>and Blackberry </a:t>
            </a:r>
            <a:r>
              <a:rPr sz="2400" spc="-10" dirty="0">
                <a:latin typeface="Carlito"/>
                <a:cs typeface="Carlito"/>
              </a:rPr>
              <a:t>PlayBook</a:t>
            </a:r>
            <a:r>
              <a:rPr sz="2400" spc="-10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OS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dirty="0">
                <a:latin typeface="Carlito"/>
                <a:cs typeface="Carlito"/>
              </a:rPr>
              <a:t>Blackberry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devices</a:t>
            </a:r>
            <a:endParaRPr sz="24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5" dirty="0">
                <a:latin typeface="Carlito"/>
                <a:cs typeface="Carlito"/>
              </a:rPr>
              <a:t>Mobile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Linux</a:t>
            </a:r>
            <a:endParaRPr sz="2400">
              <a:latin typeface="Carlito"/>
              <a:cs typeface="Carlito"/>
            </a:endParaRPr>
          </a:p>
          <a:p>
            <a:pPr marL="697865" marR="508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Other </a:t>
            </a:r>
            <a:r>
              <a:rPr sz="2400" dirty="0">
                <a:latin typeface="Carlito"/>
                <a:cs typeface="Carlito"/>
              </a:rPr>
              <a:t>mobile </a:t>
            </a:r>
            <a:r>
              <a:rPr sz="2400" spc="-10" dirty="0">
                <a:latin typeface="Carlito"/>
                <a:cs typeface="Carlito"/>
              </a:rPr>
              <a:t>operating </a:t>
            </a:r>
            <a:r>
              <a:rPr sz="2400" spc="-20" dirty="0">
                <a:latin typeface="Carlito"/>
                <a:cs typeface="Carlito"/>
              </a:rPr>
              <a:t>systems </a:t>
            </a:r>
            <a:r>
              <a:rPr sz="2400" spc="-5" dirty="0">
                <a:latin typeface="Carlito"/>
                <a:cs typeface="Carlito"/>
              </a:rPr>
              <a:t>based on Linux besides  </a:t>
            </a:r>
            <a:r>
              <a:rPr sz="2400" spc="-10" dirty="0">
                <a:latin typeface="Carlito"/>
                <a:cs typeface="Carlito"/>
              </a:rPr>
              <a:t>Android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iOs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Ubuntu, webOS, </a:t>
            </a:r>
            <a:r>
              <a:rPr sz="2400" spc="-25" dirty="0">
                <a:latin typeface="Carlito"/>
                <a:cs typeface="Carlito"/>
              </a:rPr>
              <a:t>Firefox </a:t>
            </a:r>
            <a:r>
              <a:rPr sz="2400" spc="-5" dirty="0">
                <a:latin typeface="Carlito"/>
                <a:cs typeface="Carlito"/>
              </a:rPr>
              <a:t>OS,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Tizen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110" marR="5080">
              <a:lnSpc>
                <a:spcPct val="100000"/>
              </a:lnSpc>
              <a:spcBef>
                <a:spcPts val="100"/>
              </a:spcBef>
            </a:pPr>
            <a:r>
              <a:rPr spc="-330" dirty="0"/>
              <a:t>Operating </a:t>
            </a:r>
            <a:r>
              <a:rPr spc="-500" dirty="0"/>
              <a:t>Systems </a:t>
            </a:r>
            <a:r>
              <a:rPr spc="-270" dirty="0"/>
              <a:t>for </a:t>
            </a:r>
            <a:r>
              <a:rPr spc="-409" dirty="0"/>
              <a:t>Larger  </a:t>
            </a:r>
            <a:r>
              <a:rPr spc="-395" dirty="0"/>
              <a:t>Computers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37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34414"/>
            <a:ext cx="8058150" cy="2806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18745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5" dirty="0">
                <a:latin typeface="Carlito"/>
                <a:cs typeface="Carlito"/>
              </a:rPr>
              <a:t>Larger computers </a:t>
            </a:r>
            <a:r>
              <a:rPr sz="2400" spc="-5" dirty="0">
                <a:latin typeface="Carlito"/>
                <a:cs typeface="Carlito"/>
              </a:rPr>
              <a:t>sometimes use </a:t>
            </a:r>
            <a:r>
              <a:rPr sz="2400" spc="-10" dirty="0">
                <a:latin typeface="Carlito"/>
                <a:cs typeface="Carlito"/>
              </a:rPr>
              <a:t>operating </a:t>
            </a:r>
            <a:r>
              <a:rPr sz="2400" spc="-20" dirty="0">
                <a:latin typeface="Carlito"/>
                <a:cs typeface="Carlito"/>
              </a:rPr>
              <a:t>systems </a:t>
            </a:r>
            <a:r>
              <a:rPr sz="2400" spc="-5" dirty="0">
                <a:latin typeface="Carlito"/>
                <a:cs typeface="Carlito"/>
              </a:rPr>
              <a:t>designed  solely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dirty="0">
                <a:latin typeface="Carlito"/>
                <a:cs typeface="Carlito"/>
              </a:rPr>
              <a:t>type </a:t>
            </a:r>
            <a:r>
              <a:rPr sz="2400" spc="-5" dirty="0">
                <a:latin typeface="Carlito"/>
                <a:cs typeface="Carlito"/>
              </a:rPr>
              <a:t>of</a:t>
            </a:r>
            <a:r>
              <a:rPr sz="2400" spc="-10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system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spc="-130" dirty="0">
                <a:latin typeface="Arial"/>
                <a:cs typeface="Arial"/>
              </a:rPr>
              <a:t>IBM’s </a:t>
            </a:r>
            <a:r>
              <a:rPr sz="2400" spc="-195" dirty="0">
                <a:latin typeface="Arial"/>
                <a:cs typeface="Arial"/>
              </a:rPr>
              <a:t>z/OS </a:t>
            </a:r>
            <a:r>
              <a:rPr sz="2400" spc="-125" dirty="0">
                <a:latin typeface="Arial"/>
                <a:cs typeface="Arial"/>
              </a:rPr>
              <a:t>is designed </a:t>
            </a:r>
            <a:r>
              <a:rPr sz="2400" spc="-10" dirty="0">
                <a:latin typeface="Arial"/>
                <a:cs typeface="Arial"/>
              </a:rPr>
              <a:t>for </a:t>
            </a:r>
            <a:r>
              <a:rPr sz="2400" spc="-105" dirty="0">
                <a:latin typeface="Arial"/>
                <a:cs typeface="Arial"/>
              </a:rPr>
              <a:t>IBM</a:t>
            </a:r>
            <a:r>
              <a:rPr sz="2400" spc="-265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mainframes</a:t>
            </a:r>
            <a:endParaRPr sz="2400">
              <a:latin typeface="Arial"/>
              <a:cs typeface="Arial"/>
            </a:endParaRPr>
          </a:p>
          <a:p>
            <a:pPr marL="355600" marR="109728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Windows, </a:t>
            </a:r>
            <a:r>
              <a:rPr sz="2400" spc="-5" dirty="0">
                <a:latin typeface="Carlito"/>
                <a:cs typeface="Carlito"/>
              </a:rPr>
              <a:t>UNIX,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Linux </a:t>
            </a:r>
            <a:r>
              <a:rPr sz="2400" spc="-10" dirty="0">
                <a:latin typeface="Carlito"/>
                <a:cs typeface="Carlito"/>
              </a:rPr>
              <a:t>are </a:t>
            </a:r>
            <a:r>
              <a:rPr sz="2400" dirty="0">
                <a:latin typeface="Carlito"/>
                <a:cs typeface="Carlito"/>
              </a:rPr>
              <a:t>also </a:t>
            </a: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10" dirty="0">
                <a:latin typeface="Carlito"/>
                <a:cs typeface="Carlito"/>
              </a:rPr>
              <a:t>servers,  mainframes,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supercomputers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5" dirty="0">
                <a:latin typeface="Carlito"/>
                <a:cs typeface="Carlito"/>
              </a:rPr>
              <a:t>Larger computers </a:t>
            </a:r>
            <a:r>
              <a:rPr sz="2400" spc="-20" dirty="0">
                <a:latin typeface="Carlito"/>
                <a:cs typeface="Carlito"/>
              </a:rPr>
              <a:t>may </a:t>
            </a:r>
            <a:r>
              <a:rPr sz="2400" dirty="0">
                <a:latin typeface="Carlito"/>
                <a:cs typeface="Carlito"/>
              </a:rPr>
              <a:t>also </a:t>
            </a:r>
            <a:r>
              <a:rPr sz="2400" spc="-5" dirty="0">
                <a:latin typeface="Carlito"/>
                <a:cs typeface="Carlito"/>
              </a:rPr>
              <a:t>use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5" dirty="0">
                <a:latin typeface="Carlito"/>
                <a:cs typeface="Carlito"/>
              </a:rPr>
              <a:t>customized </a:t>
            </a:r>
            <a:r>
              <a:rPr sz="2400" spc="-10" dirty="0">
                <a:latin typeface="Carlito"/>
                <a:cs typeface="Carlito"/>
              </a:rPr>
              <a:t>operating</a:t>
            </a:r>
            <a:r>
              <a:rPr sz="2400" spc="5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system</a:t>
            </a:r>
            <a:endParaRPr sz="24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</a:pPr>
            <a:r>
              <a:rPr sz="2400" spc="-5" dirty="0">
                <a:latin typeface="Carlito"/>
                <a:cs typeface="Carlito"/>
              </a:rPr>
              <a:t>based on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5" dirty="0">
                <a:latin typeface="Carlito"/>
                <a:cs typeface="Carlito"/>
              </a:rPr>
              <a:t>conventional operating</a:t>
            </a:r>
            <a:r>
              <a:rPr sz="2400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system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6266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0" dirty="0"/>
              <a:t>Inside </a:t>
            </a:r>
            <a:r>
              <a:rPr sz="3600" spc="-425" dirty="0"/>
              <a:t>the </a:t>
            </a:r>
            <a:r>
              <a:rPr sz="3600" spc="-415" dirty="0"/>
              <a:t>Industry</a:t>
            </a:r>
            <a:r>
              <a:rPr sz="3600" spc="175" dirty="0"/>
              <a:t> </a:t>
            </a:r>
            <a:r>
              <a:rPr sz="3600" spc="-600" dirty="0"/>
              <a:t>Box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896859" cy="33178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b="1" spc="-20" dirty="0">
                <a:latin typeface="Carlito"/>
                <a:cs typeface="Carlito"/>
              </a:rPr>
              <a:t>Weather </a:t>
            </a:r>
            <a:r>
              <a:rPr sz="2400" b="1" spc="-10" dirty="0">
                <a:latin typeface="Carlito"/>
                <a:cs typeface="Carlito"/>
              </a:rPr>
              <a:t>Forecasting </a:t>
            </a:r>
            <a:r>
              <a:rPr sz="2400" b="1" dirty="0">
                <a:latin typeface="Carlito"/>
                <a:cs typeface="Carlito"/>
              </a:rPr>
              <a:t>in </a:t>
            </a:r>
            <a:r>
              <a:rPr sz="2400" b="1" spc="-5" dirty="0">
                <a:latin typeface="Carlito"/>
                <a:cs typeface="Carlito"/>
              </a:rPr>
              <a:t>the</a:t>
            </a:r>
            <a:r>
              <a:rPr sz="2400" b="1" spc="-10" dirty="0">
                <a:latin typeface="Carlito"/>
                <a:cs typeface="Carlito"/>
              </a:rPr>
              <a:t> Alps</a:t>
            </a:r>
            <a:endParaRPr sz="2400">
              <a:latin typeface="Carlito"/>
              <a:cs typeface="Carlito"/>
            </a:endParaRPr>
          </a:p>
          <a:p>
            <a:pPr marL="756285" marR="5080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Weather forecasting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10" dirty="0">
                <a:latin typeface="Carlito"/>
                <a:cs typeface="Carlito"/>
              </a:rPr>
              <a:t>difficult </a:t>
            </a:r>
            <a:r>
              <a:rPr sz="2400" dirty="0">
                <a:latin typeface="Carlito"/>
                <a:cs typeface="Carlito"/>
              </a:rPr>
              <a:t>in the </a:t>
            </a:r>
            <a:r>
              <a:rPr sz="2400" spc="-5" dirty="0">
                <a:latin typeface="Carlito"/>
                <a:cs typeface="Carlito"/>
              </a:rPr>
              <a:t>Alps due </a:t>
            </a:r>
            <a:r>
              <a:rPr sz="2400" spc="-15" dirty="0">
                <a:latin typeface="Carlito"/>
                <a:cs typeface="Carlito"/>
              </a:rPr>
              <a:t>to complex  topography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intense</a:t>
            </a:r>
            <a:r>
              <a:rPr sz="240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precipitation</a:t>
            </a:r>
            <a:endParaRPr sz="2400">
              <a:latin typeface="Carlito"/>
              <a:cs typeface="Carlito"/>
            </a:endParaRPr>
          </a:p>
          <a:p>
            <a:pPr marL="756285" marR="352425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Supercomputer </a:t>
            </a:r>
            <a:r>
              <a:rPr sz="2400" dirty="0">
                <a:latin typeface="Carlito"/>
                <a:cs typeface="Carlito"/>
              </a:rPr>
              <a:t>Piz </a:t>
            </a:r>
            <a:r>
              <a:rPr sz="2400" spc="-10" dirty="0">
                <a:latin typeface="Carlito"/>
                <a:cs typeface="Carlito"/>
              </a:rPr>
              <a:t>Daint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5" dirty="0">
                <a:latin typeface="Carlito"/>
                <a:cs typeface="Carlito"/>
              </a:rPr>
              <a:t>Linux based, uses CPUs </a:t>
            </a:r>
            <a:r>
              <a:rPr sz="2400" dirty="0">
                <a:latin typeface="Carlito"/>
                <a:cs typeface="Carlito"/>
              </a:rPr>
              <a:t>and  </a:t>
            </a:r>
            <a:r>
              <a:rPr sz="2400" spc="-5" dirty="0">
                <a:latin typeface="Carlito"/>
                <a:cs typeface="Carlito"/>
              </a:rPr>
              <a:t>GPUS, </a:t>
            </a:r>
            <a:r>
              <a:rPr sz="2400" dirty="0">
                <a:latin typeface="Carlito"/>
                <a:cs typeface="Carlito"/>
              </a:rPr>
              <a:t>and runs </a:t>
            </a:r>
            <a:r>
              <a:rPr sz="2400" spc="-15" dirty="0">
                <a:latin typeface="Carlito"/>
                <a:cs typeface="Carlito"/>
              </a:rPr>
              <a:t>at </a:t>
            </a:r>
            <a:r>
              <a:rPr sz="2400" spc="-5" dirty="0">
                <a:latin typeface="Carlito"/>
                <a:cs typeface="Carlito"/>
              </a:rPr>
              <a:t>750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teraflops</a:t>
            </a:r>
            <a:endParaRPr sz="2400">
              <a:latin typeface="Carlito"/>
              <a:cs typeface="Carlito"/>
            </a:endParaRPr>
          </a:p>
          <a:p>
            <a:pPr marL="756285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Can </a:t>
            </a:r>
            <a:r>
              <a:rPr sz="2400" dirty="0">
                <a:latin typeface="Carlito"/>
                <a:cs typeface="Carlito"/>
              </a:rPr>
              <a:t>run </a:t>
            </a:r>
            <a:r>
              <a:rPr sz="2400" spc="-5" dirty="0">
                <a:latin typeface="Carlito"/>
                <a:cs typeface="Carlito"/>
              </a:rPr>
              <a:t>30 </a:t>
            </a:r>
            <a:r>
              <a:rPr sz="2400" spc="-10" dirty="0">
                <a:latin typeface="Carlito"/>
                <a:cs typeface="Carlito"/>
              </a:rPr>
              <a:t>weather </a:t>
            </a:r>
            <a:r>
              <a:rPr sz="2400" spc="-15" dirty="0">
                <a:latin typeface="Carlito"/>
                <a:cs typeface="Carlito"/>
              </a:rPr>
              <a:t>forecasting </a:t>
            </a:r>
            <a:r>
              <a:rPr sz="2400" dirty="0">
                <a:latin typeface="Carlito"/>
                <a:cs typeface="Carlito"/>
              </a:rPr>
              <a:t>models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simultaneously</a:t>
            </a:r>
            <a:endParaRPr sz="2400">
              <a:latin typeface="Carlito"/>
              <a:cs typeface="Carlito"/>
            </a:endParaRPr>
          </a:p>
          <a:p>
            <a:pPr marL="756285" marR="3986529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Cooled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20" dirty="0">
                <a:latin typeface="Carlito"/>
                <a:cs typeface="Carlito"/>
              </a:rPr>
              <a:t>water </a:t>
            </a:r>
            <a:r>
              <a:rPr sz="2400" spc="-15" dirty="0">
                <a:latin typeface="Carlito"/>
                <a:cs typeface="Carlito"/>
              </a:rPr>
              <a:t>from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  </a:t>
            </a:r>
            <a:r>
              <a:rPr sz="2400" spc="-5" dirty="0">
                <a:latin typeface="Carlito"/>
                <a:cs typeface="Carlito"/>
              </a:rPr>
              <a:t>nearby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lake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973573" y="4005110"/>
            <a:ext cx="3781805" cy="23597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38</a:t>
            </a:fld>
            <a:endParaRPr spc="-16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2588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90" dirty="0"/>
              <a:t>Utility</a:t>
            </a:r>
            <a:r>
              <a:rPr sz="3600" spc="-280" dirty="0"/>
              <a:t> </a:t>
            </a:r>
            <a:r>
              <a:rPr sz="3600" spc="-455" dirty="0"/>
              <a:t>Programs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709534" cy="361061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Utility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Program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Software </a:t>
            </a:r>
            <a:r>
              <a:rPr sz="2400" spc="-10" dirty="0">
                <a:latin typeface="Carlito"/>
                <a:cs typeface="Carlito"/>
              </a:rPr>
              <a:t>that performs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specific task, usually </a:t>
            </a:r>
            <a:r>
              <a:rPr sz="2400" spc="-15" dirty="0">
                <a:latin typeface="Carlito"/>
                <a:cs typeface="Carlito"/>
              </a:rPr>
              <a:t>related to  </a:t>
            </a:r>
            <a:r>
              <a:rPr sz="2400" dirty="0">
                <a:latin typeface="Carlito"/>
                <a:cs typeface="Carlito"/>
              </a:rPr>
              <a:t>managing </a:t>
            </a:r>
            <a:r>
              <a:rPr sz="2400" spc="-5" dirty="0">
                <a:latin typeface="Carlito"/>
                <a:cs typeface="Carlito"/>
              </a:rPr>
              <a:t>or maintaining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computer</a:t>
            </a:r>
            <a:r>
              <a:rPr sz="2400" spc="-100" dirty="0">
                <a:latin typeface="Carlito"/>
                <a:cs typeface="Carlito"/>
              </a:rPr>
              <a:t> </a:t>
            </a:r>
            <a:r>
              <a:rPr sz="2400" spc="-25" dirty="0">
                <a:latin typeface="Carlito"/>
                <a:cs typeface="Carlito"/>
              </a:rPr>
              <a:t>system</a:t>
            </a:r>
            <a:endParaRPr sz="2400">
              <a:latin typeface="Carlito"/>
              <a:cs typeface="Carlito"/>
            </a:endParaRPr>
          </a:p>
          <a:p>
            <a:pPr marL="756285" marR="235394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Many </a:t>
            </a:r>
            <a:r>
              <a:rPr sz="2400" spc="-5" dirty="0">
                <a:latin typeface="Carlito"/>
                <a:cs typeface="Carlito"/>
              </a:rPr>
              <a:t>utilities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5" dirty="0">
                <a:latin typeface="Carlito"/>
                <a:cs typeface="Carlito"/>
              </a:rPr>
              <a:t>built </a:t>
            </a:r>
            <a:r>
              <a:rPr sz="2400" spc="-15" dirty="0">
                <a:latin typeface="Carlito"/>
                <a:cs typeface="Carlito"/>
              </a:rPr>
              <a:t>into operating  </a:t>
            </a:r>
            <a:r>
              <a:rPr sz="2400" spc="-20" dirty="0">
                <a:latin typeface="Carlito"/>
                <a:cs typeface="Carlito"/>
              </a:rPr>
              <a:t>systems </a:t>
            </a:r>
            <a:r>
              <a:rPr sz="2400" spc="-15" dirty="0">
                <a:latin typeface="Carlito"/>
                <a:cs typeface="Carlito"/>
              </a:rPr>
              <a:t>(for </a:t>
            </a:r>
            <a:r>
              <a:rPr sz="2400" spc="-5" dirty="0">
                <a:latin typeface="Carlito"/>
                <a:cs typeface="Carlito"/>
              </a:rPr>
              <a:t>finding files, viewing  images, backing up files,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etc.)</a:t>
            </a:r>
            <a:endParaRPr sz="2400">
              <a:latin typeface="Carlito"/>
              <a:cs typeface="Carlito"/>
            </a:endParaRPr>
          </a:p>
          <a:p>
            <a:pPr marL="756285" marR="3472179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Utilities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dirty="0">
                <a:latin typeface="Carlito"/>
                <a:cs typeface="Carlito"/>
              </a:rPr>
              <a:t>also </a:t>
            </a:r>
            <a:r>
              <a:rPr sz="2400" spc="-10" dirty="0">
                <a:latin typeface="Carlito"/>
                <a:cs typeface="Carlito"/>
              </a:rPr>
              <a:t>available</a:t>
            </a:r>
            <a:r>
              <a:rPr sz="2400" spc="-10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as  </a:t>
            </a:r>
            <a:r>
              <a:rPr sz="2400" spc="-10" dirty="0">
                <a:latin typeface="Carlito"/>
                <a:cs typeface="Carlito"/>
              </a:rPr>
              <a:t>stand-alone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products</a:t>
            </a:r>
            <a:endParaRPr sz="2400">
              <a:latin typeface="Carlito"/>
              <a:cs typeface="Carlito"/>
            </a:endParaRPr>
          </a:p>
          <a:p>
            <a:pPr marL="756285">
              <a:lnSpc>
                <a:spcPct val="100000"/>
              </a:lnSpc>
            </a:pPr>
            <a:r>
              <a:rPr sz="2400" dirty="0">
                <a:latin typeface="Carlito"/>
                <a:cs typeface="Carlito"/>
              </a:rPr>
              <a:t>and as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suites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239000" y="3733800"/>
            <a:ext cx="2551049" cy="3566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025318" y="4999946"/>
            <a:ext cx="1579736" cy="7494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39</a:t>
            </a:fld>
            <a:endParaRPr spc="-16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55835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59" dirty="0"/>
              <a:t>File </a:t>
            </a:r>
            <a:r>
              <a:rPr sz="3600" spc="-425" dirty="0"/>
              <a:t>Management</a:t>
            </a:r>
            <a:r>
              <a:rPr sz="3600" spc="-5" dirty="0"/>
              <a:t> </a:t>
            </a:r>
            <a:r>
              <a:rPr sz="3600" spc="-455" dirty="0"/>
              <a:t>Programs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40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069580" cy="383095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Enable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user </a:t>
            </a:r>
            <a:r>
              <a:rPr sz="2400" spc="-15" dirty="0">
                <a:latin typeface="Carlito"/>
                <a:cs typeface="Carlito"/>
              </a:rPr>
              <a:t>to perform </a:t>
            </a:r>
            <a:r>
              <a:rPr sz="2400" spc="-5" dirty="0">
                <a:latin typeface="Carlito"/>
                <a:cs typeface="Carlito"/>
              </a:rPr>
              <a:t>file management </a:t>
            </a:r>
            <a:r>
              <a:rPr sz="2400" spc="-10" dirty="0">
                <a:latin typeface="Carlito"/>
                <a:cs typeface="Carlito"/>
              </a:rPr>
              <a:t>tasks, </a:t>
            </a:r>
            <a:r>
              <a:rPr sz="2400" spc="-5" dirty="0">
                <a:latin typeface="Carlito"/>
                <a:cs typeface="Carlito"/>
              </a:rPr>
              <a:t>such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as: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Looking </a:t>
            </a:r>
            <a:r>
              <a:rPr sz="2400" spc="-15" dirty="0">
                <a:latin typeface="Carlito"/>
                <a:cs typeface="Carlito"/>
              </a:rPr>
              <a:t>at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contents </a:t>
            </a:r>
            <a:r>
              <a:rPr sz="2400" spc="-10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20" dirty="0">
                <a:latin typeface="Carlito"/>
                <a:cs typeface="Carlito"/>
              </a:rPr>
              <a:t>storage </a:t>
            </a:r>
            <a:r>
              <a:rPr sz="2400" dirty="0">
                <a:latin typeface="Carlito"/>
                <a:cs typeface="Carlito"/>
              </a:rPr>
              <a:t>medium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Copying, moving,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renaming files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folders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Deleting files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folders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File management </a:t>
            </a:r>
            <a:r>
              <a:rPr sz="2400" spc="-15" dirty="0">
                <a:latin typeface="Carlito"/>
                <a:cs typeface="Carlito"/>
              </a:rPr>
              <a:t>program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dirty="0">
                <a:latin typeface="Carlito"/>
                <a:cs typeface="Carlito"/>
              </a:rPr>
              <a:t>8 is </a:t>
            </a:r>
            <a:r>
              <a:rPr sz="2400" spc="-5" dirty="0">
                <a:latin typeface="Carlito"/>
                <a:cs typeface="Carlito"/>
              </a:rPr>
              <a:t>File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Explorer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14" dirty="0">
                <a:latin typeface="Carlito"/>
                <a:cs typeface="Carlito"/>
              </a:rPr>
              <a:t>To </a:t>
            </a:r>
            <a:r>
              <a:rPr sz="2400" spc="-15" dirty="0">
                <a:latin typeface="Carlito"/>
                <a:cs typeface="Carlito"/>
              </a:rPr>
              <a:t>copy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spc="-15" dirty="0">
                <a:latin typeface="Carlito"/>
                <a:cs typeface="Carlito"/>
              </a:rPr>
              <a:t>move </a:t>
            </a:r>
            <a:r>
              <a:rPr sz="2400" spc="-5" dirty="0">
                <a:latin typeface="Carlito"/>
                <a:cs typeface="Carlito"/>
              </a:rPr>
              <a:t>files, </a:t>
            </a:r>
            <a:r>
              <a:rPr sz="2400" spc="-10" dirty="0">
                <a:latin typeface="Carlito"/>
                <a:cs typeface="Carlito"/>
              </a:rPr>
              <a:t>use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Home </a:t>
            </a:r>
            <a:r>
              <a:rPr sz="2400" spc="-10" dirty="0">
                <a:latin typeface="Carlito"/>
                <a:cs typeface="Carlito"/>
              </a:rPr>
              <a:t>tab </a:t>
            </a:r>
            <a:r>
              <a:rPr sz="2400" spc="-15" dirty="0">
                <a:latin typeface="Carlito"/>
                <a:cs typeface="Carlito"/>
              </a:rPr>
              <a:t>to copy </a:t>
            </a:r>
            <a:r>
              <a:rPr sz="2400" spc="-5" dirty="0">
                <a:latin typeface="Carlito"/>
                <a:cs typeface="Carlito"/>
              </a:rPr>
              <a:t>(or</a:t>
            </a:r>
            <a:r>
              <a:rPr sz="2400" spc="13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cut)</a:t>
            </a:r>
            <a:endParaRPr sz="2400">
              <a:latin typeface="Carlito"/>
              <a:cs typeface="Carlito"/>
            </a:endParaRPr>
          </a:p>
          <a:p>
            <a:pPr marL="1155700">
              <a:lnSpc>
                <a:spcPct val="100000"/>
              </a:lnSpc>
            </a:pPr>
            <a:r>
              <a:rPr sz="2400" dirty="0">
                <a:latin typeface="Carlito"/>
                <a:cs typeface="Carlito"/>
              </a:rPr>
              <a:t>and then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paste</a:t>
            </a:r>
            <a:endParaRPr sz="2400">
              <a:latin typeface="Carlito"/>
              <a:cs typeface="Carlito"/>
            </a:endParaRPr>
          </a:p>
          <a:p>
            <a:pPr marL="1155700" marR="35941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14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delete </a:t>
            </a:r>
            <a:r>
              <a:rPr sz="2400" spc="-5" dirty="0">
                <a:latin typeface="Carlito"/>
                <a:cs typeface="Carlito"/>
              </a:rPr>
              <a:t>files, use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Delete </a:t>
            </a:r>
            <a:r>
              <a:rPr sz="2400" spc="-25" dirty="0">
                <a:latin typeface="Carlito"/>
                <a:cs typeface="Carlito"/>
              </a:rPr>
              <a:t>key </a:t>
            </a:r>
            <a:r>
              <a:rPr sz="2400" spc="-5" dirty="0">
                <a:latin typeface="Carlito"/>
                <a:cs typeface="Carlito"/>
              </a:rPr>
              <a:t>on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keyboard </a:t>
            </a:r>
            <a:r>
              <a:rPr sz="2400" spc="-5" dirty="0">
                <a:latin typeface="Carlito"/>
                <a:cs typeface="Carlito"/>
              </a:rPr>
              <a:t>or 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Home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tab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55835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59" dirty="0"/>
              <a:t>File </a:t>
            </a:r>
            <a:r>
              <a:rPr sz="3600" spc="-425" dirty="0"/>
              <a:t>Management</a:t>
            </a:r>
            <a:r>
              <a:rPr sz="3600" spc="-5" dirty="0"/>
              <a:t> </a:t>
            </a:r>
            <a:r>
              <a:rPr sz="3600" spc="-455" dirty="0"/>
              <a:t>Programs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827582" y="1535583"/>
            <a:ext cx="7468796" cy="47924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41</a:t>
            </a:fld>
            <a:endParaRPr spc="-16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6137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15" dirty="0"/>
              <a:t>How </a:t>
            </a:r>
            <a:r>
              <a:rPr sz="3600" spc="-415" dirty="0"/>
              <a:t>It </a:t>
            </a:r>
            <a:r>
              <a:rPr sz="3600" spc="-440" dirty="0"/>
              <a:t>Works</a:t>
            </a:r>
            <a:r>
              <a:rPr sz="3600" spc="-470" dirty="0"/>
              <a:t> </a:t>
            </a:r>
            <a:r>
              <a:rPr sz="3600" spc="-600" dirty="0"/>
              <a:t>Box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2654300" cy="390397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b="1" spc="-5" dirty="0">
                <a:latin typeface="Carlito"/>
                <a:cs typeface="Carlito"/>
              </a:rPr>
              <a:t>Sending </a:t>
            </a:r>
            <a:r>
              <a:rPr sz="2400" b="1" spc="-15" dirty="0">
                <a:latin typeface="Carlito"/>
                <a:cs typeface="Carlito"/>
              </a:rPr>
              <a:t>to </a:t>
            </a:r>
            <a:r>
              <a:rPr sz="2400" b="1" spc="-5" dirty="0">
                <a:latin typeface="Carlito"/>
                <a:cs typeface="Carlito"/>
              </a:rPr>
              <a:t>the</a:t>
            </a:r>
            <a:r>
              <a:rPr sz="2400" b="1" spc="-55" dirty="0">
                <a:latin typeface="Carlito"/>
                <a:cs typeface="Carlito"/>
              </a:rPr>
              <a:t> </a:t>
            </a:r>
            <a:r>
              <a:rPr sz="2400" b="1" spc="-5" dirty="0">
                <a:latin typeface="Carlito"/>
                <a:cs typeface="Carlito"/>
              </a:rPr>
              <a:t>Cloud</a:t>
            </a:r>
            <a:endParaRPr sz="2400">
              <a:latin typeface="Carlito"/>
              <a:cs typeface="Carlito"/>
            </a:endParaRPr>
          </a:p>
          <a:p>
            <a:pPr marL="756285" marR="644525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Add</a:t>
            </a:r>
            <a:r>
              <a:rPr sz="2400" spc="-11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cloud  </a:t>
            </a:r>
            <a:r>
              <a:rPr sz="2400" spc="-10" dirty="0">
                <a:latin typeface="Carlito"/>
                <a:cs typeface="Carlito"/>
              </a:rPr>
              <a:t>locations 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the  </a:t>
            </a:r>
            <a:r>
              <a:rPr sz="2400" spc="-5" dirty="0">
                <a:latin typeface="Carlito"/>
                <a:cs typeface="Carlito"/>
              </a:rPr>
              <a:t>Send </a:t>
            </a:r>
            <a:r>
              <a:rPr sz="2400" spc="-114" dirty="0">
                <a:latin typeface="Carlito"/>
                <a:cs typeface="Carlito"/>
              </a:rPr>
              <a:t>To  </a:t>
            </a:r>
            <a:r>
              <a:rPr sz="2400" dirty="0">
                <a:latin typeface="Carlito"/>
                <a:cs typeface="Carlito"/>
              </a:rPr>
              <a:t>menu</a:t>
            </a:r>
            <a:endParaRPr sz="2400">
              <a:latin typeface="Carlito"/>
              <a:cs typeface="Carlito"/>
            </a:endParaRPr>
          </a:p>
          <a:p>
            <a:pPr marL="756285" marR="746760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Google  </a:t>
            </a:r>
            <a:r>
              <a:rPr sz="2400" spc="-10" dirty="0">
                <a:latin typeface="Carlito"/>
                <a:cs typeface="Carlito"/>
              </a:rPr>
              <a:t>Drive,  </a:t>
            </a:r>
            <a:r>
              <a:rPr sz="2400" spc="-5" dirty="0">
                <a:latin typeface="Carlito"/>
                <a:cs typeface="Carlito"/>
              </a:rPr>
              <a:t>SkyD</a:t>
            </a:r>
            <a:r>
              <a:rPr sz="2400" spc="5" dirty="0">
                <a:latin typeface="Carlito"/>
                <a:cs typeface="Carlito"/>
              </a:rPr>
              <a:t>r</a:t>
            </a:r>
            <a:r>
              <a:rPr sz="2400" dirty="0">
                <a:latin typeface="Carlito"/>
                <a:cs typeface="Carlito"/>
              </a:rPr>
              <a:t>i</a:t>
            </a:r>
            <a:r>
              <a:rPr sz="2400" spc="-30" dirty="0">
                <a:latin typeface="Carlito"/>
                <a:cs typeface="Carlito"/>
              </a:rPr>
              <a:t>v</a:t>
            </a:r>
            <a:r>
              <a:rPr sz="2400" dirty="0">
                <a:latin typeface="Carlito"/>
                <a:cs typeface="Carlito"/>
              </a:rPr>
              <a:t>e,  </a:t>
            </a:r>
            <a:r>
              <a:rPr sz="2400" spc="-10" dirty="0">
                <a:latin typeface="Carlito"/>
                <a:cs typeface="Carlito"/>
              </a:rPr>
              <a:t>etc.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96972" y="2281212"/>
            <a:ext cx="6195568" cy="40325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42</a:t>
            </a:fld>
            <a:endParaRPr spc="-16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2588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90" dirty="0"/>
              <a:t>Utility</a:t>
            </a:r>
            <a:r>
              <a:rPr sz="3600" spc="-280" dirty="0"/>
              <a:t> </a:t>
            </a:r>
            <a:r>
              <a:rPr sz="3600" spc="-455" dirty="0"/>
              <a:t>Programs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43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86395" cy="456184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Search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0" dirty="0">
                <a:latin typeface="Carlito"/>
                <a:cs typeface="Carlito"/>
              </a:rPr>
              <a:t>Tools</a:t>
            </a:r>
            <a:endParaRPr sz="2400">
              <a:latin typeface="Carlito"/>
              <a:cs typeface="Carlito"/>
            </a:endParaRPr>
          </a:p>
          <a:p>
            <a:pPr marL="756285" marR="275590" lvl="1" indent="-287020">
              <a:lnSpc>
                <a:spcPts val="2600"/>
              </a:lnSpc>
              <a:spcBef>
                <a:spcPts val="61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search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5" dirty="0">
                <a:latin typeface="Carlito"/>
                <a:cs typeface="Carlito"/>
              </a:rPr>
              <a:t>documents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other files on </a:t>
            </a:r>
            <a:r>
              <a:rPr sz="2400" dirty="0">
                <a:latin typeface="Carlito"/>
                <a:cs typeface="Carlito"/>
              </a:rPr>
              <a:t>the  </a:t>
            </a:r>
            <a:r>
              <a:rPr sz="2400" spc="-114" dirty="0">
                <a:latin typeface="Arial"/>
                <a:cs typeface="Arial"/>
              </a:rPr>
              <a:t>user’s </a:t>
            </a:r>
            <a:r>
              <a:rPr sz="2400" spc="-85" dirty="0">
                <a:latin typeface="Arial"/>
                <a:cs typeface="Arial"/>
              </a:rPr>
              <a:t>hard</a:t>
            </a:r>
            <a:r>
              <a:rPr sz="2400" spc="-165" dirty="0">
                <a:latin typeface="Arial"/>
                <a:cs typeface="Arial"/>
              </a:rPr>
              <a:t> </a:t>
            </a:r>
            <a:r>
              <a:rPr sz="2400" spc="-65" dirty="0">
                <a:latin typeface="Arial"/>
                <a:cs typeface="Arial"/>
              </a:rPr>
              <a:t>drive</a:t>
            </a:r>
            <a:endParaRPr sz="2400">
              <a:latin typeface="Arial"/>
              <a:cs typeface="Arial"/>
            </a:endParaRPr>
          </a:p>
          <a:p>
            <a:pPr marL="1155700" marR="200660" lvl="2" indent="-228600">
              <a:lnSpc>
                <a:spcPts val="2590"/>
              </a:lnSpc>
              <a:spcBef>
                <a:spcPts val="57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dirty="0">
                <a:latin typeface="Carlito"/>
                <a:cs typeface="Carlito"/>
              </a:rPr>
              <a:t>8 </a:t>
            </a:r>
            <a:r>
              <a:rPr sz="2400" spc="-5" dirty="0">
                <a:latin typeface="Carlito"/>
                <a:cs typeface="Carlito"/>
              </a:rPr>
              <a:t>has </a:t>
            </a:r>
            <a:r>
              <a:rPr sz="2400" spc="-10" dirty="0">
                <a:latin typeface="Carlito"/>
                <a:cs typeface="Carlito"/>
              </a:rPr>
              <a:t>Search </a:t>
            </a:r>
            <a:r>
              <a:rPr sz="2400" dirty="0">
                <a:latin typeface="Carlito"/>
                <a:cs typeface="Carlito"/>
              </a:rPr>
              <a:t>charm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search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5" dirty="0">
                <a:latin typeface="Carlito"/>
                <a:cs typeface="Carlito"/>
              </a:rPr>
              <a:t>files, apps, 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Store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items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5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10" dirty="0">
                <a:latin typeface="Carlito"/>
                <a:cs typeface="Carlito"/>
              </a:rPr>
              <a:t>often </a:t>
            </a:r>
            <a:r>
              <a:rPr sz="2400" spc="-15" dirty="0">
                <a:latin typeface="Carlito"/>
                <a:cs typeface="Carlito"/>
              </a:rPr>
              <a:t>integrated into </a:t>
            </a:r>
            <a:r>
              <a:rPr sz="2400" spc="-5" dirty="0">
                <a:latin typeface="Carlito"/>
                <a:cs typeface="Carlito"/>
              </a:rPr>
              <a:t>file management </a:t>
            </a:r>
            <a:r>
              <a:rPr sz="2400" spc="-15" dirty="0">
                <a:latin typeface="Carlito"/>
                <a:cs typeface="Carlito"/>
              </a:rPr>
              <a:t>programs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Third-party search tools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dirty="0">
                <a:latin typeface="Carlito"/>
                <a:cs typeface="Carlito"/>
              </a:rPr>
              <a:t>also</a:t>
            </a:r>
            <a:r>
              <a:rPr sz="2400" spc="1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available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Diagnostic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Disk Management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Programs</a:t>
            </a:r>
            <a:endParaRPr sz="2400">
              <a:latin typeface="Carlito"/>
              <a:cs typeface="Carlito"/>
            </a:endParaRPr>
          </a:p>
          <a:p>
            <a:pPr marL="756285" marR="746760" lvl="1" indent="-287020">
              <a:lnSpc>
                <a:spcPts val="2590"/>
              </a:lnSpc>
              <a:spcBef>
                <a:spcPts val="61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Diagnostic </a:t>
            </a:r>
            <a:r>
              <a:rPr sz="2400" spc="-15" dirty="0">
                <a:latin typeface="Carlito"/>
                <a:cs typeface="Carlito"/>
              </a:rPr>
              <a:t>programs evaluate </a:t>
            </a:r>
            <a:r>
              <a:rPr sz="2400" spc="-10" dirty="0">
                <a:latin typeface="Carlito"/>
                <a:cs typeface="Carlito"/>
              </a:rPr>
              <a:t>your </a:t>
            </a:r>
            <a:r>
              <a:rPr sz="2400" spc="-25" dirty="0">
                <a:latin typeface="Carlito"/>
                <a:cs typeface="Carlito"/>
              </a:rPr>
              <a:t>system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20" dirty="0">
                <a:latin typeface="Carlito"/>
                <a:cs typeface="Carlito"/>
              </a:rPr>
              <a:t>make  </a:t>
            </a:r>
            <a:r>
              <a:rPr sz="2400" spc="-10" dirty="0">
                <a:latin typeface="Carlito"/>
                <a:cs typeface="Carlito"/>
              </a:rPr>
              <a:t>recommendations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5" dirty="0">
                <a:latin typeface="Carlito"/>
                <a:cs typeface="Carlito"/>
              </a:rPr>
              <a:t>fixing </a:t>
            </a:r>
            <a:r>
              <a:rPr sz="2400" spc="-20" dirty="0">
                <a:latin typeface="Carlito"/>
                <a:cs typeface="Carlito"/>
              </a:rPr>
              <a:t>any </a:t>
            </a:r>
            <a:r>
              <a:rPr sz="2400" spc="-15" dirty="0">
                <a:latin typeface="Carlito"/>
                <a:cs typeface="Carlito"/>
              </a:rPr>
              <a:t>errors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found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ts val="2590"/>
              </a:lnSpc>
              <a:spcBef>
                <a:spcPts val="58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Disk management </a:t>
            </a:r>
            <a:r>
              <a:rPr sz="2400" spc="-15" dirty="0">
                <a:latin typeface="Carlito"/>
                <a:cs typeface="Carlito"/>
              </a:rPr>
              <a:t>programs </a:t>
            </a:r>
            <a:r>
              <a:rPr sz="2400" spc="-5" dirty="0">
                <a:latin typeface="Carlito"/>
                <a:cs typeface="Carlito"/>
              </a:rPr>
              <a:t>diagnose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repair problems  </a:t>
            </a:r>
            <a:r>
              <a:rPr sz="2400" spc="-15" dirty="0">
                <a:latin typeface="Carlito"/>
                <a:cs typeface="Carlito"/>
              </a:rPr>
              <a:t>related to </a:t>
            </a:r>
            <a:r>
              <a:rPr sz="2400" spc="-10" dirty="0">
                <a:latin typeface="Carlito"/>
                <a:cs typeface="Carlito"/>
              </a:rPr>
              <a:t>your </a:t>
            </a:r>
            <a:r>
              <a:rPr sz="2400" spc="-15" dirty="0">
                <a:latin typeface="Carlito"/>
                <a:cs typeface="Carlito"/>
              </a:rPr>
              <a:t>hard</a:t>
            </a:r>
            <a:r>
              <a:rPr sz="2400" spc="-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drive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2588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90" dirty="0"/>
              <a:t>Utility</a:t>
            </a:r>
            <a:r>
              <a:rPr sz="3600" spc="-280" dirty="0"/>
              <a:t> </a:t>
            </a:r>
            <a:r>
              <a:rPr sz="3600" spc="-455" dirty="0"/>
              <a:t>Programs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44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79550"/>
            <a:ext cx="7755255" cy="390207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Uninstall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Cleanup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Utilities</a:t>
            </a:r>
            <a:endParaRPr sz="2400">
              <a:latin typeface="Carlito"/>
              <a:cs typeface="Carlito"/>
            </a:endParaRPr>
          </a:p>
          <a:p>
            <a:pPr marL="756285" marR="52069" lvl="1" indent="-287020">
              <a:lnSpc>
                <a:spcPct val="100000"/>
              </a:lnSpc>
              <a:spcBef>
                <a:spcPts val="43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Uninstall </a:t>
            </a:r>
            <a:r>
              <a:rPr sz="2400" spc="-5" dirty="0">
                <a:latin typeface="Carlito"/>
                <a:cs typeface="Carlito"/>
              </a:rPr>
              <a:t>utilities </a:t>
            </a:r>
            <a:r>
              <a:rPr sz="2400" spc="-15" dirty="0">
                <a:latin typeface="Carlito"/>
                <a:cs typeface="Carlito"/>
              </a:rPr>
              <a:t>remove programs from </a:t>
            </a:r>
            <a:r>
              <a:rPr sz="2400" spc="-10" dirty="0">
                <a:latin typeface="Carlito"/>
                <a:cs typeface="Carlito"/>
              </a:rPr>
              <a:t>your </a:t>
            </a:r>
            <a:r>
              <a:rPr sz="2400" spc="-15" dirty="0">
                <a:latin typeface="Carlito"/>
                <a:cs typeface="Carlito"/>
              </a:rPr>
              <a:t>hard </a:t>
            </a:r>
            <a:r>
              <a:rPr sz="2400" spc="-10" dirty="0">
                <a:latin typeface="Carlito"/>
                <a:cs typeface="Carlito"/>
              </a:rPr>
              <a:t>drive  </a:t>
            </a:r>
            <a:r>
              <a:rPr sz="2400" spc="-5" dirty="0">
                <a:latin typeface="Carlito"/>
                <a:cs typeface="Carlito"/>
              </a:rPr>
              <a:t>without leaving bits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pieces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behind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869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Important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properly uninstall </a:t>
            </a:r>
            <a:r>
              <a:rPr sz="2400" spc="-15" dirty="0">
                <a:latin typeface="Carlito"/>
                <a:cs typeface="Carlito"/>
              </a:rPr>
              <a:t>programs, </a:t>
            </a:r>
            <a:r>
              <a:rPr sz="2400" spc="-5" dirty="0">
                <a:latin typeface="Carlito"/>
                <a:cs typeface="Carlito"/>
              </a:rPr>
              <a:t>not </a:t>
            </a:r>
            <a:r>
              <a:rPr sz="2400" spc="-15" dirty="0">
                <a:latin typeface="Carlito"/>
                <a:cs typeface="Carlito"/>
              </a:rPr>
              <a:t>just </a:t>
            </a:r>
            <a:r>
              <a:rPr sz="2400" spc="-10" dirty="0">
                <a:latin typeface="Carlito"/>
                <a:cs typeface="Carlito"/>
              </a:rPr>
              <a:t>delete  </a:t>
            </a:r>
            <a:r>
              <a:rPr sz="2400" dirty="0">
                <a:latin typeface="Carlito"/>
                <a:cs typeface="Carlito"/>
              </a:rPr>
              <a:t>them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93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Cleanup utilities </a:t>
            </a:r>
            <a:r>
              <a:rPr sz="2400" spc="-10" dirty="0">
                <a:latin typeface="Carlito"/>
                <a:cs typeface="Carlito"/>
              </a:rPr>
              <a:t>delete temporary</a:t>
            </a:r>
            <a:r>
              <a:rPr sz="2400" spc="-8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files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Files </a:t>
            </a:r>
            <a:r>
              <a:rPr sz="2400" spc="-10" dirty="0">
                <a:latin typeface="Carlito"/>
                <a:cs typeface="Carlito"/>
              </a:rPr>
              <a:t>still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10" dirty="0">
                <a:latin typeface="Carlito"/>
                <a:cs typeface="Carlito"/>
              </a:rPr>
              <a:t>Recycle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Bin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63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35" dirty="0">
                <a:latin typeface="Carlito"/>
                <a:cs typeface="Carlito"/>
              </a:rPr>
              <a:t>Temporary </a:t>
            </a:r>
            <a:r>
              <a:rPr sz="2400" spc="-10" dirty="0">
                <a:latin typeface="Carlito"/>
                <a:cs typeface="Carlito"/>
              </a:rPr>
              <a:t>Internet</a:t>
            </a:r>
            <a:r>
              <a:rPr sz="2400" spc="-5" dirty="0">
                <a:latin typeface="Carlito"/>
                <a:cs typeface="Carlito"/>
              </a:rPr>
              <a:t> files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30" dirty="0">
                <a:latin typeface="Carlito"/>
                <a:cs typeface="Carlito"/>
              </a:rPr>
              <a:t>Temporary </a:t>
            </a:r>
            <a:r>
              <a:rPr sz="2400" spc="-10" dirty="0">
                <a:latin typeface="Carlito"/>
                <a:cs typeface="Carlito"/>
              </a:rPr>
              <a:t>installation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files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2588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90" dirty="0"/>
              <a:t>Utility</a:t>
            </a:r>
            <a:r>
              <a:rPr sz="3600" spc="-280" dirty="0"/>
              <a:t> </a:t>
            </a:r>
            <a:r>
              <a:rPr sz="3600" spc="-455" dirty="0"/>
              <a:t>Programs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45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625080" cy="46355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File Compression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Programs</a:t>
            </a:r>
            <a:endParaRPr sz="2400">
              <a:latin typeface="Carlito"/>
              <a:cs typeface="Carlito"/>
            </a:endParaRPr>
          </a:p>
          <a:p>
            <a:pPr marL="756285" marR="29210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Reduce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size </a:t>
            </a:r>
            <a:r>
              <a:rPr sz="2400" spc="-5" dirty="0">
                <a:latin typeface="Carlito"/>
                <a:cs typeface="Carlito"/>
              </a:rPr>
              <a:t>of files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optimize </a:t>
            </a:r>
            <a:r>
              <a:rPr sz="2400" spc="-20" dirty="0">
                <a:latin typeface="Carlito"/>
                <a:cs typeface="Carlito"/>
              </a:rPr>
              <a:t>storage </a:t>
            </a:r>
            <a:r>
              <a:rPr sz="2400" spc="-5" dirty="0">
                <a:latin typeface="Carlito"/>
                <a:cs typeface="Carlito"/>
              </a:rPr>
              <a:t>space </a:t>
            </a:r>
            <a:r>
              <a:rPr sz="2400" dirty="0">
                <a:latin typeface="Carlito"/>
                <a:cs typeface="Carlito"/>
              </a:rPr>
              <a:t>and  </a:t>
            </a:r>
            <a:r>
              <a:rPr sz="2400" spc="-5" dirty="0">
                <a:latin typeface="Carlito"/>
                <a:cs typeface="Carlito"/>
              </a:rPr>
              <a:t>transmission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time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Both </a:t>
            </a:r>
            <a:r>
              <a:rPr sz="2400" spc="-5" dirty="0">
                <a:latin typeface="Carlito"/>
                <a:cs typeface="Carlito"/>
              </a:rPr>
              <a:t>zip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unzip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files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WinZip </a:t>
            </a:r>
            <a:r>
              <a:rPr sz="2400" spc="-10" dirty="0">
                <a:latin typeface="Carlito"/>
                <a:cs typeface="Carlito"/>
              </a:rPr>
              <a:t>(Windows users)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Stuffit </a:t>
            </a:r>
            <a:r>
              <a:rPr sz="2400" spc="-5" dirty="0">
                <a:latin typeface="Carlito"/>
                <a:cs typeface="Carlito"/>
              </a:rPr>
              <a:t>(Mac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users)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Backup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5" dirty="0">
                <a:latin typeface="Carlito"/>
                <a:cs typeface="Carlito"/>
              </a:rPr>
              <a:t>Recovery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Utilities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20" dirty="0">
                <a:latin typeface="Carlito"/>
                <a:cs typeface="Carlito"/>
              </a:rPr>
              <a:t>Make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backup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20" dirty="0">
                <a:latin typeface="Carlito"/>
                <a:cs typeface="Carlito"/>
              </a:rPr>
              <a:t>restoration </a:t>
            </a:r>
            <a:r>
              <a:rPr sz="2400" spc="-10" dirty="0">
                <a:latin typeface="Carlito"/>
                <a:cs typeface="Carlito"/>
              </a:rPr>
              <a:t>process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easier</a:t>
            </a:r>
            <a:endParaRPr sz="2400">
              <a:latin typeface="Carlito"/>
              <a:cs typeface="Carlito"/>
            </a:endParaRPr>
          </a:p>
          <a:p>
            <a:pPr marL="756285" marR="40322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Creating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backup </a:t>
            </a:r>
            <a:r>
              <a:rPr sz="2400" dirty="0">
                <a:latin typeface="Carlito"/>
                <a:cs typeface="Carlito"/>
              </a:rPr>
              <a:t>means making a </a:t>
            </a:r>
            <a:r>
              <a:rPr sz="2400" spc="-15" dirty="0">
                <a:latin typeface="Carlito"/>
                <a:cs typeface="Carlito"/>
              </a:rPr>
              <a:t>duplicate copy </a:t>
            </a:r>
            <a:r>
              <a:rPr sz="2400" spc="-5" dirty="0">
                <a:latin typeface="Carlito"/>
                <a:cs typeface="Carlito"/>
              </a:rPr>
              <a:t>of  </a:t>
            </a:r>
            <a:r>
              <a:rPr sz="2400" spc="-10" dirty="0">
                <a:latin typeface="Carlito"/>
                <a:cs typeface="Carlito"/>
              </a:rPr>
              <a:t>important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files</a:t>
            </a:r>
            <a:endParaRPr sz="2400">
              <a:latin typeface="Carlito"/>
              <a:cs typeface="Carlito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Can use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5" dirty="0">
                <a:latin typeface="Carlito"/>
                <a:cs typeface="Carlito"/>
              </a:rPr>
              <a:t>recordable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spc="-10" dirty="0">
                <a:latin typeface="Carlito"/>
                <a:cs typeface="Carlito"/>
              </a:rPr>
              <a:t>rewritable </a:t>
            </a:r>
            <a:r>
              <a:rPr sz="2400" spc="-5" dirty="0">
                <a:latin typeface="Carlito"/>
                <a:cs typeface="Carlito"/>
              </a:rPr>
              <a:t>CD or </a:t>
            </a:r>
            <a:r>
              <a:rPr sz="2400" spc="-15" dirty="0">
                <a:latin typeface="Carlito"/>
                <a:cs typeface="Carlito"/>
              </a:rPr>
              <a:t>DVD </a:t>
            </a:r>
            <a:r>
              <a:rPr sz="2400" spc="-5" dirty="0">
                <a:latin typeface="Carlito"/>
                <a:cs typeface="Carlito"/>
              </a:rPr>
              <a:t>disc, </a:t>
            </a:r>
            <a:r>
              <a:rPr sz="2400" dirty="0">
                <a:latin typeface="Carlito"/>
                <a:cs typeface="Carlito"/>
              </a:rPr>
              <a:t>a  USB </a:t>
            </a:r>
            <a:r>
              <a:rPr sz="2400" spc="-5" dirty="0">
                <a:latin typeface="Carlito"/>
                <a:cs typeface="Carlito"/>
              </a:rPr>
              <a:t>flash </a:t>
            </a:r>
            <a:r>
              <a:rPr sz="2400" spc="-10" dirty="0">
                <a:latin typeface="Carlito"/>
                <a:cs typeface="Carlito"/>
              </a:rPr>
              <a:t>drive,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dirty="0">
                <a:latin typeface="Carlito"/>
                <a:cs typeface="Carlito"/>
              </a:rPr>
              <a:t>an </a:t>
            </a:r>
            <a:r>
              <a:rPr sz="2400" spc="-10" dirty="0">
                <a:latin typeface="Carlito"/>
                <a:cs typeface="Carlito"/>
              </a:rPr>
              <a:t>external </a:t>
            </a:r>
            <a:r>
              <a:rPr sz="2400" spc="-15" dirty="0">
                <a:latin typeface="Carlito"/>
                <a:cs typeface="Carlito"/>
              </a:rPr>
              <a:t>hard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drive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2588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90" dirty="0"/>
              <a:t>Utility</a:t>
            </a:r>
            <a:r>
              <a:rPr sz="3600" spc="-280" dirty="0"/>
              <a:t> </a:t>
            </a:r>
            <a:r>
              <a:rPr sz="3600" spc="-455" dirty="0"/>
              <a:t>Programs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46</a:t>
            </a:fld>
            <a:endParaRPr spc="-16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54025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455295" algn="l"/>
              </a:tabLst>
            </a:pPr>
            <a:r>
              <a:rPr spc="-5" dirty="0"/>
              <a:t>Good </a:t>
            </a:r>
            <a:r>
              <a:rPr spc="-10" dirty="0"/>
              <a:t>backup procedures </a:t>
            </a:r>
            <a:r>
              <a:rPr spc="-15" dirty="0"/>
              <a:t>are </a:t>
            </a:r>
            <a:r>
              <a:rPr spc="-5" dirty="0"/>
              <a:t>critical </a:t>
            </a:r>
            <a:r>
              <a:rPr spc="-20" dirty="0"/>
              <a:t>for</a:t>
            </a:r>
            <a:r>
              <a:rPr spc="-25" dirty="0"/>
              <a:t> </a:t>
            </a:r>
            <a:r>
              <a:rPr spc="-10" dirty="0"/>
              <a:t>everyone</a:t>
            </a:r>
          </a:p>
          <a:p>
            <a:pPr marL="852805" marR="50800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854075" algn="l"/>
              </a:tabLst>
            </a:pPr>
            <a:r>
              <a:rPr sz="2400" spc="-5" dirty="0">
                <a:latin typeface="Carlito"/>
                <a:cs typeface="Carlito"/>
              </a:rPr>
              <a:t>Individuals should back up </a:t>
            </a:r>
            <a:r>
              <a:rPr sz="2400" spc="-10" dirty="0">
                <a:latin typeface="Carlito"/>
                <a:cs typeface="Carlito"/>
              </a:rPr>
              <a:t>important </a:t>
            </a:r>
            <a:r>
              <a:rPr sz="2400" spc="-5" dirty="0">
                <a:latin typeface="Carlito"/>
                <a:cs typeface="Carlito"/>
              </a:rPr>
              <a:t>documents,  </a:t>
            </a:r>
            <a:r>
              <a:rPr sz="2400" dirty="0">
                <a:latin typeface="Carlito"/>
                <a:cs typeface="Carlito"/>
              </a:rPr>
              <a:t>e-mail, </a:t>
            </a:r>
            <a:r>
              <a:rPr sz="2400" spc="-10" dirty="0">
                <a:latin typeface="Carlito"/>
                <a:cs typeface="Carlito"/>
              </a:rPr>
              <a:t>photos, </a:t>
            </a:r>
            <a:r>
              <a:rPr sz="2400" spc="-5" dirty="0">
                <a:latin typeface="Carlito"/>
                <a:cs typeface="Carlito"/>
              </a:rPr>
              <a:t>home </a:t>
            </a:r>
            <a:r>
              <a:rPr sz="2400" spc="-10" dirty="0">
                <a:latin typeface="Carlito"/>
                <a:cs typeface="Carlito"/>
              </a:rPr>
              <a:t>video,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etc.</a:t>
            </a:r>
            <a:endParaRPr sz="2400">
              <a:latin typeface="Carlito"/>
              <a:cs typeface="Carlito"/>
            </a:endParaRPr>
          </a:p>
          <a:p>
            <a:pPr marL="852805" marR="5080" lvl="1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854075" algn="l"/>
              </a:tabLst>
            </a:pPr>
            <a:r>
              <a:rPr sz="2400" spc="-15" dirty="0">
                <a:latin typeface="Carlito"/>
                <a:cs typeface="Carlito"/>
              </a:rPr>
              <a:t>Performing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backup can </a:t>
            </a:r>
            <a:r>
              <a:rPr sz="2400" dirty="0">
                <a:latin typeface="Carlito"/>
                <a:cs typeface="Carlito"/>
              </a:rPr>
              <a:t>include </a:t>
            </a:r>
            <a:r>
              <a:rPr sz="2400" spc="-5" dirty="0">
                <a:latin typeface="Carlito"/>
                <a:cs typeface="Carlito"/>
              </a:rPr>
              <a:t>backing up </a:t>
            </a:r>
            <a:r>
              <a:rPr sz="2400" dirty="0">
                <a:latin typeface="Carlito"/>
                <a:cs typeface="Carlito"/>
              </a:rPr>
              <a:t>an </a:t>
            </a:r>
            <a:r>
              <a:rPr sz="2400" spc="-10" dirty="0">
                <a:latin typeface="Carlito"/>
                <a:cs typeface="Carlito"/>
              </a:rPr>
              <a:t>entire  computer </a:t>
            </a:r>
            <a:r>
              <a:rPr sz="2400" spc="-5" dirty="0">
                <a:latin typeface="Carlito"/>
                <a:cs typeface="Carlito"/>
              </a:rPr>
              <a:t>(so </a:t>
            </a:r>
            <a:r>
              <a:rPr sz="2400" dirty="0">
                <a:latin typeface="Carlito"/>
                <a:cs typeface="Carlito"/>
              </a:rPr>
              <a:t>it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20" dirty="0">
                <a:latin typeface="Carlito"/>
                <a:cs typeface="Carlito"/>
              </a:rPr>
              <a:t>restored </a:t>
            </a:r>
            <a:r>
              <a:rPr sz="2400" spc="-10" dirty="0">
                <a:latin typeface="Carlito"/>
                <a:cs typeface="Carlito"/>
              </a:rPr>
              <a:t>at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later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date)</a:t>
            </a:r>
            <a:endParaRPr sz="2400">
              <a:latin typeface="Carlito"/>
              <a:cs typeface="Carlito"/>
            </a:endParaRPr>
          </a:p>
          <a:p>
            <a:pPr marL="852805" marR="29718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854075" algn="l"/>
              </a:tabLst>
            </a:pPr>
            <a:r>
              <a:rPr sz="2400" spc="-5" dirty="0">
                <a:latin typeface="Carlito"/>
                <a:cs typeface="Carlito"/>
              </a:rPr>
              <a:t>Can do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backup </a:t>
            </a:r>
            <a:r>
              <a:rPr sz="2400" dirty="0">
                <a:latin typeface="Carlito"/>
                <a:cs typeface="Carlito"/>
              </a:rPr>
              <a:t>manually </a:t>
            </a:r>
            <a:r>
              <a:rPr sz="2400" spc="-5" dirty="0">
                <a:latin typeface="Carlito"/>
                <a:cs typeface="Carlito"/>
              </a:rPr>
              <a:t>or use </a:t>
            </a:r>
            <a:r>
              <a:rPr sz="2400" spc="-10" dirty="0">
                <a:latin typeface="Carlito"/>
                <a:cs typeface="Carlito"/>
              </a:rPr>
              <a:t>backup </a:t>
            </a:r>
            <a:r>
              <a:rPr sz="2400" spc="-5" dirty="0">
                <a:latin typeface="Carlito"/>
                <a:cs typeface="Carlito"/>
              </a:rPr>
              <a:t>utility  </a:t>
            </a:r>
            <a:r>
              <a:rPr sz="2400" spc="-15" dirty="0">
                <a:latin typeface="Carlito"/>
                <a:cs typeface="Carlito"/>
              </a:rPr>
              <a:t>programs </a:t>
            </a:r>
            <a:r>
              <a:rPr sz="2400" spc="-10" dirty="0">
                <a:latin typeface="Carlito"/>
                <a:cs typeface="Carlito"/>
              </a:rPr>
              <a:t>(stand </a:t>
            </a:r>
            <a:r>
              <a:rPr sz="2400" dirty="0">
                <a:latin typeface="Carlito"/>
                <a:cs typeface="Carlito"/>
              </a:rPr>
              <a:t>alone </a:t>
            </a:r>
            <a:r>
              <a:rPr sz="2400" spc="-5" dirty="0">
                <a:latin typeface="Carlito"/>
                <a:cs typeface="Carlito"/>
              </a:rPr>
              <a:t>or those built </a:t>
            </a:r>
            <a:r>
              <a:rPr sz="2400" spc="-15" dirty="0">
                <a:latin typeface="Carlito"/>
                <a:cs typeface="Carlito"/>
              </a:rPr>
              <a:t>into operating  </a:t>
            </a:r>
            <a:r>
              <a:rPr sz="2400" spc="-20" dirty="0">
                <a:latin typeface="Carlito"/>
                <a:cs typeface="Carlito"/>
              </a:rPr>
              <a:t>systems)</a:t>
            </a:r>
            <a:endParaRPr sz="2400">
              <a:latin typeface="Carlito"/>
              <a:cs typeface="Carlito"/>
            </a:endParaRPr>
          </a:p>
          <a:p>
            <a:pPr marL="852805" lvl="1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854075" algn="l"/>
              </a:tabLst>
            </a:pPr>
            <a:r>
              <a:rPr sz="2400" spc="-5" dirty="0">
                <a:latin typeface="Carlito"/>
                <a:cs typeface="Carlito"/>
              </a:rPr>
              <a:t>Can </a:t>
            </a:r>
            <a:r>
              <a:rPr sz="2400" dirty="0">
                <a:latin typeface="Carlito"/>
                <a:cs typeface="Carlito"/>
              </a:rPr>
              <a:t>also </a:t>
            </a:r>
            <a:r>
              <a:rPr sz="2400" spc="-10" dirty="0">
                <a:latin typeface="Carlito"/>
                <a:cs typeface="Carlito"/>
              </a:rPr>
              <a:t>backup </a:t>
            </a:r>
            <a:r>
              <a:rPr sz="2400" dirty="0">
                <a:latin typeface="Carlito"/>
                <a:cs typeface="Carlito"/>
              </a:rPr>
              <a:t>individual </a:t>
            </a:r>
            <a:r>
              <a:rPr sz="2400" spc="-5" dirty="0">
                <a:latin typeface="Carlito"/>
                <a:cs typeface="Carlito"/>
              </a:rPr>
              <a:t>files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dirty="0">
                <a:latin typeface="Carlito"/>
                <a:cs typeface="Carlito"/>
              </a:rPr>
              <a:t>they </a:t>
            </a:r>
            <a:r>
              <a:rPr sz="2400" spc="-15" dirty="0">
                <a:latin typeface="Carlito"/>
                <a:cs typeface="Carlito"/>
              </a:rPr>
              <a:t>are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modified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2588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90" dirty="0"/>
              <a:t>Utility</a:t>
            </a:r>
            <a:r>
              <a:rPr sz="3600" spc="-280" dirty="0"/>
              <a:t> </a:t>
            </a:r>
            <a:r>
              <a:rPr sz="3600" spc="-455" dirty="0"/>
              <a:t>Programs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251523" y="1843604"/>
            <a:ext cx="8529959" cy="35493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10845" y="5479364"/>
            <a:ext cx="1297277" cy="5205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47</a:t>
            </a:fld>
            <a:endParaRPr spc="-16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2588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90" dirty="0"/>
              <a:t>Utility</a:t>
            </a:r>
            <a:r>
              <a:rPr sz="3600" spc="-280" dirty="0"/>
              <a:t> </a:t>
            </a:r>
            <a:r>
              <a:rPr sz="3600" spc="-455" dirty="0"/>
              <a:t>Programs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48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97838"/>
            <a:ext cx="7759065" cy="452564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922655" indent="-343535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Antivirus, </a:t>
            </a:r>
            <a:r>
              <a:rPr sz="2400" spc="-10" dirty="0">
                <a:latin typeface="Carlito"/>
                <a:cs typeface="Carlito"/>
              </a:rPr>
              <a:t>Antispyware, Firewalls,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Other Security  </a:t>
            </a:r>
            <a:r>
              <a:rPr sz="2400" spc="-15" dirty="0">
                <a:latin typeface="Carlito"/>
                <a:cs typeface="Carlito"/>
              </a:rPr>
              <a:t>Programs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54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Security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Concerns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Viruses, </a:t>
            </a:r>
            <a:r>
              <a:rPr sz="2400" spc="-10" dirty="0">
                <a:latin typeface="Carlito"/>
                <a:cs typeface="Carlito"/>
              </a:rPr>
              <a:t>spyware, </a:t>
            </a:r>
            <a:r>
              <a:rPr sz="2400" spc="-5" dirty="0">
                <a:latin typeface="Carlito"/>
                <a:cs typeface="Carlito"/>
              </a:rPr>
              <a:t>identity theft, phishing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schemes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ts val="2590"/>
              </a:lnSpc>
              <a:spcBef>
                <a:spcPts val="61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Security </a:t>
            </a:r>
            <a:r>
              <a:rPr sz="2400" spc="-15" dirty="0">
                <a:latin typeface="Carlito"/>
                <a:cs typeface="Carlito"/>
              </a:rPr>
              <a:t>programs </a:t>
            </a:r>
            <a:r>
              <a:rPr sz="2400" spc="-10" dirty="0">
                <a:latin typeface="Carlito"/>
                <a:cs typeface="Carlito"/>
              </a:rPr>
              <a:t>protect </a:t>
            </a:r>
            <a:r>
              <a:rPr sz="2400" spc="-15" dirty="0">
                <a:latin typeface="Carlito"/>
                <a:cs typeface="Carlito"/>
              </a:rPr>
              <a:t>computers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users </a:t>
            </a:r>
            <a:r>
              <a:rPr sz="2400" dirty="0">
                <a:latin typeface="Carlito"/>
                <a:cs typeface="Carlito"/>
              </a:rPr>
              <a:t>and it is  </a:t>
            </a:r>
            <a:r>
              <a:rPr sz="2400" spc="-5" dirty="0">
                <a:latin typeface="Carlito"/>
                <a:cs typeface="Carlito"/>
              </a:rPr>
              <a:t>essential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dirty="0">
                <a:latin typeface="Carlito"/>
                <a:cs typeface="Carlito"/>
              </a:rPr>
              <a:t>all </a:t>
            </a:r>
            <a:r>
              <a:rPr sz="2400" spc="-10" dirty="0">
                <a:latin typeface="Carlito"/>
                <a:cs typeface="Carlito"/>
              </a:rPr>
              <a:t>computer users </a:t>
            </a:r>
            <a:r>
              <a:rPr sz="2400" spc="-15" dirty="0">
                <a:latin typeface="Carlito"/>
                <a:cs typeface="Carlito"/>
              </a:rPr>
              <a:t>protect </a:t>
            </a:r>
            <a:r>
              <a:rPr sz="2400" spc="-5" dirty="0">
                <a:latin typeface="Carlito"/>
                <a:cs typeface="Carlito"/>
              </a:rPr>
              <a:t>themselves </a:t>
            </a:r>
            <a:r>
              <a:rPr sz="2400" dirty="0">
                <a:latin typeface="Carlito"/>
                <a:cs typeface="Carlito"/>
              </a:rPr>
              <a:t>and  their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computers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Antivirus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programs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Antispyware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programs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Firewalls</a:t>
            </a:r>
            <a:endParaRPr sz="2400">
              <a:latin typeface="Carlito"/>
              <a:cs typeface="Carlito"/>
            </a:endParaRPr>
          </a:p>
          <a:p>
            <a:pPr marL="1155700" marR="231140" lvl="2" indent="-228600">
              <a:lnSpc>
                <a:spcPts val="2590"/>
              </a:lnSpc>
              <a:spcBef>
                <a:spcPts val="61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Many are </a:t>
            </a:r>
            <a:r>
              <a:rPr sz="2400" dirty="0">
                <a:latin typeface="Carlito"/>
                <a:cs typeface="Carlito"/>
              </a:rPr>
              <a:t>included in </a:t>
            </a:r>
            <a:r>
              <a:rPr sz="2400" spc="-10" dirty="0">
                <a:latin typeface="Carlito"/>
                <a:cs typeface="Carlito"/>
              </a:rPr>
              <a:t>Windows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other </a:t>
            </a:r>
            <a:r>
              <a:rPr sz="2400" spc="-10" dirty="0">
                <a:latin typeface="Carlito"/>
                <a:cs typeface="Carlito"/>
              </a:rPr>
              <a:t>operating  </a:t>
            </a:r>
            <a:r>
              <a:rPr sz="2400" spc="-20" dirty="0">
                <a:latin typeface="Carlito"/>
                <a:cs typeface="Carlito"/>
              </a:rPr>
              <a:t>systems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66465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35" dirty="0"/>
              <a:t>The </a:t>
            </a:r>
            <a:r>
              <a:rPr sz="3600" spc="-440" dirty="0"/>
              <a:t>Future </a:t>
            </a:r>
            <a:r>
              <a:rPr sz="3600" spc="-285" dirty="0"/>
              <a:t>of </a:t>
            </a:r>
            <a:r>
              <a:rPr sz="3600" spc="-375" dirty="0"/>
              <a:t>Operating</a:t>
            </a:r>
            <a:r>
              <a:rPr sz="3600" spc="-330" dirty="0"/>
              <a:t> </a:t>
            </a:r>
            <a:r>
              <a:rPr sz="3600" spc="-560" dirty="0"/>
              <a:t>Systems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49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042275" cy="448881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Will </a:t>
            </a:r>
            <a:r>
              <a:rPr sz="2400" spc="-10" dirty="0">
                <a:latin typeface="Carlito"/>
                <a:cs typeface="Carlito"/>
              </a:rPr>
              <a:t>continue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become more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user-friendly</a:t>
            </a:r>
            <a:endParaRPr sz="2400">
              <a:latin typeface="Carlito"/>
              <a:cs typeface="Carlito"/>
            </a:endParaRPr>
          </a:p>
          <a:p>
            <a:pPr marL="355600" marR="48895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Will </a:t>
            </a:r>
            <a:r>
              <a:rPr sz="2400" spc="-10" dirty="0">
                <a:latin typeface="Carlito"/>
                <a:cs typeface="Carlito"/>
              </a:rPr>
              <a:t>eventually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10" dirty="0">
                <a:latin typeface="Carlito"/>
                <a:cs typeface="Carlito"/>
              </a:rPr>
              <a:t>driven </a:t>
            </a:r>
            <a:r>
              <a:rPr sz="2400" spc="-5" dirty="0">
                <a:latin typeface="Carlito"/>
                <a:cs typeface="Carlito"/>
              </a:rPr>
              <a:t>primarily </a:t>
            </a:r>
            <a:r>
              <a:rPr sz="2400" spc="-10" dirty="0">
                <a:latin typeface="Carlito"/>
                <a:cs typeface="Carlito"/>
              </a:rPr>
              <a:t>by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voice interface, touch,  and/or </a:t>
            </a:r>
            <a:r>
              <a:rPr sz="2400" spc="-15" dirty="0">
                <a:latin typeface="Carlito"/>
                <a:cs typeface="Carlito"/>
              </a:rPr>
              <a:t>gesture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interface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5" dirty="0">
                <a:latin typeface="Carlito"/>
                <a:cs typeface="Carlito"/>
              </a:rPr>
              <a:t>Likely to </a:t>
            </a:r>
            <a:r>
              <a:rPr sz="2400" spc="-10" dirty="0">
                <a:latin typeface="Carlito"/>
                <a:cs typeface="Carlito"/>
              </a:rPr>
              <a:t>continue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become more stable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1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self-healing</a:t>
            </a:r>
            <a:endParaRPr sz="2400">
              <a:latin typeface="Carlito"/>
              <a:cs typeface="Carlito"/>
            </a:endParaRPr>
          </a:p>
          <a:p>
            <a:pPr marL="355600" marR="508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Will </a:t>
            </a:r>
            <a:r>
              <a:rPr sz="2400" spc="-15" dirty="0">
                <a:latin typeface="Carlito"/>
                <a:cs typeface="Carlito"/>
              </a:rPr>
              <a:t>likely </a:t>
            </a:r>
            <a:r>
              <a:rPr sz="2400" spc="-10" dirty="0">
                <a:latin typeface="Carlito"/>
                <a:cs typeface="Carlito"/>
              </a:rPr>
              <a:t>continue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include </a:t>
            </a:r>
            <a:r>
              <a:rPr sz="2400" spc="-5" dirty="0">
                <a:latin typeface="Carlito"/>
                <a:cs typeface="Carlito"/>
              </a:rPr>
              <a:t>security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other </a:t>
            </a:r>
            <a:r>
              <a:rPr sz="2400" spc="-10" dirty="0">
                <a:latin typeface="Carlito"/>
                <a:cs typeface="Carlito"/>
              </a:rPr>
              <a:t>technological  improvements </a:t>
            </a:r>
            <a:r>
              <a:rPr sz="2400" dirty="0">
                <a:latin typeface="Carlito"/>
                <a:cs typeface="Carlito"/>
              </a:rPr>
              <a:t>as </a:t>
            </a:r>
            <a:r>
              <a:rPr sz="2400" spc="-5" dirty="0">
                <a:latin typeface="Carlito"/>
                <a:cs typeface="Carlito"/>
              </a:rPr>
              <a:t>they </a:t>
            </a:r>
            <a:r>
              <a:rPr sz="2400" spc="-10" dirty="0">
                <a:latin typeface="Carlito"/>
                <a:cs typeface="Carlito"/>
              </a:rPr>
              <a:t>become</a:t>
            </a:r>
            <a:r>
              <a:rPr sz="2400" spc="-5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available</a:t>
            </a:r>
            <a:endParaRPr sz="2400">
              <a:latin typeface="Carlito"/>
              <a:cs typeface="Carlito"/>
            </a:endParaRPr>
          </a:p>
          <a:p>
            <a:pPr marL="355600" marR="38354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Will </a:t>
            </a:r>
            <a:r>
              <a:rPr sz="2400" spc="-5" dirty="0">
                <a:latin typeface="Carlito"/>
                <a:cs typeface="Carlito"/>
              </a:rPr>
              <a:t>almost certainly </a:t>
            </a:r>
            <a:r>
              <a:rPr sz="2400" dirty="0">
                <a:latin typeface="Carlito"/>
                <a:cs typeface="Carlito"/>
              </a:rPr>
              <a:t>include </a:t>
            </a:r>
            <a:r>
              <a:rPr sz="2400" spc="-10" dirty="0">
                <a:latin typeface="Carlito"/>
                <a:cs typeface="Carlito"/>
              </a:rPr>
              <a:t>improvements </a:t>
            </a:r>
            <a:r>
              <a:rPr sz="2400" dirty="0">
                <a:latin typeface="Carlito"/>
                <a:cs typeface="Carlito"/>
              </a:rPr>
              <a:t>in the </a:t>
            </a:r>
            <a:r>
              <a:rPr sz="2400" spc="-10" dirty="0">
                <a:latin typeface="Carlito"/>
                <a:cs typeface="Carlito"/>
              </a:rPr>
              <a:t>areas of  synchronizing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coordinating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dirty="0">
                <a:latin typeface="Carlito"/>
                <a:cs typeface="Carlito"/>
              </a:rPr>
              <a:t>and activities among</a:t>
            </a:r>
            <a:r>
              <a:rPr sz="2400" spc="-15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  </a:t>
            </a:r>
            <a:r>
              <a:rPr sz="2400" spc="-125" dirty="0">
                <a:latin typeface="Arial"/>
                <a:cs typeface="Arial"/>
              </a:rPr>
              <a:t>person’s </a:t>
            </a:r>
            <a:r>
              <a:rPr sz="2400" spc="-100" dirty="0">
                <a:latin typeface="Arial"/>
                <a:cs typeface="Arial"/>
              </a:rPr>
              <a:t>various </a:t>
            </a:r>
            <a:r>
              <a:rPr sz="2400" spc="-75" dirty="0">
                <a:latin typeface="Arial"/>
                <a:cs typeface="Arial"/>
              </a:rPr>
              <a:t>computing </a:t>
            </a:r>
            <a:r>
              <a:rPr sz="2400" spc="-110" dirty="0">
                <a:latin typeface="Arial"/>
                <a:cs typeface="Arial"/>
              </a:rPr>
              <a:t>and </a:t>
            </a:r>
            <a:r>
              <a:rPr sz="2400" spc="-90" dirty="0">
                <a:latin typeface="Arial"/>
                <a:cs typeface="Arial"/>
              </a:rPr>
              <a:t>communicating</a:t>
            </a:r>
            <a:r>
              <a:rPr sz="2400" spc="-295" dirty="0">
                <a:latin typeface="Arial"/>
                <a:cs typeface="Arial"/>
              </a:rPr>
              <a:t> </a:t>
            </a:r>
            <a:r>
              <a:rPr sz="2400" spc="-135" dirty="0">
                <a:latin typeface="Arial"/>
                <a:cs typeface="Arial"/>
              </a:rPr>
              <a:t>devices</a:t>
            </a:r>
            <a:endParaRPr sz="2400">
              <a:latin typeface="Arial"/>
              <a:cs typeface="Arial"/>
            </a:endParaRPr>
          </a:p>
          <a:p>
            <a:pPr marL="355600" marR="365125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20" dirty="0">
                <a:latin typeface="Carlito"/>
                <a:cs typeface="Carlito"/>
              </a:rPr>
              <a:t>May </a:t>
            </a:r>
            <a:r>
              <a:rPr sz="2400" spc="-5" dirty="0">
                <a:latin typeface="Carlito"/>
                <a:cs typeface="Carlito"/>
              </a:rPr>
              <a:t>be used primarily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access </a:t>
            </a:r>
            <a:r>
              <a:rPr sz="2400" spc="-10" dirty="0">
                <a:latin typeface="Carlito"/>
                <a:cs typeface="Carlito"/>
              </a:rPr>
              <a:t>software available through 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Internet </a:t>
            </a:r>
            <a:r>
              <a:rPr sz="2400" spc="-5" dirty="0">
                <a:latin typeface="Carlito"/>
                <a:cs typeface="Carlito"/>
              </a:rPr>
              <a:t>or other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networks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17093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475" dirty="0"/>
              <a:t>The </a:t>
            </a:r>
            <a:r>
              <a:rPr sz="3200" spc="-555" dirty="0"/>
              <a:t>Basics </a:t>
            </a:r>
            <a:r>
              <a:rPr sz="3200" spc="-254" dirty="0"/>
              <a:t>of </a:t>
            </a:r>
            <a:r>
              <a:rPr sz="3200" spc="-355" dirty="0"/>
              <a:t>Application</a:t>
            </a:r>
            <a:r>
              <a:rPr sz="3200" spc="-660" dirty="0"/>
              <a:t> </a:t>
            </a:r>
            <a:r>
              <a:rPr sz="3200" spc="-434" dirty="0"/>
              <a:t>Software</a:t>
            </a:r>
            <a:endParaRPr sz="32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50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9796"/>
            <a:ext cx="7785734" cy="462026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spc="-10" dirty="0">
                <a:latin typeface="Carlito"/>
                <a:cs typeface="Carlito"/>
              </a:rPr>
              <a:t>Commercial</a:t>
            </a:r>
            <a:r>
              <a:rPr sz="220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Software</a:t>
            </a:r>
            <a:endParaRPr sz="22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6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spc="-10" dirty="0">
                <a:latin typeface="Carlito"/>
                <a:cs typeface="Carlito"/>
              </a:rPr>
              <a:t>Copyrighted software developed </a:t>
            </a:r>
            <a:r>
              <a:rPr sz="2200" spc="-5" dirty="0">
                <a:latin typeface="Carlito"/>
                <a:cs typeface="Carlito"/>
              </a:rPr>
              <a:t>and sold </a:t>
            </a:r>
            <a:r>
              <a:rPr sz="2200" spc="-20" dirty="0">
                <a:latin typeface="Carlito"/>
                <a:cs typeface="Carlito"/>
              </a:rPr>
              <a:t>for</a:t>
            </a:r>
            <a:r>
              <a:rPr sz="2200" spc="45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profit</a:t>
            </a:r>
            <a:endParaRPr sz="22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6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spc="-20" dirty="0">
                <a:latin typeface="Carlito"/>
                <a:cs typeface="Carlito"/>
              </a:rPr>
              <a:t>Typically </a:t>
            </a:r>
            <a:r>
              <a:rPr sz="2200" spc="-10" dirty="0">
                <a:latin typeface="Carlito"/>
                <a:cs typeface="Carlito"/>
              </a:rPr>
              <a:t>comes </a:t>
            </a:r>
            <a:r>
              <a:rPr sz="2200" spc="-5" dirty="0">
                <a:latin typeface="Carlito"/>
                <a:cs typeface="Carlito"/>
              </a:rPr>
              <a:t>with a </a:t>
            </a:r>
            <a:r>
              <a:rPr sz="2200" spc="-10" dirty="0">
                <a:latin typeface="Carlito"/>
                <a:cs typeface="Carlito"/>
              </a:rPr>
              <a:t>single-user</a:t>
            </a:r>
            <a:r>
              <a:rPr sz="2200" spc="6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license</a:t>
            </a:r>
            <a:endParaRPr sz="22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2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spc="-15" dirty="0">
                <a:latin typeface="Carlito"/>
                <a:cs typeface="Carlito"/>
              </a:rPr>
              <a:t>Shareware</a:t>
            </a:r>
            <a:endParaRPr sz="22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6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spc="-10" dirty="0">
                <a:latin typeface="Carlito"/>
                <a:cs typeface="Carlito"/>
              </a:rPr>
              <a:t>Copyrighted software distributed </a:t>
            </a:r>
            <a:r>
              <a:rPr sz="2200" dirty="0">
                <a:latin typeface="Carlito"/>
                <a:cs typeface="Carlito"/>
              </a:rPr>
              <a:t>on </a:t>
            </a:r>
            <a:r>
              <a:rPr sz="2200" spc="-10" dirty="0">
                <a:latin typeface="Carlito"/>
                <a:cs typeface="Carlito"/>
              </a:rPr>
              <a:t>the </a:t>
            </a:r>
            <a:r>
              <a:rPr sz="2200" spc="-5" dirty="0">
                <a:latin typeface="Carlito"/>
                <a:cs typeface="Carlito"/>
              </a:rPr>
              <a:t>honor</a:t>
            </a:r>
            <a:r>
              <a:rPr sz="2200" spc="30" dirty="0">
                <a:latin typeface="Carlito"/>
                <a:cs typeface="Carlito"/>
              </a:rPr>
              <a:t> </a:t>
            </a:r>
            <a:r>
              <a:rPr sz="2200" spc="-25" dirty="0">
                <a:latin typeface="Carlito"/>
                <a:cs typeface="Carlito"/>
              </a:rPr>
              <a:t>system</a:t>
            </a:r>
            <a:endParaRPr sz="2200">
              <a:latin typeface="Carlito"/>
              <a:cs typeface="Carlito"/>
            </a:endParaRPr>
          </a:p>
          <a:p>
            <a:pPr marL="756285" lvl="1" indent="-287020">
              <a:lnSpc>
                <a:spcPts val="2510"/>
              </a:lnSpc>
              <a:spcBef>
                <a:spcPts val="26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spc="-10" dirty="0">
                <a:latin typeface="Carlito"/>
                <a:cs typeface="Carlito"/>
              </a:rPr>
              <a:t>Consumers </a:t>
            </a:r>
            <a:r>
              <a:rPr sz="2200" spc="-5" dirty="0">
                <a:latin typeface="Carlito"/>
                <a:cs typeface="Carlito"/>
              </a:rPr>
              <a:t>should either </a:t>
            </a:r>
            <a:r>
              <a:rPr sz="2200" spc="-20" dirty="0">
                <a:latin typeface="Carlito"/>
                <a:cs typeface="Carlito"/>
              </a:rPr>
              <a:t>pay for </a:t>
            </a:r>
            <a:r>
              <a:rPr sz="2200" spc="-5" dirty="0">
                <a:latin typeface="Carlito"/>
                <a:cs typeface="Carlito"/>
              </a:rPr>
              <a:t>it or </a:t>
            </a:r>
            <a:r>
              <a:rPr sz="2200" spc="-10" dirty="0">
                <a:latin typeface="Carlito"/>
                <a:cs typeface="Carlito"/>
              </a:rPr>
              <a:t>uninstall </a:t>
            </a:r>
            <a:r>
              <a:rPr sz="2200" spc="-5" dirty="0">
                <a:latin typeface="Carlito"/>
                <a:cs typeface="Carlito"/>
              </a:rPr>
              <a:t>it </a:t>
            </a:r>
            <a:r>
              <a:rPr sz="2200" spc="-10" dirty="0">
                <a:latin typeface="Carlito"/>
                <a:cs typeface="Carlito"/>
              </a:rPr>
              <a:t>after </a:t>
            </a:r>
            <a:r>
              <a:rPr sz="2200" spc="-5" dirty="0">
                <a:latin typeface="Carlito"/>
                <a:cs typeface="Carlito"/>
              </a:rPr>
              <a:t>the</a:t>
            </a:r>
            <a:r>
              <a:rPr sz="2200" spc="6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trial</a:t>
            </a:r>
            <a:endParaRPr sz="2200">
              <a:latin typeface="Carlito"/>
              <a:cs typeface="Carlito"/>
            </a:endParaRPr>
          </a:p>
          <a:p>
            <a:pPr marL="756285">
              <a:lnSpc>
                <a:spcPts val="2510"/>
              </a:lnSpc>
            </a:pPr>
            <a:r>
              <a:rPr sz="2200" spc="-10" dirty="0">
                <a:latin typeface="Carlito"/>
                <a:cs typeface="Carlito"/>
              </a:rPr>
              <a:t>period</a:t>
            </a:r>
            <a:endParaRPr sz="22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spc="-15" dirty="0">
                <a:latin typeface="Carlito"/>
                <a:cs typeface="Carlito"/>
              </a:rPr>
              <a:t>Freeware</a:t>
            </a:r>
            <a:endParaRPr sz="2200">
              <a:latin typeface="Carlito"/>
              <a:cs typeface="Carlito"/>
            </a:endParaRPr>
          </a:p>
          <a:p>
            <a:pPr marL="756285" lvl="1" indent="-287020">
              <a:lnSpc>
                <a:spcPts val="2510"/>
              </a:lnSpc>
              <a:spcBef>
                <a:spcPts val="26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spc="-10" dirty="0">
                <a:latin typeface="Carlito"/>
                <a:cs typeface="Carlito"/>
              </a:rPr>
              <a:t>Copyrighted software </a:t>
            </a:r>
            <a:r>
              <a:rPr sz="2200" spc="-15" dirty="0">
                <a:latin typeface="Carlito"/>
                <a:cs typeface="Carlito"/>
              </a:rPr>
              <a:t>programs </a:t>
            </a:r>
            <a:r>
              <a:rPr sz="2200" spc="-10" dirty="0">
                <a:latin typeface="Carlito"/>
                <a:cs typeface="Carlito"/>
              </a:rPr>
              <a:t>that are given </a:t>
            </a:r>
            <a:r>
              <a:rPr sz="2200" spc="-20" dirty="0">
                <a:latin typeface="Carlito"/>
                <a:cs typeface="Carlito"/>
              </a:rPr>
              <a:t>away </a:t>
            </a:r>
            <a:r>
              <a:rPr sz="2200" spc="-10" dirty="0">
                <a:latin typeface="Carlito"/>
                <a:cs typeface="Carlito"/>
              </a:rPr>
              <a:t>by</a:t>
            </a:r>
            <a:r>
              <a:rPr sz="2200" spc="6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the</a:t>
            </a:r>
            <a:endParaRPr sz="2200">
              <a:latin typeface="Carlito"/>
              <a:cs typeface="Carlito"/>
            </a:endParaRPr>
          </a:p>
          <a:p>
            <a:pPr marL="756285">
              <a:lnSpc>
                <a:spcPts val="2510"/>
              </a:lnSpc>
            </a:pPr>
            <a:r>
              <a:rPr sz="2200" spc="-5" dirty="0">
                <a:latin typeface="Carlito"/>
                <a:cs typeface="Carlito"/>
              </a:rPr>
              <a:t>author </a:t>
            </a:r>
            <a:r>
              <a:rPr sz="2200" spc="-20" dirty="0">
                <a:latin typeface="Carlito"/>
                <a:cs typeface="Carlito"/>
              </a:rPr>
              <a:t>for </a:t>
            </a:r>
            <a:r>
              <a:rPr sz="2200" spc="-10" dirty="0">
                <a:latin typeface="Carlito"/>
                <a:cs typeface="Carlito"/>
              </a:rPr>
              <a:t>others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5" dirty="0">
                <a:latin typeface="Carlito"/>
                <a:cs typeface="Carlito"/>
              </a:rPr>
              <a:t>use </a:t>
            </a:r>
            <a:r>
              <a:rPr sz="2200" spc="-10" dirty="0">
                <a:latin typeface="Carlito"/>
                <a:cs typeface="Carlito"/>
              </a:rPr>
              <a:t>free </a:t>
            </a:r>
            <a:r>
              <a:rPr sz="2200" spc="-5" dirty="0">
                <a:latin typeface="Carlito"/>
                <a:cs typeface="Carlito"/>
              </a:rPr>
              <a:t>of</a:t>
            </a:r>
            <a:r>
              <a:rPr sz="2200" spc="55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charge</a:t>
            </a:r>
            <a:endParaRPr sz="22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spc="-5" dirty="0">
                <a:latin typeface="Carlito"/>
                <a:cs typeface="Carlito"/>
              </a:rPr>
              <a:t>Public Domain</a:t>
            </a:r>
            <a:r>
              <a:rPr sz="2200" spc="-4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Software</a:t>
            </a:r>
            <a:endParaRPr sz="2200">
              <a:latin typeface="Carlito"/>
              <a:cs typeface="Carlito"/>
            </a:endParaRPr>
          </a:p>
          <a:p>
            <a:pPr marL="756285" marR="334645" lvl="1" indent="-287020">
              <a:lnSpc>
                <a:spcPts val="2380"/>
              </a:lnSpc>
              <a:spcBef>
                <a:spcPts val="56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spc="-10" dirty="0">
                <a:latin typeface="Carlito"/>
                <a:cs typeface="Carlito"/>
              </a:rPr>
              <a:t>Software </a:t>
            </a:r>
            <a:r>
              <a:rPr sz="2200" spc="-15" dirty="0">
                <a:latin typeface="Carlito"/>
                <a:cs typeface="Carlito"/>
              </a:rPr>
              <a:t>that </a:t>
            </a:r>
            <a:r>
              <a:rPr sz="2200" spc="-5" dirty="0">
                <a:latin typeface="Carlito"/>
                <a:cs typeface="Carlito"/>
              </a:rPr>
              <a:t>is </a:t>
            </a:r>
            <a:r>
              <a:rPr sz="2200" spc="-10" dirty="0">
                <a:latin typeface="Carlito"/>
                <a:cs typeface="Carlito"/>
              </a:rPr>
              <a:t>not </a:t>
            </a:r>
            <a:r>
              <a:rPr sz="2200" spc="-15" dirty="0">
                <a:latin typeface="Carlito"/>
                <a:cs typeface="Carlito"/>
              </a:rPr>
              <a:t>copyrighted </a:t>
            </a:r>
            <a:r>
              <a:rPr sz="2200" spc="-5" dirty="0">
                <a:latin typeface="Carlito"/>
                <a:cs typeface="Carlito"/>
              </a:rPr>
              <a:t>and </a:t>
            </a:r>
            <a:r>
              <a:rPr sz="2200" spc="-15" dirty="0">
                <a:latin typeface="Carlito"/>
                <a:cs typeface="Carlito"/>
              </a:rPr>
              <a:t>ownership </a:t>
            </a:r>
            <a:r>
              <a:rPr sz="2200" spc="-10" dirty="0">
                <a:latin typeface="Carlito"/>
                <a:cs typeface="Carlito"/>
              </a:rPr>
              <a:t>rights </a:t>
            </a:r>
            <a:r>
              <a:rPr sz="2200" spc="-20" dirty="0">
                <a:latin typeface="Carlito"/>
                <a:cs typeface="Carlito"/>
              </a:rPr>
              <a:t>have  </a:t>
            </a:r>
            <a:r>
              <a:rPr sz="2200" spc="-10" dirty="0">
                <a:latin typeface="Carlito"/>
                <a:cs typeface="Carlito"/>
              </a:rPr>
              <a:t>been </a:t>
            </a:r>
            <a:r>
              <a:rPr sz="2200" spc="-15" dirty="0">
                <a:latin typeface="Carlito"/>
                <a:cs typeface="Carlito"/>
              </a:rPr>
              <a:t>donated to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0" dirty="0">
                <a:latin typeface="Carlito"/>
                <a:cs typeface="Carlito"/>
              </a:rPr>
              <a:t>public</a:t>
            </a:r>
            <a:r>
              <a:rPr sz="2200" spc="2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domain</a:t>
            </a:r>
            <a:endParaRPr sz="22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17093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475" dirty="0"/>
              <a:t>The </a:t>
            </a:r>
            <a:r>
              <a:rPr sz="3200" spc="-555" dirty="0"/>
              <a:t>Basics </a:t>
            </a:r>
            <a:r>
              <a:rPr sz="3200" spc="-254" dirty="0"/>
              <a:t>of </a:t>
            </a:r>
            <a:r>
              <a:rPr sz="3200" spc="-355" dirty="0"/>
              <a:t>Application</a:t>
            </a:r>
            <a:r>
              <a:rPr sz="3200" spc="-660" dirty="0"/>
              <a:t> </a:t>
            </a:r>
            <a:r>
              <a:rPr sz="3200" spc="-434" dirty="0"/>
              <a:t>Software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899591" y="1628813"/>
            <a:ext cx="6768719" cy="43002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12179" y="6093294"/>
            <a:ext cx="1489964" cy="6012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51</a:t>
            </a:fld>
            <a:endParaRPr spc="-16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57619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40" dirty="0"/>
              <a:t>Desktop </a:t>
            </a:r>
            <a:r>
              <a:rPr spc="-525" dirty="0"/>
              <a:t>vs. </a:t>
            </a:r>
            <a:r>
              <a:rPr spc="-325" dirty="0"/>
              <a:t>Mobile</a:t>
            </a:r>
            <a:r>
              <a:rPr spc="-380" dirty="0"/>
              <a:t> </a:t>
            </a:r>
            <a:r>
              <a:rPr spc="-490" dirty="0"/>
              <a:t>Software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34414"/>
            <a:ext cx="3950970" cy="463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41350" indent="-343535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6235" algn="l"/>
              </a:tabLst>
            </a:pPr>
            <a:r>
              <a:rPr sz="2400" spc="-15" dirty="0">
                <a:latin typeface="Carlito"/>
                <a:cs typeface="Carlito"/>
              </a:rPr>
              <a:t>Personal computers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use  </a:t>
            </a:r>
            <a:r>
              <a:rPr sz="2400" spc="-10" dirty="0">
                <a:latin typeface="Carlito"/>
                <a:cs typeface="Carlito"/>
              </a:rPr>
              <a:t>desktop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software</a:t>
            </a:r>
            <a:endParaRPr sz="2400">
              <a:latin typeface="Carlito"/>
              <a:cs typeface="Carlito"/>
            </a:endParaRPr>
          </a:p>
          <a:p>
            <a:pPr marL="355600" marR="605790" indent="-343535" algn="just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Smartphones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other  </a:t>
            </a:r>
            <a:r>
              <a:rPr sz="2400" dirty="0">
                <a:latin typeface="Carlito"/>
                <a:cs typeface="Carlito"/>
              </a:rPr>
              <a:t>mobile </a:t>
            </a:r>
            <a:r>
              <a:rPr sz="2400" spc="-5" dirty="0">
                <a:latin typeface="Carlito"/>
                <a:cs typeface="Carlito"/>
              </a:rPr>
              <a:t>devices typically  </a:t>
            </a:r>
            <a:r>
              <a:rPr sz="2400" spc="-10" dirty="0">
                <a:latin typeface="Carlito"/>
                <a:cs typeface="Carlito"/>
              </a:rPr>
              <a:t>require </a:t>
            </a:r>
            <a:r>
              <a:rPr sz="2400" dirty="0">
                <a:latin typeface="Carlito"/>
                <a:cs typeface="Carlito"/>
              </a:rPr>
              <a:t>mobile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software  </a:t>
            </a:r>
            <a:r>
              <a:rPr sz="2400" spc="-5" dirty="0">
                <a:latin typeface="Carlito"/>
                <a:cs typeface="Carlito"/>
              </a:rPr>
              <a:t>called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apps</a:t>
            </a:r>
            <a:endParaRPr sz="2400">
              <a:latin typeface="Carlito"/>
              <a:cs typeface="Carlito"/>
            </a:endParaRPr>
          </a:p>
          <a:p>
            <a:pPr marL="756285" marR="5080" lvl="1" indent="-287020" algn="just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Specifically designed </a:t>
            </a:r>
            <a:r>
              <a:rPr sz="2400" spc="-20" dirty="0">
                <a:latin typeface="Carlito"/>
                <a:cs typeface="Carlito"/>
              </a:rPr>
              <a:t>for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  </a:t>
            </a:r>
            <a:r>
              <a:rPr sz="2400" spc="-5" dirty="0">
                <a:latin typeface="Carlito"/>
                <a:cs typeface="Carlito"/>
              </a:rPr>
              <a:t>specific </a:t>
            </a:r>
            <a:r>
              <a:rPr sz="2400" dirty="0">
                <a:latin typeface="Carlito"/>
                <a:cs typeface="Carlito"/>
              </a:rPr>
              <a:t>type </a:t>
            </a:r>
            <a:r>
              <a:rPr sz="2400" spc="-5" dirty="0">
                <a:latin typeface="Carlito"/>
                <a:cs typeface="Carlito"/>
              </a:rPr>
              <a:t>of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device</a:t>
            </a:r>
            <a:endParaRPr sz="2400">
              <a:latin typeface="Carlito"/>
              <a:cs typeface="Carlito"/>
            </a:endParaRPr>
          </a:p>
          <a:p>
            <a:pPr marL="756285" marR="235585" lvl="1" indent="-287020" algn="just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Wide </a:t>
            </a:r>
            <a:r>
              <a:rPr sz="2400" spc="-15" dirty="0">
                <a:latin typeface="Carlito"/>
                <a:cs typeface="Carlito"/>
              </a:rPr>
              <a:t>range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5" dirty="0">
                <a:latin typeface="Carlito"/>
                <a:cs typeface="Carlito"/>
              </a:rPr>
              <a:t>software  </a:t>
            </a:r>
            <a:r>
              <a:rPr sz="2400" spc="-10" dirty="0">
                <a:latin typeface="Carlito"/>
                <a:cs typeface="Carlito"/>
              </a:rPr>
              <a:t>available </a:t>
            </a:r>
            <a:r>
              <a:rPr sz="2400" dirty="0">
                <a:latin typeface="Carlito"/>
                <a:cs typeface="Carlito"/>
              </a:rPr>
              <a:t>via app </a:t>
            </a:r>
            <a:r>
              <a:rPr sz="2400" spc="-20" dirty="0">
                <a:latin typeface="Carlito"/>
                <a:cs typeface="Carlito"/>
              </a:rPr>
              <a:t>stores  </a:t>
            </a:r>
            <a:r>
              <a:rPr sz="2400" spc="-5" dirty="0">
                <a:latin typeface="Carlito"/>
                <a:cs typeface="Carlito"/>
              </a:rPr>
              <a:t>(Google </a:t>
            </a:r>
            <a:r>
              <a:rPr sz="2400" spc="-45" dirty="0">
                <a:latin typeface="Carlito"/>
                <a:cs typeface="Carlito"/>
              </a:rPr>
              <a:t>Play, </a:t>
            </a:r>
            <a:r>
              <a:rPr sz="2400" dirty="0">
                <a:latin typeface="Carlito"/>
                <a:cs typeface="Carlito"/>
              </a:rPr>
              <a:t>Apple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App  </a:t>
            </a:r>
            <a:r>
              <a:rPr sz="2400" spc="-15" dirty="0">
                <a:latin typeface="Carlito"/>
                <a:cs typeface="Carlito"/>
              </a:rPr>
              <a:t>Store, </a:t>
            </a:r>
            <a:r>
              <a:rPr sz="2400" spc="-10" dirty="0">
                <a:latin typeface="Carlito"/>
                <a:cs typeface="Carlito"/>
              </a:rPr>
              <a:t>etc.)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21986" y="1706727"/>
            <a:ext cx="4197412" cy="38825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372225" y="5855106"/>
            <a:ext cx="1368171" cy="4209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52</a:t>
            </a:fld>
            <a:endParaRPr spc="-16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50266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4" dirty="0"/>
              <a:t>Technology </a:t>
            </a:r>
            <a:r>
              <a:rPr spc="-405" dirty="0"/>
              <a:t>and </a:t>
            </a:r>
            <a:r>
              <a:rPr spc="-490" dirty="0"/>
              <a:t>You</a:t>
            </a:r>
            <a:r>
              <a:rPr spc="95" dirty="0"/>
              <a:t> </a:t>
            </a:r>
            <a:r>
              <a:rPr spc="-600" dirty="0"/>
              <a:t>Box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4030345" cy="368427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b="1" spc="-5" dirty="0">
                <a:latin typeface="Carlito"/>
                <a:cs typeface="Carlito"/>
              </a:rPr>
              <a:t>Mobile</a:t>
            </a:r>
            <a:r>
              <a:rPr sz="2400" b="1" spc="-30" dirty="0">
                <a:latin typeface="Carlito"/>
                <a:cs typeface="Carlito"/>
              </a:rPr>
              <a:t> </a:t>
            </a:r>
            <a:r>
              <a:rPr sz="2400" b="1" spc="-15" dirty="0">
                <a:latin typeface="Carlito"/>
                <a:cs typeface="Carlito"/>
              </a:rPr>
              <a:t>Ticketing</a:t>
            </a:r>
            <a:endParaRPr sz="2400">
              <a:latin typeface="Carlito"/>
              <a:cs typeface="Carlito"/>
            </a:endParaRPr>
          </a:p>
          <a:p>
            <a:pPr marL="756285" marR="5080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Download </a:t>
            </a:r>
            <a:r>
              <a:rPr sz="2400" spc="-15" dirty="0">
                <a:latin typeface="Carlito"/>
                <a:cs typeface="Carlito"/>
              </a:rPr>
              <a:t>ticket to</a:t>
            </a:r>
            <a:r>
              <a:rPr sz="2400" spc="-12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mobile  </a:t>
            </a:r>
            <a:r>
              <a:rPr sz="2400" spc="-5" dirty="0">
                <a:latin typeface="Carlito"/>
                <a:cs typeface="Carlito"/>
              </a:rPr>
              <a:t>device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use </a:t>
            </a:r>
            <a:r>
              <a:rPr sz="2400" spc="-25" dirty="0">
                <a:latin typeface="Carlito"/>
                <a:cs typeface="Carlito"/>
              </a:rPr>
              <a:t>for  </a:t>
            </a:r>
            <a:r>
              <a:rPr sz="2400" spc="-10" dirty="0">
                <a:latin typeface="Carlito"/>
                <a:cs typeface="Carlito"/>
              </a:rPr>
              <a:t>admittance</a:t>
            </a:r>
            <a:endParaRPr sz="2400">
              <a:latin typeface="Carlito"/>
              <a:cs typeface="Carlito"/>
            </a:endParaRPr>
          </a:p>
          <a:p>
            <a:pPr marL="756285" marR="81915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Tickets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5" dirty="0">
                <a:latin typeface="Carlito"/>
                <a:cs typeface="Carlito"/>
              </a:rPr>
              <a:t>movies,  sporting </a:t>
            </a:r>
            <a:r>
              <a:rPr sz="2400" spc="-10" dirty="0">
                <a:latin typeface="Carlito"/>
                <a:cs typeface="Carlito"/>
              </a:rPr>
              <a:t>events, </a:t>
            </a:r>
            <a:r>
              <a:rPr sz="2400" spc="-5" dirty="0">
                <a:latin typeface="Carlito"/>
                <a:cs typeface="Carlito"/>
              </a:rPr>
              <a:t>concerts,  </a:t>
            </a:r>
            <a:r>
              <a:rPr sz="2400" spc="-10" dirty="0">
                <a:latin typeface="Carlito"/>
                <a:cs typeface="Carlito"/>
              </a:rPr>
              <a:t>etc.</a:t>
            </a:r>
            <a:endParaRPr sz="2400">
              <a:latin typeface="Carlito"/>
              <a:cs typeface="Carlito"/>
            </a:endParaRPr>
          </a:p>
          <a:p>
            <a:pPr marL="756285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Boarding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passes</a:t>
            </a:r>
            <a:endParaRPr sz="2400">
              <a:latin typeface="Carlito"/>
              <a:cs typeface="Carlito"/>
            </a:endParaRPr>
          </a:p>
          <a:p>
            <a:pPr marL="756285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Custom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tickets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38571" y="1988870"/>
            <a:ext cx="3128772" cy="40899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53</a:t>
            </a:fld>
            <a:endParaRPr spc="-16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55645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4" dirty="0"/>
              <a:t>Installed </a:t>
            </a:r>
            <a:r>
              <a:rPr spc="-525" dirty="0"/>
              <a:t>vs. </a:t>
            </a:r>
            <a:r>
              <a:rPr spc="-375" dirty="0"/>
              <a:t>Cloud</a:t>
            </a:r>
            <a:r>
              <a:rPr spc="-415" dirty="0"/>
              <a:t> </a:t>
            </a:r>
            <a:r>
              <a:rPr spc="-490" dirty="0"/>
              <a:t>Software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3768090" cy="324485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Installed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Software</a:t>
            </a:r>
            <a:endParaRPr sz="2400">
              <a:latin typeface="Carlito"/>
              <a:cs typeface="Carlito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Must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10" dirty="0">
                <a:latin typeface="Carlito"/>
                <a:cs typeface="Carlito"/>
              </a:rPr>
              <a:t>installed </a:t>
            </a:r>
            <a:r>
              <a:rPr sz="2400" spc="-5" dirty="0">
                <a:latin typeface="Carlito"/>
                <a:cs typeface="Carlito"/>
              </a:rPr>
              <a:t>on</a:t>
            </a:r>
            <a:r>
              <a:rPr sz="2400" spc="-7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the  </a:t>
            </a:r>
            <a:r>
              <a:rPr sz="2400" spc="-10" dirty="0">
                <a:latin typeface="Carlito"/>
                <a:cs typeface="Carlito"/>
              </a:rPr>
              <a:t>computer </a:t>
            </a:r>
            <a:r>
              <a:rPr sz="2400" spc="-25" dirty="0">
                <a:latin typeface="Carlito"/>
                <a:cs typeface="Carlito"/>
              </a:rPr>
              <a:t>before </a:t>
            </a:r>
            <a:r>
              <a:rPr sz="2400" dirty="0">
                <a:latin typeface="Carlito"/>
                <a:cs typeface="Carlito"/>
              </a:rPr>
              <a:t>it </a:t>
            </a:r>
            <a:r>
              <a:rPr sz="2400" spc="-10" dirty="0">
                <a:latin typeface="Carlito"/>
                <a:cs typeface="Carlito"/>
              </a:rPr>
              <a:t>can  </a:t>
            </a:r>
            <a:r>
              <a:rPr sz="2400" spc="-5" dirty="0">
                <a:latin typeface="Carlito"/>
                <a:cs typeface="Carlito"/>
              </a:rPr>
              <a:t>be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run</a:t>
            </a:r>
            <a:endParaRPr sz="2400">
              <a:latin typeface="Carlito"/>
              <a:cs typeface="Carlito"/>
            </a:endParaRPr>
          </a:p>
          <a:p>
            <a:pPr marL="756285" marR="500380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Can be </a:t>
            </a:r>
            <a:r>
              <a:rPr sz="2400" spc="-10" dirty="0">
                <a:latin typeface="Carlito"/>
                <a:cs typeface="Carlito"/>
              </a:rPr>
              <a:t>purchased</a:t>
            </a:r>
            <a:r>
              <a:rPr sz="2400" spc="-7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in  </a:t>
            </a:r>
            <a:r>
              <a:rPr sz="2400" spc="-15" dirty="0">
                <a:latin typeface="Carlito"/>
                <a:cs typeface="Carlito"/>
              </a:rPr>
              <a:t>physical</a:t>
            </a:r>
            <a:r>
              <a:rPr sz="2400" spc="-20" dirty="0">
                <a:latin typeface="Carlito"/>
                <a:cs typeface="Carlito"/>
              </a:rPr>
              <a:t> form</a:t>
            </a:r>
            <a:endParaRPr sz="2400">
              <a:latin typeface="Carlito"/>
              <a:cs typeface="Carlito"/>
            </a:endParaRPr>
          </a:p>
          <a:p>
            <a:pPr marL="756285" marR="54229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Can be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downloaded  </a:t>
            </a:r>
            <a:r>
              <a:rPr sz="2400" spc="-15" dirty="0">
                <a:latin typeface="Carlito"/>
                <a:cs typeface="Carlito"/>
              </a:rPr>
              <a:t>from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Internet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427982" y="1556892"/>
            <a:ext cx="4511913" cy="38413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47679" y="5641787"/>
            <a:ext cx="1464069" cy="7057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54</a:t>
            </a:fld>
            <a:endParaRPr spc="-16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55645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4" dirty="0"/>
              <a:t>Installed </a:t>
            </a:r>
            <a:r>
              <a:rPr spc="-525" dirty="0"/>
              <a:t>vs. </a:t>
            </a:r>
            <a:r>
              <a:rPr spc="-375" dirty="0"/>
              <a:t>Cloud</a:t>
            </a:r>
            <a:r>
              <a:rPr spc="-415" dirty="0"/>
              <a:t> </a:t>
            </a:r>
            <a:r>
              <a:rPr spc="-490" dirty="0"/>
              <a:t>Software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55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491730" cy="430593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Cloud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Software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Is </a:t>
            </a:r>
            <a:r>
              <a:rPr sz="2400" spc="-10" dirty="0">
                <a:latin typeface="Carlito"/>
                <a:cs typeface="Carlito"/>
              </a:rPr>
              <a:t>delivered </a:t>
            </a:r>
            <a:r>
              <a:rPr sz="2400" spc="-5" dirty="0">
                <a:latin typeface="Carlito"/>
                <a:cs typeface="Carlito"/>
              </a:rPr>
              <a:t>on-demand </a:t>
            </a:r>
            <a:r>
              <a:rPr sz="2400" dirty="0">
                <a:latin typeface="Carlito"/>
                <a:cs typeface="Carlito"/>
              </a:rPr>
              <a:t>via the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30" dirty="0">
                <a:latin typeface="Carlito"/>
                <a:cs typeface="Carlito"/>
              </a:rPr>
              <a:t>Web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Also </a:t>
            </a:r>
            <a:r>
              <a:rPr sz="2400" spc="-5" dirty="0">
                <a:latin typeface="Carlito"/>
                <a:cs typeface="Carlito"/>
              </a:rPr>
              <a:t>called </a:t>
            </a:r>
            <a:r>
              <a:rPr sz="2400" spc="-15" dirty="0">
                <a:latin typeface="Carlito"/>
                <a:cs typeface="Carlito"/>
              </a:rPr>
              <a:t>Software </a:t>
            </a:r>
            <a:r>
              <a:rPr sz="2400" dirty="0">
                <a:latin typeface="Carlito"/>
                <a:cs typeface="Carlito"/>
              </a:rPr>
              <a:t>as a Service </a:t>
            </a:r>
            <a:r>
              <a:rPr sz="2400" spc="-5" dirty="0">
                <a:latin typeface="Carlito"/>
                <a:cs typeface="Carlito"/>
              </a:rPr>
              <a:t>(SaaS)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cloudware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rlito"/>
                <a:cs typeface="Carlito"/>
              </a:rPr>
              <a:t>Includes </a:t>
            </a:r>
            <a:r>
              <a:rPr sz="2400" spc="-10" dirty="0">
                <a:latin typeface="Carlito"/>
                <a:cs typeface="Carlito"/>
              </a:rPr>
              <a:t>free </a:t>
            </a:r>
            <a:r>
              <a:rPr sz="2400" spc="-15" dirty="0">
                <a:latin typeface="Carlito"/>
                <a:cs typeface="Carlito"/>
              </a:rPr>
              <a:t>software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fee-based</a:t>
            </a:r>
            <a:r>
              <a:rPr sz="240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software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8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Advantages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cloud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software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ts val="2735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Carlito"/>
                <a:cs typeface="Carlito"/>
              </a:rPr>
              <a:t>Files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spc="-5" dirty="0">
                <a:latin typeface="Carlito"/>
                <a:cs typeface="Carlito"/>
              </a:rPr>
              <a:t>be accessed </a:t>
            </a:r>
            <a:r>
              <a:rPr sz="2400" spc="-15" dirty="0">
                <a:latin typeface="Carlito"/>
                <a:cs typeface="Carlito"/>
              </a:rPr>
              <a:t>from </a:t>
            </a:r>
            <a:r>
              <a:rPr sz="2400" spc="-20" dirty="0">
                <a:latin typeface="Carlito"/>
                <a:cs typeface="Carlito"/>
              </a:rPr>
              <a:t>any </a:t>
            </a:r>
            <a:r>
              <a:rPr sz="2400" spc="-10" dirty="0">
                <a:latin typeface="Carlito"/>
                <a:cs typeface="Carlito"/>
              </a:rPr>
              <a:t>computer </a:t>
            </a:r>
            <a:r>
              <a:rPr sz="2400" dirty="0">
                <a:latin typeface="Carlito"/>
                <a:cs typeface="Carlito"/>
              </a:rPr>
              <a:t>with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an</a:t>
            </a:r>
            <a:endParaRPr sz="2400">
              <a:latin typeface="Carlito"/>
              <a:cs typeface="Carlito"/>
            </a:endParaRPr>
          </a:p>
          <a:p>
            <a:pPr marL="1155700">
              <a:lnSpc>
                <a:spcPts val="2735"/>
              </a:lnSpc>
            </a:pPr>
            <a:r>
              <a:rPr sz="2400" spc="-10" dirty="0">
                <a:latin typeface="Carlito"/>
                <a:cs typeface="Carlito"/>
              </a:rPr>
              <a:t>Internet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connection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Carlito"/>
                <a:cs typeface="Carlito"/>
              </a:rPr>
              <a:t>Ease </a:t>
            </a:r>
            <a:r>
              <a:rPr sz="2400" spc="-5" dirty="0">
                <a:latin typeface="Carlito"/>
                <a:cs typeface="Carlito"/>
              </a:rPr>
              <a:t>of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implementation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 dirty="0">
                <a:latin typeface="Carlito"/>
                <a:cs typeface="Carlito"/>
              </a:rPr>
              <a:t>Improved </a:t>
            </a:r>
            <a:r>
              <a:rPr sz="2400" spc="-10" dirty="0">
                <a:latin typeface="Carlito"/>
                <a:cs typeface="Carlito"/>
              </a:rPr>
              <a:t>collaboration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capabilities</a:t>
            </a:r>
            <a:endParaRPr sz="2400">
              <a:latin typeface="Carlito"/>
              <a:cs typeface="Carlito"/>
            </a:endParaRPr>
          </a:p>
          <a:p>
            <a:pPr marL="1155700" marR="360045" lvl="2" indent="-228600">
              <a:lnSpc>
                <a:spcPts val="2590"/>
              </a:lnSpc>
              <a:spcBef>
                <a:spcPts val="62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20" dirty="0">
                <a:latin typeface="Carlito"/>
                <a:cs typeface="Carlito"/>
              </a:rPr>
              <a:t>Always </a:t>
            </a:r>
            <a:r>
              <a:rPr sz="2400" spc="-10" dirty="0">
                <a:latin typeface="Carlito"/>
                <a:cs typeface="Carlito"/>
              </a:rPr>
              <a:t>working </a:t>
            </a:r>
            <a:r>
              <a:rPr sz="2400" dirty="0">
                <a:latin typeface="Carlito"/>
                <a:cs typeface="Carlito"/>
              </a:rPr>
              <a:t>with the </a:t>
            </a:r>
            <a:r>
              <a:rPr sz="2400" spc="-10" dirty="0">
                <a:latin typeface="Carlito"/>
                <a:cs typeface="Carlito"/>
              </a:rPr>
              <a:t>most current </a:t>
            </a:r>
            <a:r>
              <a:rPr sz="2400" spc="-15" dirty="0">
                <a:latin typeface="Carlito"/>
                <a:cs typeface="Carlito"/>
              </a:rPr>
              <a:t>version </a:t>
            </a:r>
            <a:r>
              <a:rPr sz="2400" spc="-5" dirty="0">
                <a:latin typeface="Carlito"/>
                <a:cs typeface="Carlito"/>
              </a:rPr>
              <a:t>of  </a:t>
            </a:r>
            <a:r>
              <a:rPr sz="2400" spc="-10" dirty="0">
                <a:latin typeface="Carlito"/>
                <a:cs typeface="Carlito"/>
              </a:rPr>
              <a:t>software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55645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4" dirty="0"/>
              <a:t>Installed </a:t>
            </a:r>
            <a:r>
              <a:rPr spc="-525" dirty="0"/>
              <a:t>vs. </a:t>
            </a:r>
            <a:r>
              <a:rPr spc="-375" dirty="0"/>
              <a:t>Cloud</a:t>
            </a:r>
            <a:r>
              <a:rPr spc="-415" dirty="0"/>
              <a:t> </a:t>
            </a:r>
            <a:r>
              <a:rPr spc="-490" dirty="0"/>
              <a:t>Software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56</a:t>
            </a:fld>
            <a:endParaRPr spc="-165" dirty="0"/>
          </a:p>
        </p:txBody>
      </p:sp>
      <p:sp>
        <p:nvSpPr>
          <p:cNvPr id="3" name="object 3"/>
          <p:cNvSpPr txBox="1"/>
          <p:nvPr/>
        </p:nvSpPr>
        <p:spPr>
          <a:xfrm>
            <a:off x="993444" y="1461262"/>
            <a:ext cx="7133590" cy="214757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15" dirty="0">
                <a:latin typeface="Carlito"/>
                <a:cs typeface="Carlito"/>
              </a:rPr>
              <a:t>Potential disadvantages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cloud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software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latin typeface="Carlito"/>
                <a:cs typeface="Carlito"/>
              </a:rPr>
              <a:t>Online applications </a:t>
            </a:r>
            <a:r>
              <a:rPr sz="2400" spc="-10" dirty="0">
                <a:latin typeface="Carlito"/>
                <a:cs typeface="Carlito"/>
              </a:rPr>
              <a:t>tend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run </a:t>
            </a:r>
            <a:r>
              <a:rPr sz="2400" spc="-10" dirty="0">
                <a:latin typeface="Carlito"/>
                <a:cs typeface="Carlito"/>
              </a:rPr>
              <a:t>more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slowly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20" dirty="0">
                <a:latin typeface="Carlito"/>
                <a:cs typeface="Carlito"/>
              </a:rPr>
              <a:t>Have </a:t>
            </a:r>
            <a:r>
              <a:rPr sz="2400" spc="-5" dirty="0">
                <a:latin typeface="Carlito"/>
                <a:cs typeface="Carlito"/>
              </a:rPr>
              <a:t>file </a:t>
            </a:r>
            <a:r>
              <a:rPr sz="2400" spc="-20" dirty="0">
                <a:latin typeface="Carlito"/>
                <a:cs typeface="Carlito"/>
              </a:rPr>
              <a:t>size</a:t>
            </a:r>
            <a:r>
              <a:rPr sz="2400" spc="-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limits</a:t>
            </a:r>
            <a:endParaRPr sz="2400">
              <a:latin typeface="Carlito"/>
              <a:cs typeface="Carlito"/>
            </a:endParaRPr>
          </a:p>
          <a:p>
            <a:pPr marL="697865" marR="508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 dirty="0">
                <a:latin typeface="Carlito"/>
                <a:cs typeface="Carlito"/>
              </a:rPr>
              <a:t>Cost </a:t>
            </a:r>
            <a:r>
              <a:rPr sz="2400" spc="-15" dirty="0">
                <a:latin typeface="Carlito"/>
                <a:cs typeface="Carlito"/>
              </a:rPr>
              <a:t>may </a:t>
            </a:r>
            <a:r>
              <a:rPr sz="2400" spc="-10" dirty="0">
                <a:latin typeface="Carlito"/>
                <a:cs typeface="Carlito"/>
              </a:rPr>
              <a:t>eventually </a:t>
            </a:r>
            <a:r>
              <a:rPr sz="2400" spc="-15" dirty="0">
                <a:latin typeface="Carlito"/>
                <a:cs typeface="Carlito"/>
              </a:rPr>
              <a:t>exceed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cost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0" dirty="0">
                <a:latin typeface="Carlito"/>
                <a:cs typeface="Carlito"/>
              </a:rPr>
              <a:t>purchasing </a:t>
            </a:r>
            <a:r>
              <a:rPr sz="2400" dirty="0">
                <a:latin typeface="Carlito"/>
                <a:cs typeface="Carlito"/>
              </a:rPr>
              <a:t>a  </a:t>
            </a:r>
            <a:r>
              <a:rPr sz="2400" spc="-5" dirty="0">
                <a:latin typeface="Carlito"/>
                <a:cs typeface="Carlito"/>
              </a:rPr>
              <a:t>similar </a:t>
            </a:r>
            <a:r>
              <a:rPr sz="2400" spc="-10" dirty="0">
                <a:latin typeface="Carlito"/>
                <a:cs typeface="Carlito"/>
              </a:rPr>
              <a:t>installed </a:t>
            </a:r>
            <a:r>
              <a:rPr sz="2400" spc="-15" dirty="0">
                <a:latin typeface="Carlito"/>
                <a:cs typeface="Carlito"/>
              </a:rPr>
              <a:t>version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software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320" y="382600"/>
            <a:ext cx="55670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4" dirty="0"/>
              <a:t>Installed </a:t>
            </a:r>
            <a:r>
              <a:rPr spc="-525" dirty="0"/>
              <a:t>vs. </a:t>
            </a:r>
            <a:r>
              <a:rPr spc="-370" dirty="0"/>
              <a:t>Cloud</a:t>
            </a:r>
            <a:r>
              <a:rPr spc="-409" dirty="0"/>
              <a:t> </a:t>
            </a:r>
            <a:r>
              <a:rPr spc="-490" dirty="0"/>
              <a:t>Software</a:t>
            </a:r>
          </a:p>
        </p:txBody>
      </p:sp>
      <p:sp>
        <p:nvSpPr>
          <p:cNvPr id="3" name="object 3"/>
          <p:cNvSpPr/>
          <p:nvPr/>
        </p:nvSpPr>
        <p:spPr>
          <a:xfrm>
            <a:off x="1255481" y="1521117"/>
            <a:ext cx="5215631" cy="48341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948296" y="2348852"/>
            <a:ext cx="1080122" cy="7855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57</a:t>
            </a:fld>
            <a:endParaRPr spc="-16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20561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45" dirty="0"/>
              <a:t>Trend</a:t>
            </a:r>
            <a:r>
              <a:rPr spc="-300" dirty="0"/>
              <a:t> </a:t>
            </a:r>
            <a:r>
              <a:rPr spc="-600" dirty="0"/>
              <a:t>Box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271384" cy="361061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b="1" spc="-5" dirty="0">
                <a:latin typeface="Carlito"/>
                <a:cs typeface="Carlito"/>
              </a:rPr>
              <a:t>Airline</a:t>
            </a:r>
            <a:r>
              <a:rPr sz="2400" b="1" spc="-25" dirty="0">
                <a:latin typeface="Carlito"/>
                <a:cs typeface="Carlito"/>
              </a:rPr>
              <a:t> </a:t>
            </a:r>
            <a:r>
              <a:rPr sz="2400" b="1" spc="-10" dirty="0">
                <a:latin typeface="Carlito"/>
                <a:cs typeface="Carlito"/>
              </a:rPr>
              <a:t>Apps</a:t>
            </a:r>
            <a:endParaRPr sz="2400">
              <a:latin typeface="Carlito"/>
              <a:cs typeface="Carlito"/>
            </a:endParaRPr>
          </a:p>
          <a:p>
            <a:pPr marL="756285" marR="5080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American </a:t>
            </a:r>
            <a:r>
              <a:rPr sz="2400" dirty="0">
                <a:latin typeface="Carlito"/>
                <a:cs typeface="Carlito"/>
              </a:rPr>
              <a:t>Airlines is </a:t>
            </a:r>
            <a:r>
              <a:rPr sz="2400" spc="-5" dirty="0">
                <a:latin typeface="Carlito"/>
                <a:cs typeface="Carlito"/>
              </a:rPr>
              <a:t>issuing </a:t>
            </a:r>
            <a:r>
              <a:rPr sz="2400" dirty="0">
                <a:latin typeface="Carlito"/>
                <a:cs typeface="Carlito"/>
              </a:rPr>
              <a:t>media </a:t>
            </a:r>
            <a:r>
              <a:rPr sz="2400" spc="-5" dirty="0">
                <a:latin typeface="Carlito"/>
                <a:cs typeface="Carlito"/>
              </a:rPr>
              <a:t>tablets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all</a:t>
            </a:r>
            <a:r>
              <a:rPr sz="2400" spc="-15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cabin  </a:t>
            </a:r>
            <a:r>
              <a:rPr sz="2400" spc="-10" dirty="0">
                <a:latin typeface="Carlito"/>
                <a:cs typeface="Carlito"/>
              </a:rPr>
              <a:t>personnel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iPads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all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pilots</a:t>
            </a:r>
            <a:endParaRPr sz="2400">
              <a:latin typeface="Carlito"/>
              <a:cs typeface="Carlito"/>
            </a:endParaRPr>
          </a:p>
          <a:p>
            <a:pPr marL="756285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Replaces paper </a:t>
            </a:r>
            <a:r>
              <a:rPr sz="2400" dirty="0">
                <a:latin typeface="Carlito"/>
                <a:cs typeface="Carlito"/>
              </a:rPr>
              <a:t>manuals and</a:t>
            </a:r>
            <a:r>
              <a:rPr sz="2400" spc="-114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maps</a:t>
            </a:r>
            <a:endParaRPr sz="2400">
              <a:latin typeface="Carlito"/>
              <a:cs typeface="Carlito"/>
            </a:endParaRPr>
          </a:p>
          <a:p>
            <a:pPr marL="756285" marR="2151380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Expected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dirty="0">
                <a:latin typeface="Carlito"/>
                <a:cs typeface="Carlito"/>
              </a:rPr>
              <a:t>able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provide  passengers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5" dirty="0">
                <a:latin typeface="Carlito"/>
                <a:cs typeface="Carlito"/>
              </a:rPr>
              <a:t>additional </a:t>
            </a:r>
            <a:r>
              <a:rPr sz="2400" dirty="0">
                <a:latin typeface="Carlito"/>
                <a:cs typeface="Carlito"/>
              </a:rPr>
              <a:t>services  </a:t>
            </a:r>
            <a:r>
              <a:rPr sz="2400" spc="-5" dirty="0">
                <a:latin typeface="Carlito"/>
                <a:cs typeface="Carlito"/>
              </a:rPr>
              <a:t>such </a:t>
            </a:r>
            <a:r>
              <a:rPr sz="2400" dirty="0">
                <a:latin typeface="Carlito"/>
                <a:cs typeface="Carlito"/>
              </a:rPr>
              <a:t>as </a:t>
            </a:r>
            <a:r>
              <a:rPr sz="2400" spc="-10" dirty="0">
                <a:latin typeface="Carlito"/>
                <a:cs typeface="Carlito"/>
              </a:rPr>
              <a:t>connection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weather  </a:t>
            </a:r>
            <a:r>
              <a:rPr sz="2400" spc="-20" dirty="0">
                <a:latin typeface="Carlito"/>
                <a:cs typeface="Carlito"/>
              </a:rPr>
              <a:t>info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20" dirty="0">
                <a:latin typeface="Carlito"/>
                <a:cs typeface="Carlito"/>
              </a:rPr>
              <a:t>food </a:t>
            </a:r>
            <a:r>
              <a:rPr sz="2400" spc="-10" dirty="0">
                <a:latin typeface="Carlito"/>
                <a:cs typeface="Carlito"/>
              </a:rPr>
              <a:t>purchases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other  </a:t>
            </a:r>
            <a:r>
              <a:rPr sz="2400" spc="-10" dirty="0">
                <a:latin typeface="Carlito"/>
                <a:cs typeface="Carlito"/>
              </a:rPr>
              <a:t>in-flight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transactions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24144" y="2780868"/>
            <a:ext cx="3165094" cy="32414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Understanding </a:t>
            </a:r>
            <a:r>
              <a:rPr spc="-135" dirty="0"/>
              <a:t>Computers: </a:t>
            </a:r>
            <a:r>
              <a:rPr spc="-125" dirty="0"/>
              <a:t>Today </a:t>
            </a:r>
            <a:r>
              <a:rPr spc="-135" dirty="0"/>
              <a:t>and </a:t>
            </a:r>
            <a:r>
              <a:rPr spc="-130" dirty="0"/>
              <a:t>Tomorrow, </a:t>
            </a:r>
            <a:r>
              <a:rPr spc="-140" dirty="0"/>
              <a:t>15th</a:t>
            </a:r>
            <a:r>
              <a:rPr spc="105" dirty="0"/>
              <a:t> </a:t>
            </a:r>
            <a:r>
              <a:rPr spc="-110" dirty="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58</a:t>
            </a:fld>
            <a:endParaRPr spc="-165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 </a:t>
            </a:r>
            <a:r>
              <a:rPr lang="en-US" sz="3400" dirty="0" smtClean="0"/>
              <a:t>Computer </a:t>
            </a:r>
            <a:r>
              <a:rPr lang="en-US" sz="3400" dirty="0" smtClean="0"/>
              <a:t>Software</a:t>
            </a:r>
          </a:p>
          <a:p>
            <a:pPr lvl="1"/>
            <a:r>
              <a:rPr lang="en-US" sz="3400" dirty="0" smtClean="0"/>
              <a:t>System Software </a:t>
            </a:r>
          </a:p>
          <a:p>
            <a:pPr lvl="1"/>
            <a:r>
              <a:rPr lang="en-US" sz="3400" dirty="0" smtClean="0"/>
              <a:t>Application Software</a:t>
            </a:r>
          </a:p>
          <a:p>
            <a:r>
              <a:rPr lang="en-US" sz="3400" dirty="0" smtClean="0"/>
              <a:t>Operating </a:t>
            </a:r>
            <a:r>
              <a:rPr lang="en-US" sz="3400" dirty="0" smtClean="0"/>
              <a:t>System (OS</a:t>
            </a:r>
            <a:r>
              <a:rPr lang="en-US" sz="3400" dirty="0" smtClean="0"/>
              <a:t>)</a:t>
            </a:r>
          </a:p>
          <a:p>
            <a:pPr lvl="1"/>
            <a:r>
              <a:rPr lang="en-US" sz="3400" dirty="0" smtClean="0"/>
              <a:t>Basic </a:t>
            </a:r>
            <a:r>
              <a:rPr lang="en-US" sz="3400" dirty="0" smtClean="0"/>
              <a:t>Purpose of </a:t>
            </a:r>
            <a:r>
              <a:rPr lang="en-US" sz="3400" dirty="0" smtClean="0"/>
              <a:t>OS </a:t>
            </a:r>
          </a:p>
          <a:p>
            <a:pPr lvl="1"/>
            <a:r>
              <a:rPr lang="en-US" sz="3400" dirty="0" smtClean="0"/>
              <a:t>Types </a:t>
            </a:r>
            <a:r>
              <a:rPr lang="en-US" sz="3400" dirty="0" smtClean="0"/>
              <a:t>of </a:t>
            </a:r>
            <a:r>
              <a:rPr lang="en-US" sz="3400" dirty="0" smtClean="0"/>
              <a:t>OS </a:t>
            </a:r>
            <a:endParaRPr lang="en-US" sz="3400" dirty="0" smtClean="0"/>
          </a:p>
          <a:p>
            <a:r>
              <a:rPr lang="en-GB" sz="3400" dirty="0" smtClean="0"/>
              <a:t> </a:t>
            </a:r>
            <a:r>
              <a:rPr lang="en-US" sz="3400" dirty="0" smtClean="0"/>
              <a:t>Operating </a:t>
            </a:r>
            <a:r>
              <a:rPr lang="en-US" sz="3400" dirty="0" smtClean="0"/>
              <a:t>System </a:t>
            </a:r>
            <a:r>
              <a:rPr lang="en-US" sz="3400" dirty="0" smtClean="0"/>
              <a:t>Functions</a:t>
            </a:r>
          </a:p>
          <a:p>
            <a:pPr lvl="1"/>
            <a:r>
              <a:rPr lang="en-US" sz="3400" dirty="0" smtClean="0"/>
              <a:t>Providing </a:t>
            </a:r>
            <a:r>
              <a:rPr lang="en-US" sz="3400" dirty="0" smtClean="0"/>
              <a:t>User </a:t>
            </a:r>
            <a:r>
              <a:rPr lang="en-US" sz="3400" dirty="0" smtClean="0"/>
              <a:t>Interface</a:t>
            </a:r>
          </a:p>
          <a:p>
            <a:pPr lvl="1"/>
            <a:r>
              <a:rPr lang="en-US" sz="3400" dirty="0" smtClean="0"/>
              <a:t>Running Programs</a:t>
            </a:r>
          </a:p>
          <a:p>
            <a:pPr lvl="1"/>
            <a:r>
              <a:rPr lang="en-US" sz="3400" dirty="0" smtClean="0"/>
              <a:t>Managing Hardware </a:t>
            </a:r>
          </a:p>
          <a:p>
            <a:r>
              <a:rPr lang="en-US" sz="3400" dirty="0" smtClean="0"/>
              <a:t>Utility Programs </a:t>
            </a:r>
          </a:p>
          <a:p>
            <a:r>
              <a:rPr lang="en-US" sz="3400" dirty="0" smtClean="0"/>
              <a:t>PC </a:t>
            </a:r>
            <a:r>
              <a:rPr lang="en-US" sz="3400" dirty="0" smtClean="0"/>
              <a:t>Operating </a:t>
            </a:r>
            <a:r>
              <a:rPr lang="en-US" sz="3400" dirty="0" smtClean="0"/>
              <a:t>System</a:t>
            </a:r>
          </a:p>
          <a:p>
            <a:r>
              <a:rPr lang="en-US" sz="3400" dirty="0" smtClean="0"/>
              <a:t>Network </a:t>
            </a:r>
            <a:r>
              <a:rPr lang="en-US" sz="3400" dirty="0" smtClean="0"/>
              <a:t>Operating </a:t>
            </a:r>
            <a:r>
              <a:rPr lang="en-US" sz="3400" dirty="0" smtClean="0"/>
              <a:t>System</a:t>
            </a:r>
          </a:p>
          <a:p>
            <a:r>
              <a:rPr lang="en-US" sz="3400" dirty="0" smtClean="0"/>
              <a:t>Embedded </a:t>
            </a:r>
            <a:r>
              <a:rPr lang="en-US" sz="3400" dirty="0" smtClean="0"/>
              <a:t>Operating </a:t>
            </a:r>
            <a:r>
              <a:rPr lang="en-US" sz="3400" dirty="0" smtClean="0"/>
              <a:t>System</a:t>
            </a:r>
            <a:endParaRPr lang="en-GB" sz="34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15578038</TotalTime>
  <Words>2938</Words>
  <Application>Microsoft Office PowerPoint</Application>
  <PresentationFormat>On-screen Show (4:3)</PresentationFormat>
  <Paragraphs>488</Paragraphs>
  <Slides>59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0" baseType="lpstr">
      <vt:lpstr>Module</vt:lpstr>
      <vt:lpstr>CSC 101 – Introduction to ICT</vt:lpstr>
      <vt:lpstr>Outline</vt:lpstr>
      <vt:lpstr>System Software vs. Application  Software</vt:lpstr>
      <vt:lpstr>The Operating System</vt:lpstr>
      <vt:lpstr>Functions of an Operating System</vt:lpstr>
      <vt:lpstr>Functions of an Operating System</vt:lpstr>
      <vt:lpstr>Functions of an Operating System</vt:lpstr>
      <vt:lpstr>Functions of an Operating System</vt:lpstr>
      <vt:lpstr>Processing Techniques for Increased  Efficiency</vt:lpstr>
      <vt:lpstr>Processing Techniques for Increased  Efficiency</vt:lpstr>
      <vt:lpstr>Processing Techniques for Increased  Efficiency</vt:lpstr>
      <vt:lpstr>Processing Techniques for Increased  Efficiency</vt:lpstr>
      <vt:lpstr>Processing Techniques for Increased  Efficiency</vt:lpstr>
      <vt:lpstr>Differences Among Operating  Systems</vt:lpstr>
      <vt:lpstr>Differences Among Operating  Systems</vt:lpstr>
      <vt:lpstr>Differences Among Operating  Systems</vt:lpstr>
      <vt:lpstr>Operating Systems for Personal  Computers and Servers</vt:lpstr>
      <vt:lpstr>Slide 18</vt:lpstr>
      <vt:lpstr>Windows</vt:lpstr>
      <vt:lpstr>Windows</vt:lpstr>
      <vt:lpstr>Windows</vt:lpstr>
      <vt:lpstr>Windows</vt:lpstr>
      <vt:lpstr>Windows</vt:lpstr>
      <vt:lpstr>Mac OS</vt:lpstr>
      <vt:lpstr>Mac OS</vt:lpstr>
      <vt:lpstr>UNIX</vt:lpstr>
      <vt:lpstr>Linux</vt:lpstr>
      <vt:lpstr>Linux</vt:lpstr>
      <vt:lpstr>Chrome OS</vt:lpstr>
      <vt:lpstr>Technology and You Box</vt:lpstr>
      <vt:lpstr>Operating Systems for Mobile  Devices</vt:lpstr>
      <vt:lpstr>Operating Systems for Mobile  Phones and Other Devices</vt:lpstr>
      <vt:lpstr>Operating Systems for Mobile  Phones and Other Devices</vt:lpstr>
      <vt:lpstr>Operating Systems for Mobile  Phones and Other Devices</vt:lpstr>
      <vt:lpstr>Operating Systems for Mobile  Phones and Other Devices</vt:lpstr>
      <vt:lpstr>Operating Systems for Mobile  Phones and Other Devices</vt:lpstr>
      <vt:lpstr>Operating Systems for Larger  Computers</vt:lpstr>
      <vt:lpstr>Inside the Industry Box</vt:lpstr>
      <vt:lpstr>Utility Programs</vt:lpstr>
      <vt:lpstr>File Management Programs</vt:lpstr>
      <vt:lpstr>File Management Programs</vt:lpstr>
      <vt:lpstr>How It Works Box</vt:lpstr>
      <vt:lpstr>Utility Programs</vt:lpstr>
      <vt:lpstr>Utility Programs</vt:lpstr>
      <vt:lpstr>Utility Programs</vt:lpstr>
      <vt:lpstr>Utility Programs</vt:lpstr>
      <vt:lpstr>Utility Programs</vt:lpstr>
      <vt:lpstr>Utility Programs</vt:lpstr>
      <vt:lpstr>The Future of Operating Systems</vt:lpstr>
      <vt:lpstr>The Basics of Application Software</vt:lpstr>
      <vt:lpstr>The Basics of Application Software</vt:lpstr>
      <vt:lpstr>Desktop vs. Mobile Software</vt:lpstr>
      <vt:lpstr>Technology and You Box</vt:lpstr>
      <vt:lpstr>Installed vs. Cloud Software</vt:lpstr>
      <vt:lpstr>Installed vs. Cloud Software</vt:lpstr>
      <vt:lpstr>Installed vs. Cloud Software</vt:lpstr>
      <vt:lpstr>Installed vs. Cloud Software</vt:lpstr>
      <vt:lpstr>Trend Box</vt:lpstr>
      <vt:lpstr>Outline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Shehla</dc:creator>
  <cp:lastModifiedBy>Administrator</cp:lastModifiedBy>
  <cp:revision>155</cp:revision>
  <dcterms:created xsi:type="dcterms:W3CDTF">2015-07-29T13:27:11Z</dcterms:created>
  <dcterms:modified xsi:type="dcterms:W3CDTF">2022-10-03T03:10:03Z</dcterms:modified>
</cp:coreProperties>
</file>