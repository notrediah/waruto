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660" r:id="rId1"/>
  </p:sldMasterIdLst>
  <p:notesMasterIdLst>
    <p:notesMasterId r:id="rId84"/>
  </p:notesMasterIdLst>
  <p:sldIdLst>
    <p:sldId id="256" r:id="rId2"/>
    <p:sldId id="307" r:id="rId3"/>
    <p:sldId id="308" r:id="rId4"/>
    <p:sldId id="309" r:id="rId5"/>
    <p:sldId id="310" r:id="rId6"/>
    <p:sldId id="311" r:id="rId7"/>
    <p:sldId id="312" r:id="rId8"/>
    <p:sldId id="313" r:id="rId9"/>
    <p:sldId id="314" r:id="rId10"/>
    <p:sldId id="315" r:id="rId11"/>
    <p:sldId id="306" r:id="rId12"/>
    <p:sldId id="303" r:id="rId13"/>
    <p:sldId id="258" r:id="rId14"/>
    <p:sldId id="259" r:id="rId15"/>
    <p:sldId id="261" r:id="rId16"/>
    <p:sldId id="262" r:id="rId17"/>
    <p:sldId id="263" r:id="rId18"/>
    <p:sldId id="265" r:id="rId19"/>
    <p:sldId id="266" r:id="rId20"/>
    <p:sldId id="368" r:id="rId21"/>
    <p:sldId id="290" r:id="rId22"/>
    <p:sldId id="291" r:id="rId23"/>
    <p:sldId id="292" r:id="rId24"/>
    <p:sldId id="293" r:id="rId25"/>
    <p:sldId id="301" r:id="rId26"/>
    <p:sldId id="281" r:id="rId27"/>
    <p:sldId id="369" r:id="rId28"/>
    <p:sldId id="370" r:id="rId29"/>
    <p:sldId id="371" r:id="rId30"/>
    <p:sldId id="360" r:id="rId31"/>
    <p:sldId id="361" r:id="rId32"/>
    <p:sldId id="362" r:id="rId33"/>
    <p:sldId id="363" r:id="rId34"/>
    <p:sldId id="364" r:id="rId35"/>
    <p:sldId id="365" r:id="rId36"/>
    <p:sldId id="366" r:id="rId37"/>
    <p:sldId id="367" r:id="rId38"/>
    <p:sldId id="288" r:id="rId39"/>
    <p:sldId id="318" r:id="rId40"/>
    <p:sldId id="317" r:id="rId41"/>
    <p:sldId id="319" r:id="rId42"/>
    <p:sldId id="320" r:id="rId43"/>
    <p:sldId id="321" r:id="rId44"/>
    <p:sldId id="322" r:id="rId45"/>
    <p:sldId id="323" r:id="rId46"/>
    <p:sldId id="324" r:id="rId47"/>
    <p:sldId id="325" r:id="rId48"/>
    <p:sldId id="326" r:id="rId49"/>
    <p:sldId id="327" r:id="rId50"/>
    <p:sldId id="328" r:id="rId51"/>
    <p:sldId id="329" r:id="rId52"/>
    <p:sldId id="330" r:id="rId53"/>
    <p:sldId id="331" r:id="rId54"/>
    <p:sldId id="332" r:id="rId55"/>
    <p:sldId id="333" r:id="rId56"/>
    <p:sldId id="334" r:id="rId57"/>
    <p:sldId id="335" r:id="rId58"/>
    <p:sldId id="336" r:id="rId59"/>
    <p:sldId id="337" r:id="rId60"/>
    <p:sldId id="338" r:id="rId61"/>
    <p:sldId id="339" r:id="rId62"/>
    <p:sldId id="340" r:id="rId63"/>
    <p:sldId id="341" r:id="rId64"/>
    <p:sldId id="342" r:id="rId65"/>
    <p:sldId id="355" r:id="rId66"/>
    <p:sldId id="356" r:id="rId67"/>
    <p:sldId id="357" r:id="rId68"/>
    <p:sldId id="358" r:id="rId69"/>
    <p:sldId id="359" r:id="rId70"/>
    <p:sldId id="352" r:id="rId71"/>
    <p:sldId id="353" r:id="rId72"/>
    <p:sldId id="354" r:id="rId73"/>
    <p:sldId id="343" r:id="rId74"/>
    <p:sldId id="344" r:id="rId75"/>
    <p:sldId id="345" r:id="rId76"/>
    <p:sldId id="346" r:id="rId77"/>
    <p:sldId id="347" r:id="rId78"/>
    <p:sldId id="348" r:id="rId79"/>
    <p:sldId id="349" r:id="rId80"/>
    <p:sldId id="350" r:id="rId81"/>
    <p:sldId id="351" r:id="rId82"/>
    <p:sldId id="304" r:id="rId8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B6F5D3-6E95-1B0F-F0CA-4BFECBA4CB22}" v="15" dt="2023-02-20T08:59:32.6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microsoft.com/office/2016/11/relationships/changesInfo" Target="changesInfos/changesInfo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microsoft.com/office/2015/10/relationships/revisionInfo" Target="revisionInfo.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anon#01c2427dda35d2ee6a2307f81f3e58f292c47afc6611ded4c180efc746fe912c::" providerId="AD" clId="Web-{A7B6F5D3-6E95-1B0F-F0CA-4BFECBA4CB22}"/>
    <pc:docChg chg="modSld">
      <pc:chgData name="Guest User" userId="S::urn:spo:anon#01c2427dda35d2ee6a2307f81f3e58f292c47afc6611ded4c180efc746fe912c::" providerId="AD" clId="Web-{A7B6F5D3-6E95-1B0F-F0CA-4BFECBA4CB22}" dt="2023-02-20T08:59:32.193" v="13" actId="20577"/>
      <pc:docMkLst>
        <pc:docMk/>
      </pc:docMkLst>
      <pc:sldChg chg="modSp">
        <pc:chgData name="Guest User" userId="S::urn:spo:anon#01c2427dda35d2ee6a2307f81f3e58f292c47afc6611ded4c180efc746fe912c::" providerId="AD" clId="Web-{A7B6F5D3-6E95-1B0F-F0CA-4BFECBA4CB22}" dt="2023-02-20T08:59:32.193" v="13" actId="20577"/>
        <pc:sldMkLst>
          <pc:docMk/>
          <pc:sldMk cId="0" sldId="314"/>
        </pc:sldMkLst>
        <pc:spChg chg="mod">
          <ac:chgData name="Guest User" userId="S::urn:spo:anon#01c2427dda35d2ee6a2307f81f3e58f292c47afc6611ded4c180efc746fe912c::" providerId="AD" clId="Web-{A7B6F5D3-6E95-1B0F-F0CA-4BFECBA4CB22}" dt="2023-02-20T08:59:32.193" v="13" actId="20577"/>
          <ac:spMkLst>
            <pc:docMk/>
            <pc:sldMk cId="0" sldId="314"/>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AD47964-3B62-4D5B-A939-DE505F670888}" type="datetimeFigureOut">
              <a:rPr lang="en-US" smtClean="0"/>
              <a:pPr/>
              <a:t>9/3/2025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5C7BA28-8807-43C5-99C4-A55965820A4C}" type="slidenum">
              <a:rPr lang="en-US" smtClean="0"/>
              <a:pPr/>
              <a:t>‹#›</a:t>
            </a:fld>
            <a:endParaRPr lang="en-US"/>
          </a:p>
        </p:txBody>
      </p:sp>
    </p:spTree>
    <p:extLst>
      <p:ext uri="{BB962C8B-B14F-4D97-AF65-F5344CB8AC3E}">
        <p14:creationId xmlns:p14="http://schemas.microsoft.com/office/powerpoint/2010/main" val="77615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en.wikipedia.org/wiki/George_W._Bush"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en.wikipedia.org/wiki/Arnold_Schwarzenegger"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bwMode="auto">
          <a:noFill/>
          <a:ln>
            <a:solidFill>
              <a:srgbClr val="000000"/>
            </a:solidFill>
            <a:miter lim="800000"/>
            <a:headEnd/>
            <a:tailEnd/>
          </a:ln>
        </p:spPr>
      </p:sp>
      <p:sp>
        <p:nvSpPr>
          <p:cNvPr id="77827" name="Notes Placeholder 2"/>
          <p:cNvSpPr>
            <a:spLocks noGrp="1"/>
          </p:cNvSpPr>
          <p:nvPr>
            <p:ph type="body" idx="1"/>
          </p:nvPr>
        </p:nvSpPr>
        <p:spPr bwMode="auto">
          <a:noFill/>
        </p:spPr>
        <p:txBody>
          <a:bodyPr wrap="square" numCol="1" anchor="t" anchorCtr="0" compatLnSpc="1">
            <a:prstTxWarp prst="textNoShape">
              <a:avLst/>
            </a:prstTxWarp>
          </a:bodyPr>
          <a:lstStyle/>
          <a:p>
            <a:pPr marL="0" lvl="1">
              <a:spcBef>
                <a:spcPct val="0"/>
              </a:spcBef>
            </a:pPr>
            <a:r>
              <a:rPr lang="en-US" sz="1800"/>
              <a:t>3 Frames form a morph from </a:t>
            </a:r>
            <a:r>
              <a:rPr lang="en-US" sz="1800">
                <a:hlinkClick r:id="rId3" action="ppaction://hlinkfile" tooltip="George W. Bush"/>
              </a:rPr>
              <a:t>George W. Bush</a:t>
            </a:r>
            <a:r>
              <a:rPr lang="en-US" sz="1800"/>
              <a:t> to </a:t>
            </a:r>
            <a:r>
              <a:rPr lang="en-US" sz="1800">
                <a:hlinkClick r:id="rId4" action="ppaction://hlinkfile" tooltip="Arnold Schwarzenegger"/>
              </a:rPr>
              <a:t>Arnold Schwarzenegger</a:t>
            </a:r>
            <a:r>
              <a:rPr lang="en-US" sz="1800"/>
              <a:t> showing also the mid-point between the two extremes</a:t>
            </a:r>
          </a:p>
          <a:p>
            <a:pPr>
              <a:spcBef>
                <a:spcPct val="0"/>
              </a:spcBef>
            </a:pPr>
            <a:endParaRPr lang="en-US"/>
          </a:p>
        </p:txBody>
      </p:sp>
      <p:sp>
        <p:nvSpPr>
          <p:cNvPr id="7782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3A3AE00-E7BA-4652-A069-8F2C49792DAD}" type="slidenum">
              <a:rPr lang="en-US"/>
              <a:pPr fontAlgn="base">
                <a:spcBef>
                  <a:spcPct val="0"/>
                </a:spcBef>
                <a:spcAft>
                  <a:spcPct val="0"/>
                </a:spcAft>
              </a:pPr>
              <a:t>16</a:t>
            </a:fld>
            <a:endParaRPr lang="en-US"/>
          </a:p>
        </p:txBody>
      </p:sp>
    </p:spTree>
    <p:extLst>
      <p:ext uri="{BB962C8B-B14F-4D97-AF65-F5344CB8AC3E}">
        <p14:creationId xmlns:p14="http://schemas.microsoft.com/office/powerpoint/2010/main" val="377423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bwMode="auto">
          <a:xfrm>
            <a:off x="1144588" y="687388"/>
            <a:ext cx="4568825" cy="3425825"/>
          </a:xfrm>
          <a:prstGeom prst="rect">
            <a:avLst/>
          </a:prstGeom>
          <a:noFill/>
          <a:ln w="12700">
            <a:solidFill>
              <a:srgbClr val="000000"/>
            </a:solidFill>
            <a:miter lim="800000"/>
            <a:headEnd/>
            <a:tailEnd/>
          </a:ln>
        </p:spPr>
      </p:sp>
      <p:sp>
        <p:nvSpPr>
          <p:cNvPr id="29699" name="Rectangle 3"/>
          <p:cNvSpPr>
            <a:spLocks noGrp="1" noChangeArrowheads="1"/>
          </p:cNvSpPr>
          <p:nvPr>
            <p:ph type="body" idx="1"/>
          </p:nvPr>
        </p:nvSpPr>
        <p:spPr bwMode="auto">
          <a:xfrm>
            <a:off x="914400" y="4343400"/>
            <a:ext cx="5029200" cy="4114800"/>
          </a:xfrm>
          <a:prstGeom prst="rect">
            <a:avLst/>
          </a:prstGeom>
          <a:noFill/>
          <a:ln>
            <a:miter lim="800000"/>
            <a:headEnd/>
            <a:tailEnd/>
          </a:ln>
        </p:spPr>
        <p:txBody>
          <a:bodyPr lIns="92075" tIns="46038" rIns="92075" bIns="46038"/>
          <a:lstStyle/>
          <a:p>
            <a:pPr eaLnBrk="1" hangingPunct="1"/>
            <a:endParaRPr lang="en-US"/>
          </a:p>
        </p:txBody>
      </p:sp>
    </p:spTree>
    <p:extLst>
      <p:ext uri="{BB962C8B-B14F-4D97-AF65-F5344CB8AC3E}">
        <p14:creationId xmlns:p14="http://schemas.microsoft.com/office/powerpoint/2010/main" val="3084160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C61EEDF-72F9-4434-9894-F2F6803A5A47}" type="slidenum">
              <a:rPr lang="en-US"/>
              <a:pPr fontAlgn="base">
                <a:spcBef>
                  <a:spcPct val="0"/>
                </a:spcBef>
                <a:spcAft>
                  <a:spcPct val="0"/>
                </a:spcAft>
              </a:pPr>
              <a:t>27</a:t>
            </a:fld>
            <a:endParaRPr lang="en-US"/>
          </a:p>
        </p:txBody>
      </p:sp>
      <p:sp>
        <p:nvSpPr>
          <p:cNvPr id="8601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602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b="1" i="1">
                <a:cs typeface="Times New Roman" pitchFamily="18" charset="0"/>
              </a:rPr>
              <a:t>Insider information</a:t>
            </a:r>
          </a:p>
          <a:p>
            <a:pPr>
              <a:spcBef>
                <a:spcPct val="0"/>
              </a:spcBef>
            </a:pPr>
            <a:r>
              <a:rPr lang="en-US"/>
              <a:t>The 2000 Census determined that 51% of American households had computers. Over 42% of these households also had Internet access. This can be contrasted to 36% and 18% in 1997. See www.census.gov/prod/2001pubs/p23-207.pdf for more information. </a:t>
            </a:r>
          </a:p>
        </p:txBody>
      </p:sp>
    </p:spTree>
    <p:extLst>
      <p:ext uri="{BB962C8B-B14F-4D97-AF65-F5344CB8AC3E}">
        <p14:creationId xmlns:p14="http://schemas.microsoft.com/office/powerpoint/2010/main" val="4854420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D041C37-0FFB-44D1-A366-99FC0D3E64C9}" type="slidenum">
              <a:rPr lang="en-US"/>
              <a:pPr fontAlgn="base">
                <a:spcBef>
                  <a:spcPct val="0"/>
                </a:spcBef>
                <a:spcAft>
                  <a:spcPct val="0"/>
                </a:spcAft>
              </a:pPr>
              <a:t>28</a:t>
            </a:fld>
            <a:endParaRPr lang="en-US"/>
          </a:p>
        </p:txBody>
      </p:sp>
      <p:sp>
        <p:nvSpPr>
          <p:cNvPr id="8704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704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b="1" i="1">
                <a:cs typeface="Times New Roman" pitchFamily="18" charset="0"/>
              </a:rPr>
              <a:t>Insider information </a:t>
            </a:r>
          </a:p>
          <a:p>
            <a:pPr>
              <a:spcBef>
                <a:spcPct val="0"/>
              </a:spcBef>
            </a:pPr>
            <a:r>
              <a:rPr lang="en-US"/>
              <a:t>Specialized mountain bikes are designed on Sun workstations. </a:t>
            </a:r>
          </a:p>
        </p:txBody>
      </p:sp>
    </p:spTree>
    <p:extLst>
      <p:ext uri="{BB962C8B-B14F-4D97-AF65-F5344CB8AC3E}">
        <p14:creationId xmlns:p14="http://schemas.microsoft.com/office/powerpoint/2010/main" val="32089975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0C2B047-4C86-4D92-BBD2-CF412BDD815B}" type="slidenum">
              <a:rPr lang="en-US"/>
              <a:pPr fontAlgn="base">
                <a:spcBef>
                  <a:spcPct val="0"/>
                </a:spcBef>
                <a:spcAft>
                  <a:spcPct val="0"/>
                </a:spcAft>
              </a:pPr>
              <a:t>29</a:t>
            </a:fld>
            <a:endParaRPr lang="en-US"/>
          </a:p>
        </p:txBody>
      </p:sp>
      <p:sp>
        <p:nvSpPr>
          <p:cNvPr id="8806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806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Most state departments of motor vehicles rely on a mainframe computer. Officers access the mainframe from a remote intelligent terminal. </a:t>
            </a:r>
          </a:p>
        </p:txBody>
      </p:sp>
    </p:spTree>
    <p:extLst>
      <p:ext uri="{BB962C8B-B14F-4D97-AF65-F5344CB8AC3E}">
        <p14:creationId xmlns:p14="http://schemas.microsoft.com/office/powerpoint/2010/main" val="1197964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F9E56EDE-53A6-4478-9644-3F8357D2A4E5}" type="slidenum">
              <a:rPr lang="en-US"/>
              <a:pPr fontAlgn="base">
                <a:spcBef>
                  <a:spcPct val="0"/>
                </a:spcBef>
                <a:spcAft>
                  <a:spcPct val="0"/>
                </a:spcAft>
              </a:pPr>
              <a:t>38</a:t>
            </a:fld>
            <a:endParaRPr lang="en-US"/>
          </a:p>
        </p:txBody>
      </p:sp>
      <p:sp>
        <p:nvSpPr>
          <p:cNvPr id="8909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909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Page 19 of the text introduces the first Norton Notebook, the Merging of Media and Meaning. The author draws an analogy between electricity and computers in our lives. Discuss how difficult live would be without either of these devices. Remember that computers exist in nearly all of our modern devices, including cars, phones, kitchen appliances and entertainment devices. </a:t>
            </a:r>
          </a:p>
        </p:txBody>
      </p:sp>
    </p:spTree>
    <p:extLst>
      <p:ext uri="{BB962C8B-B14F-4D97-AF65-F5344CB8AC3E}">
        <p14:creationId xmlns:p14="http://schemas.microsoft.com/office/powerpoint/2010/main" val="42010268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1292ADC8-808C-45C3-A441-2158605CC5BE}" type="slidenum">
              <a:rPr lang="en-US" smtClean="0"/>
              <a:pPr/>
              <a:t>39</a:t>
            </a:fld>
            <a:endParaRPr lang="en-US"/>
          </a:p>
        </p:txBody>
      </p:sp>
      <p:sp>
        <p:nvSpPr>
          <p:cNvPr id="10445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445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The story of modern electronic digital computing should start with Alan Turing who published a paper in 1936 </a:t>
            </a:r>
            <a:r>
              <a:rPr lang="en-US" i="1" dirty="0"/>
              <a:t>On Computable Numbers, with an application to the </a:t>
            </a:r>
            <a:r>
              <a:rPr lang="en-US" i="1" dirty="0" err="1"/>
              <a:t>Entscheidungs</a:t>
            </a:r>
            <a:r>
              <a:rPr lang="en-US" i="1" dirty="0"/>
              <a:t> problem</a:t>
            </a:r>
            <a:r>
              <a:rPr lang="en-US" dirty="0"/>
              <a:t>.  The paper proved that a machine capable of processing a stream of 1s and 0s according to programmed instructions would be capable of solving any problem that would count as a 'definite method.'  As it happens, the set of problems included in this definition is the universe of mechanically solvable problems.  Hence, the Turing Machine is also known as the Universal Machine, the theoretical precursor to the electronic digital computer which </a:t>
            </a:r>
            <a:r>
              <a:rPr lang="en-US" dirty="0" err="1"/>
              <a:t>Atanasoff</a:t>
            </a:r>
            <a:r>
              <a:rPr lang="en-US" dirty="0"/>
              <a:t> was soon to invent.</a:t>
            </a:r>
            <a:br>
              <a:rPr lang="en-US" dirty="0"/>
            </a:br>
            <a:endParaRPr lang="en-US" dirty="0"/>
          </a:p>
        </p:txBody>
      </p:sp>
    </p:spTree>
    <p:extLst>
      <p:ext uri="{BB962C8B-B14F-4D97-AF65-F5344CB8AC3E}">
        <p14:creationId xmlns:p14="http://schemas.microsoft.com/office/powerpoint/2010/main" val="313814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BA259A5E-9EA2-44A9-B233-06A2C69E977F}" type="slidenum">
              <a:rPr lang="en-US" smtClean="0"/>
              <a:pPr/>
              <a:t>41</a:t>
            </a:fld>
            <a:endParaRPr 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963583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9"/>
          <p:cNvSpPr>
            <a:spLocks noGrp="1" noChangeArrowheads="1"/>
          </p:cNvSpPr>
          <p:nvPr>
            <p:ph type="sldNum" sz="quarter" idx="5"/>
          </p:nvPr>
        </p:nvSpPr>
        <p:spPr>
          <a:noFill/>
        </p:spPr>
        <p:txBody>
          <a:bodyPr/>
          <a:lstStyle/>
          <a:p>
            <a:fld id="{8ECE5577-169D-4A54-A9D8-62F9D5126F1A}" type="slidenum">
              <a:rPr lang="en-US" smtClean="0">
                <a:latin typeface="Arial" pitchFamily="34" charset="0"/>
              </a:rPr>
              <a:pPr/>
              <a:t>42</a:t>
            </a:fld>
            <a:endParaRPr lang="en-US">
              <a:latin typeface="Arial" pitchFamily="34" charset="0"/>
            </a:endParaRPr>
          </a:p>
        </p:txBody>
      </p:sp>
      <p:sp>
        <p:nvSpPr>
          <p:cNvPr id="45059" name="Text Box 1"/>
          <p:cNvSpPr txBox="1">
            <a:spLocks noChangeArrowheads="1"/>
          </p:cNvSpPr>
          <p:nvPr/>
        </p:nvSpPr>
        <p:spPr bwMode="auto">
          <a:xfrm>
            <a:off x="957263" y="685800"/>
            <a:ext cx="4943475" cy="342900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en-US"/>
          </a:p>
        </p:txBody>
      </p:sp>
      <p:sp>
        <p:nvSpPr>
          <p:cNvPr id="45060" name="Rectangle 2"/>
          <p:cNvSpPr>
            <a:spLocks noGrp="1" noChangeArrowheads="1"/>
          </p:cNvSpPr>
          <p:nvPr>
            <p:ph type="body"/>
          </p:nvPr>
        </p:nvSpPr>
        <p:spPr>
          <a:xfrm>
            <a:off x="685800" y="4343400"/>
            <a:ext cx="5483225" cy="4111625"/>
          </a:xfrm>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16836642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5130743C-C08C-4674-94FC-763BD8701650}" type="slidenum">
              <a:rPr lang="en-AU" smtClean="0"/>
              <a:pPr/>
              <a:t>46</a:t>
            </a:fld>
            <a:endParaRPr lang="en-AU"/>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eaLnBrk="1" hangingPunct="1"/>
            <a:endParaRPr lang="en-AU"/>
          </a:p>
        </p:txBody>
      </p:sp>
    </p:spTree>
    <p:extLst>
      <p:ext uri="{BB962C8B-B14F-4D97-AF65-F5344CB8AC3E}">
        <p14:creationId xmlns:p14="http://schemas.microsoft.com/office/powerpoint/2010/main" val="3427147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FB207CAA-1684-4BC5-98B6-BE8A392655C7}" type="slidenum">
              <a:rPr lang="en-US" smtClean="0"/>
              <a:pPr/>
              <a:t>49</a:t>
            </a:fld>
            <a:endParaRPr 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r>
              <a:rPr lang="en-US" b="1" i="1">
                <a:cs typeface="Times New Roman" pitchFamily="18" charset="0"/>
              </a:rPr>
              <a:t>Discussion point</a:t>
            </a:r>
          </a:p>
          <a:p>
            <a:pPr eaLnBrk="1" hangingPunct="1"/>
            <a:r>
              <a:rPr lang="en-US">
                <a:cs typeface="Times" pitchFamily="18" charset="0"/>
              </a:rPr>
              <a:t>Discuss the information kiosks at local malls. Many offer limited Internet access. Have students discuss what could happen to the computers if the malls were to provide keyboards to the mall shoppers.</a:t>
            </a:r>
            <a:r>
              <a:rPr lang="en-US"/>
              <a:t> </a:t>
            </a:r>
          </a:p>
        </p:txBody>
      </p:sp>
    </p:spTree>
    <p:extLst>
      <p:ext uri="{BB962C8B-B14F-4D97-AF65-F5344CB8AC3E}">
        <p14:creationId xmlns:p14="http://schemas.microsoft.com/office/powerpoint/2010/main" val="1743170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FB207CAA-1684-4BC5-98B6-BE8A392655C7}" type="slidenum">
              <a:rPr lang="en-US" smtClean="0"/>
              <a:pPr/>
              <a:t>50</a:t>
            </a:fld>
            <a:endParaRPr 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r>
              <a:rPr lang="en-US" b="1" i="1">
                <a:cs typeface="Times New Roman" pitchFamily="18" charset="0"/>
              </a:rPr>
              <a:t>Discussion point</a:t>
            </a:r>
          </a:p>
          <a:p>
            <a:pPr eaLnBrk="1" hangingPunct="1"/>
            <a:r>
              <a:rPr lang="en-US">
                <a:cs typeface="Times" pitchFamily="18" charset="0"/>
              </a:rPr>
              <a:t>Discuss the information kiosks at local malls. Many offer limited Internet access. Have students discuss what could happen to the computers if the malls were to provide keyboards to the mall shoppers.</a:t>
            </a:r>
            <a:r>
              <a:rPr lang="en-US"/>
              <a:t> </a:t>
            </a:r>
          </a:p>
        </p:txBody>
      </p:sp>
    </p:spTree>
    <p:extLst>
      <p:ext uri="{BB962C8B-B14F-4D97-AF65-F5344CB8AC3E}">
        <p14:creationId xmlns:p14="http://schemas.microsoft.com/office/powerpoint/2010/main" val="1185701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p>
            <a:fld id="{A96C9CC6-94C5-437A-A50B-E971B91DADFD}" type="slidenum">
              <a:rPr lang="en-US" smtClean="0"/>
              <a:pPr/>
              <a:t>51</a:t>
            </a:fld>
            <a:endParaRPr lang="en-US"/>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p:spPr>
        <p:txBody>
          <a:bodyPr/>
          <a:lstStyle/>
          <a:p>
            <a:pPr eaLnBrk="1" hangingPunct="1"/>
            <a:r>
              <a:rPr lang="en-US" b="1" i="1">
                <a:cs typeface="Times New Roman" pitchFamily="18" charset="0"/>
              </a:rPr>
              <a:t>Teaching tip</a:t>
            </a:r>
          </a:p>
          <a:p>
            <a:pPr eaLnBrk="1" hangingPunct="1"/>
            <a:r>
              <a:rPr lang="en-US">
                <a:cs typeface="Times" pitchFamily="18" charset="0"/>
              </a:rPr>
              <a:t>Microsoft’s Force Feedback joysticks vibrate. In driving games, when the player hits another car, the joystick will vibrate.</a:t>
            </a:r>
            <a:r>
              <a:rPr lang="en-US"/>
              <a:t> </a:t>
            </a:r>
          </a:p>
        </p:txBody>
      </p:sp>
    </p:spTree>
    <p:extLst>
      <p:ext uri="{BB962C8B-B14F-4D97-AF65-F5344CB8AC3E}">
        <p14:creationId xmlns:p14="http://schemas.microsoft.com/office/powerpoint/2010/main" val="21854715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p>
            <a:fld id="{A96C9CC6-94C5-437A-A50B-E971B91DADFD}" type="slidenum">
              <a:rPr lang="en-US" smtClean="0"/>
              <a:pPr/>
              <a:t>52</a:t>
            </a:fld>
            <a:endParaRPr lang="en-US"/>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p:spPr>
        <p:txBody>
          <a:bodyPr/>
          <a:lstStyle/>
          <a:p>
            <a:pPr eaLnBrk="1" hangingPunct="1"/>
            <a:r>
              <a:rPr lang="en-US" b="1" i="1">
                <a:cs typeface="Times New Roman" pitchFamily="18" charset="0"/>
              </a:rPr>
              <a:t>Teaching tip</a:t>
            </a:r>
          </a:p>
          <a:p>
            <a:pPr eaLnBrk="1" hangingPunct="1"/>
            <a:r>
              <a:rPr lang="en-US">
                <a:cs typeface="Times" pitchFamily="18" charset="0"/>
              </a:rPr>
              <a:t>Microsoft’s Force Feedback joysticks vibrate. In driving games, when the player hits another car, the joystick will vibrate.</a:t>
            </a:r>
            <a:r>
              <a:rPr lang="en-US"/>
              <a:t> </a:t>
            </a:r>
          </a:p>
        </p:txBody>
      </p:sp>
    </p:spTree>
    <p:extLst>
      <p:ext uri="{BB962C8B-B14F-4D97-AF65-F5344CB8AC3E}">
        <p14:creationId xmlns:p14="http://schemas.microsoft.com/office/powerpoint/2010/main" val="10562393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p>
            <a:fld id="{A96C9CC6-94C5-437A-A50B-E971B91DADFD}" type="slidenum">
              <a:rPr lang="en-US" smtClean="0"/>
              <a:pPr/>
              <a:t>53</a:t>
            </a:fld>
            <a:endParaRPr lang="en-US"/>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p:spPr>
        <p:txBody>
          <a:bodyPr/>
          <a:lstStyle/>
          <a:p>
            <a:pPr eaLnBrk="1" hangingPunct="1"/>
            <a:r>
              <a:rPr lang="en-US" b="1" i="1">
                <a:cs typeface="Times New Roman" pitchFamily="18" charset="0"/>
              </a:rPr>
              <a:t>Teaching tip</a:t>
            </a:r>
          </a:p>
          <a:p>
            <a:pPr eaLnBrk="1" hangingPunct="1"/>
            <a:r>
              <a:rPr lang="en-US">
                <a:cs typeface="Times" pitchFamily="18" charset="0"/>
              </a:rPr>
              <a:t>Microsoft’s Force Feedback joysticks vibrate. In driving games, when the player hits another car, the joystick will vibrate.</a:t>
            </a:r>
            <a:r>
              <a:rPr lang="en-US"/>
              <a:t> </a:t>
            </a:r>
          </a:p>
        </p:txBody>
      </p:sp>
    </p:spTree>
    <p:extLst>
      <p:ext uri="{BB962C8B-B14F-4D97-AF65-F5344CB8AC3E}">
        <p14:creationId xmlns:p14="http://schemas.microsoft.com/office/powerpoint/2010/main" val="19122104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E6517B24-518F-4796-A8BA-AC18B8E7ED2E}" type="slidenum">
              <a:rPr lang="en-US" smtClean="0"/>
              <a:pPr/>
              <a:t>54</a:t>
            </a:fld>
            <a:endParaRPr lang="en-US"/>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pPr eaLnBrk="1" hangingPunct="1"/>
            <a:r>
              <a:rPr lang="en-US" b="1" i="1">
                <a:cs typeface="Times New Roman" pitchFamily="18" charset="0"/>
              </a:rPr>
              <a:t>Insider information</a:t>
            </a:r>
          </a:p>
          <a:p>
            <a:pPr eaLnBrk="1" hangingPunct="1"/>
            <a:r>
              <a:rPr lang="en-US">
                <a:cs typeface="Times" pitchFamily="18" charset="0"/>
              </a:rPr>
              <a:t>For more information on the UPC code and a searchable database, visit http://www.upcdatabase.com/. A working UPC is 071662000240, which represents a 24 count box of Crayola Crayons. </a:t>
            </a:r>
          </a:p>
        </p:txBody>
      </p:sp>
    </p:spTree>
    <p:extLst>
      <p:ext uri="{BB962C8B-B14F-4D97-AF65-F5344CB8AC3E}">
        <p14:creationId xmlns:p14="http://schemas.microsoft.com/office/powerpoint/2010/main" val="34253179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E6517B24-518F-4796-A8BA-AC18B8E7ED2E}" type="slidenum">
              <a:rPr lang="en-US" smtClean="0"/>
              <a:pPr/>
              <a:t>55</a:t>
            </a:fld>
            <a:endParaRPr lang="en-US"/>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pPr eaLnBrk="1" hangingPunct="1"/>
            <a:r>
              <a:rPr lang="en-US" b="1" i="1">
                <a:cs typeface="Times New Roman" pitchFamily="18" charset="0"/>
              </a:rPr>
              <a:t>Insider information</a:t>
            </a:r>
          </a:p>
          <a:p>
            <a:pPr eaLnBrk="1" hangingPunct="1"/>
            <a:r>
              <a:rPr lang="en-US">
                <a:cs typeface="Times" pitchFamily="18" charset="0"/>
              </a:rPr>
              <a:t>For more information on the UPC code and a searchable database, visit http://www.upcdatabase.com/. A working UPC is 071662000240, which represents a 24 count box of Crayola Crayons. </a:t>
            </a:r>
          </a:p>
        </p:txBody>
      </p:sp>
    </p:spTree>
    <p:extLst>
      <p:ext uri="{BB962C8B-B14F-4D97-AF65-F5344CB8AC3E}">
        <p14:creationId xmlns:p14="http://schemas.microsoft.com/office/powerpoint/2010/main" val="7082418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fld id="{2E753692-ED7F-4432-B0D3-8683679A6252}" type="slidenum">
              <a:rPr lang="en-US" smtClean="0"/>
              <a:pPr/>
              <a:t>56</a:t>
            </a:fld>
            <a:endParaRPr lang="en-US"/>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p:spPr>
        <p:txBody>
          <a:bodyPr/>
          <a:lstStyle/>
          <a:p>
            <a:pPr eaLnBrk="1" hangingPunct="1"/>
            <a:r>
              <a:rPr lang="en-US" b="1" i="1">
                <a:cs typeface="Times New Roman" pitchFamily="18" charset="0"/>
              </a:rPr>
              <a:t>Teaching tip</a:t>
            </a:r>
          </a:p>
          <a:p>
            <a:pPr eaLnBrk="1" hangingPunct="1"/>
            <a:r>
              <a:rPr lang="en-US">
                <a:cs typeface="Times" pitchFamily="18" charset="0"/>
              </a:rPr>
              <a:t>Spend a few minutes here discussing computer screen colors. A good website to look at colors is http://www.radok.com/web-safe-colors_rgb.html. To demonstrate how computers generate color, use the custom color creator in Paint.</a:t>
            </a:r>
            <a:r>
              <a:rPr lang="en-US"/>
              <a:t> </a:t>
            </a:r>
          </a:p>
        </p:txBody>
      </p:sp>
    </p:spTree>
    <p:extLst>
      <p:ext uri="{BB962C8B-B14F-4D97-AF65-F5344CB8AC3E}">
        <p14:creationId xmlns:p14="http://schemas.microsoft.com/office/powerpoint/2010/main" val="9598957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fld id="{2E753692-ED7F-4432-B0D3-8683679A6252}" type="slidenum">
              <a:rPr lang="en-US" smtClean="0"/>
              <a:pPr/>
              <a:t>57</a:t>
            </a:fld>
            <a:endParaRPr lang="en-US"/>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p:spPr>
        <p:txBody>
          <a:bodyPr/>
          <a:lstStyle/>
          <a:p>
            <a:pPr eaLnBrk="1" hangingPunct="1"/>
            <a:r>
              <a:rPr lang="en-US" b="1" i="1">
                <a:cs typeface="Times New Roman" pitchFamily="18" charset="0"/>
              </a:rPr>
              <a:t>Teaching tip</a:t>
            </a:r>
          </a:p>
          <a:p>
            <a:pPr eaLnBrk="1" hangingPunct="1"/>
            <a:r>
              <a:rPr lang="en-US">
                <a:cs typeface="Times" pitchFamily="18" charset="0"/>
              </a:rPr>
              <a:t>Spend a few minutes here discussing computer screen colors. A good website to look at colors is http://www.radok.com/web-safe-colors_rgb.html. To demonstrate how computers generate color, use the custom color creator in Paint.</a:t>
            </a:r>
            <a:r>
              <a:rPr lang="en-US"/>
              <a:t> </a:t>
            </a:r>
          </a:p>
        </p:txBody>
      </p:sp>
    </p:spTree>
    <p:extLst>
      <p:ext uri="{BB962C8B-B14F-4D97-AF65-F5344CB8AC3E}">
        <p14:creationId xmlns:p14="http://schemas.microsoft.com/office/powerpoint/2010/main" val="9289967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E8344218-BDB3-40E9-ACDB-510E53AA5E0A}" type="slidenum">
              <a:rPr lang="en-US" smtClean="0"/>
              <a:pPr/>
              <a:t>58</a:t>
            </a:fld>
            <a:endParaRPr lang="en-US"/>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pPr eaLnBrk="1" hangingPunct="1"/>
            <a:r>
              <a:rPr lang="en-US" b="1" i="1">
                <a:cs typeface="Times New Roman" pitchFamily="18" charset="0"/>
              </a:rPr>
              <a:t>Insider information</a:t>
            </a:r>
          </a:p>
          <a:p>
            <a:pPr eaLnBrk="1" hangingPunct="1"/>
            <a:r>
              <a:rPr lang="en-US">
                <a:cs typeface="Times" pitchFamily="18" charset="0"/>
              </a:rPr>
              <a:t>Two common products are IBM’s Via Voice and Scansoft Dragon NaturallySpeaking. More information for ViaVoice can be found at http://www-306.ibm.com/software/voice/viavoice/. More information regarding Dragon is located at http://www.scansoft.com/naturallyspeaking/.</a:t>
            </a:r>
            <a:r>
              <a:rPr lang="en-US"/>
              <a:t> </a:t>
            </a:r>
          </a:p>
        </p:txBody>
      </p:sp>
    </p:spTree>
    <p:extLst>
      <p:ext uri="{BB962C8B-B14F-4D97-AF65-F5344CB8AC3E}">
        <p14:creationId xmlns:p14="http://schemas.microsoft.com/office/powerpoint/2010/main" val="27941502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E8344218-BDB3-40E9-ACDB-510E53AA5E0A}" type="slidenum">
              <a:rPr lang="en-US" smtClean="0"/>
              <a:pPr/>
              <a:t>59</a:t>
            </a:fld>
            <a:endParaRPr lang="en-US"/>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pPr eaLnBrk="1" hangingPunct="1"/>
            <a:r>
              <a:rPr lang="en-US" b="1" i="1">
                <a:cs typeface="Times New Roman" pitchFamily="18" charset="0"/>
              </a:rPr>
              <a:t>Insider information</a:t>
            </a:r>
          </a:p>
          <a:p>
            <a:pPr eaLnBrk="1" hangingPunct="1"/>
            <a:r>
              <a:rPr lang="en-US">
                <a:cs typeface="Times" pitchFamily="18" charset="0"/>
              </a:rPr>
              <a:t>Two common products are IBM’s Via Voice and Scansoft Dragon NaturallySpeaking. More information for ViaVoice can be found at http://www-306.ibm.com/software/voice/viavoice/. More information regarding Dragon is located at http://www.scansoft.com/naturallyspeaking/.</a:t>
            </a:r>
            <a:r>
              <a:rPr lang="en-US"/>
              <a:t> </a:t>
            </a:r>
          </a:p>
        </p:txBody>
      </p:sp>
    </p:spTree>
    <p:extLst>
      <p:ext uri="{BB962C8B-B14F-4D97-AF65-F5344CB8AC3E}">
        <p14:creationId xmlns:p14="http://schemas.microsoft.com/office/powerpoint/2010/main" val="1831615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E8344218-BDB3-40E9-ACDB-510E53AA5E0A}" type="slidenum">
              <a:rPr lang="en-US" smtClean="0"/>
              <a:pPr/>
              <a:t>60</a:t>
            </a:fld>
            <a:endParaRPr lang="en-US"/>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pPr eaLnBrk="1" hangingPunct="1"/>
            <a:r>
              <a:rPr lang="en-US" b="1" i="1">
                <a:cs typeface="Times New Roman" pitchFamily="18" charset="0"/>
              </a:rPr>
              <a:t>Insider information</a:t>
            </a:r>
          </a:p>
          <a:p>
            <a:pPr eaLnBrk="1" hangingPunct="1"/>
            <a:r>
              <a:rPr lang="en-US">
                <a:cs typeface="Times" pitchFamily="18" charset="0"/>
              </a:rPr>
              <a:t>Two common products are IBM’s Via Voice and Scansoft Dragon NaturallySpeaking. More information for ViaVoice can be found at http://www-306.ibm.com/software/voice/viavoice/. More information regarding Dragon is located at http://www.scansoft.com/naturallyspeaking/.</a:t>
            </a:r>
            <a:r>
              <a:rPr lang="en-US"/>
              <a:t> </a:t>
            </a:r>
          </a:p>
        </p:txBody>
      </p:sp>
    </p:spTree>
    <p:extLst>
      <p:ext uri="{BB962C8B-B14F-4D97-AF65-F5344CB8AC3E}">
        <p14:creationId xmlns:p14="http://schemas.microsoft.com/office/powerpoint/2010/main" val="6412675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9"/>
          <p:cNvSpPr>
            <a:spLocks noGrp="1" noChangeArrowheads="1"/>
          </p:cNvSpPr>
          <p:nvPr>
            <p:ph type="sldNum" sz="quarter" idx="5"/>
          </p:nvPr>
        </p:nvSpPr>
        <p:spPr>
          <a:noFill/>
        </p:spPr>
        <p:txBody>
          <a:bodyPr/>
          <a:lstStyle/>
          <a:p>
            <a:fld id="{8ECE5577-169D-4A54-A9D8-62F9D5126F1A}" type="slidenum">
              <a:rPr lang="en-US" smtClean="0">
                <a:latin typeface="Arial" pitchFamily="34" charset="0"/>
              </a:rPr>
              <a:pPr/>
              <a:t>61</a:t>
            </a:fld>
            <a:endParaRPr lang="en-US">
              <a:latin typeface="Arial" pitchFamily="34" charset="0"/>
            </a:endParaRPr>
          </a:p>
        </p:txBody>
      </p:sp>
      <p:sp>
        <p:nvSpPr>
          <p:cNvPr id="45059" name="Text Box 1"/>
          <p:cNvSpPr txBox="1">
            <a:spLocks noChangeArrowheads="1"/>
          </p:cNvSpPr>
          <p:nvPr/>
        </p:nvSpPr>
        <p:spPr bwMode="auto">
          <a:xfrm>
            <a:off x="957263" y="685800"/>
            <a:ext cx="4943475" cy="342900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en-US"/>
          </a:p>
        </p:txBody>
      </p:sp>
      <p:sp>
        <p:nvSpPr>
          <p:cNvPr id="45060" name="Rectangle 2"/>
          <p:cNvSpPr>
            <a:spLocks noGrp="1" noChangeArrowheads="1"/>
          </p:cNvSpPr>
          <p:nvPr>
            <p:ph type="body"/>
          </p:nvPr>
        </p:nvSpPr>
        <p:spPr>
          <a:xfrm>
            <a:off x="685800" y="4343400"/>
            <a:ext cx="5483225" cy="4111625"/>
          </a:xfrm>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39482525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9"/>
          <p:cNvSpPr>
            <a:spLocks noGrp="1" noChangeArrowheads="1"/>
          </p:cNvSpPr>
          <p:nvPr>
            <p:ph type="sldNum" sz="quarter" idx="5"/>
          </p:nvPr>
        </p:nvSpPr>
        <p:spPr>
          <a:noFill/>
        </p:spPr>
        <p:txBody>
          <a:bodyPr/>
          <a:lstStyle/>
          <a:p>
            <a:fld id="{8ECE5577-169D-4A54-A9D8-62F9D5126F1A}" type="slidenum">
              <a:rPr lang="en-US" smtClean="0">
                <a:latin typeface="Arial" pitchFamily="34" charset="0"/>
              </a:rPr>
              <a:pPr/>
              <a:t>62</a:t>
            </a:fld>
            <a:endParaRPr lang="en-US">
              <a:latin typeface="Arial" pitchFamily="34" charset="0"/>
            </a:endParaRPr>
          </a:p>
        </p:txBody>
      </p:sp>
      <p:sp>
        <p:nvSpPr>
          <p:cNvPr id="45059" name="Text Box 1"/>
          <p:cNvSpPr txBox="1">
            <a:spLocks noChangeArrowheads="1"/>
          </p:cNvSpPr>
          <p:nvPr/>
        </p:nvSpPr>
        <p:spPr bwMode="auto">
          <a:xfrm>
            <a:off x="957263" y="685800"/>
            <a:ext cx="4943475" cy="342900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en-US"/>
          </a:p>
        </p:txBody>
      </p:sp>
      <p:sp>
        <p:nvSpPr>
          <p:cNvPr id="45060" name="Rectangle 2"/>
          <p:cNvSpPr>
            <a:spLocks noGrp="1" noChangeArrowheads="1"/>
          </p:cNvSpPr>
          <p:nvPr>
            <p:ph type="body"/>
          </p:nvPr>
        </p:nvSpPr>
        <p:spPr>
          <a:xfrm>
            <a:off x="685800" y="4343400"/>
            <a:ext cx="5483225" cy="4111625"/>
          </a:xfrm>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40122252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9"/>
          <p:cNvSpPr>
            <a:spLocks noGrp="1" noChangeArrowheads="1"/>
          </p:cNvSpPr>
          <p:nvPr>
            <p:ph type="sldNum" sz="quarter" idx="5"/>
          </p:nvPr>
        </p:nvSpPr>
        <p:spPr>
          <a:noFill/>
        </p:spPr>
        <p:txBody>
          <a:bodyPr/>
          <a:lstStyle/>
          <a:p>
            <a:fld id="{8ECE5577-169D-4A54-A9D8-62F9D5126F1A}" type="slidenum">
              <a:rPr lang="en-US" smtClean="0">
                <a:latin typeface="Arial" pitchFamily="34" charset="0"/>
              </a:rPr>
              <a:pPr/>
              <a:t>63</a:t>
            </a:fld>
            <a:endParaRPr lang="en-US">
              <a:latin typeface="Arial" pitchFamily="34" charset="0"/>
            </a:endParaRPr>
          </a:p>
        </p:txBody>
      </p:sp>
      <p:sp>
        <p:nvSpPr>
          <p:cNvPr id="45059" name="Text Box 1"/>
          <p:cNvSpPr txBox="1">
            <a:spLocks noChangeArrowheads="1"/>
          </p:cNvSpPr>
          <p:nvPr/>
        </p:nvSpPr>
        <p:spPr bwMode="auto">
          <a:xfrm>
            <a:off x="957263" y="685800"/>
            <a:ext cx="4943475" cy="342900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en-US"/>
          </a:p>
        </p:txBody>
      </p:sp>
      <p:sp>
        <p:nvSpPr>
          <p:cNvPr id="45060" name="Rectangle 2"/>
          <p:cNvSpPr>
            <a:spLocks noGrp="1" noChangeArrowheads="1"/>
          </p:cNvSpPr>
          <p:nvPr>
            <p:ph type="body"/>
          </p:nvPr>
        </p:nvSpPr>
        <p:spPr>
          <a:xfrm>
            <a:off x="685800" y="4343400"/>
            <a:ext cx="5483225" cy="4111625"/>
          </a:xfrm>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31447395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9"/>
          <p:cNvSpPr>
            <a:spLocks noGrp="1" noChangeArrowheads="1"/>
          </p:cNvSpPr>
          <p:nvPr>
            <p:ph type="sldNum" sz="quarter" idx="5"/>
          </p:nvPr>
        </p:nvSpPr>
        <p:spPr>
          <a:noFill/>
        </p:spPr>
        <p:txBody>
          <a:bodyPr/>
          <a:lstStyle/>
          <a:p>
            <a:fld id="{8ECE5577-169D-4A54-A9D8-62F9D5126F1A}" type="slidenum">
              <a:rPr lang="en-US" smtClean="0">
                <a:latin typeface="Arial" pitchFamily="34" charset="0"/>
              </a:rPr>
              <a:pPr/>
              <a:t>64</a:t>
            </a:fld>
            <a:endParaRPr lang="en-US">
              <a:latin typeface="Arial" pitchFamily="34" charset="0"/>
            </a:endParaRPr>
          </a:p>
        </p:txBody>
      </p:sp>
      <p:sp>
        <p:nvSpPr>
          <p:cNvPr id="45059" name="Text Box 1"/>
          <p:cNvSpPr txBox="1">
            <a:spLocks noChangeArrowheads="1"/>
          </p:cNvSpPr>
          <p:nvPr/>
        </p:nvSpPr>
        <p:spPr bwMode="auto">
          <a:xfrm>
            <a:off x="957263" y="685800"/>
            <a:ext cx="4943475" cy="342900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en-US"/>
          </a:p>
        </p:txBody>
      </p:sp>
      <p:sp>
        <p:nvSpPr>
          <p:cNvPr id="45060" name="Rectangle 2"/>
          <p:cNvSpPr>
            <a:spLocks noGrp="1" noChangeArrowheads="1"/>
          </p:cNvSpPr>
          <p:nvPr>
            <p:ph type="body"/>
          </p:nvPr>
        </p:nvSpPr>
        <p:spPr>
          <a:xfrm>
            <a:off x="685800" y="4343400"/>
            <a:ext cx="5483225" cy="4111625"/>
          </a:xfrm>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13579318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08824520-5042-4BF8-BC68-D227E25832BB}" type="slidenum">
              <a:rPr lang="en-US">
                <a:latin typeface="Arial" pitchFamily="34" charset="0"/>
              </a:rPr>
              <a:pPr/>
              <a:t>71</a:t>
            </a:fld>
            <a:endParaRPr lang="en-US">
              <a:latin typeface="Arial" pitchFamily="34"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r>
              <a:rPr lang="en-US" b="1" i="1">
                <a:latin typeface="Arial" pitchFamily="34" charset="0"/>
                <a:cs typeface="Times New Roman" pitchFamily="18" charset="0"/>
              </a:rPr>
              <a:t>Insider Information</a:t>
            </a:r>
          </a:p>
          <a:p>
            <a:pPr eaLnBrk="1" hangingPunct="1"/>
            <a:r>
              <a:rPr lang="en-US">
                <a:latin typeface="Arial" pitchFamily="34" charset="0"/>
                <a:ea typeface="Times" pitchFamily="34" charset="0"/>
                <a:cs typeface="Times" pitchFamily="34" charset="0"/>
              </a:rPr>
              <a:t>Sound Blaster is the primary manufacturer of sound cards. Exceptional models start at around $30.00.</a:t>
            </a:r>
            <a:r>
              <a:rPr lang="en-US">
                <a:latin typeface="Arial" pitchFamily="34" charset="0"/>
              </a:rPr>
              <a:t> </a:t>
            </a:r>
          </a:p>
        </p:txBody>
      </p:sp>
    </p:spTree>
    <p:extLst>
      <p:ext uri="{BB962C8B-B14F-4D97-AF65-F5344CB8AC3E}">
        <p14:creationId xmlns:p14="http://schemas.microsoft.com/office/powerpoint/2010/main" val="11479978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A7A2DCB0-12D0-498A-A97E-917207B9E3D1}" type="slidenum">
              <a:rPr lang="en-US">
                <a:latin typeface="Arial" pitchFamily="34" charset="0"/>
              </a:rPr>
              <a:pPr/>
              <a:t>72</a:t>
            </a:fld>
            <a:endParaRPr lang="en-US">
              <a:latin typeface="Arial" pitchFamily="34" charset="0"/>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pPr eaLnBrk="1" hangingPunct="1"/>
            <a:r>
              <a:rPr lang="en-US" b="1" i="1">
                <a:latin typeface="Arial" pitchFamily="34" charset="0"/>
                <a:cs typeface="Times New Roman" pitchFamily="18" charset="0"/>
              </a:rPr>
              <a:t>Insider information</a:t>
            </a:r>
          </a:p>
          <a:p>
            <a:pPr eaLnBrk="1" hangingPunct="1"/>
            <a:r>
              <a:rPr lang="en-US">
                <a:latin typeface="Arial" pitchFamily="34" charset="0"/>
                <a:ea typeface="Times" pitchFamily="34" charset="0"/>
                <a:cs typeface="Times" pitchFamily="34" charset="0"/>
              </a:rPr>
              <a:t>The PS2 game SOCOM II Navy Seals includes a USB headset to allow verbal communication with other team members.</a:t>
            </a:r>
            <a:r>
              <a:rPr lang="en-US">
                <a:latin typeface="Arial" pitchFamily="34" charset="0"/>
              </a:rPr>
              <a:t> </a:t>
            </a:r>
          </a:p>
        </p:txBody>
      </p:sp>
    </p:spTree>
    <p:extLst>
      <p:ext uri="{BB962C8B-B14F-4D97-AF65-F5344CB8AC3E}">
        <p14:creationId xmlns:p14="http://schemas.microsoft.com/office/powerpoint/2010/main" val="16120930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86DE0828-41B9-4117-8EEC-60AFD36F04A0}" type="slidenum">
              <a:rPr lang="en-US" smtClean="0"/>
              <a:pPr/>
              <a:t>74</a:t>
            </a:fld>
            <a:endParaRPr lang="en-US"/>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p:spPr>
        <p:txBody>
          <a:bodyPr/>
          <a:lstStyle/>
          <a:p>
            <a:pPr eaLnBrk="1" hangingPunct="1"/>
            <a:r>
              <a:rPr lang="en-US" b="1" i="1" dirty="0">
                <a:cs typeface="Times New Roman" pitchFamily="18" charset="0"/>
              </a:rPr>
              <a:t>Teaching Tip</a:t>
            </a:r>
          </a:p>
          <a:p>
            <a:pPr eaLnBrk="1" hangingPunct="1"/>
            <a:r>
              <a:rPr lang="en-US" dirty="0">
                <a:cs typeface="Times" pitchFamily="18" charset="0"/>
              </a:rPr>
              <a:t>Figure 4B.5 on page 163 provides an excellent rendering of how the print head works. Be sure to refer to the image as you teach.</a:t>
            </a:r>
            <a:r>
              <a:rPr lang="en-US" dirty="0"/>
              <a:t> </a:t>
            </a:r>
          </a:p>
        </p:txBody>
      </p:sp>
    </p:spTree>
    <p:extLst>
      <p:ext uri="{BB962C8B-B14F-4D97-AF65-F5344CB8AC3E}">
        <p14:creationId xmlns:p14="http://schemas.microsoft.com/office/powerpoint/2010/main" val="11186750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86DE0828-41B9-4117-8EEC-60AFD36F04A0}" type="slidenum">
              <a:rPr lang="en-US" smtClean="0"/>
              <a:pPr/>
              <a:t>76</a:t>
            </a:fld>
            <a:endParaRPr lang="en-US"/>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p:spPr>
        <p:txBody>
          <a:bodyPr/>
          <a:lstStyle/>
          <a:p>
            <a:pPr eaLnBrk="1" hangingPunct="1"/>
            <a:r>
              <a:rPr lang="en-US" b="1" i="1" dirty="0">
                <a:cs typeface="Times New Roman" pitchFamily="18" charset="0"/>
              </a:rPr>
              <a:t>Teaching Tip</a:t>
            </a:r>
          </a:p>
          <a:p>
            <a:pPr eaLnBrk="1" hangingPunct="1"/>
            <a:r>
              <a:rPr lang="en-US" dirty="0">
                <a:cs typeface="Times" pitchFamily="18" charset="0"/>
              </a:rPr>
              <a:t>Figure 4B.5 on page 163 provides an excellent rendering of how the print head works. Be sure to refer to the image as you teach.</a:t>
            </a:r>
            <a:r>
              <a:rPr lang="en-US" dirty="0"/>
              <a:t> </a:t>
            </a:r>
          </a:p>
        </p:txBody>
      </p:sp>
    </p:spTree>
    <p:extLst>
      <p:ext uri="{BB962C8B-B14F-4D97-AF65-F5344CB8AC3E}">
        <p14:creationId xmlns:p14="http://schemas.microsoft.com/office/powerpoint/2010/main" val="23320285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fld id="{FE3C06D3-EA63-4F55-83FD-B7E37765ACCD}" type="slidenum">
              <a:rPr lang="en-US" smtClean="0"/>
              <a:pPr/>
              <a:t>78</a:t>
            </a:fld>
            <a:endParaRPr lang="en-US"/>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p:spPr>
        <p:txBody>
          <a:bodyPr/>
          <a:lstStyle/>
          <a:p>
            <a:pPr eaLnBrk="1" hangingPunct="1"/>
            <a:r>
              <a:rPr lang="en-US" b="1" i="1">
                <a:cs typeface="Times New Roman" pitchFamily="18" charset="0"/>
              </a:rPr>
              <a:t>Insider information</a:t>
            </a:r>
          </a:p>
          <a:p>
            <a:pPr eaLnBrk="1" hangingPunct="1"/>
            <a:r>
              <a:rPr lang="en-US">
                <a:cs typeface="Times" pitchFamily="18" charset="0"/>
              </a:rPr>
              <a:t>The laser printer works on a similar process to a photocopier. The first photocopier as we know it today was invented in Astoria NY in 1938 by Chester Carlson and Otto Kornei.</a:t>
            </a:r>
            <a:r>
              <a:rPr lang="en-US"/>
              <a:t> </a:t>
            </a:r>
          </a:p>
        </p:txBody>
      </p:sp>
    </p:spTree>
    <p:extLst>
      <p:ext uri="{BB962C8B-B14F-4D97-AF65-F5344CB8AC3E}">
        <p14:creationId xmlns:p14="http://schemas.microsoft.com/office/powerpoint/2010/main" val="12151753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p:txBody>
          <a:bodyPr/>
          <a:lstStyle/>
          <a:p>
            <a:fld id="{6D0A0426-1E93-4650-A475-F448298E202D}" type="datetimeFigureOut">
              <a:rPr lang="en-US" smtClean="0"/>
              <a:pPr/>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DB2727-650B-418F-B6A3-9EC51F60F0ED}"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D0A0426-1E93-4650-A475-F448298E202D}" type="datetimeFigureOut">
              <a:rPr lang="en-US" smtClean="0"/>
              <a:pPr/>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DB2727-650B-418F-B6A3-9EC51F60F0ED}" type="slidenum">
              <a:rPr lang="en-US" smtClean="0"/>
              <a:pPr/>
              <a:t>‹#›</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a:t>Click to edit Master title style</a:t>
            </a:r>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6D0A0426-1E93-4650-A475-F448298E202D}" type="datetimeFigureOut">
              <a:rPr lang="en-US" smtClean="0"/>
              <a:pPr/>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DB2727-650B-418F-B6A3-9EC51F60F0E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D0A0426-1E93-4650-A475-F448298E202D}" type="datetimeFigureOut">
              <a:rPr lang="en-US" smtClean="0"/>
              <a:pPr/>
              <a:t>9/3/2025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DB2727-650B-418F-B6A3-9EC51F60F0E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6D0A0426-1E93-4650-A475-F448298E202D}" type="datetimeFigureOut">
              <a:rPr lang="en-US" smtClean="0"/>
              <a:pPr/>
              <a:t>9/3/2025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DB2727-650B-418F-B6A3-9EC51F60F0E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6D0A0426-1E93-4650-A475-F448298E202D}" type="datetimeFigureOut">
              <a:rPr lang="en-US" smtClean="0"/>
              <a:pPr/>
              <a:t>9/3/2025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DB2727-650B-418F-B6A3-9EC51F60F0E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0A0426-1E93-4650-A475-F448298E202D}" type="datetimeFigureOut">
              <a:rPr lang="en-US" smtClean="0"/>
              <a:pPr/>
              <a:t>9/3/2025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2DB2727-650B-418F-B6A3-9EC51F60F0E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6D0A0426-1E93-4650-A475-F448298E202D}" type="datetimeFigureOut">
              <a:rPr lang="en-US" smtClean="0"/>
              <a:pPr/>
              <a:t>9/3/2025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DB2727-650B-418F-B6A3-9EC51F60F0ED}"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6D0A0426-1E93-4650-A475-F448298E202D}" type="datetimeFigureOut">
              <a:rPr lang="en-US" smtClean="0"/>
              <a:pPr/>
              <a:t>9/3/2025</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en-US"/>
          </a:p>
        </p:txBody>
      </p:sp>
      <p:sp>
        <p:nvSpPr>
          <p:cNvPr id="7" name="Slide Number Placeholder 6"/>
          <p:cNvSpPr>
            <a:spLocks noGrp="1"/>
          </p:cNvSpPr>
          <p:nvPr>
            <p:ph type="sldNum" sz="quarter" idx="12"/>
          </p:nvPr>
        </p:nvSpPr>
        <p:spPr>
          <a:xfrm>
            <a:off x="8339328" y="1170432"/>
            <a:ext cx="733864" cy="201168"/>
          </a:xfrm>
        </p:spPr>
        <p:txBody>
          <a:bodyPr/>
          <a:lstStyle/>
          <a:p>
            <a:fld id="{22DB2727-650B-418F-B6A3-9EC51F60F0ED}"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D0A0426-1E93-4650-A475-F448298E202D}" type="datetimeFigureOut">
              <a:rPr lang="en-US" smtClean="0"/>
              <a:pPr/>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DB2727-650B-418F-B6A3-9EC51F60F0E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D0A0426-1E93-4650-A475-F448298E202D}" type="datetimeFigureOut">
              <a:rPr lang="en-US" smtClean="0"/>
              <a:pPr/>
              <a:t>9/3/2025</a:t>
            </a:fld>
            <a:endParaRPr lang="en-US"/>
          </a:p>
        </p:txBody>
      </p:sp>
      <p:sp>
        <p:nvSpPr>
          <p:cNvPr id="5" name="Footer Placeholder 4"/>
          <p:cNvSpPr>
            <a:spLocks noGrp="1"/>
          </p:cNvSpPr>
          <p:nvPr>
            <p:ph type="ftr" sz="quarter" idx="11"/>
          </p:nvPr>
        </p:nvSpPr>
        <p:spPr>
          <a:xfrm>
            <a:off x="2640597" y="6377459"/>
            <a:ext cx="3836404" cy="365125"/>
          </a:xfrm>
        </p:spPr>
        <p:txBody>
          <a:bodyPr/>
          <a:lstStyle/>
          <a:p>
            <a:endParaRPr lang="en-US"/>
          </a:p>
        </p:txBody>
      </p:sp>
      <p:sp>
        <p:nvSpPr>
          <p:cNvPr id="6" name="Slide Number Placeholder 5"/>
          <p:cNvSpPr>
            <a:spLocks noGrp="1"/>
          </p:cNvSpPr>
          <p:nvPr>
            <p:ph type="sldNum" sz="quarter" idx="12"/>
          </p:nvPr>
        </p:nvSpPr>
        <p:spPr/>
        <p:txBody>
          <a:bodyPr/>
          <a:lstStyle/>
          <a:p>
            <a:fld id="{22DB2727-650B-418F-B6A3-9EC51F60F0E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a:t>Click to edit Master title style</a:t>
            </a:r>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fld id="{6D0A0426-1E93-4650-A475-F448298E202D}" type="datetimeFigureOut">
              <a:rPr lang="en-US" smtClean="0"/>
              <a:pPr/>
              <a:t>9/3/2025</a:t>
            </a:fld>
            <a:endParaRPr lang="en-US"/>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endParaRPr lang="en-US"/>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22DB2727-650B-418F-B6A3-9EC51F60F0E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jpeg"/><Relationship Id="rId7" Type="http://schemas.openxmlformats.org/officeDocument/2006/relationships/image" Target="../media/image12.jpe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 Id="rId9" Type="http://schemas.openxmlformats.org/officeDocument/2006/relationships/image" Target="../media/image14.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en.wikipedia.org/wiki/Image:Bush-Arnie-morph.jpg"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7" Type="http://schemas.openxmlformats.org/officeDocument/2006/relationships/hyperlink" Target="http://www.retrojunk.com/details_articles/567/" TargetMode="External"/><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4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6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7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8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a:t>CSC 101 – Introduction to Computing</a:t>
            </a:r>
          </a:p>
        </p:txBody>
      </p:sp>
      <p:sp>
        <p:nvSpPr>
          <p:cNvPr id="3" name="Subtitle 2"/>
          <p:cNvSpPr>
            <a:spLocks noGrp="1"/>
          </p:cNvSpPr>
          <p:nvPr>
            <p:ph type="subTitle" idx="1"/>
          </p:nvPr>
        </p:nvSpPr>
        <p:spPr/>
        <p:txBody>
          <a:bodyPr/>
          <a:lstStyle/>
          <a:p>
            <a:r>
              <a:rPr lang="en-US" dirty="0"/>
              <a:t>Lecture 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Information</a:t>
            </a:r>
          </a:p>
        </p:txBody>
      </p:sp>
      <p:pic>
        <p:nvPicPr>
          <p:cNvPr id="1026" name="Picture 2"/>
          <p:cNvPicPr>
            <a:picLocks noGrp="1" noChangeAspect="1" noChangeArrowheads="1"/>
          </p:cNvPicPr>
          <p:nvPr>
            <p:ph idx="1"/>
          </p:nvPr>
        </p:nvPicPr>
        <p:blipFill>
          <a:blip r:embed="rId2"/>
          <a:srcRect/>
          <a:stretch>
            <a:fillRect/>
          </a:stretch>
        </p:blipFill>
        <p:spPr bwMode="auto">
          <a:xfrm>
            <a:off x="457200" y="1981200"/>
            <a:ext cx="8229600" cy="182880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Books</a:t>
            </a:r>
          </a:p>
        </p:txBody>
      </p:sp>
      <p:sp>
        <p:nvSpPr>
          <p:cNvPr id="4" name="Content Placeholder 3"/>
          <p:cNvSpPr>
            <a:spLocks noGrp="1"/>
          </p:cNvSpPr>
          <p:nvPr>
            <p:ph idx="1"/>
          </p:nvPr>
        </p:nvSpPr>
        <p:spPr/>
        <p:txBody>
          <a:bodyPr/>
          <a:lstStyle/>
          <a:p>
            <a:endParaRPr lang="en-GB"/>
          </a:p>
        </p:txBody>
      </p:sp>
      <p:pic>
        <p:nvPicPr>
          <p:cNvPr id="2050" name="Picture 2"/>
          <p:cNvPicPr>
            <a:picLocks noChangeAspect="1" noChangeArrowheads="1"/>
          </p:cNvPicPr>
          <p:nvPr/>
        </p:nvPicPr>
        <p:blipFill>
          <a:blip r:embed="rId2"/>
          <a:srcRect/>
          <a:stretch>
            <a:fillRect/>
          </a:stretch>
        </p:blipFill>
        <p:spPr bwMode="auto">
          <a:xfrm>
            <a:off x="404813" y="2228850"/>
            <a:ext cx="8334375" cy="240030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a:t/>
            </a:r>
            <a:br>
              <a:rPr lang="en-US" i="1" dirty="0"/>
            </a:br>
            <a:r>
              <a:rPr lang="en-US" i="1" dirty="0"/>
              <a:t>Assessment Plan for the Course:</a:t>
            </a:r>
            <a:r>
              <a:rPr lang="en-US" dirty="0"/>
              <a:t/>
            </a:r>
            <a:br>
              <a:rPr lang="en-US" dirty="0"/>
            </a:br>
            <a:endParaRPr lang="en-US" dirty="0"/>
          </a:p>
        </p:txBody>
      </p:sp>
      <p:sp>
        <p:nvSpPr>
          <p:cNvPr id="4" name="Content Placeholder 3"/>
          <p:cNvSpPr>
            <a:spLocks noGrp="1"/>
          </p:cNvSpPr>
          <p:nvPr>
            <p:ph idx="1"/>
          </p:nvPr>
        </p:nvSpPr>
        <p:spPr/>
        <p:txBody>
          <a:bodyPr/>
          <a:lstStyle/>
          <a:p>
            <a:endParaRPr lang="en-GB" dirty="0"/>
          </a:p>
        </p:txBody>
      </p:sp>
      <p:pic>
        <p:nvPicPr>
          <p:cNvPr id="3074" name="Picture 2"/>
          <p:cNvPicPr>
            <a:picLocks noChangeAspect="1" noChangeArrowheads="1"/>
          </p:cNvPicPr>
          <p:nvPr/>
        </p:nvPicPr>
        <p:blipFill>
          <a:blip r:embed="rId2"/>
          <a:srcRect/>
          <a:stretch>
            <a:fillRect/>
          </a:stretch>
        </p:blipFill>
        <p:spPr bwMode="auto">
          <a:xfrm>
            <a:off x="609600" y="2643188"/>
            <a:ext cx="7924800" cy="1571625"/>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Major Topics Covered in the Course</a:t>
            </a:r>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a:srcRect/>
          <a:stretch>
            <a:fillRect/>
          </a:stretch>
        </p:blipFill>
        <p:spPr bwMode="auto">
          <a:xfrm>
            <a:off x="381000" y="1724025"/>
            <a:ext cx="8277225" cy="5133975"/>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Learning Outcomes</a:t>
            </a:r>
          </a:p>
        </p:txBody>
      </p:sp>
      <p:sp>
        <p:nvSpPr>
          <p:cNvPr id="4" name="Content Placeholder 3"/>
          <p:cNvSpPr>
            <a:spLocks noGrp="1"/>
          </p:cNvSpPr>
          <p:nvPr>
            <p:ph idx="1"/>
          </p:nvPr>
        </p:nvSpPr>
        <p:spPr/>
        <p:txBody>
          <a:bodyPr/>
          <a:lstStyle/>
          <a:p>
            <a:endParaRPr lang="en-GB"/>
          </a:p>
        </p:txBody>
      </p:sp>
      <p:pic>
        <p:nvPicPr>
          <p:cNvPr id="5122" name="Picture 2"/>
          <p:cNvPicPr>
            <a:picLocks noChangeAspect="1" noChangeArrowheads="1"/>
          </p:cNvPicPr>
          <p:nvPr/>
        </p:nvPicPr>
        <p:blipFill>
          <a:blip r:embed="rId2"/>
          <a:srcRect/>
          <a:stretch>
            <a:fillRect/>
          </a:stretch>
        </p:blipFill>
        <p:spPr bwMode="auto">
          <a:xfrm>
            <a:off x="1295400" y="1804988"/>
            <a:ext cx="6705599" cy="367032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dirty="0"/>
              <a:t>Plagiarism Policy</a:t>
            </a:r>
            <a:br>
              <a:rPr lang="en-US" dirty="0"/>
            </a:br>
            <a:endParaRPr lang="en-US" dirty="0"/>
          </a:p>
        </p:txBody>
      </p:sp>
      <p:sp>
        <p:nvSpPr>
          <p:cNvPr id="3" name="Content Placeholder 2"/>
          <p:cNvSpPr>
            <a:spLocks noGrp="1"/>
          </p:cNvSpPr>
          <p:nvPr>
            <p:ph idx="1"/>
          </p:nvPr>
        </p:nvSpPr>
        <p:spPr/>
        <p:txBody>
          <a:bodyPr>
            <a:normAutofit/>
          </a:bodyPr>
          <a:lstStyle/>
          <a:p>
            <a:r>
              <a:rPr lang="en-US" dirty="0"/>
              <a:t>Any assignment found 20% or more copied from the internet will be marked 0 (ZERO).</a:t>
            </a:r>
          </a:p>
          <a:p>
            <a:r>
              <a:rPr lang="en-US" dirty="0"/>
              <a:t> Any assignment copied from the class mate will also be marked 0 (ZERO).</a:t>
            </a:r>
          </a:p>
          <a:p>
            <a:pPr lvl="1"/>
            <a:r>
              <a:rPr lang="en-US" dirty="0"/>
              <a:t>Both for the source and the copied one.</a:t>
            </a:r>
          </a:p>
          <a:p>
            <a:r>
              <a:rPr lang="en-US" dirty="0"/>
              <a:t> No consideration will be made regarding plagiarized assignments.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Attendance Policy</a:t>
            </a:r>
          </a:p>
        </p:txBody>
      </p:sp>
      <p:sp>
        <p:nvSpPr>
          <p:cNvPr id="3" name="Content Placeholder 2"/>
          <p:cNvSpPr>
            <a:spLocks noGrp="1"/>
          </p:cNvSpPr>
          <p:nvPr>
            <p:ph idx="1"/>
          </p:nvPr>
        </p:nvSpPr>
        <p:spPr/>
        <p:txBody>
          <a:bodyPr/>
          <a:lstStyle/>
          <a:p>
            <a:r>
              <a:rPr lang="en-US" dirty="0"/>
              <a:t>Any student late in class by </a:t>
            </a:r>
            <a:r>
              <a:rPr lang="en-US" dirty="0" smtClean="0"/>
              <a:t>5 </a:t>
            </a:r>
            <a:r>
              <a:rPr lang="en-US" dirty="0"/>
              <a:t>min shall be marked absent.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Contact</a:t>
            </a:r>
          </a:p>
        </p:txBody>
      </p:sp>
      <p:sp>
        <p:nvSpPr>
          <p:cNvPr id="3" name="Content Placeholder 2"/>
          <p:cNvSpPr>
            <a:spLocks noGrp="1"/>
          </p:cNvSpPr>
          <p:nvPr>
            <p:ph idx="1"/>
          </p:nvPr>
        </p:nvSpPr>
        <p:spPr/>
        <p:txBody>
          <a:bodyPr vert="horz" lIns="54864" tIns="91440" rIns="91440" bIns="45720" rtlCol="0" anchor="t">
            <a:normAutofit/>
          </a:bodyPr>
          <a:lstStyle/>
          <a:p>
            <a:pPr marL="438785"/>
            <a:r>
              <a:rPr lang="en-US" dirty="0"/>
              <a:t>Office</a:t>
            </a:r>
          </a:p>
          <a:p>
            <a:pPr lvl="1"/>
            <a:r>
              <a:rPr lang="en-US" dirty="0" smtClean="0"/>
              <a:t>First Floor</a:t>
            </a:r>
            <a:r>
              <a:rPr lang="en-US" dirty="0"/>
              <a:t>, CS Dept, Academic Block II</a:t>
            </a:r>
          </a:p>
          <a:p>
            <a:pPr marL="438785"/>
            <a:endParaRPr lang="en-US" dirty="0"/>
          </a:p>
          <a:p>
            <a:pPr marL="438785"/>
            <a:r>
              <a:rPr lang="en-US" dirty="0"/>
              <a:t>Email</a:t>
            </a:r>
          </a:p>
          <a:p>
            <a:pPr lvl="1"/>
            <a:r>
              <a:rPr lang="en-US" dirty="0" smtClean="0"/>
              <a:t>umariqbal@comsats.edu.pk</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a:t>Lecture 01</a:t>
            </a:r>
          </a:p>
        </p:txBody>
      </p:sp>
      <p:sp>
        <p:nvSpPr>
          <p:cNvPr id="5" name="Subtitle 4"/>
          <p:cNvSpPr>
            <a:spLocks noGrp="1"/>
          </p:cNvSpPr>
          <p:nvPr>
            <p:ph type="subTitle" idx="1"/>
          </p:nvPr>
        </p:nvSpPr>
        <p:spPr/>
        <p:txBody>
          <a:bodyPr/>
          <a:lstStyle/>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fontScale="62500" lnSpcReduction="20000"/>
          </a:bodyPr>
          <a:lstStyle/>
          <a:p>
            <a:r>
              <a:rPr lang="en-US" dirty="0"/>
              <a:t>Definition of IT</a:t>
            </a:r>
          </a:p>
          <a:p>
            <a:r>
              <a:rPr lang="en-US" dirty="0"/>
              <a:t>Computer Technology</a:t>
            </a:r>
          </a:p>
          <a:p>
            <a:r>
              <a:rPr lang="en-US" dirty="0"/>
              <a:t>Communication Technology</a:t>
            </a:r>
          </a:p>
          <a:p>
            <a:r>
              <a:rPr lang="en-US" dirty="0"/>
              <a:t>Role of IT in Society</a:t>
            </a:r>
          </a:p>
          <a:p>
            <a:r>
              <a:rPr lang="en-GB" dirty="0"/>
              <a:t> Models: </a:t>
            </a:r>
          </a:p>
          <a:p>
            <a:pPr lvl="1"/>
            <a:r>
              <a:rPr lang="en-GB" dirty="0"/>
              <a:t>Turing Model,</a:t>
            </a:r>
          </a:p>
          <a:p>
            <a:pPr lvl="1"/>
            <a:r>
              <a:rPr lang="en-GB" dirty="0"/>
              <a:t> Von Neumann Model;</a:t>
            </a:r>
          </a:p>
          <a:p>
            <a:r>
              <a:rPr lang="en-GB" dirty="0"/>
              <a:t> Input Devices: </a:t>
            </a:r>
          </a:p>
          <a:p>
            <a:pPr lvl="1"/>
            <a:r>
              <a:rPr lang="en-GB" dirty="0"/>
              <a:t>Keyboard, </a:t>
            </a:r>
          </a:p>
          <a:p>
            <a:pPr lvl="1"/>
            <a:r>
              <a:rPr lang="en-GB" dirty="0"/>
              <a:t>Pointing &amp; Touch Devices, </a:t>
            </a:r>
          </a:p>
          <a:p>
            <a:pPr lvl="1"/>
            <a:r>
              <a:rPr lang="en-GB" dirty="0"/>
              <a:t>Game Controllers, </a:t>
            </a:r>
          </a:p>
          <a:p>
            <a:pPr lvl="1"/>
            <a:r>
              <a:rPr lang="en-GB" dirty="0"/>
              <a:t>Optical Input Devices, Audio Visual Devices; </a:t>
            </a:r>
          </a:p>
          <a:p>
            <a:r>
              <a:rPr lang="en-GB" dirty="0"/>
              <a:t>Output Devices: </a:t>
            </a:r>
          </a:p>
          <a:p>
            <a:r>
              <a:rPr lang="en-GB" dirty="0"/>
              <a:t>Monitors, </a:t>
            </a:r>
          </a:p>
          <a:p>
            <a:r>
              <a:rPr lang="en-GB" dirty="0"/>
              <a:t>Audio Output, </a:t>
            </a:r>
          </a:p>
          <a:p>
            <a:r>
              <a:rPr lang="en-GB" dirty="0"/>
              <a:t>Printers &amp; Plotters. </a:t>
            </a:r>
          </a:p>
          <a:p>
            <a:endParaRPr lang="en-GB" dirty="0"/>
          </a:p>
          <a:p>
            <a:endParaRPr lang="en-US" dirty="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4" name="Content Placeholder 13" descr="download.jpg"/>
          <p:cNvPicPr>
            <a:picLocks noGrp="1" noChangeAspect="1"/>
          </p:cNvPicPr>
          <p:nvPr>
            <p:ph idx="1"/>
          </p:nvPr>
        </p:nvPicPr>
        <p:blipFill>
          <a:blip r:embed="rId2" cstate="print"/>
          <a:stretch>
            <a:fillRect/>
          </a:stretch>
        </p:blipFill>
        <p:spPr>
          <a:xfrm>
            <a:off x="152400" y="5372100"/>
            <a:ext cx="1790700" cy="1485900"/>
          </a:xfrm>
        </p:spPr>
      </p:pic>
      <p:pic>
        <p:nvPicPr>
          <p:cNvPr id="15" name="Picture 14" descr="images (1).jpg"/>
          <p:cNvPicPr>
            <a:picLocks noChangeAspect="1"/>
          </p:cNvPicPr>
          <p:nvPr/>
        </p:nvPicPr>
        <p:blipFill>
          <a:blip r:embed="rId3" cstate="print"/>
          <a:stretch>
            <a:fillRect/>
          </a:stretch>
        </p:blipFill>
        <p:spPr>
          <a:xfrm>
            <a:off x="6648450" y="3200400"/>
            <a:ext cx="2495550" cy="1838325"/>
          </a:xfrm>
          <a:prstGeom prst="rect">
            <a:avLst/>
          </a:prstGeom>
        </p:spPr>
      </p:pic>
      <p:pic>
        <p:nvPicPr>
          <p:cNvPr id="16" name="Picture 15" descr="depositphotos_35304701-stock-photo-information-technology-in-tag-cloud.jpg"/>
          <p:cNvPicPr>
            <a:picLocks noChangeAspect="1"/>
          </p:cNvPicPr>
          <p:nvPr/>
        </p:nvPicPr>
        <p:blipFill>
          <a:blip r:embed="rId4" cstate="print"/>
          <a:stretch>
            <a:fillRect/>
          </a:stretch>
        </p:blipFill>
        <p:spPr>
          <a:xfrm>
            <a:off x="0" y="3124200"/>
            <a:ext cx="3118104" cy="2161032"/>
          </a:xfrm>
          <a:prstGeom prst="rect">
            <a:avLst/>
          </a:prstGeom>
        </p:spPr>
      </p:pic>
      <p:pic>
        <p:nvPicPr>
          <p:cNvPr id="17" name="Picture 16" descr="images (2).jpg"/>
          <p:cNvPicPr>
            <a:picLocks noChangeAspect="1"/>
          </p:cNvPicPr>
          <p:nvPr/>
        </p:nvPicPr>
        <p:blipFill>
          <a:blip r:embed="rId5" cstate="print"/>
          <a:stretch>
            <a:fillRect/>
          </a:stretch>
        </p:blipFill>
        <p:spPr>
          <a:xfrm>
            <a:off x="6477000" y="1447800"/>
            <a:ext cx="2466975" cy="1847850"/>
          </a:xfrm>
          <a:prstGeom prst="rect">
            <a:avLst/>
          </a:prstGeom>
        </p:spPr>
      </p:pic>
      <p:pic>
        <p:nvPicPr>
          <p:cNvPr id="18" name="Picture 17" descr="images (3).jpg"/>
          <p:cNvPicPr>
            <a:picLocks noChangeAspect="1"/>
          </p:cNvPicPr>
          <p:nvPr/>
        </p:nvPicPr>
        <p:blipFill>
          <a:blip r:embed="rId6" cstate="print"/>
          <a:stretch>
            <a:fillRect/>
          </a:stretch>
        </p:blipFill>
        <p:spPr>
          <a:xfrm>
            <a:off x="0" y="1447800"/>
            <a:ext cx="2571750" cy="1781175"/>
          </a:xfrm>
          <a:prstGeom prst="rect">
            <a:avLst/>
          </a:prstGeom>
        </p:spPr>
      </p:pic>
      <p:pic>
        <p:nvPicPr>
          <p:cNvPr id="19" name="Picture 18" descr="images (4).jpg"/>
          <p:cNvPicPr>
            <a:picLocks noChangeAspect="1"/>
          </p:cNvPicPr>
          <p:nvPr/>
        </p:nvPicPr>
        <p:blipFill>
          <a:blip r:embed="rId7" cstate="print"/>
          <a:stretch>
            <a:fillRect/>
          </a:stretch>
        </p:blipFill>
        <p:spPr>
          <a:xfrm>
            <a:off x="6286500" y="5257800"/>
            <a:ext cx="2857500" cy="1600200"/>
          </a:xfrm>
          <a:prstGeom prst="rect">
            <a:avLst/>
          </a:prstGeom>
        </p:spPr>
      </p:pic>
      <p:pic>
        <p:nvPicPr>
          <p:cNvPr id="20" name="Picture 19" descr="images.jpg"/>
          <p:cNvPicPr>
            <a:picLocks noChangeAspect="1"/>
          </p:cNvPicPr>
          <p:nvPr/>
        </p:nvPicPr>
        <p:blipFill>
          <a:blip r:embed="rId8" cstate="print"/>
          <a:stretch>
            <a:fillRect/>
          </a:stretch>
        </p:blipFill>
        <p:spPr>
          <a:xfrm>
            <a:off x="3581400" y="838200"/>
            <a:ext cx="2124075" cy="2152650"/>
          </a:xfrm>
          <a:prstGeom prst="rect">
            <a:avLst/>
          </a:prstGeom>
        </p:spPr>
      </p:pic>
      <p:pic>
        <p:nvPicPr>
          <p:cNvPr id="21" name="Picture 20" descr="itm_greatcareers_image.jpg"/>
          <p:cNvPicPr>
            <a:picLocks noChangeAspect="1"/>
          </p:cNvPicPr>
          <p:nvPr/>
        </p:nvPicPr>
        <p:blipFill>
          <a:blip r:embed="rId9" cstate="print"/>
          <a:stretch>
            <a:fillRect/>
          </a:stretch>
        </p:blipFill>
        <p:spPr>
          <a:xfrm>
            <a:off x="2895600" y="3352800"/>
            <a:ext cx="3352800" cy="2895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dirty="0"/>
              <a:t>What is Information Technology</a:t>
            </a:r>
          </a:p>
        </p:txBody>
      </p:sp>
      <p:sp>
        <p:nvSpPr>
          <p:cNvPr id="15363" name="Content Placeholder 2"/>
          <p:cNvSpPr>
            <a:spLocks noGrp="1"/>
          </p:cNvSpPr>
          <p:nvPr>
            <p:ph idx="1"/>
          </p:nvPr>
        </p:nvSpPr>
        <p:spPr/>
        <p:txBody>
          <a:bodyPr/>
          <a:lstStyle/>
          <a:p>
            <a:pPr>
              <a:lnSpc>
                <a:spcPct val="150000"/>
              </a:lnSpc>
            </a:pPr>
            <a:r>
              <a:rPr lang="en-US" sz="2800"/>
              <a:t>Fusion of computer and communication technology</a:t>
            </a:r>
          </a:p>
          <a:p>
            <a:pPr>
              <a:lnSpc>
                <a:spcPct val="150000"/>
              </a:lnSpc>
            </a:pPr>
            <a:r>
              <a:rPr lang="en-US" sz="2800"/>
              <a:t>Computer Technology</a:t>
            </a:r>
          </a:p>
          <a:p>
            <a:pPr lvl="1">
              <a:lnSpc>
                <a:spcPct val="150000"/>
              </a:lnSpc>
            </a:pPr>
            <a:r>
              <a:rPr lang="en-US" sz="2400"/>
              <a:t>programmable, multiuse machine that accepts data and processes it into usable information</a:t>
            </a:r>
          </a:p>
          <a:p>
            <a:pPr lvl="2">
              <a:lnSpc>
                <a:spcPct val="150000"/>
              </a:lnSpc>
            </a:pPr>
            <a:r>
              <a:rPr lang="en-US" sz="2000"/>
              <a:t>summaries, totals, or reports</a:t>
            </a:r>
          </a:p>
          <a:p>
            <a:pPr lvl="1">
              <a:lnSpc>
                <a:spcPct val="150000"/>
              </a:lnSpc>
            </a:pPr>
            <a:r>
              <a:rPr lang="en-US" sz="2400"/>
              <a:t>used to speed up problem solving and increase productivity.</a:t>
            </a:r>
          </a:p>
          <a:p>
            <a:endParaRPr lang="en-US"/>
          </a:p>
          <a:p>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dirty="0"/>
              <a:t>What is Information Technology</a:t>
            </a:r>
          </a:p>
        </p:txBody>
      </p:sp>
      <p:sp>
        <p:nvSpPr>
          <p:cNvPr id="16387" name="Content Placeholder 2"/>
          <p:cNvSpPr>
            <a:spLocks noGrp="1"/>
          </p:cNvSpPr>
          <p:nvPr>
            <p:ph idx="1"/>
          </p:nvPr>
        </p:nvSpPr>
        <p:spPr/>
        <p:txBody>
          <a:bodyPr>
            <a:normAutofit/>
          </a:bodyPr>
          <a:lstStyle/>
          <a:p>
            <a:pPr>
              <a:lnSpc>
                <a:spcPct val="150000"/>
              </a:lnSpc>
            </a:pPr>
            <a:r>
              <a:rPr lang="en-US" sz="2400"/>
              <a:t>Communication Technology</a:t>
            </a:r>
          </a:p>
          <a:p>
            <a:pPr lvl="1">
              <a:lnSpc>
                <a:spcPct val="150000"/>
              </a:lnSpc>
            </a:pPr>
            <a:r>
              <a:rPr lang="en-US" sz="2200"/>
              <a:t>consists of electromagnetic/optical devices and systems for communicating over long distances</a:t>
            </a:r>
          </a:p>
          <a:p>
            <a:pPr>
              <a:lnSpc>
                <a:spcPct val="150000"/>
              </a:lnSpc>
            </a:pPr>
            <a:r>
              <a:rPr lang="en-US" sz="2400"/>
              <a:t>InfoTech or IT is any technology that helps to produce, manipulate, store, communicate, and/or disseminate information</a:t>
            </a:r>
          </a:p>
          <a:p>
            <a:pPr>
              <a:lnSpc>
                <a:spcPct val="150000"/>
              </a:lnSpc>
            </a:pPr>
            <a:r>
              <a:rPr lang="en-US" sz="2400"/>
              <a:t>merges computing with high-speed communications links carrying data, sound, and video</a:t>
            </a:r>
          </a:p>
          <a:p>
            <a:pPr lvl="1"/>
            <a:endParaRPr lang="en-US"/>
          </a:p>
          <a:p>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t>Exercise</a:t>
            </a:r>
          </a:p>
        </p:txBody>
      </p:sp>
      <p:sp>
        <p:nvSpPr>
          <p:cNvPr id="18435" name="Content Placeholder 2"/>
          <p:cNvSpPr>
            <a:spLocks noGrp="1"/>
          </p:cNvSpPr>
          <p:nvPr>
            <p:ph idx="1"/>
          </p:nvPr>
        </p:nvSpPr>
        <p:spPr/>
        <p:txBody>
          <a:bodyPr/>
          <a:lstStyle/>
          <a:p>
            <a:pPr>
              <a:lnSpc>
                <a:spcPct val="150000"/>
              </a:lnSpc>
            </a:pPr>
            <a:r>
              <a:rPr lang="en-US" b="1"/>
              <a:t>How have you been using communication Technology in your life?</a:t>
            </a:r>
            <a:endParaRPr lang="en-US"/>
          </a:p>
          <a:p>
            <a:endParaRPr lang="en-US"/>
          </a:p>
          <a:p>
            <a:pPr>
              <a:buFontTx/>
              <a:buNone/>
            </a:pPr>
            <a:endParaRPr 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t>Some examples of IT</a:t>
            </a:r>
          </a:p>
        </p:txBody>
      </p:sp>
      <p:sp>
        <p:nvSpPr>
          <p:cNvPr id="19459" name="Content Placeholder 2"/>
          <p:cNvSpPr>
            <a:spLocks noGrp="1"/>
          </p:cNvSpPr>
          <p:nvPr>
            <p:ph idx="1"/>
          </p:nvPr>
        </p:nvSpPr>
        <p:spPr/>
        <p:txBody>
          <a:bodyPr/>
          <a:lstStyle/>
          <a:p>
            <a:r>
              <a:rPr lang="en-US" sz="2800"/>
              <a:t>Image Morphing</a:t>
            </a:r>
          </a:p>
          <a:p>
            <a:pPr lvl="1"/>
            <a:r>
              <a:rPr lang="en-US" sz="2000"/>
              <a:t>changing (or morphing) one image into another through a seamless transition</a:t>
            </a:r>
          </a:p>
          <a:p>
            <a:pPr lvl="1"/>
            <a:endParaRPr lang="en-US"/>
          </a:p>
          <a:p>
            <a:pPr lvl="1"/>
            <a:endParaRPr lang="en-US"/>
          </a:p>
          <a:p>
            <a:pPr lvl="1"/>
            <a:endParaRPr lang="en-US"/>
          </a:p>
          <a:p>
            <a:pPr lvl="1"/>
            <a:endParaRPr lang="en-US"/>
          </a:p>
          <a:p>
            <a:pPr lvl="1"/>
            <a:endParaRPr lang="en-US"/>
          </a:p>
          <a:p>
            <a:pPr lvl="1"/>
            <a:endParaRPr lang="en-US"/>
          </a:p>
        </p:txBody>
      </p:sp>
      <p:pic>
        <p:nvPicPr>
          <p:cNvPr id="19460" name="Picture 2" descr="http://upload.wikimedia.org/wikipedia/commons/thumb/1/1b/Bush-Arnie-morph.jpg/300px-Bush-Arnie-morph.jpg">
            <a:hlinkClick r:id="rId3" tooltip="3 Frames form a morph from George W. Bush to Arnold Schwarzenegger showing also the mid-point between the two extremes"/>
          </p:cNvPr>
          <p:cNvPicPr>
            <a:picLocks noChangeAspect="1" noChangeArrowheads="1"/>
          </p:cNvPicPr>
          <p:nvPr/>
        </p:nvPicPr>
        <p:blipFill>
          <a:blip r:embed="rId4" cstate="print"/>
          <a:srcRect/>
          <a:stretch>
            <a:fillRect/>
          </a:stretch>
        </p:blipFill>
        <p:spPr bwMode="auto">
          <a:xfrm>
            <a:off x="1295400" y="3124200"/>
            <a:ext cx="5791200" cy="2895600"/>
          </a:xfrm>
          <a:prstGeom prst="rect">
            <a:avLst/>
          </a:prstGeom>
          <a:noFill/>
          <a:ln w="9525">
            <a:noFill/>
            <a:miter lim="800000"/>
            <a:headEnd/>
            <a:tailEnd/>
          </a:ln>
        </p:spPr>
      </p:pic>
      <p:sp>
        <p:nvSpPr>
          <p:cNvPr id="19461" name="Rectangle 4"/>
          <p:cNvSpPr>
            <a:spLocks noChangeArrowheads="1"/>
          </p:cNvSpPr>
          <p:nvPr/>
        </p:nvSpPr>
        <p:spPr bwMode="auto">
          <a:xfrm>
            <a:off x="762000" y="6019800"/>
            <a:ext cx="6410325" cy="369888"/>
          </a:xfrm>
          <a:prstGeom prst="rect">
            <a:avLst/>
          </a:prstGeom>
          <a:noFill/>
          <a:ln w="9525">
            <a:noFill/>
            <a:miter lim="800000"/>
            <a:headEnd/>
            <a:tailEnd/>
          </a:ln>
        </p:spPr>
        <p:txBody>
          <a:bodyPr wrap="none">
            <a:spAutoFit/>
          </a:bodyPr>
          <a:lstStyle/>
          <a:p>
            <a:r>
              <a:rPr lang="en-US">
                <a:solidFill>
                  <a:schemeClr val="tx2"/>
                </a:solidFill>
                <a:latin typeface="Century Gothic" pitchFamily="34" charset="0"/>
              </a:rPr>
              <a:t>Image Courtesy: http://en.wikipedia.org/wiki/Morphing</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p:cNvSpPr>
            <a:spLocks noGrp="1"/>
          </p:cNvSpPr>
          <p:nvPr>
            <p:ph idx="1"/>
          </p:nvPr>
        </p:nvSpPr>
        <p:spPr/>
        <p:txBody>
          <a:bodyPr/>
          <a:lstStyle/>
          <a:p>
            <a:r>
              <a:rPr lang="en-US"/>
              <a:t>Image Morphing?</a:t>
            </a:r>
          </a:p>
          <a:p>
            <a:pPr lvl="1"/>
            <a:r>
              <a:rPr lang="en-US"/>
              <a:t>Turbo Teen</a:t>
            </a:r>
          </a:p>
        </p:txBody>
      </p:sp>
      <p:pic>
        <p:nvPicPr>
          <p:cNvPr id="20483" name="Picture 6" descr="http://www.retrojunk.com/img/art-images/tt4.jpg"/>
          <p:cNvPicPr>
            <a:picLocks noChangeAspect="1" noChangeArrowheads="1"/>
          </p:cNvPicPr>
          <p:nvPr/>
        </p:nvPicPr>
        <p:blipFill>
          <a:blip r:embed="rId2" cstate="print"/>
          <a:srcRect/>
          <a:stretch>
            <a:fillRect/>
          </a:stretch>
        </p:blipFill>
        <p:spPr bwMode="auto">
          <a:xfrm>
            <a:off x="3200400" y="2819400"/>
            <a:ext cx="2438400" cy="1828800"/>
          </a:xfrm>
          <a:prstGeom prst="rect">
            <a:avLst/>
          </a:prstGeom>
          <a:noFill/>
          <a:ln w="9525">
            <a:noFill/>
            <a:miter lim="800000"/>
            <a:headEnd/>
            <a:tailEnd/>
          </a:ln>
        </p:spPr>
      </p:pic>
      <p:pic>
        <p:nvPicPr>
          <p:cNvPr id="20484" name="Picture 8" descr="http://www.retrojunk.com/img/art-images/tt5.jpg"/>
          <p:cNvPicPr>
            <a:picLocks noChangeAspect="1" noChangeArrowheads="1"/>
          </p:cNvPicPr>
          <p:nvPr/>
        </p:nvPicPr>
        <p:blipFill>
          <a:blip r:embed="rId3" cstate="print"/>
          <a:srcRect/>
          <a:stretch>
            <a:fillRect/>
          </a:stretch>
        </p:blipFill>
        <p:spPr bwMode="auto">
          <a:xfrm>
            <a:off x="5791200" y="2819400"/>
            <a:ext cx="2438400" cy="1828800"/>
          </a:xfrm>
          <a:prstGeom prst="rect">
            <a:avLst/>
          </a:prstGeom>
          <a:noFill/>
          <a:ln w="9525">
            <a:noFill/>
            <a:miter lim="800000"/>
            <a:headEnd/>
            <a:tailEnd/>
          </a:ln>
        </p:spPr>
      </p:pic>
      <p:pic>
        <p:nvPicPr>
          <p:cNvPr id="20485" name="Picture 10" descr="http://www.retrojunk.com/img/art-images/tt1.jpg"/>
          <p:cNvPicPr>
            <a:picLocks noChangeAspect="1" noChangeArrowheads="1"/>
          </p:cNvPicPr>
          <p:nvPr/>
        </p:nvPicPr>
        <p:blipFill>
          <a:blip r:embed="rId4" cstate="print"/>
          <a:srcRect/>
          <a:stretch>
            <a:fillRect/>
          </a:stretch>
        </p:blipFill>
        <p:spPr bwMode="auto">
          <a:xfrm>
            <a:off x="533400" y="4724400"/>
            <a:ext cx="2438400" cy="1828800"/>
          </a:xfrm>
          <a:prstGeom prst="rect">
            <a:avLst/>
          </a:prstGeom>
          <a:noFill/>
          <a:ln w="9525">
            <a:noFill/>
            <a:miter lim="800000"/>
            <a:headEnd/>
            <a:tailEnd/>
          </a:ln>
        </p:spPr>
      </p:pic>
      <p:pic>
        <p:nvPicPr>
          <p:cNvPr id="20486" name="Picture 12" descr="http://www.retrojunk.com/img/art-images/tt3.jpg"/>
          <p:cNvPicPr>
            <a:picLocks noChangeAspect="1" noChangeArrowheads="1"/>
          </p:cNvPicPr>
          <p:nvPr/>
        </p:nvPicPr>
        <p:blipFill>
          <a:blip r:embed="rId5" cstate="print"/>
          <a:srcRect/>
          <a:stretch>
            <a:fillRect/>
          </a:stretch>
        </p:blipFill>
        <p:spPr bwMode="auto">
          <a:xfrm>
            <a:off x="3124200" y="4724400"/>
            <a:ext cx="2438400" cy="1828800"/>
          </a:xfrm>
          <a:prstGeom prst="rect">
            <a:avLst/>
          </a:prstGeom>
          <a:noFill/>
          <a:ln w="9525">
            <a:noFill/>
            <a:miter lim="800000"/>
            <a:headEnd/>
            <a:tailEnd/>
          </a:ln>
        </p:spPr>
      </p:pic>
      <p:pic>
        <p:nvPicPr>
          <p:cNvPr id="20487" name="Picture 14" descr="http://www.retrojunk.com/img/art-images/tt2.jpg"/>
          <p:cNvPicPr>
            <a:picLocks noChangeAspect="1" noChangeArrowheads="1"/>
          </p:cNvPicPr>
          <p:nvPr/>
        </p:nvPicPr>
        <p:blipFill>
          <a:blip r:embed="rId6" cstate="print"/>
          <a:srcRect/>
          <a:stretch>
            <a:fillRect/>
          </a:stretch>
        </p:blipFill>
        <p:spPr bwMode="auto">
          <a:xfrm>
            <a:off x="5715000" y="4724400"/>
            <a:ext cx="2438400" cy="1828800"/>
          </a:xfrm>
          <a:prstGeom prst="rect">
            <a:avLst/>
          </a:prstGeom>
          <a:noFill/>
          <a:ln w="9525">
            <a:noFill/>
            <a:miter lim="800000"/>
            <a:headEnd/>
            <a:tailEnd/>
          </a:ln>
        </p:spPr>
      </p:pic>
      <p:sp>
        <p:nvSpPr>
          <p:cNvPr id="20488" name="Rectangle 17"/>
          <p:cNvSpPr>
            <a:spLocks noChangeArrowheads="1"/>
          </p:cNvSpPr>
          <p:nvPr/>
        </p:nvSpPr>
        <p:spPr bwMode="auto">
          <a:xfrm>
            <a:off x="457200" y="4876800"/>
            <a:ext cx="298480" cy="369332"/>
          </a:xfrm>
          <a:prstGeom prst="rect">
            <a:avLst/>
          </a:prstGeom>
          <a:noFill/>
          <a:ln w="9525">
            <a:noFill/>
            <a:miter lim="800000"/>
            <a:headEnd/>
            <a:tailEnd/>
          </a:ln>
        </p:spPr>
        <p:txBody>
          <a:bodyPr wrap="none" anchor="ctr">
            <a:spAutoFit/>
          </a:bodyPr>
          <a:lstStyle/>
          <a:p>
            <a:r>
              <a:rPr lang="en-US" b="1" dirty="0">
                <a:hlinkClick r:id="rId7"/>
              </a:rPr>
              <a:t>/</a:t>
            </a:r>
            <a:r>
              <a:rPr lang="en-US" dirty="0"/>
              <a:t> </a:t>
            </a:r>
          </a:p>
        </p:txBody>
      </p:sp>
      <p:sp>
        <p:nvSpPr>
          <p:cNvPr id="20489" name="Title 17"/>
          <p:cNvSpPr>
            <a:spLocks noGrp="1"/>
          </p:cNvSpPr>
          <p:nvPr>
            <p:ph type="title"/>
          </p:nvPr>
        </p:nvSpPr>
        <p:spPr/>
        <p:txBody>
          <a:bodyPr/>
          <a:lstStyle/>
          <a:p>
            <a:endParaRPr 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p:cNvSpPr>
            <a:spLocks noGrp="1"/>
          </p:cNvSpPr>
          <p:nvPr>
            <p:ph idx="1"/>
          </p:nvPr>
        </p:nvSpPr>
        <p:spPr/>
        <p:txBody>
          <a:bodyPr/>
          <a:lstStyle/>
          <a:p>
            <a:r>
              <a:rPr lang="en-US"/>
              <a:t>Video Conferencing</a:t>
            </a:r>
          </a:p>
        </p:txBody>
      </p:sp>
      <p:pic>
        <p:nvPicPr>
          <p:cNvPr id="22531" name="Picture 4" descr="Photo of TANDBERG video conferencing system in use."/>
          <p:cNvPicPr>
            <a:picLocks noChangeAspect="1" noChangeArrowheads="1"/>
          </p:cNvPicPr>
          <p:nvPr/>
        </p:nvPicPr>
        <p:blipFill>
          <a:blip r:embed="rId2" cstate="print"/>
          <a:srcRect/>
          <a:stretch>
            <a:fillRect/>
          </a:stretch>
        </p:blipFill>
        <p:spPr bwMode="auto">
          <a:xfrm>
            <a:off x="381000" y="1524000"/>
            <a:ext cx="6781800" cy="4173538"/>
          </a:xfrm>
          <a:prstGeom prst="rect">
            <a:avLst/>
          </a:prstGeom>
          <a:noFill/>
          <a:ln w="9525">
            <a:noFill/>
            <a:miter lim="800000"/>
            <a:headEnd/>
            <a:tailEnd/>
          </a:ln>
        </p:spPr>
      </p:pic>
      <p:sp>
        <p:nvSpPr>
          <p:cNvPr id="22532" name="Title 1"/>
          <p:cNvSpPr>
            <a:spLocks noGrp="1"/>
          </p:cNvSpPr>
          <p:nvPr>
            <p:ph type="title"/>
          </p:nvPr>
        </p:nvSpPr>
        <p:spPr/>
        <p:txBody>
          <a:bodyPr/>
          <a:lstStyle/>
          <a:p>
            <a:r>
              <a:rPr lang="en-US"/>
              <a:t>Some examples of IT</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p:cNvSpPr>
            <a:spLocks noGrp="1"/>
          </p:cNvSpPr>
          <p:nvPr>
            <p:ph idx="1"/>
          </p:nvPr>
        </p:nvSpPr>
        <p:spPr/>
        <p:txBody>
          <a:bodyPr/>
          <a:lstStyle/>
          <a:p>
            <a:r>
              <a:rPr lang="en-US"/>
              <a:t>GPS Tracking</a:t>
            </a:r>
          </a:p>
          <a:p>
            <a:pPr lvl="1"/>
            <a:r>
              <a:rPr lang="en-US"/>
              <a:t>Track your vehicles, wherever they go, using GPS.</a:t>
            </a:r>
          </a:p>
        </p:txBody>
      </p:sp>
      <p:sp>
        <p:nvSpPr>
          <p:cNvPr id="23555" name="Title 1"/>
          <p:cNvSpPr>
            <a:spLocks noGrp="1"/>
          </p:cNvSpPr>
          <p:nvPr>
            <p:ph type="title"/>
          </p:nvPr>
        </p:nvSpPr>
        <p:spPr/>
        <p:txBody>
          <a:bodyPr/>
          <a:lstStyle/>
          <a:p>
            <a:r>
              <a:rPr lang="en-US"/>
              <a:t>Some examples of IT</a:t>
            </a:r>
          </a:p>
        </p:txBody>
      </p:sp>
      <p:pic>
        <p:nvPicPr>
          <p:cNvPr id="23556" name="Picture 2" descr="http://www.miamidetectiveservices.com/images/gps_tracking_products.jpg"/>
          <p:cNvPicPr>
            <a:picLocks noChangeAspect="1" noChangeArrowheads="1"/>
          </p:cNvPicPr>
          <p:nvPr/>
        </p:nvPicPr>
        <p:blipFill>
          <a:blip r:embed="rId2" cstate="print"/>
          <a:srcRect/>
          <a:stretch>
            <a:fillRect/>
          </a:stretch>
        </p:blipFill>
        <p:spPr bwMode="auto">
          <a:xfrm>
            <a:off x="2667000" y="3276600"/>
            <a:ext cx="3657600" cy="3200400"/>
          </a:xfrm>
          <a:prstGeom prst="rect">
            <a:avLst/>
          </a:prstGeom>
          <a:noFill/>
          <a:ln w="9525">
            <a:noFill/>
            <a:miter lim="800000"/>
            <a:headEnd/>
            <a:tailEnd/>
          </a:ln>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20</a:t>
            </a:fld>
            <a:endParaRPr spc="-165" dirty="0"/>
          </a:p>
        </p:txBody>
      </p:sp>
      <p:sp>
        <p:nvSpPr>
          <p:cNvPr id="3" name="object 3"/>
          <p:cNvSpPr txBox="1"/>
          <p:nvPr/>
        </p:nvSpPr>
        <p:spPr>
          <a:xfrm>
            <a:off x="535940" y="1461262"/>
            <a:ext cx="8053070" cy="5503430"/>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10" dirty="0">
                <a:latin typeface="Carlito"/>
                <a:cs typeface="Carlito"/>
              </a:rPr>
              <a:t>Computer</a:t>
            </a:r>
            <a:endParaRPr sz="2400">
              <a:latin typeface="Carlito"/>
              <a:cs typeface="Carlito"/>
            </a:endParaRPr>
          </a:p>
          <a:p>
            <a:pPr marL="756285" marR="652145" lvl="1" indent="-287020">
              <a:lnSpc>
                <a:spcPct val="100000"/>
              </a:lnSpc>
              <a:spcBef>
                <a:spcPts val="575"/>
              </a:spcBef>
              <a:buFont typeface="Arial"/>
              <a:buChar char="–"/>
              <a:tabLst>
                <a:tab pos="756920" algn="l"/>
              </a:tabLst>
            </a:pPr>
            <a:r>
              <a:rPr sz="2400" dirty="0">
                <a:latin typeface="Carlito"/>
                <a:cs typeface="Carlito"/>
              </a:rPr>
              <a:t>A </a:t>
            </a:r>
            <a:r>
              <a:rPr sz="2400" spc="-10" dirty="0">
                <a:latin typeface="Carlito"/>
                <a:cs typeface="Carlito"/>
              </a:rPr>
              <a:t>programmable, </a:t>
            </a:r>
            <a:r>
              <a:rPr sz="2400" spc="-5" dirty="0">
                <a:latin typeface="Carlito"/>
                <a:cs typeface="Carlito"/>
              </a:rPr>
              <a:t>electronic device that accepts </a:t>
            </a:r>
            <a:r>
              <a:rPr sz="2400" spc="-15" dirty="0">
                <a:latin typeface="Carlito"/>
                <a:cs typeface="Carlito"/>
              </a:rPr>
              <a:t>data,  </a:t>
            </a:r>
            <a:r>
              <a:rPr sz="2400" spc="-10" dirty="0">
                <a:latin typeface="Carlito"/>
                <a:cs typeface="Carlito"/>
              </a:rPr>
              <a:t>performs operations </a:t>
            </a:r>
            <a:r>
              <a:rPr sz="2400" spc="-5" dirty="0">
                <a:latin typeface="Carlito"/>
                <a:cs typeface="Carlito"/>
              </a:rPr>
              <a:t>on </a:t>
            </a:r>
            <a:r>
              <a:rPr sz="2400" spc="-10" dirty="0">
                <a:latin typeface="Carlito"/>
                <a:cs typeface="Carlito"/>
              </a:rPr>
              <a:t>that data, </a:t>
            </a:r>
            <a:r>
              <a:rPr sz="2400" dirty="0">
                <a:latin typeface="Carlito"/>
                <a:cs typeface="Carlito"/>
              </a:rPr>
              <a:t>and </a:t>
            </a:r>
            <a:r>
              <a:rPr sz="2400" spc="-20" dirty="0">
                <a:latin typeface="Carlito"/>
                <a:cs typeface="Carlito"/>
              </a:rPr>
              <a:t>stores </a:t>
            </a:r>
            <a:r>
              <a:rPr sz="2400" dirty="0">
                <a:latin typeface="Carlito"/>
                <a:cs typeface="Carlito"/>
              </a:rPr>
              <a:t>the</a:t>
            </a:r>
            <a:r>
              <a:rPr sz="2400" spc="-55" dirty="0">
                <a:latin typeface="Carlito"/>
                <a:cs typeface="Carlito"/>
              </a:rPr>
              <a:t> </a:t>
            </a:r>
            <a:r>
              <a:rPr sz="2400" spc="-15" dirty="0">
                <a:latin typeface="Carlito"/>
                <a:cs typeface="Carlito"/>
              </a:rPr>
              <a:t>data</a:t>
            </a:r>
            <a:endParaRPr sz="2400">
              <a:latin typeface="Carlito"/>
              <a:cs typeface="Carlito"/>
            </a:endParaRPr>
          </a:p>
          <a:p>
            <a:pPr marL="756285" marR="5080" lvl="1" indent="-287020">
              <a:lnSpc>
                <a:spcPct val="100000"/>
              </a:lnSpc>
              <a:spcBef>
                <a:spcPts val="580"/>
              </a:spcBef>
              <a:buFont typeface="Arial"/>
              <a:buChar char="–"/>
              <a:tabLst>
                <a:tab pos="756920" algn="l"/>
              </a:tabLst>
            </a:pPr>
            <a:r>
              <a:rPr sz="2400" spc="-15" dirty="0">
                <a:latin typeface="Carlito"/>
                <a:cs typeface="Carlito"/>
              </a:rPr>
              <a:t>Follows </a:t>
            </a:r>
            <a:r>
              <a:rPr sz="2400" spc="-5" dirty="0">
                <a:latin typeface="Carlito"/>
                <a:cs typeface="Carlito"/>
              </a:rPr>
              <a:t>instructions, called </a:t>
            </a:r>
            <a:r>
              <a:rPr sz="2400" spc="-15" dirty="0">
                <a:latin typeface="Carlito"/>
                <a:cs typeface="Carlito"/>
              </a:rPr>
              <a:t>programs, </a:t>
            </a:r>
            <a:r>
              <a:rPr sz="2400" dirty="0">
                <a:latin typeface="Carlito"/>
                <a:cs typeface="Carlito"/>
              </a:rPr>
              <a:t>which </a:t>
            </a:r>
            <a:r>
              <a:rPr sz="2400" spc="-5" dirty="0">
                <a:latin typeface="Carlito"/>
                <a:cs typeface="Carlito"/>
              </a:rPr>
              <a:t>determine </a:t>
            </a:r>
            <a:r>
              <a:rPr sz="2400" dirty="0">
                <a:latin typeface="Carlito"/>
                <a:cs typeface="Carlito"/>
              </a:rPr>
              <a:t>the  </a:t>
            </a:r>
            <a:r>
              <a:rPr sz="2400" spc="-10" dirty="0">
                <a:latin typeface="Carlito"/>
                <a:cs typeface="Carlito"/>
              </a:rPr>
              <a:t>tasks </a:t>
            </a:r>
            <a:r>
              <a:rPr sz="2400" dirty="0">
                <a:latin typeface="Carlito"/>
                <a:cs typeface="Carlito"/>
              </a:rPr>
              <a:t>the </a:t>
            </a:r>
            <a:r>
              <a:rPr sz="2400" spc="-10" dirty="0">
                <a:latin typeface="Carlito"/>
                <a:cs typeface="Carlito"/>
              </a:rPr>
              <a:t>computer </a:t>
            </a:r>
            <a:r>
              <a:rPr sz="2400" dirty="0">
                <a:latin typeface="Carlito"/>
                <a:cs typeface="Carlito"/>
              </a:rPr>
              <a:t>will</a:t>
            </a:r>
            <a:r>
              <a:rPr sz="2400" spc="-50" dirty="0">
                <a:latin typeface="Carlito"/>
                <a:cs typeface="Carlito"/>
              </a:rPr>
              <a:t> </a:t>
            </a:r>
            <a:r>
              <a:rPr sz="2400" spc="-15" dirty="0">
                <a:latin typeface="Carlito"/>
                <a:cs typeface="Carlito"/>
              </a:rPr>
              <a:t>perform</a:t>
            </a:r>
            <a:endParaRPr sz="2400">
              <a:latin typeface="Carlito"/>
              <a:cs typeface="Carlito"/>
            </a:endParaRPr>
          </a:p>
          <a:p>
            <a:pPr marL="355600" indent="-343535">
              <a:lnSpc>
                <a:spcPct val="100000"/>
              </a:lnSpc>
              <a:spcBef>
                <a:spcPts val="575"/>
              </a:spcBef>
              <a:buFont typeface="Arial"/>
              <a:buChar char="•"/>
              <a:tabLst>
                <a:tab pos="355600" algn="l"/>
                <a:tab pos="356235" algn="l"/>
              </a:tabLst>
            </a:pPr>
            <a:r>
              <a:rPr sz="2400" dirty="0">
                <a:latin typeface="Carlito"/>
                <a:cs typeface="Carlito"/>
              </a:rPr>
              <a:t>Basic</a:t>
            </a:r>
            <a:r>
              <a:rPr sz="2400" spc="-45" dirty="0">
                <a:latin typeface="Carlito"/>
                <a:cs typeface="Carlito"/>
              </a:rPr>
              <a:t> </a:t>
            </a:r>
            <a:r>
              <a:rPr sz="2400" spc="-10" dirty="0">
                <a:latin typeface="Carlito"/>
                <a:cs typeface="Carlito"/>
              </a:rPr>
              <a:t>Operations</a:t>
            </a:r>
            <a:endParaRPr sz="2400">
              <a:latin typeface="Carlito"/>
              <a:cs typeface="Carlito"/>
            </a:endParaRPr>
          </a:p>
          <a:p>
            <a:pPr marL="756285" lvl="1" indent="-287020">
              <a:lnSpc>
                <a:spcPct val="100000"/>
              </a:lnSpc>
              <a:spcBef>
                <a:spcPts val="580"/>
              </a:spcBef>
              <a:buFont typeface="Arial"/>
              <a:buChar char="–"/>
              <a:tabLst>
                <a:tab pos="756920" algn="l"/>
              </a:tabLst>
            </a:pPr>
            <a:r>
              <a:rPr sz="2400" dirty="0">
                <a:latin typeface="Carlito"/>
                <a:cs typeface="Carlito"/>
              </a:rPr>
              <a:t>Input: </a:t>
            </a:r>
            <a:r>
              <a:rPr sz="2400" spc="-10" dirty="0">
                <a:latin typeface="Carlito"/>
                <a:cs typeface="Carlito"/>
              </a:rPr>
              <a:t>Entering </a:t>
            </a:r>
            <a:r>
              <a:rPr sz="2400" spc="-15" dirty="0">
                <a:latin typeface="Carlito"/>
                <a:cs typeface="Carlito"/>
              </a:rPr>
              <a:t>data into </a:t>
            </a:r>
            <a:r>
              <a:rPr sz="2400" spc="-5" dirty="0">
                <a:latin typeface="Carlito"/>
                <a:cs typeface="Carlito"/>
              </a:rPr>
              <a:t>the</a:t>
            </a:r>
            <a:r>
              <a:rPr sz="2400" spc="-35" dirty="0">
                <a:latin typeface="Carlito"/>
                <a:cs typeface="Carlito"/>
              </a:rPr>
              <a:t> </a:t>
            </a:r>
            <a:r>
              <a:rPr sz="2400" spc="-10" dirty="0">
                <a:latin typeface="Carlito"/>
                <a:cs typeface="Carlito"/>
              </a:rPr>
              <a:t>computer</a:t>
            </a:r>
            <a:endParaRPr sz="2400">
              <a:latin typeface="Carlito"/>
              <a:cs typeface="Carlito"/>
            </a:endParaRPr>
          </a:p>
          <a:p>
            <a:pPr marL="756285" lvl="1" indent="-287020">
              <a:lnSpc>
                <a:spcPct val="100000"/>
              </a:lnSpc>
              <a:spcBef>
                <a:spcPts val="575"/>
              </a:spcBef>
              <a:buFont typeface="Arial"/>
              <a:buChar char="–"/>
              <a:tabLst>
                <a:tab pos="756920" algn="l"/>
              </a:tabLst>
            </a:pPr>
            <a:r>
              <a:rPr sz="2400" spc="-10" dirty="0">
                <a:latin typeface="Carlito"/>
                <a:cs typeface="Carlito"/>
              </a:rPr>
              <a:t>Processing: </a:t>
            </a:r>
            <a:r>
              <a:rPr sz="2400" spc="-15" dirty="0">
                <a:latin typeface="Carlito"/>
                <a:cs typeface="Carlito"/>
              </a:rPr>
              <a:t>Performing </a:t>
            </a:r>
            <a:r>
              <a:rPr sz="2400" spc="-10" dirty="0">
                <a:latin typeface="Carlito"/>
                <a:cs typeface="Carlito"/>
              </a:rPr>
              <a:t>operations </a:t>
            </a:r>
            <a:r>
              <a:rPr sz="2400" spc="-5" dirty="0">
                <a:latin typeface="Carlito"/>
                <a:cs typeface="Carlito"/>
              </a:rPr>
              <a:t>on </a:t>
            </a:r>
            <a:r>
              <a:rPr sz="2400" dirty="0">
                <a:latin typeface="Carlito"/>
                <a:cs typeface="Carlito"/>
              </a:rPr>
              <a:t>the</a:t>
            </a:r>
            <a:r>
              <a:rPr sz="2400" spc="-50" dirty="0">
                <a:latin typeface="Carlito"/>
                <a:cs typeface="Carlito"/>
              </a:rPr>
              <a:t> </a:t>
            </a:r>
            <a:r>
              <a:rPr sz="2400" spc="-15" dirty="0">
                <a:latin typeface="Carlito"/>
                <a:cs typeface="Carlito"/>
              </a:rPr>
              <a:t>data</a:t>
            </a:r>
            <a:endParaRPr sz="2400">
              <a:latin typeface="Carlito"/>
              <a:cs typeface="Carlito"/>
            </a:endParaRPr>
          </a:p>
          <a:p>
            <a:pPr marL="756285" lvl="1" indent="-287020">
              <a:lnSpc>
                <a:spcPct val="100000"/>
              </a:lnSpc>
              <a:spcBef>
                <a:spcPts val="580"/>
              </a:spcBef>
              <a:buFont typeface="Arial"/>
              <a:buChar char="–"/>
              <a:tabLst>
                <a:tab pos="756920" algn="l"/>
              </a:tabLst>
            </a:pPr>
            <a:r>
              <a:rPr sz="2400" spc="-5" dirty="0">
                <a:latin typeface="Carlito"/>
                <a:cs typeface="Carlito"/>
              </a:rPr>
              <a:t>Output: </a:t>
            </a:r>
            <a:r>
              <a:rPr sz="2400" spc="-10" dirty="0">
                <a:latin typeface="Carlito"/>
                <a:cs typeface="Carlito"/>
              </a:rPr>
              <a:t>Presenting </a:t>
            </a:r>
            <a:r>
              <a:rPr sz="2400" dirty="0">
                <a:latin typeface="Carlito"/>
                <a:cs typeface="Carlito"/>
              </a:rPr>
              <a:t>the</a:t>
            </a:r>
            <a:r>
              <a:rPr sz="2400" spc="-30" dirty="0">
                <a:latin typeface="Carlito"/>
                <a:cs typeface="Carlito"/>
              </a:rPr>
              <a:t> </a:t>
            </a:r>
            <a:r>
              <a:rPr sz="2400" spc="-5" dirty="0">
                <a:latin typeface="Carlito"/>
                <a:cs typeface="Carlito"/>
              </a:rPr>
              <a:t>results</a:t>
            </a:r>
            <a:endParaRPr sz="2400">
              <a:latin typeface="Carlito"/>
              <a:cs typeface="Carlito"/>
            </a:endParaRPr>
          </a:p>
          <a:p>
            <a:pPr marL="756285" lvl="1" indent="-287020">
              <a:lnSpc>
                <a:spcPct val="100000"/>
              </a:lnSpc>
              <a:spcBef>
                <a:spcPts val="575"/>
              </a:spcBef>
              <a:buFont typeface="Arial"/>
              <a:buChar char="–"/>
              <a:tabLst>
                <a:tab pos="756920" algn="l"/>
              </a:tabLst>
            </a:pPr>
            <a:r>
              <a:rPr sz="2400" spc="-15" dirty="0">
                <a:latin typeface="Carlito"/>
                <a:cs typeface="Carlito"/>
              </a:rPr>
              <a:t>Storage: </a:t>
            </a:r>
            <a:r>
              <a:rPr sz="2400" spc="-10" dirty="0">
                <a:latin typeface="Carlito"/>
                <a:cs typeface="Carlito"/>
              </a:rPr>
              <a:t>Saving </a:t>
            </a:r>
            <a:r>
              <a:rPr sz="2400" spc="-15" dirty="0">
                <a:latin typeface="Carlito"/>
                <a:cs typeface="Carlito"/>
              </a:rPr>
              <a:t>data, programs, </a:t>
            </a:r>
            <a:r>
              <a:rPr sz="2400" spc="-5" dirty="0">
                <a:latin typeface="Carlito"/>
                <a:cs typeface="Carlito"/>
              </a:rPr>
              <a:t>or </a:t>
            </a:r>
            <a:r>
              <a:rPr sz="2400" spc="-10" dirty="0">
                <a:latin typeface="Carlito"/>
                <a:cs typeface="Carlito"/>
              </a:rPr>
              <a:t>output </a:t>
            </a:r>
            <a:r>
              <a:rPr sz="2400" spc="-20" dirty="0">
                <a:latin typeface="Carlito"/>
                <a:cs typeface="Carlito"/>
              </a:rPr>
              <a:t>for </a:t>
            </a:r>
            <a:r>
              <a:rPr sz="2400" spc="-10">
                <a:latin typeface="Carlito"/>
                <a:cs typeface="Carlito"/>
              </a:rPr>
              <a:t>future</a:t>
            </a:r>
            <a:r>
              <a:rPr sz="2400" spc="-5">
                <a:latin typeface="Carlito"/>
                <a:cs typeface="Carlito"/>
              </a:rPr>
              <a:t> use</a:t>
            </a:r>
            <a:endParaRPr lang="en-US" sz="2400" spc="-5" dirty="0">
              <a:latin typeface="Carlito"/>
              <a:cs typeface="Carlito"/>
            </a:endParaRPr>
          </a:p>
          <a:p>
            <a:pPr marL="756285" lvl="1" indent="-287020">
              <a:lnSpc>
                <a:spcPct val="100000"/>
              </a:lnSpc>
              <a:spcBef>
                <a:spcPts val="575"/>
              </a:spcBef>
              <a:buFont typeface="Arial"/>
              <a:buChar char="–"/>
              <a:tabLst>
                <a:tab pos="756920" algn="l"/>
              </a:tabLst>
            </a:pPr>
            <a:r>
              <a:rPr sz="2400" spc="-5">
                <a:latin typeface="Carlito"/>
                <a:cs typeface="Carlito"/>
              </a:rPr>
              <a:t>Communications</a:t>
            </a:r>
            <a:r>
              <a:rPr sz="2400" spc="-5" dirty="0">
                <a:latin typeface="Carlito"/>
                <a:cs typeface="Carlito"/>
              </a:rPr>
              <a:t>: Sending </a:t>
            </a:r>
            <a:r>
              <a:rPr sz="2400" spc="-10" dirty="0">
                <a:latin typeface="Carlito"/>
                <a:cs typeface="Carlito"/>
              </a:rPr>
              <a:t>or </a:t>
            </a:r>
            <a:r>
              <a:rPr sz="2400" spc="-5" dirty="0">
                <a:latin typeface="Carlito"/>
                <a:cs typeface="Carlito"/>
              </a:rPr>
              <a:t>receiving</a:t>
            </a:r>
            <a:r>
              <a:rPr sz="2400" spc="-65" dirty="0">
                <a:latin typeface="Carlito"/>
                <a:cs typeface="Carlito"/>
              </a:rPr>
              <a:t> </a:t>
            </a:r>
            <a:r>
              <a:rPr sz="2400" spc="-15" dirty="0">
                <a:latin typeface="Carlito"/>
                <a:cs typeface="Carlito"/>
              </a:rPr>
              <a:t>data</a:t>
            </a:r>
            <a:endParaRPr sz="2400">
              <a:latin typeface="Carlito"/>
              <a:cs typeface="Carlito"/>
            </a:endParaRPr>
          </a:p>
        </p:txBody>
      </p:sp>
      <p:sp>
        <p:nvSpPr>
          <p:cNvPr id="6" name="Title 5"/>
          <p:cNvSpPr>
            <a:spLocks noGrp="1"/>
          </p:cNvSpPr>
          <p:nvPr>
            <p:ph type="title"/>
          </p:nvPr>
        </p:nvSpPr>
        <p:spPr/>
        <p:txBody>
          <a:bodyPr>
            <a:normAutofit fontScale="90000"/>
          </a:bodyPr>
          <a:lstStyle/>
          <a:p>
            <a:r>
              <a:rPr lang="en-US" dirty="0"/>
              <a:t>What is a Computer and What Does it Do?</a:t>
            </a:r>
            <a:endParaRPr lang="en-GB"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t>Communication Defined</a:t>
            </a:r>
          </a:p>
        </p:txBody>
      </p:sp>
      <p:sp>
        <p:nvSpPr>
          <p:cNvPr id="30723" name="Content Placeholder 2"/>
          <p:cNvSpPr>
            <a:spLocks noGrp="1"/>
          </p:cNvSpPr>
          <p:nvPr>
            <p:ph idx="1"/>
          </p:nvPr>
        </p:nvSpPr>
        <p:spPr>
          <a:xfrm>
            <a:off x="0" y="533400"/>
            <a:ext cx="9144000" cy="5257800"/>
          </a:xfrm>
        </p:spPr>
        <p:txBody>
          <a:bodyPr>
            <a:normAutofit fontScale="77500" lnSpcReduction="20000"/>
          </a:bodyPr>
          <a:lstStyle/>
          <a:p>
            <a:pPr lvl="1">
              <a:lnSpc>
                <a:spcPct val="150000"/>
              </a:lnSpc>
            </a:pPr>
            <a:endParaRPr lang="en-US" dirty="0"/>
          </a:p>
          <a:p>
            <a:pPr lvl="1">
              <a:lnSpc>
                <a:spcPct val="150000"/>
              </a:lnSpc>
            </a:pPr>
            <a:endParaRPr lang="en-US" dirty="0"/>
          </a:p>
          <a:p>
            <a:pPr lvl="1">
              <a:lnSpc>
                <a:spcPct val="150000"/>
              </a:lnSpc>
            </a:pPr>
            <a:r>
              <a:rPr lang="en-US" dirty="0"/>
              <a:t>Communication: To transfer data/information from one point to another</a:t>
            </a:r>
          </a:p>
          <a:p>
            <a:pPr lvl="2">
              <a:lnSpc>
                <a:spcPct val="150000"/>
              </a:lnSpc>
            </a:pPr>
            <a:r>
              <a:rPr lang="en-US" dirty="0"/>
              <a:t>Using Wires</a:t>
            </a:r>
          </a:p>
          <a:p>
            <a:pPr lvl="3">
              <a:lnSpc>
                <a:spcPct val="150000"/>
              </a:lnSpc>
            </a:pPr>
            <a:r>
              <a:rPr lang="en-US" dirty="0"/>
              <a:t>Electrical Signals</a:t>
            </a:r>
          </a:p>
          <a:p>
            <a:pPr lvl="3">
              <a:lnSpc>
                <a:spcPct val="150000"/>
              </a:lnSpc>
            </a:pPr>
            <a:r>
              <a:rPr lang="en-US" dirty="0"/>
              <a:t>Optical Signals (Light)</a:t>
            </a:r>
          </a:p>
          <a:p>
            <a:pPr lvl="2">
              <a:lnSpc>
                <a:spcPct val="150000"/>
              </a:lnSpc>
            </a:pPr>
            <a:r>
              <a:rPr lang="en-US" dirty="0"/>
              <a:t>Wirelessly</a:t>
            </a:r>
          </a:p>
          <a:p>
            <a:pPr lvl="3">
              <a:lnSpc>
                <a:spcPct val="150000"/>
              </a:lnSpc>
            </a:pPr>
            <a:r>
              <a:rPr lang="en-US" dirty="0" err="1"/>
              <a:t>ElectroMagnetic</a:t>
            </a:r>
            <a:r>
              <a:rPr lang="en-US" dirty="0"/>
              <a:t> Waves</a:t>
            </a:r>
          </a:p>
          <a:p>
            <a:pPr lvl="3">
              <a:lnSpc>
                <a:spcPct val="150000"/>
              </a:lnSpc>
            </a:pPr>
            <a:r>
              <a:rPr lang="en-US" dirty="0"/>
              <a:t>Acoustic Waves (Sound) ….?</a:t>
            </a:r>
          </a:p>
          <a:p>
            <a:pPr lvl="2">
              <a:lnSpc>
                <a:spcPct val="150000"/>
              </a:lnSpc>
            </a:pPr>
            <a:r>
              <a:rPr lang="en-US" dirty="0"/>
              <a:t>Using Analog Signals</a:t>
            </a:r>
          </a:p>
          <a:p>
            <a:pPr lvl="2">
              <a:lnSpc>
                <a:spcPct val="150000"/>
              </a:lnSpc>
            </a:pPr>
            <a:r>
              <a:rPr lang="en-US" dirty="0"/>
              <a:t>Using Digital Signals</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dirty="0"/>
              <a:t>Related IT terms</a:t>
            </a:r>
          </a:p>
        </p:txBody>
      </p:sp>
      <p:sp>
        <p:nvSpPr>
          <p:cNvPr id="31747" name="Content Placeholder 2"/>
          <p:cNvSpPr>
            <a:spLocks noGrp="1"/>
          </p:cNvSpPr>
          <p:nvPr>
            <p:ph idx="1"/>
          </p:nvPr>
        </p:nvSpPr>
        <p:spPr/>
        <p:txBody>
          <a:bodyPr>
            <a:normAutofit fontScale="92500" lnSpcReduction="20000"/>
          </a:bodyPr>
          <a:lstStyle/>
          <a:p>
            <a:pPr>
              <a:lnSpc>
                <a:spcPct val="150000"/>
              </a:lnSpc>
            </a:pPr>
            <a:r>
              <a:rPr lang="en-US"/>
              <a:t>What is a Network?</a:t>
            </a:r>
          </a:p>
          <a:p>
            <a:pPr lvl="1">
              <a:lnSpc>
                <a:spcPct val="150000"/>
              </a:lnSpc>
            </a:pPr>
            <a:r>
              <a:rPr lang="en-US"/>
              <a:t>communications system connecting two or more computers with/without wires</a:t>
            </a:r>
          </a:p>
          <a:p>
            <a:pPr>
              <a:lnSpc>
                <a:spcPct val="150000"/>
              </a:lnSpc>
            </a:pPr>
            <a:r>
              <a:rPr lang="en-US"/>
              <a:t>What does being online mean?</a:t>
            </a:r>
          </a:p>
          <a:p>
            <a:pPr lvl="1">
              <a:lnSpc>
                <a:spcPct val="150000"/>
              </a:lnSpc>
            </a:pPr>
            <a:r>
              <a:rPr lang="en-US"/>
              <a:t>using a computer or other information device, connected through a voice or data network, to access information and services from another computer or information device</a:t>
            </a:r>
          </a:p>
          <a:p>
            <a:pPr lvl="1"/>
            <a:endParaRPr lang="en-US"/>
          </a:p>
          <a:p>
            <a:endParaRPr 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rmAutofit/>
          </a:bodyPr>
          <a:lstStyle/>
          <a:p>
            <a:pPr>
              <a:defRPr/>
            </a:pPr>
            <a:r>
              <a:rPr lang="en-US" dirty="0"/>
              <a:t>Related IT terms</a:t>
            </a:r>
          </a:p>
        </p:txBody>
      </p:sp>
      <p:sp>
        <p:nvSpPr>
          <p:cNvPr id="3" name="Content Placeholder 2"/>
          <p:cNvSpPr>
            <a:spLocks noGrp="1"/>
          </p:cNvSpPr>
          <p:nvPr>
            <p:ph idx="1"/>
          </p:nvPr>
        </p:nvSpPr>
        <p:spPr>
          <a:xfrm>
            <a:off x="381000" y="838200"/>
            <a:ext cx="8229600" cy="5334000"/>
          </a:xfrm>
        </p:spPr>
        <p:txBody>
          <a:bodyPr>
            <a:normAutofit fontScale="55000" lnSpcReduction="20000"/>
          </a:bodyPr>
          <a:lstStyle/>
          <a:p>
            <a:pPr marL="0" indent="0">
              <a:lnSpc>
                <a:spcPct val="120000"/>
              </a:lnSpc>
              <a:tabLst>
                <a:tab pos="455613" algn="l"/>
              </a:tabLst>
              <a:defRPr/>
            </a:pPr>
            <a:endParaRPr lang="en-US" dirty="0"/>
          </a:p>
          <a:p>
            <a:pPr marL="0" indent="0">
              <a:lnSpc>
                <a:spcPct val="120000"/>
              </a:lnSpc>
              <a:tabLst>
                <a:tab pos="455613" algn="l"/>
              </a:tabLst>
              <a:defRPr/>
            </a:pPr>
            <a:endParaRPr lang="en-US" sz="4400" dirty="0"/>
          </a:p>
          <a:p>
            <a:pPr marL="0" indent="0">
              <a:lnSpc>
                <a:spcPct val="120000"/>
              </a:lnSpc>
              <a:tabLst>
                <a:tab pos="455613" algn="l"/>
              </a:tabLst>
              <a:defRPr/>
            </a:pPr>
            <a:r>
              <a:rPr lang="en-US" sz="4400" dirty="0"/>
              <a:t>Cyberspace</a:t>
            </a:r>
            <a:endParaRPr lang="en-US" sz="6000" dirty="0"/>
          </a:p>
          <a:p>
            <a:pPr marL="400050" lvl="1" indent="0">
              <a:lnSpc>
                <a:spcPct val="120000"/>
              </a:lnSpc>
              <a:tabLst>
                <a:tab pos="455613" algn="l"/>
              </a:tabLst>
              <a:defRPr/>
            </a:pPr>
            <a:r>
              <a:rPr lang="en-US" sz="4000" dirty="0"/>
              <a:t> encompasses the whole wired and wireless world of communications</a:t>
            </a:r>
          </a:p>
          <a:p>
            <a:pPr marL="0" indent="0">
              <a:lnSpc>
                <a:spcPct val="120000"/>
              </a:lnSpc>
              <a:tabLst>
                <a:tab pos="455613" algn="l"/>
              </a:tabLst>
              <a:defRPr/>
            </a:pPr>
            <a:r>
              <a:rPr lang="en-US" sz="6000" dirty="0"/>
              <a:t> </a:t>
            </a:r>
            <a:r>
              <a:rPr lang="en-US" sz="4400" dirty="0"/>
              <a:t>The Internet </a:t>
            </a:r>
            <a:endParaRPr lang="en-US" sz="6000" dirty="0"/>
          </a:p>
          <a:p>
            <a:pPr marL="400050" lvl="1" indent="0">
              <a:lnSpc>
                <a:spcPct val="120000"/>
              </a:lnSpc>
              <a:tabLst>
                <a:tab pos="455613" algn="l"/>
              </a:tabLst>
              <a:defRPr/>
            </a:pPr>
            <a:r>
              <a:rPr lang="en-US" sz="4000" dirty="0"/>
              <a:t>the “network of all networks”</a:t>
            </a:r>
          </a:p>
          <a:p>
            <a:pPr marL="0" indent="0">
              <a:lnSpc>
                <a:spcPct val="120000"/>
              </a:lnSpc>
              <a:tabLst>
                <a:tab pos="455613" algn="l"/>
              </a:tabLst>
              <a:defRPr/>
            </a:pPr>
            <a:r>
              <a:rPr lang="en-US" sz="4400" dirty="0"/>
              <a:t>Multimedia</a:t>
            </a:r>
          </a:p>
          <a:p>
            <a:pPr marL="400050" lvl="1" indent="0">
              <a:lnSpc>
                <a:spcPct val="120000"/>
              </a:lnSpc>
              <a:tabLst>
                <a:tab pos="455613" algn="l"/>
              </a:tabLst>
              <a:defRPr/>
            </a:pPr>
            <a:r>
              <a:rPr lang="en-US" sz="4000" dirty="0"/>
              <a:t>technology that presents information in more than one medium, such as text, still images, moving images, and sound</a:t>
            </a:r>
          </a:p>
          <a:p>
            <a:pPr marL="0" indent="0">
              <a:lnSpc>
                <a:spcPct val="120000"/>
              </a:lnSpc>
              <a:tabLst>
                <a:tab pos="455613" algn="l"/>
              </a:tabLst>
              <a:defRPr/>
            </a:pPr>
            <a:r>
              <a:rPr lang="en-US" sz="4400" dirty="0"/>
              <a:t>World Wide Web</a:t>
            </a:r>
          </a:p>
          <a:p>
            <a:pPr marL="400050" lvl="1" indent="0">
              <a:lnSpc>
                <a:spcPct val="120000"/>
              </a:lnSpc>
              <a:tabLst>
                <a:tab pos="455613" algn="l"/>
              </a:tabLst>
              <a:defRPr/>
            </a:pPr>
            <a:r>
              <a:rPr lang="en-US" sz="4000" dirty="0"/>
              <a:t>“graphical side of the Internet”</a:t>
            </a:r>
          </a:p>
          <a:p>
            <a:pPr marL="400050" lvl="1" indent="0">
              <a:lnSpc>
                <a:spcPct val="120000"/>
              </a:lnSpc>
              <a:tabLst>
                <a:tab pos="455613" algn="l"/>
              </a:tabLst>
              <a:defRPr/>
            </a:pPr>
            <a:r>
              <a:rPr lang="en-US" sz="4000" dirty="0"/>
              <a:t>global network of linked documents on the Internet</a:t>
            </a:r>
          </a:p>
          <a:p>
            <a:pPr>
              <a:defRPr/>
            </a:pPr>
            <a:endParaRPr lang="en-US" dirty="0"/>
          </a:p>
        </p:txBody>
      </p:sp>
      <p:pic>
        <p:nvPicPr>
          <p:cNvPr id="32772" name="Picture 8" descr="internet"/>
          <p:cNvPicPr>
            <a:picLocks noChangeAspect="1" noChangeArrowheads="1"/>
          </p:cNvPicPr>
          <p:nvPr/>
        </p:nvPicPr>
        <p:blipFill>
          <a:blip r:embed="rId2" cstate="print"/>
          <a:srcRect/>
          <a:stretch>
            <a:fillRect/>
          </a:stretch>
        </p:blipFill>
        <p:spPr bwMode="auto">
          <a:xfrm>
            <a:off x="6400800" y="0"/>
            <a:ext cx="2743200" cy="1408176"/>
          </a:xfrm>
          <a:prstGeom prst="rect">
            <a:avLst/>
          </a:prstGeom>
          <a:noFill/>
          <a:ln w="9525">
            <a:noFill/>
            <a:miter lim="800000"/>
            <a:headEnd/>
            <a:tailEnd/>
          </a:ln>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rmAutofit/>
          </a:bodyPr>
          <a:lstStyle/>
          <a:p>
            <a:pPr>
              <a:defRPr/>
            </a:pPr>
            <a:r>
              <a:rPr lang="en-US" dirty="0"/>
              <a:t>Related IT terms</a:t>
            </a:r>
          </a:p>
        </p:txBody>
      </p:sp>
      <p:sp>
        <p:nvSpPr>
          <p:cNvPr id="3" name="Content Placeholder 2"/>
          <p:cNvSpPr>
            <a:spLocks noGrp="1"/>
          </p:cNvSpPr>
          <p:nvPr>
            <p:ph idx="1"/>
          </p:nvPr>
        </p:nvSpPr>
        <p:spPr>
          <a:xfrm>
            <a:off x="457200" y="1066800"/>
            <a:ext cx="8229600" cy="4525963"/>
          </a:xfrm>
        </p:spPr>
        <p:txBody>
          <a:bodyPr>
            <a:normAutofit fontScale="92500" lnSpcReduction="20000"/>
          </a:bodyPr>
          <a:lstStyle/>
          <a:p>
            <a:pPr marL="0" indent="0">
              <a:lnSpc>
                <a:spcPct val="150000"/>
              </a:lnSpc>
              <a:buNone/>
              <a:tabLst>
                <a:tab pos="455613" algn="l"/>
              </a:tabLst>
              <a:defRPr/>
            </a:pPr>
            <a:r>
              <a:rPr lang="en-US" dirty="0"/>
              <a:t> </a:t>
            </a:r>
          </a:p>
          <a:p>
            <a:pPr marL="0" indent="0">
              <a:lnSpc>
                <a:spcPct val="150000"/>
              </a:lnSpc>
              <a:tabLst>
                <a:tab pos="455613" algn="l"/>
              </a:tabLst>
              <a:defRPr/>
            </a:pPr>
            <a:r>
              <a:rPr lang="en-US" dirty="0"/>
              <a:t>The E-word ; E Stands for Electronic</a:t>
            </a:r>
          </a:p>
          <a:p>
            <a:pPr marL="400050" lvl="1" indent="0">
              <a:lnSpc>
                <a:spcPct val="150000"/>
              </a:lnSpc>
              <a:tabLst>
                <a:tab pos="455613" algn="l"/>
              </a:tabLst>
              <a:defRPr/>
            </a:pPr>
            <a:r>
              <a:rPr lang="en-US" dirty="0"/>
              <a:t>E-mail</a:t>
            </a:r>
          </a:p>
          <a:p>
            <a:pPr marL="400050" lvl="1" indent="0">
              <a:lnSpc>
                <a:spcPct val="150000"/>
              </a:lnSpc>
              <a:tabLst>
                <a:tab pos="455613" algn="l"/>
              </a:tabLst>
              <a:defRPr/>
            </a:pPr>
            <a:r>
              <a:rPr lang="en-US" dirty="0"/>
              <a:t>E-learning</a:t>
            </a:r>
          </a:p>
          <a:p>
            <a:pPr marL="400050" lvl="1" indent="0">
              <a:lnSpc>
                <a:spcPct val="150000"/>
              </a:lnSpc>
              <a:tabLst>
                <a:tab pos="455613" algn="l"/>
              </a:tabLst>
              <a:defRPr/>
            </a:pPr>
            <a:r>
              <a:rPr lang="en-US" dirty="0"/>
              <a:t>E-business</a:t>
            </a:r>
          </a:p>
          <a:p>
            <a:pPr marL="400050" lvl="1" indent="0">
              <a:lnSpc>
                <a:spcPct val="150000"/>
              </a:lnSpc>
              <a:tabLst>
                <a:tab pos="455613" algn="l"/>
              </a:tabLst>
              <a:defRPr/>
            </a:pPr>
            <a:r>
              <a:rPr lang="en-US" dirty="0"/>
              <a:t>E-commerce</a:t>
            </a:r>
          </a:p>
          <a:p>
            <a:pPr marL="400050" lvl="1" indent="0">
              <a:lnSpc>
                <a:spcPct val="150000"/>
              </a:lnSpc>
              <a:tabLst>
                <a:tab pos="455613" algn="l"/>
              </a:tabLst>
              <a:defRPr/>
            </a:pPr>
            <a:r>
              <a:rPr lang="en-US" dirty="0"/>
              <a:t>E-government</a:t>
            </a:r>
          </a:p>
          <a:p>
            <a:pPr>
              <a:defRPr/>
            </a:pPr>
            <a:endParaRPr lang="en-US"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t>Exercise</a:t>
            </a:r>
          </a:p>
        </p:txBody>
      </p:sp>
      <p:sp>
        <p:nvSpPr>
          <p:cNvPr id="48131" name="Content Placeholder 2"/>
          <p:cNvSpPr>
            <a:spLocks noGrp="1"/>
          </p:cNvSpPr>
          <p:nvPr>
            <p:ph idx="1"/>
          </p:nvPr>
        </p:nvSpPr>
        <p:spPr/>
        <p:txBody>
          <a:bodyPr/>
          <a:lstStyle/>
          <a:p>
            <a:r>
              <a:rPr lang="en-US"/>
              <a:t>Generate a list of ways the computer/IT has impacted the world. </a:t>
            </a:r>
          </a:p>
          <a:p>
            <a:pPr lvl="1"/>
            <a:r>
              <a:rPr lang="en-US"/>
              <a:t>Include both positive changes and negative changes. </a:t>
            </a:r>
          </a:p>
          <a:p>
            <a:pPr lvl="1"/>
            <a:r>
              <a:rPr lang="en-US"/>
              <a:t>think creatively. </a:t>
            </a:r>
          </a:p>
          <a:p>
            <a:endParaRPr 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p:spPr>
        <p:txBody>
          <a:bodyPr/>
          <a:lstStyle/>
          <a:p>
            <a:r>
              <a:rPr lang="en-US" sz="5400" b="1"/>
              <a:t>Who Uses Computers?</a:t>
            </a:r>
          </a:p>
        </p:txBody>
      </p:sp>
      <p:sp>
        <p:nvSpPr>
          <p:cNvPr id="16387" name="Rectangle 3"/>
          <p:cNvSpPr>
            <a:spLocks noGrp="1" noChangeArrowheads="1"/>
          </p:cNvSpPr>
          <p:nvPr>
            <p:ph type="body" sz="half" idx="1"/>
          </p:nvPr>
        </p:nvSpPr>
        <p:spPr>
          <a:noFill/>
        </p:spPr>
        <p:txBody>
          <a:bodyPr/>
          <a:lstStyle/>
          <a:p>
            <a:r>
              <a:rPr lang="en-US" sz="4400">
                <a:solidFill>
                  <a:schemeClr val="accent2"/>
                </a:solidFill>
              </a:rPr>
              <a:t>Military</a:t>
            </a:r>
          </a:p>
          <a:p>
            <a:r>
              <a:rPr lang="en-US" sz="4400">
                <a:solidFill>
                  <a:schemeClr val="accent2"/>
                </a:solidFill>
              </a:rPr>
              <a:t>Doctors</a:t>
            </a:r>
          </a:p>
          <a:p>
            <a:r>
              <a:rPr lang="en-US" sz="4400">
                <a:solidFill>
                  <a:schemeClr val="accent2"/>
                </a:solidFill>
              </a:rPr>
              <a:t>Educators</a:t>
            </a:r>
          </a:p>
          <a:p>
            <a:r>
              <a:rPr lang="en-US" sz="4400">
                <a:solidFill>
                  <a:schemeClr val="accent2"/>
                </a:solidFill>
              </a:rPr>
              <a:t>Engineers</a:t>
            </a:r>
          </a:p>
          <a:p>
            <a:r>
              <a:rPr lang="en-US" sz="4400">
                <a:solidFill>
                  <a:schemeClr val="accent2"/>
                </a:solidFill>
              </a:rPr>
              <a:t>Architects</a:t>
            </a:r>
            <a:endParaRPr lang="en-US" sz="4400"/>
          </a:p>
        </p:txBody>
      </p:sp>
      <p:sp>
        <p:nvSpPr>
          <p:cNvPr id="16388" name="Rectangle 4"/>
          <p:cNvSpPr>
            <a:spLocks noGrp="1" noChangeArrowheads="1"/>
          </p:cNvSpPr>
          <p:nvPr>
            <p:ph type="body" sz="half" idx="2"/>
          </p:nvPr>
        </p:nvSpPr>
        <p:spPr>
          <a:noFill/>
        </p:spPr>
        <p:txBody>
          <a:bodyPr/>
          <a:lstStyle/>
          <a:p>
            <a:r>
              <a:rPr lang="en-US" sz="4400">
                <a:solidFill>
                  <a:schemeClr val="accent2"/>
                </a:solidFill>
              </a:rPr>
              <a:t>Musicians</a:t>
            </a:r>
          </a:p>
          <a:p>
            <a:r>
              <a:rPr lang="en-US" sz="4400">
                <a:solidFill>
                  <a:schemeClr val="accent2"/>
                </a:solidFill>
              </a:rPr>
              <a:t>Filmmakers</a:t>
            </a:r>
          </a:p>
          <a:p>
            <a:r>
              <a:rPr lang="en-US" sz="4400">
                <a:solidFill>
                  <a:schemeClr val="accent2"/>
                </a:solidFill>
              </a:rPr>
              <a:t>Attorneys</a:t>
            </a:r>
          </a:p>
          <a:p>
            <a:r>
              <a:rPr lang="en-US" sz="4400">
                <a:solidFill>
                  <a:schemeClr val="accent2"/>
                </a:solidFill>
              </a:rPr>
              <a:t>Bankers</a:t>
            </a:r>
          </a:p>
          <a:p>
            <a:r>
              <a:rPr lang="en-US" sz="4400">
                <a:solidFill>
                  <a:schemeClr val="accent2"/>
                </a:solidFill>
              </a:rPr>
              <a:t>Architects</a:t>
            </a:r>
            <a:endParaRPr lang="en-US" sz="44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t>Computers In Society</a:t>
            </a:r>
          </a:p>
        </p:txBody>
      </p:sp>
      <p:sp>
        <p:nvSpPr>
          <p:cNvPr id="50179" name="Rectangle 3"/>
          <p:cNvSpPr>
            <a:spLocks noGrp="1" noChangeArrowheads="1"/>
          </p:cNvSpPr>
          <p:nvPr>
            <p:ph idx="1"/>
          </p:nvPr>
        </p:nvSpPr>
        <p:spPr/>
        <p:txBody>
          <a:bodyPr/>
          <a:lstStyle/>
          <a:p>
            <a:r>
              <a:rPr lang="en-US"/>
              <a:t>Computers at home</a:t>
            </a:r>
          </a:p>
          <a:p>
            <a:pPr lvl="2"/>
            <a:r>
              <a:rPr lang="en-US"/>
              <a:t>Business</a:t>
            </a:r>
          </a:p>
          <a:p>
            <a:pPr lvl="2"/>
            <a:r>
              <a:rPr lang="en-US"/>
              <a:t>Entertainment</a:t>
            </a:r>
          </a:p>
          <a:p>
            <a:pPr lvl="2"/>
            <a:r>
              <a:rPr lang="en-US"/>
              <a:t>Communication</a:t>
            </a:r>
          </a:p>
          <a:p>
            <a:pPr lvl="2"/>
            <a:r>
              <a:rPr lang="en-US"/>
              <a:t>Education</a:t>
            </a:r>
          </a:p>
          <a:p>
            <a:pPr lvl="1">
              <a:buFontTx/>
              <a:buNone/>
            </a:pPr>
            <a:endParaRPr lang="en-US"/>
          </a:p>
          <a:p>
            <a:pPr lvl="1"/>
            <a:endParaRPr lang="en-US"/>
          </a:p>
          <a:p>
            <a:pPr lvl="1"/>
            <a:endParaRPr lang="en-US"/>
          </a:p>
        </p:txBody>
      </p:sp>
      <p:sp>
        <p:nvSpPr>
          <p:cNvPr id="50180" name="Slide Number Placeholder 3"/>
          <p:cNvSpPr>
            <a:spLocks noGrp="1"/>
          </p:cNvSpPr>
          <p:nvPr>
            <p:ph type="sldNum" sz="quarter" idx="12"/>
          </p:nvPr>
        </p:nvSpPr>
        <p:spPr>
          <a:noFill/>
        </p:spPr>
        <p:txBody>
          <a:bodyPr/>
          <a:lstStyle/>
          <a:p>
            <a:pPr fontAlgn="base">
              <a:spcBef>
                <a:spcPct val="0"/>
              </a:spcBef>
              <a:spcAft>
                <a:spcPct val="0"/>
              </a:spcAft>
            </a:pPr>
            <a:r>
              <a:rPr lang="en-US"/>
              <a:t>1A-</a:t>
            </a:r>
            <a:fld id="{F49BB5A0-F8AD-4B68-9D46-AC91847F150D}" type="slidenum">
              <a:rPr lang="en-US"/>
              <a:pPr fontAlgn="base">
                <a:spcBef>
                  <a:spcPct val="0"/>
                </a:spcBef>
                <a:spcAft>
                  <a:spcPct val="0"/>
                </a:spcAft>
              </a:pPr>
              <a:t>27</a:t>
            </a:fld>
            <a:endParaRPr lang="en-US"/>
          </a:p>
        </p:txBody>
      </p:sp>
      <p:pic>
        <p:nvPicPr>
          <p:cNvPr id="5" name="Picture 2" descr="E:\CHAP01\0101\IMAGES\010102P.JPG"/>
          <p:cNvPicPr>
            <a:picLocks noChangeAspect="1" noChangeArrowheads="1"/>
          </p:cNvPicPr>
          <p:nvPr/>
        </p:nvPicPr>
        <p:blipFill>
          <a:blip r:embed="rId3" cstate="print"/>
          <a:srcRect/>
          <a:stretch>
            <a:fillRect/>
          </a:stretch>
        </p:blipFill>
        <p:spPr bwMode="auto">
          <a:xfrm>
            <a:off x="6400800" y="2514600"/>
            <a:ext cx="2120900" cy="2120900"/>
          </a:xfrm>
          <a:prstGeom prst="rect">
            <a:avLst/>
          </a:prstGeom>
          <a:noFill/>
          <a:ln w="9525">
            <a:noFill/>
            <a:miter lim="800000"/>
            <a:headEnd/>
            <a:tailEnd/>
          </a:ln>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t>Computers In Society</a:t>
            </a:r>
          </a:p>
        </p:txBody>
      </p:sp>
      <p:sp>
        <p:nvSpPr>
          <p:cNvPr id="51203" name="Rectangle 3"/>
          <p:cNvSpPr>
            <a:spLocks noGrp="1" noChangeArrowheads="1"/>
          </p:cNvSpPr>
          <p:nvPr>
            <p:ph idx="1"/>
          </p:nvPr>
        </p:nvSpPr>
        <p:spPr/>
        <p:txBody>
          <a:bodyPr/>
          <a:lstStyle/>
          <a:p>
            <a:r>
              <a:rPr lang="en-US"/>
              <a:t>Computers in education</a:t>
            </a:r>
          </a:p>
          <a:p>
            <a:pPr lvl="1"/>
            <a:r>
              <a:rPr lang="en-US"/>
              <a:t>Computer literacy required at all levels</a:t>
            </a:r>
          </a:p>
          <a:p>
            <a:r>
              <a:rPr lang="en-US"/>
              <a:t>Computers in small business</a:t>
            </a:r>
          </a:p>
          <a:p>
            <a:pPr lvl="1"/>
            <a:r>
              <a:rPr lang="en-US"/>
              <a:t>Makes businesses more profitable</a:t>
            </a:r>
          </a:p>
          <a:p>
            <a:pPr lvl="1"/>
            <a:r>
              <a:rPr lang="en-US"/>
              <a:t>Allows owners to manage</a:t>
            </a:r>
          </a:p>
          <a:p>
            <a:r>
              <a:rPr lang="en-US"/>
              <a:t>Computers in industry</a:t>
            </a:r>
          </a:p>
          <a:p>
            <a:pPr lvl="1"/>
            <a:r>
              <a:rPr lang="en-US"/>
              <a:t>Computers are used to design products</a:t>
            </a:r>
          </a:p>
          <a:p>
            <a:pPr lvl="1"/>
            <a:r>
              <a:rPr lang="en-US"/>
              <a:t>Assembly lines are automated</a:t>
            </a:r>
          </a:p>
        </p:txBody>
      </p:sp>
      <p:sp>
        <p:nvSpPr>
          <p:cNvPr id="51204" name="Slide Number Placeholder 3"/>
          <p:cNvSpPr>
            <a:spLocks noGrp="1"/>
          </p:cNvSpPr>
          <p:nvPr>
            <p:ph type="sldNum" sz="quarter" idx="12"/>
          </p:nvPr>
        </p:nvSpPr>
        <p:spPr>
          <a:noFill/>
        </p:spPr>
        <p:txBody>
          <a:bodyPr/>
          <a:lstStyle/>
          <a:p>
            <a:pPr fontAlgn="base">
              <a:spcBef>
                <a:spcPct val="0"/>
              </a:spcBef>
              <a:spcAft>
                <a:spcPct val="0"/>
              </a:spcAft>
            </a:pPr>
            <a:r>
              <a:rPr lang="en-US"/>
              <a:t>1A-</a:t>
            </a:r>
            <a:fld id="{F7912975-8C26-4775-8CBE-B7E9FA37735B}" type="slidenum">
              <a:rPr lang="en-US"/>
              <a:pPr fontAlgn="base">
                <a:spcBef>
                  <a:spcPct val="0"/>
                </a:spcBef>
                <a:spcAft>
                  <a:spcPct val="0"/>
                </a:spcAft>
              </a:pPr>
              <a:t>28</a:t>
            </a:fld>
            <a:endParaRPr 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t>Computers In Society</a:t>
            </a:r>
          </a:p>
        </p:txBody>
      </p:sp>
      <p:sp>
        <p:nvSpPr>
          <p:cNvPr id="52227" name="Rectangle 3"/>
          <p:cNvSpPr>
            <a:spLocks noGrp="1" noChangeArrowheads="1"/>
          </p:cNvSpPr>
          <p:nvPr>
            <p:ph idx="1"/>
          </p:nvPr>
        </p:nvSpPr>
        <p:spPr/>
        <p:txBody>
          <a:bodyPr/>
          <a:lstStyle/>
          <a:p>
            <a:r>
              <a:rPr lang="en-US"/>
              <a:t>Computers in government</a:t>
            </a:r>
          </a:p>
          <a:p>
            <a:pPr lvl="1"/>
            <a:r>
              <a:rPr lang="en-US"/>
              <a:t>Necessary to track data for population</a:t>
            </a:r>
          </a:p>
          <a:p>
            <a:pPr lvl="2"/>
            <a:r>
              <a:rPr lang="en-US"/>
              <a:t>Police officers</a:t>
            </a:r>
          </a:p>
          <a:p>
            <a:pPr lvl="2"/>
            <a:r>
              <a:rPr lang="en-US"/>
              <a:t>Tax calculation and collection</a:t>
            </a:r>
          </a:p>
          <a:p>
            <a:pPr lvl="1"/>
            <a:r>
              <a:rPr lang="en-US"/>
              <a:t>Governments were the first computer users</a:t>
            </a:r>
          </a:p>
        </p:txBody>
      </p:sp>
      <p:sp>
        <p:nvSpPr>
          <p:cNvPr id="52228" name="Slide Number Placeholder 3"/>
          <p:cNvSpPr>
            <a:spLocks noGrp="1"/>
          </p:cNvSpPr>
          <p:nvPr>
            <p:ph type="sldNum" sz="quarter" idx="12"/>
          </p:nvPr>
        </p:nvSpPr>
        <p:spPr>
          <a:noFill/>
        </p:spPr>
        <p:txBody>
          <a:bodyPr/>
          <a:lstStyle/>
          <a:p>
            <a:pPr fontAlgn="base">
              <a:spcBef>
                <a:spcPct val="0"/>
              </a:spcBef>
              <a:spcAft>
                <a:spcPct val="0"/>
              </a:spcAft>
            </a:pPr>
            <a:r>
              <a:rPr lang="en-US"/>
              <a:t>1A-</a:t>
            </a:r>
            <a:fld id="{5DAA8417-282F-4915-B028-B52A5F7AE0EF}" type="slidenum">
              <a:rPr lang="en-US"/>
              <a:pPr fontAlgn="base">
                <a:spcBef>
                  <a:spcPct val="0"/>
                </a:spcBef>
                <a:spcAft>
                  <a:spcPct val="0"/>
                </a:spcAft>
              </a:pPr>
              <a:t>29</a:t>
            </a:fld>
            <a:endParaRPr 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382600"/>
            <a:ext cx="7239000" cy="843821"/>
          </a:xfrm>
          <a:prstGeom prst="rect">
            <a:avLst/>
          </a:prstGeom>
        </p:spPr>
        <p:txBody>
          <a:bodyPr vert="horz" wrap="square" lIns="0" tIns="12700" rIns="0" bIns="0" rtlCol="0">
            <a:spAutoFit/>
          </a:bodyPr>
          <a:lstStyle/>
          <a:p>
            <a:pPr marL="12700">
              <a:lnSpc>
                <a:spcPct val="100000"/>
              </a:lnSpc>
            </a:pPr>
            <a:r>
              <a:rPr lang="en-US" sz="5400" dirty="0"/>
              <a:t>Computers in the Home</a:t>
            </a: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30</a:t>
            </a:fld>
            <a:endParaRPr spc="-165" dirty="0"/>
          </a:p>
        </p:txBody>
      </p:sp>
      <p:sp>
        <p:nvSpPr>
          <p:cNvPr id="3" name="object 3"/>
          <p:cNvSpPr txBox="1"/>
          <p:nvPr/>
        </p:nvSpPr>
        <p:spPr>
          <a:xfrm>
            <a:off x="535940" y="1388110"/>
            <a:ext cx="5025390" cy="4305935"/>
          </a:xfrm>
          <a:prstGeom prst="rect">
            <a:avLst/>
          </a:prstGeom>
        </p:spPr>
        <p:txBody>
          <a:bodyPr vert="horz" wrap="square" lIns="0" tIns="122555" rIns="0" bIns="0" rtlCol="0">
            <a:spAutoFit/>
          </a:bodyPr>
          <a:lstStyle/>
          <a:p>
            <a:pPr marL="355600" indent="-343535">
              <a:lnSpc>
                <a:spcPct val="100000"/>
              </a:lnSpc>
              <a:spcBef>
                <a:spcPts val="965"/>
              </a:spcBef>
              <a:buFont typeface="Arial"/>
              <a:buChar char="•"/>
              <a:tabLst>
                <a:tab pos="355600" algn="l"/>
                <a:tab pos="356235" algn="l"/>
              </a:tabLst>
            </a:pPr>
            <a:r>
              <a:rPr sz="2400" spc="-10" dirty="0">
                <a:latin typeface="Carlito"/>
                <a:cs typeface="Carlito"/>
              </a:rPr>
              <a:t>Computers </a:t>
            </a:r>
            <a:r>
              <a:rPr sz="2400" spc="-5" dirty="0">
                <a:latin typeface="Carlito"/>
                <a:cs typeface="Carlito"/>
              </a:rPr>
              <a:t>used </a:t>
            </a:r>
            <a:r>
              <a:rPr sz="2400" spc="-20" dirty="0">
                <a:latin typeface="Carlito"/>
                <a:cs typeface="Carlito"/>
              </a:rPr>
              <a:t>for </a:t>
            </a:r>
            <a:r>
              <a:rPr sz="2400" dirty="0">
                <a:latin typeface="Carlito"/>
                <a:cs typeface="Carlito"/>
              </a:rPr>
              <a:t>a </a:t>
            </a:r>
            <a:r>
              <a:rPr sz="2400" spc="-10" dirty="0">
                <a:latin typeface="Carlito"/>
                <a:cs typeface="Carlito"/>
              </a:rPr>
              <a:t>variety </a:t>
            </a:r>
            <a:r>
              <a:rPr sz="2400" spc="-5" dirty="0">
                <a:latin typeface="Carlito"/>
                <a:cs typeface="Carlito"/>
              </a:rPr>
              <a:t>of</a:t>
            </a:r>
            <a:r>
              <a:rPr sz="2400" spc="-80" dirty="0">
                <a:latin typeface="Carlito"/>
                <a:cs typeface="Carlito"/>
              </a:rPr>
              <a:t> </a:t>
            </a:r>
            <a:r>
              <a:rPr sz="2400" spc="-10" dirty="0">
                <a:latin typeface="Carlito"/>
                <a:cs typeface="Carlito"/>
              </a:rPr>
              <a:t>tasks:</a:t>
            </a:r>
            <a:endParaRPr sz="2400">
              <a:latin typeface="Carlito"/>
              <a:cs typeface="Carlito"/>
            </a:endParaRPr>
          </a:p>
          <a:p>
            <a:pPr marL="756285" lvl="1" indent="-287020">
              <a:lnSpc>
                <a:spcPct val="100000"/>
              </a:lnSpc>
              <a:spcBef>
                <a:spcPts val="860"/>
              </a:spcBef>
              <a:buFont typeface="Arial"/>
              <a:buChar char="–"/>
              <a:tabLst>
                <a:tab pos="756920" algn="l"/>
              </a:tabLst>
            </a:pPr>
            <a:r>
              <a:rPr sz="2400" spc="-5" dirty="0">
                <a:latin typeface="Carlito"/>
                <a:cs typeface="Carlito"/>
              </a:rPr>
              <a:t>Looking up </a:t>
            </a:r>
            <a:r>
              <a:rPr sz="2400" spc="-10" dirty="0">
                <a:latin typeface="Carlito"/>
                <a:cs typeface="Carlito"/>
              </a:rPr>
              <a:t>information </a:t>
            </a:r>
            <a:r>
              <a:rPr sz="2400" dirty="0">
                <a:latin typeface="Carlito"/>
                <a:cs typeface="Carlito"/>
              </a:rPr>
              <a:t>and</a:t>
            </a:r>
            <a:r>
              <a:rPr sz="2400" spc="-70" dirty="0">
                <a:latin typeface="Carlito"/>
                <a:cs typeface="Carlito"/>
              </a:rPr>
              <a:t> </a:t>
            </a:r>
            <a:r>
              <a:rPr sz="2400" spc="-15" dirty="0">
                <a:latin typeface="Carlito"/>
                <a:cs typeface="Carlito"/>
              </a:rPr>
              <a:t>news</a:t>
            </a:r>
            <a:endParaRPr sz="2400">
              <a:latin typeface="Carlito"/>
              <a:cs typeface="Carlito"/>
            </a:endParaRPr>
          </a:p>
          <a:p>
            <a:pPr marL="756285" lvl="1" indent="-287020">
              <a:lnSpc>
                <a:spcPct val="100000"/>
              </a:lnSpc>
              <a:spcBef>
                <a:spcPts val="869"/>
              </a:spcBef>
              <a:buFont typeface="Arial"/>
              <a:buChar char="–"/>
              <a:tabLst>
                <a:tab pos="756920" algn="l"/>
              </a:tabLst>
            </a:pPr>
            <a:r>
              <a:rPr sz="2400" spc="-10" dirty="0">
                <a:latin typeface="Carlito"/>
                <a:cs typeface="Carlito"/>
              </a:rPr>
              <a:t>Exchanging</a:t>
            </a:r>
            <a:r>
              <a:rPr sz="2400" spc="-55" dirty="0">
                <a:latin typeface="Carlito"/>
                <a:cs typeface="Carlito"/>
              </a:rPr>
              <a:t> </a:t>
            </a:r>
            <a:r>
              <a:rPr sz="2400" dirty="0">
                <a:latin typeface="Carlito"/>
                <a:cs typeface="Carlito"/>
              </a:rPr>
              <a:t>e-mail</a:t>
            </a:r>
            <a:endParaRPr sz="2400">
              <a:latin typeface="Carlito"/>
              <a:cs typeface="Carlito"/>
            </a:endParaRPr>
          </a:p>
          <a:p>
            <a:pPr marL="756285" lvl="1" indent="-287020">
              <a:lnSpc>
                <a:spcPct val="100000"/>
              </a:lnSpc>
              <a:spcBef>
                <a:spcPts val="865"/>
              </a:spcBef>
              <a:buFont typeface="Arial"/>
              <a:buChar char="–"/>
              <a:tabLst>
                <a:tab pos="756920" algn="l"/>
              </a:tabLst>
            </a:pPr>
            <a:r>
              <a:rPr sz="2400" spc="-5" dirty="0">
                <a:latin typeface="Carlito"/>
                <a:cs typeface="Carlito"/>
              </a:rPr>
              <a:t>Shopping </a:t>
            </a:r>
            <a:r>
              <a:rPr sz="2400" dirty="0">
                <a:latin typeface="Carlito"/>
                <a:cs typeface="Carlito"/>
              </a:rPr>
              <a:t>and </a:t>
            </a:r>
            <a:r>
              <a:rPr sz="2400" spc="-10" dirty="0">
                <a:latin typeface="Carlito"/>
                <a:cs typeface="Carlito"/>
              </a:rPr>
              <a:t>paying</a:t>
            </a:r>
            <a:r>
              <a:rPr sz="2400" spc="-40" dirty="0">
                <a:latin typeface="Carlito"/>
                <a:cs typeface="Carlito"/>
              </a:rPr>
              <a:t> </a:t>
            </a:r>
            <a:r>
              <a:rPr sz="2400" spc="-5" dirty="0">
                <a:latin typeface="Carlito"/>
                <a:cs typeface="Carlito"/>
              </a:rPr>
              <a:t>bills</a:t>
            </a:r>
            <a:endParaRPr sz="2400">
              <a:latin typeface="Carlito"/>
              <a:cs typeface="Carlito"/>
            </a:endParaRPr>
          </a:p>
          <a:p>
            <a:pPr marL="756285" lvl="1" indent="-287020">
              <a:lnSpc>
                <a:spcPct val="100000"/>
              </a:lnSpc>
              <a:spcBef>
                <a:spcPts val="865"/>
              </a:spcBef>
              <a:buFont typeface="Arial"/>
              <a:buChar char="–"/>
              <a:tabLst>
                <a:tab pos="756920" algn="l"/>
              </a:tabLst>
            </a:pPr>
            <a:r>
              <a:rPr sz="2400" spc="-20" dirty="0">
                <a:latin typeface="Carlito"/>
                <a:cs typeface="Carlito"/>
              </a:rPr>
              <a:t>Watching </a:t>
            </a:r>
            <a:r>
              <a:rPr sz="2400" spc="-5" dirty="0">
                <a:latin typeface="Carlito"/>
                <a:cs typeface="Carlito"/>
              </a:rPr>
              <a:t>TV </a:t>
            </a:r>
            <a:r>
              <a:rPr sz="2400" dirty="0">
                <a:latin typeface="Carlito"/>
                <a:cs typeface="Carlito"/>
              </a:rPr>
              <a:t>and</a:t>
            </a:r>
            <a:r>
              <a:rPr sz="2400" spc="-20" dirty="0">
                <a:latin typeface="Carlito"/>
                <a:cs typeface="Carlito"/>
              </a:rPr>
              <a:t> </a:t>
            </a:r>
            <a:r>
              <a:rPr sz="2400" spc="-5" dirty="0">
                <a:latin typeface="Carlito"/>
                <a:cs typeface="Carlito"/>
              </a:rPr>
              <a:t>videos</a:t>
            </a:r>
            <a:endParaRPr sz="2400">
              <a:latin typeface="Carlito"/>
              <a:cs typeface="Carlito"/>
            </a:endParaRPr>
          </a:p>
          <a:p>
            <a:pPr marL="756285" lvl="1" indent="-287020">
              <a:lnSpc>
                <a:spcPct val="100000"/>
              </a:lnSpc>
              <a:spcBef>
                <a:spcPts val="865"/>
              </a:spcBef>
              <a:buFont typeface="Arial"/>
              <a:buChar char="–"/>
              <a:tabLst>
                <a:tab pos="756920" algn="l"/>
              </a:tabLst>
            </a:pPr>
            <a:r>
              <a:rPr sz="2400" spc="-5" dirty="0">
                <a:latin typeface="Carlito"/>
                <a:cs typeface="Carlito"/>
              </a:rPr>
              <a:t>Downloading </a:t>
            </a:r>
            <a:r>
              <a:rPr sz="2400" dirty="0">
                <a:latin typeface="Carlito"/>
                <a:cs typeface="Carlito"/>
              </a:rPr>
              <a:t>music and</a:t>
            </a:r>
            <a:r>
              <a:rPr sz="2400" spc="-50" dirty="0">
                <a:latin typeface="Carlito"/>
                <a:cs typeface="Carlito"/>
              </a:rPr>
              <a:t> </a:t>
            </a:r>
            <a:r>
              <a:rPr sz="2400" spc="-5" dirty="0">
                <a:latin typeface="Carlito"/>
                <a:cs typeface="Carlito"/>
              </a:rPr>
              <a:t>movies</a:t>
            </a:r>
            <a:endParaRPr sz="2400">
              <a:latin typeface="Carlito"/>
              <a:cs typeface="Carlito"/>
            </a:endParaRPr>
          </a:p>
          <a:p>
            <a:pPr marL="756285" lvl="1" indent="-287020">
              <a:lnSpc>
                <a:spcPct val="100000"/>
              </a:lnSpc>
              <a:spcBef>
                <a:spcPts val="860"/>
              </a:spcBef>
              <a:buFont typeface="Arial"/>
              <a:buChar char="–"/>
              <a:tabLst>
                <a:tab pos="756920" algn="l"/>
              </a:tabLst>
            </a:pPr>
            <a:r>
              <a:rPr sz="2400" spc="-10" dirty="0">
                <a:latin typeface="Carlito"/>
                <a:cs typeface="Carlito"/>
              </a:rPr>
              <a:t>Organizing digital</a:t>
            </a:r>
            <a:r>
              <a:rPr sz="2400" spc="-45" dirty="0">
                <a:latin typeface="Carlito"/>
                <a:cs typeface="Carlito"/>
              </a:rPr>
              <a:t> </a:t>
            </a:r>
            <a:r>
              <a:rPr sz="2400" spc="-10" dirty="0">
                <a:latin typeface="Carlito"/>
                <a:cs typeface="Carlito"/>
              </a:rPr>
              <a:t>photographs</a:t>
            </a:r>
            <a:endParaRPr sz="2400">
              <a:latin typeface="Carlito"/>
              <a:cs typeface="Carlito"/>
            </a:endParaRPr>
          </a:p>
          <a:p>
            <a:pPr marL="756285" lvl="1" indent="-287020">
              <a:lnSpc>
                <a:spcPct val="100000"/>
              </a:lnSpc>
              <a:spcBef>
                <a:spcPts val="869"/>
              </a:spcBef>
              <a:buFont typeface="Arial"/>
              <a:buChar char="–"/>
              <a:tabLst>
                <a:tab pos="756920" algn="l"/>
              </a:tabLst>
            </a:pPr>
            <a:r>
              <a:rPr sz="2400" spc="-10" dirty="0">
                <a:latin typeface="Carlito"/>
                <a:cs typeface="Carlito"/>
              </a:rPr>
              <a:t>Playing</a:t>
            </a:r>
            <a:r>
              <a:rPr sz="2400" spc="-30" dirty="0">
                <a:latin typeface="Carlito"/>
                <a:cs typeface="Carlito"/>
              </a:rPr>
              <a:t> </a:t>
            </a:r>
            <a:r>
              <a:rPr sz="2400" spc="-10" dirty="0">
                <a:latin typeface="Carlito"/>
                <a:cs typeface="Carlito"/>
              </a:rPr>
              <a:t>games</a:t>
            </a:r>
            <a:endParaRPr sz="2400">
              <a:latin typeface="Carlito"/>
              <a:cs typeface="Carlito"/>
            </a:endParaRPr>
          </a:p>
          <a:p>
            <a:pPr marL="756285" lvl="1" indent="-287020">
              <a:lnSpc>
                <a:spcPct val="100000"/>
              </a:lnSpc>
              <a:spcBef>
                <a:spcPts val="860"/>
              </a:spcBef>
              <a:buFont typeface="Arial"/>
              <a:buChar char="–"/>
              <a:tabLst>
                <a:tab pos="756920" algn="l"/>
              </a:tabLst>
            </a:pPr>
            <a:r>
              <a:rPr sz="2400" dirty="0">
                <a:latin typeface="Carlito"/>
                <a:cs typeface="Carlito"/>
              </a:rPr>
              <a:t>Making </a:t>
            </a:r>
            <a:r>
              <a:rPr sz="2400" spc="-15" dirty="0">
                <a:latin typeface="Carlito"/>
                <a:cs typeface="Carlito"/>
              </a:rPr>
              <a:t>vacation</a:t>
            </a:r>
            <a:r>
              <a:rPr sz="2400" spc="-35" dirty="0">
                <a:latin typeface="Carlito"/>
                <a:cs typeface="Carlito"/>
              </a:rPr>
              <a:t> </a:t>
            </a:r>
            <a:r>
              <a:rPr sz="2400" spc="-5" dirty="0">
                <a:latin typeface="Carlito"/>
                <a:cs typeface="Carlito"/>
              </a:rPr>
              <a:t>plans</a:t>
            </a:r>
            <a:endParaRPr sz="2400">
              <a:latin typeface="Carlito"/>
              <a:cs typeface="Carlit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31</a:t>
            </a:fld>
            <a:endParaRPr spc="-165" dirty="0"/>
          </a:p>
        </p:txBody>
      </p:sp>
      <p:sp>
        <p:nvSpPr>
          <p:cNvPr id="3" name="object 3"/>
          <p:cNvSpPr txBox="1"/>
          <p:nvPr/>
        </p:nvSpPr>
        <p:spPr>
          <a:xfrm>
            <a:off x="535940" y="1461262"/>
            <a:ext cx="7762875" cy="3757295"/>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5" dirty="0">
                <a:latin typeface="Carlito"/>
                <a:cs typeface="Carlito"/>
              </a:rPr>
              <a:t>Used </a:t>
            </a:r>
            <a:r>
              <a:rPr sz="2400" spc="-20" dirty="0">
                <a:latin typeface="Carlito"/>
                <a:cs typeface="Carlito"/>
              </a:rPr>
              <a:t>for </a:t>
            </a:r>
            <a:r>
              <a:rPr sz="2400" spc="-15" dirty="0">
                <a:latin typeface="Carlito"/>
                <a:cs typeface="Carlito"/>
              </a:rPr>
              <a:t>reference, </a:t>
            </a:r>
            <a:r>
              <a:rPr sz="2400" spc="-20" dirty="0">
                <a:latin typeface="Carlito"/>
                <a:cs typeface="Carlito"/>
              </a:rPr>
              <a:t>productivity, </a:t>
            </a:r>
            <a:r>
              <a:rPr sz="2400" dirty="0">
                <a:latin typeface="Carlito"/>
                <a:cs typeface="Carlito"/>
              </a:rPr>
              <a:t>and</a:t>
            </a:r>
            <a:r>
              <a:rPr sz="2400" spc="15" dirty="0">
                <a:latin typeface="Carlito"/>
                <a:cs typeface="Carlito"/>
              </a:rPr>
              <a:t> </a:t>
            </a:r>
            <a:r>
              <a:rPr sz="2400" spc="-10" dirty="0">
                <a:latin typeface="Carlito"/>
                <a:cs typeface="Carlito"/>
              </a:rPr>
              <a:t>entertainment</a:t>
            </a:r>
            <a:endParaRPr sz="2400">
              <a:latin typeface="Carlito"/>
              <a:cs typeface="Carlito"/>
            </a:endParaRPr>
          </a:p>
          <a:p>
            <a:pPr marL="355600" indent="-343535">
              <a:lnSpc>
                <a:spcPct val="100000"/>
              </a:lnSpc>
              <a:spcBef>
                <a:spcPts val="575"/>
              </a:spcBef>
              <a:buFont typeface="Arial"/>
              <a:buChar char="•"/>
              <a:tabLst>
                <a:tab pos="355600" algn="l"/>
                <a:tab pos="356235" algn="l"/>
              </a:tabLst>
            </a:pPr>
            <a:r>
              <a:rPr sz="2400" spc="-5" dirty="0">
                <a:latin typeface="Carlito"/>
                <a:cs typeface="Carlito"/>
              </a:rPr>
              <a:t>Wireless</a:t>
            </a:r>
            <a:r>
              <a:rPr sz="2400" spc="-25" dirty="0">
                <a:latin typeface="Carlito"/>
                <a:cs typeface="Carlito"/>
              </a:rPr>
              <a:t> </a:t>
            </a:r>
            <a:r>
              <a:rPr sz="2400" spc="-10" dirty="0">
                <a:latin typeface="Carlito"/>
                <a:cs typeface="Carlito"/>
              </a:rPr>
              <a:t>networking</a:t>
            </a:r>
            <a:endParaRPr sz="2400">
              <a:latin typeface="Carlito"/>
              <a:cs typeface="Carlito"/>
            </a:endParaRPr>
          </a:p>
          <a:p>
            <a:pPr marL="756285" lvl="1" indent="-287020">
              <a:lnSpc>
                <a:spcPct val="100000"/>
              </a:lnSpc>
              <a:spcBef>
                <a:spcPts val="580"/>
              </a:spcBef>
              <a:buFont typeface="Arial"/>
              <a:buChar char="–"/>
              <a:tabLst>
                <a:tab pos="756920" algn="l"/>
              </a:tabLst>
            </a:pPr>
            <a:r>
              <a:rPr sz="2400" spc="-10" dirty="0">
                <a:latin typeface="Carlito"/>
                <a:cs typeface="Carlito"/>
              </a:rPr>
              <a:t>Computers can </a:t>
            </a:r>
            <a:r>
              <a:rPr sz="2400" spc="-5" dirty="0">
                <a:latin typeface="Carlito"/>
                <a:cs typeface="Carlito"/>
              </a:rPr>
              <a:t>be used </a:t>
            </a:r>
            <a:r>
              <a:rPr sz="2400" dirty="0">
                <a:latin typeface="Carlito"/>
                <a:cs typeface="Carlito"/>
              </a:rPr>
              <a:t>in </a:t>
            </a:r>
            <a:r>
              <a:rPr sz="2400" spc="-5" dirty="0">
                <a:latin typeface="Carlito"/>
                <a:cs typeface="Carlito"/>
              </a:rPr>
              <a:t>nearly </a:t>
            </a:r>
            <a:r>
              <a:rPr sz="2400" spc="-20" dirty="0">
                <a:latin typeface="Carlito"/>
                <a:cs typeface="Carlito"/>
              </a:rPr>
              <a:t>any</a:t>
            </a:r>
            <a:r>
              <a:rPr sz="2400" spc="-40" dirty="0">
                <a:latin typeface="Carlito"/>
                <a:cs typeface="Carlito"/>
              </a:rPr>
              <a:t> </a:t>
            </a:r>
            <a:r>
              <a:rPr sz="2400" spc="-10" dirty="0">
                <a:latin typeface="Carlito"/>
                <a:cs typeface="Carlito"/>
              </a:rPr>
              <a:t>location</a:t>
            </a:r>
            <a:endParaRPr sz="2400">
              <a:latin typeface="Carlito"/>
              <a:cs typeface="Carlito"/>
            </a:endParaRPr>
          </a:p>
          <a:p>
            <a:pPr marL="355600" indent="-343535">
              <a:lnSpc>
                <a:spcPct val="100000"/>
              </a:lnSpc>
              <a:spcBef>
                <a:spcPts val="575"/>
              </a:spcBef>
              <a:buFont typeface="Arial"/>
              <a:buChar char="•"/>
              <a:tabLst>
                <a:tab pos="355600" algn="l"/>
                <a:tab pos="356235" algn="l"/>
              </a:tabLst>
            </a:pPr>
            <a:r>
              <a:rPr sz="2400" spc="-5" dirty="0">
                <a:latin typeface="Carlito"/>
                <a:cs typeface="Carlito"/>
              </a:rPr>
              <a:t>Smart</a:t>
            </a:r>
            <a:r>
              <a:rPr sz="2400" spc="-40" dirty="0">
                <a:latin typeface="Carlito"/>
                <a:cs typeface="Carlito"/>
              </a:rPr>
              <a:t> </a:t>
            </a:r>
            <a:r>
              <a:rPr sz="2400" dirty="0">
                <a:latin typeface="Carlito"/>
                <a:cs typeface="Carlito"/>
              </a:rPr>
              <a:t>appliances</a:t>
            </a:r>
            <a:endParaRPr sz="2400">
              <a:latin typeface="Carlito"/>
              <a:cs typeface="Carlito"/>
            </a:endParaRPr>
          </a:p>
          <a:p>
            <a:pPr marL="756285" marR="1120140" lvl="1" indent="-287020">
              <a:lnSpc>
                <a:spcPct val="100000"/>
              </a:lnSpc>
              <a:spcBef>
                <a:spcPts val="575"/>
              </a:spcBef>
              <a:buFont typeface="Arial"/>
              <a:buChar char="–"/>
              <a:tabLst>
                <a:tab pos="756920" algn="l"/>
              </a:tabLst>
            </a:pPr>
            <a:r>
              <a:rPr sz="2400" spc="-20" dirty="0">
                <a:latin typeface="Carlito"/>
                <a:cs typeface="Carlito"/>
              </a:rPr>
              <a:t>Traditional </a:t>
            </a:r>
            <a:r>
              <a:rPr sz="2400" dirty="0">
                <a:latin typeface="Carlito"/>
                <a:cs typeface="Carlito"/>
              </a:rPr>
              <a:t>appliances with </a:t>
            </a:r>
            <a:r>
              <a:rPr sz="2400" spc="-5" dirty="0">
                <a:latin typeface="Carlito"/>
                <a:cs typeface="Carlito"/>
              </a:rPr>
              <a:t>built-in </a:t>
            </a:r>
            <a:r>
              <a:rPr sz="2400" spc="-10" dirty="0">
                <a:latin typeface="Carlito"/>
                <a:cs typeface="Carlito"/>
              </a:rPr>
              <a:t>computer </a:t>
            </a:r>
            <a:r>
              <a:rPr sz="2400" spc="-5" dirty="0">
                <a:latin typeface="Carlito"/>
                <a:cs typeface="Carlito"/>
              </a:rPr>
              <a:t>or  </a:t>
            </a:r>
            <a:r>
              <a:rPr sz="2400" spc="-10" dirty="0">
                <a:latin typeface="Carlito"/>
                <a:cs typeface="Carlito"/>
              </a:rPr>
              <a:t>communication</a:t>
            </a:r>
            <a:r>
              <a:rPr sz="2400" spc="-50" dirty="0">
                <a:latin typeface="Carlito"/>
                <a:cs typeface="Carlito"/>
              </a:rPr>
              <a:t> </a:t>
            </a:r>
            <a:r>
              <a:rPr sz="2400" spc="-10" dirty="0">
                <a:latin typeface="Carlito"/>
                <a:cs typeface="Carlito"/>
              </a:rPr>
              <a:t>technology</a:t>
            </a:r>
            <a:endParaRPr sz="2400">
              <a:latin typeface="Carlito"/>
              <a:cs typeface="Carlito"/>
            </a:endParaRPr>
          </a:p>
          <a:p>
            <a:pPr marL="355600" indent="-343535">
              <a:lnSpc>
                <a:spcPct val="100000"/>
              </a:lnSpc>
              <a:spcBef>
                <a:spcPts val="580"/>
              </a:spcBef>
              <a:buFont typeface="Arial"/>
              <a:buChar char="•"/>
              <a:tabLst>
                <a:tab pos="355600" algn="l"/>
                <a:tab pos="356235" algn="l"/>
              </a:tabLst>
            </a:pPr>
            <a:r>
              <a:rPr sz="2400" spc="-5" dirty="0">
                <a:latin typeface="Carlito"/>
                <a:cs typeface="Carlito"/>
              </a:rPr>
              <a:t>Smart</a:t>
            </a:r>
            <a:r>
              <a:rPr sz="2400" spc="-40" dirty="0">
                <a:latin typeface="Carlito"/>
                <a:cs typeface="Carlito"/>
              </a:rPr>
              <a:t> </a:t>
            </a:r>
            <a:r>
              <a:rPr sz="2400" spc="-5" dirty="0">
                <a:latin typeface="Carlito"/>
                <a:cs typeface="Carlito"/>
              </a:rPr>
              <a:t>homes</a:t>
            </a:r>
            <a:endParaRPr sz="2400">
              <a:latin typeface="Carlito"/>
              <a:cs typeface="Carlito"/>
            </a:endParaRPr>
          </a:p>
          <a:p>
            <a:pPr marL="756285" marR="5080" lvl="1" indent="-287020">
              <a:lnSpc>
                <a:spcPts val="2600"/>
              </a:lnSpc>
              <a:spcBef>
                <a:spcPts val="605"/>
              </a:spcBef>
              <a:buFont typeface="Arial"/>
              <a:buChar char="–"/>
              <a:tabLst>
                <a:tab pos="756920" algn="l"/>
              </a:tabLst>
            </a:pPr>
            <a:r>
              <a:rPr sz="2400" spc="-5" dirty="0">
                <a:latin typeface="Carlito"/>
                <a:cs typeface="Carlito"/>
              </a:rPr>
              <a:t>Household </a:t>
            </a:r>
            <a:r>
              <a:rPr sz="2400" spc="-15" dirty="0">
                <a:latin typeface="Carlito"/>
                <a:cs typeface="Carlito"/>
              </a:rPr>
              <a:t>tasks are </a:t>
            </a:r>
            <a:r>
              <a:rPr sz="2400" spc="-10" dirty="0">
                <a:latin typeface="Carlito"/>
                <a:cs typeface="Carlito"/>
              </a:rPr>
              <a:t>monitored </a:t>
            </a:r>
            <a:r>
              <a:rPr sz="2400" dirty="0">
                <a:latin typeface="Carlito"/>
                <a:cs typeface="Carlito"/>
              </a:rPr>
              <a:t>and </a:t>
            </a:r>
            <a:r>
              <a:rPr sz="2400" spc="-15" dirty="0">
                <a:latin typeface="Carlito"/>
                <a:cs typeface="Carlito"/>
              </a:rPr>
              <a:t>controlled </a:t>
            </a:r>
            <a:r>
              <a:rPr sz="2400" spc="-10" dirty="0">
                <a:latin typeface="Carlito"/>
                <a:cs typeface="Carlito"/>
              </a:rPr>
              <a:t>by </a:t>
            </a:r>
            <a:r>
              <a:rPr sz="2400" dirty="0">
                <a:latin typeface="Carlito"/>
                <a:cs typeface="Carlito"/>
              </a:rPr>
              <a:t>a main  </a:t>
            </a:r>
            <a:r>
              <a:rPr sz="2400" spc="-10" dirty="0">
                <a:latin typeface="Carlito"/>
                <a:cs typeface="Carlito"/>
              </a:rPr>
              <a:t>computer </a:t>
            </a:r>
            <a:r>
              <a:rPr sz="2400" dirty="0">
                <a:latin typeface="Carlito"/>
                <a:cs typeface="Carlito"/>
              </a:rPr>
              <a:t>in the</a:t>
            </a:r>
            <a:r>
              <a:rPr sz="2400" spc="-30" dirty="0">
                <a:latin typeface="Carlito"/>
                <a:cs typeface="Carlito"/>
              </a:rPr>
              <a:t> </a:t>
            </a:r>
            <a:r>
              <a:rPr sz="2400" spc="-5" dirty="0">
                <a:latin typeface="Carlito"/>
                <a:cs typeface="Carlito"/>
              </a:rPr>
              <a:t>house</a:t>
            </a:r>
            <a:endParaRPr sz="2400">
              <a:latin typeface="Carlito"/>
              <a:cs typeface="Carlito"/>
            </a:endParaRPr>
          </a:p>
        </p:txBody>
      </p:sp>
      <p:sp>
        <p:nvSpPr>
          <p:cNvPr id="6" name="Title 5"/>
          <p:cNvSpPr>
            <a:spLocks noGrp="1"/>
          </p:cNvSpPr>
          <p:nvPr>
            <p:ph type="title"/>
          </p:nvPr>
        </p:nvSpPr>
        <p:spPr/>
        <p:txBody>
          <a:bodyPr/>
          <a:lstStyle/>
          <a:p>
            <a:r>
              <a:rPr lang="en-US" sz="4800" dirty="0"/>
              <a:t>Computers in the Home</a:t>
            </a:r>
            <a:endParaRPr lang="en-GB"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32</a:t>
            </a:fld>
            <a:endParaRPr spc="-165" dirty="0"/>
          </a:p>
        </p:txBody>
      </p:sp>
      <p:sp>
        <p:nvSpPr>
          <p:cNvPr id="3" name="object 3"/>
          <p:cNvSpPr txBox="1"/>
          <p:nvPr/>
        </p:nvSpPr>
        <p:spPr>
          <a:xfrm>
            <a:off x="535940" y="1469795"/>
            <a:ext cx="7700009" cy="4385310"/>
          </a:xfrm>
          <a:prstGeom prst="rect">
            <a:avLst/>
          </a:prstGeom>
        </p:spPr>
        <p:txBody>
          <a:bodyPr vert="horz" wrap="square" lIns="0" tIns="79375" rIns="0" bIns="0" rtlCol="0">
            <a:spAutoFit/>
          </a:bodyPr>
          <a:lstStyle/>
          <a:p>
            <a:pPr marL="355600" indent="-343535">
              <a:lnSpc>
                <a:spcPct val="100000"/>
              </a:lnSpc>
              <a:spcBef>
                <a:spcPts val="625"/>
              </a:spcBef>
              <a:buFont typeface="Arial"/>
              <a:buChar char="•"/>
              <a:tabLst>
                <a:tab pos="355600" algn="l"/>
                <a:tab pos="356235" algn="l"/>
              </a:tabLst>
            </a:pPr>
            <a:r>
              <a:rPr sz="2200" spc="-40" dirty="0">
                <a:latin typeface="Carlito"/>
                <a:cs typeface="Carlito"/>
              </a:rPr>
              <a:t>Youth </a:t>
            </a:r>
            <a:r>
              <a:rPr sz="2200" spc="-15" dirty="0">
                <a:latin typeface="Carlito"/>
                <a:cs typeface="Carlito"/>
              </a:rPr>
              <a:t>today: </a:t>
            </a:r>
            <a:r>
              <a:rPr sz="2200" spc="-10" dirty="0">
                <a:latin typeface="Carlito"/>
                <a:cs typeface="Carlito"/>
              </a:rPr>
              <a:t>the computing</a:t>
            </a:r>
            <a:r>
              <a:rPr sz="2200" spc="75" dirty="0">
                <a:latin typeface="Carlito"/>
                <a:cs typeface="Carlito"/>
              </a:rPr>
              <a:t> </a:t>
            </a:r>
            <a:r>
              <a:rPr sz="2200" spc="-15" dirty="0">
                <a:latin typeface="Carlito"/>
                <a:cs typeface="Carlito"/>
              </a:rPr>
              <a:t>generation</a:t>
            </a:r>
            <a:endParaRPr sz="2200">
              <a:latin typeface="Carlito"/>
              <a:cs typeface="Carlito"/>
            </a:endParaRPr>
          </a:p>
          <a:p>
            <a:pPr marL="355600" indent="-343535">
              <a:lnSpc>
                <a:spcPct val="100000"/>
              </a:lnSpc>
              <a:spcBef>
                <a:spcPts val="530"/>
              </a:spcBef>
              <a:buFont typeface="Arial"/>
              <a:buChar char="•"/>
              <a:tabLst>
                <a:tab pos="355600" algn="l"/>
                <a:tab pos="356235" algn="l"/>
              </a:tabLst>
            </a:pPr>
            <a:r>
              <a:rPr sz="2200" spc="-10" dirty="0">
                <a:latin typeface="Carlito"/>
                <a:cs typeface="Carlito"/>
              </a:rPr>
              <a:t>Computer </a:t>
            </a:r>
            <a:r>
              <a:rPr sz="2200" spc="-5" dirty="0">
                <a:latin typeface="Carlito"/>
                <a:cs typeface="Carlito"/>
              </a:rPr>
              <a:t>labs and </a:t>
            </a:r>
            <a:r>
              <a:rPr sz="2200" spc="-10" dirty="0">
                <a:latin typeface="Carlito"/>
                <a:cs typeface="Carlito"/>
              </a:rPr>
              <a:t>classrooms</a:t>
            </a:r>
            <a:endParaRPr sz="2200">
              <a:latin typeface="Carlito"/>
              <a:cs typeface="Carlito"/>
            </a:endParaRPr>
          </a:p>
          <a:p>
            <a:pPr marL="756285" lvl="1" indent="-287020">
              <a:lnSpc>
                <a:spcPct val="100000"/>
              </a:lnSpc>
              <a:spcBef>
                <a:spcPts val="530"/>
              </a:spcBef>
              <a:buFont typeface="Arial"/>
              <a:buChar char="–"/>
              <a:tabLst>
                <a:tab pos="756285" algn="l"/>
                <a:tab pos="756920" algn="l"/>
              </a:tabLst>
            </a:pPr>
            <a:r>
              <a:rPr sz="2200" spc="-10" dirty="0">
                <a:latin typeface="Carlito"/>
                <a:cs typeface="Carlito"/>
              </a:rPr>
              <a:t>Most </a:t>
            </a:r>
            <a:r>
              <a:rPr sz="2200" spc="-15" dirty="0">
                <a:latin typeface="Carlito"/>
                <a:cs typeface="Carlito"/>
              </a:rPr>
              <a:t>students </a:t>
            </a:r>
            <a:r>
              <a:rPr sz="2200" spc="-20" dirty="0">
                <a:latin typeface="Carlito"/>
                <a:cs typeface="Carlito"/>
              </a:rPr>
              <a:t>today have </a:t>
            </a:r>
            <a:r>
              <a:rPr sz="2200" spc="-5" dirty="0">
                <a:latin typeface="Carlito"/>
                <a:cs typeface="Carlito"/>
              </a:rPr>
              <a:t>access </a:t>
            </a:r>
            <a:r>
              <a:rPr sz="2200" spc="-20" dirty="0">
                <a:latin typeface="Carlito"/>
                <a:cs typeface="Carlito"/>
              </a:rPr>
              <a:t>to computers </a:t>
            </a:r>
            <a:r>
              <a:rPr sz="2200" spc="-15" dirty="0">
                <a:latin typeface="Carlito"/>
                <a:cs typeface="Carlito"/>
              </a:rPr>
              <a:t>at</a:t>
            </a:r>
            <a:r>
              <a:rPr sz="2200" spc="160" dirty="0">
                <a:latin typeface="Carlito"/>
                <a:cs typeface="Carlito"/>
              </a:rPr>
              <a:t> </a:t>
            </a:r>
            <a:r>
              <a:rPr sz="2200" spc="-5" dirty="0">
                <a:latin typeface="Carlito"/>
                <a:cs typeface="Carlito"/>
              </a:rPr>
              <a:t>school</a:t>
            </a:r>
            <a:endParaRPr sz="2200">
              <a:latin typeface="Carlito"/>
              <a:cs typeface="Carlito"/>
            </a:endParaRPr>
          </a:p>
          <a:p>
            <a:pPr marL="756285" lvl="1" indent="-287020">
              <a:lnSpc>
                <a:spcPct val="100000"/>
              </a:lnSpc>
              <a:spcBef>
                <a:spcPts val="530"/>
              </a:spcBef>
              <a:buFont typeface="Arial"/>
              <a:buChar char="–"/>
              <a:tabLst>
                <a:tab pos="756285" algn="l"/>
                <a:tab pos="756920" algn="l"/>
              </a:tabLst>
            </a:pPr>
            <a:r>
              <a:rPr sz="2200" spc="-5" dirty="0">
                <a:latin typeface="Carlito"/>
                <a:cs typeface="Carlito"/>
              </a:rPr>
              <a:t>Some schools </a:t>
            </a:r>
            <a:r>
              <a:rPr sz="2200" spc="-20" dirty="0">
                <a:latin typeface="Carlito"/>
                <a:cs typeface="Carlito"/>
              </a:rPr>
              <a:t>integrate </a:t>
            </a:r>
            <a:r>
              <a:rPr sz="2200" spc="-10" dirty="0">
                <a:latin typeface="Carlito"/>
                <a:cs typeface="Carlito"/>
              </a:rPr>
              <a:t>e-books </a:t>
            </a:r>
            <a:r>
              <a:rPr sz="2200" spc="-20" dirty="0">
                <a:latin typeface="Carlito"/>
                <a:cs typeface="Carlito"/>
              </a:rPr>
              <a:t>into </a:t>
            </a:r>
            <a:r>
              <a:rPr sz="2200" spc="-5" dirty="0">
                <a:latin typeface="Carlito"/>
                <a:cs typeface="Carlito"/>
              </a:rPr>
              <a:t>the</a:t>
            </a:r>
            <a:r>
              <a:rPr sz="2200" spc="95" dirty="0">
                <a:latin typeface="Carlito"/>
                <a:cs typeface="Carlito"/>
              </a:rPr>
              <a:t> </a:t>
            </a:r>
            <a:r>
              <a:rPr sz="2200" spc="-5" dirty="0">
                <a:latin typeface="Carlito"/>
                <a:cs typeface="Carlito"/>
              </a:rPr>
              <a:t>curriculum</a:t>
            </a:r>
            <a:endParaRPr sz="2200">
              <a:latin typeface="Carlito"/>
              <a:cs typeface="Carlito"/>
            </a:endParaRPr>
          </a:p>
          <a:p>
            <a:pPr marL="355600" indent="-343535">
              <a:lnSpc>
                <a:spcPct val="100000"/>
              </a:lnSpc>
              <a:spcBef>
                <a:spcPts val="525"/>
              </a:spcBef>
              <a:buFont typeface="Arial"/>
              <a:buChar char="•"/>
              <a:tabLst>
                <a:tab pos="355600" algn="l"/>
                <a:tab pos="356235" algn="l"/>
              </a:tabLst>
            </a:pPr>
            <a:r>
              <a:rPr sz="2200" spc="-5" dirty="0">
                <a:latin typeface="Carlito"/>
                <a:cs typeface="Carlito"/>
              </a:rPr>
              <a:t>Wireless hotspots</a:t>
            </a:r>
            <a:endParaRPr sz="2200">
              <a:latin typeface="Carlito"/>
              <a:cs typeface="Carlito"/>
            </a:endParaRPr>
          </a:p>
          <a:p>
            <a:pPr marL="756285" lvl="1" indent="-287020">
              <a:lnSpc>
                <a:spcPct val="100000"/>
              </a:lnSpc>
              <a:spcBef>
                <a:spcPts val="530"/>
              </a:spcBef>
              <a:buFont typeface="Arial"/>
              <a:buChar char="–"/>
              <a:tabLst>
                <a:tab pos="756285" algn="l"/>
                <a:tab pos="756920" algn="l"/>
              </a:tabLst>
            </a:pPr>
            <a:r>
              <a:rPr sz="2200" spc="-10" dirty="0">
                <a:latin typeface="Carlito"/>
                <a:cs typeface="Carlito"/>
              </a:rPr>
              <a:t>Colleges </a:t>
            </a:r>
            <a:r>
              <a:rPr sz="2200" spc="-5" dirty="0">
                <a:latin typeface="Carlito"/>
                <a:cs typeface="Carlito"/>
              </a:rPr>
              <a:t>and </a:t>
            </a:r>
            <a:r>
              <a:rPr sz="2200" spc="-15" dirty="0">
                <a:latin typeface="Carlito"/>
                <a:cs typeface="Carlito"/>
              </a:rPr>
              <a:t>universities are even </a:t>
            </a:r>
            <a:r>
              <a:rPr sz="2200" spc="-10" dirty="0">
                <a:latin typeface="Carlito"/>
                <a:cs typeface="Carlito"/>
              </a:rPr>
              <a:t>more</a:t>
            </a:r>
            <a:r>
              <a:rPr sz="2200" spc="125" dirty="0">
                <a:latin typeface="Carlito"/>
                <a:cs typeface="Carlito"/>
              </a:rPr>
              <a:t> </a:t>
            </a:r>
            <a:r>
              <a:rPr sz="2200" spc="-20" dirty="0">
                <a:latin typeface="Carlito"/>
                <a:cs typeface="Carlito"/>
              </a:rPr>
              <a:t>integrated</a:t>
            </a:r>
            <a:endParaRPr sz="2200">
              <a:latin typeface="Carlito"/>
              <a:cs typeface="Carlito"/>
            </a:endParaRPr>
          </a:p>
          <a:p>
            <a:pPr marL="756285" lvl="1" indent="-287020">
              <a:lnSpc>
                <a:spcPct val="100000"/>
              </a:lnSpc>
              <a:spcBef>
                <a:spcPts val="530"/>
              </a:spcBef>
              <a:buFont typeface="Arial"/>
              <a:buChar char="–"/>
              <a:tabLst>
                <a:tab pos="756285" algn="l"/>
                <a:tab pos="756920" algn="l"/>
              </a:tabLst>
            </a:pPr>
            <a:r>
              <a:rPr sz="2200" spc="-5" dirty="0">
                <a:latin typeface="Carlito"/>
                <a:cs typeface="Carlito"/>
              </a:rPr>
              <a:t>Some </a:t>
            </a:r>
            <a:r>
              <a:rPr sz="2200" spc="-20" dirty="0">
                <a:latin typeface="Carlito"/>
                <a:cs typeface="Carlito"/>
              </a:rPr>
              <a:t>have </a:t>
            </a:r>
            <a:r>
              <a:rPr sz="2200" spc="-10" dirty="0">
                <a:latin typeface="Carlito"/>
                <a:cs typeface="Carlito"/>
              </a:rPr>
              <a:t>computer requirements </a:t>
            </a:r>
            <a:r>
              <a:rPr sz="2200" spc="-20" dirty="0">
                <a:latin typeface="Carlito"/>
                <a:cs typeface="Carlito"/>
              </a:rPr>
              <a:t>for</a:t>
            </a:r>
            <a:r>
              <a:rPr sz="2200" spc="25" dirty="0">
                <a:latin typeface="Carlito"/>
                <a:cs typeface="Carlito"/>
              </a:rPr>
              <a:t> </a:t>
            </a:r>
            <a:r>
              <a:rPr sz="2200" spc="-10" dirty="0">
                <a:latin typeface="Carlito"/>
                <a:cs typeface="Carlito"/>
              </a:rPr>
              <a:t>enrollment</a:t>
            </a:r>
            <a:endParaRPr sz="2200">
              <a:latin typeface="Carlito"/>
              <a:cs typeface="Carlito"/>
            </a:endParaRPr>
          </a:p>
          <a:p>
            <a:pPr marL="1155700" lvl="2" indent="-229235">
              <a:lnSpc>
                <a:spcPct val="100000"/>
              </a:lnSpc>
              <a:spcBef>
                <a:spcPts val="530"/>
              </a:spcBef>
              <a:buFont typeface="Arial"/>
              <a:buChar char="•"/>
              <a:tabLst>
                <a:tab pos="1155700" algn="l"/>
                <a:tab pos="1156335" algn="l"/>
              </a:tabLst>
            </a:pPr>
            <a:r>
              <a:rPr sz="2200" spc="-10" dirty="0">
                <a:latin typeface="Carlito"/>
                <a:cs typeface="Carlito"/>
              </a:rPr>
              <a:t>Supplied </a:t>
            </a:r>
            <a:r>
              <a:rPr sz="2200" spc="-5" dirty="0">
                <a:latin typeface="Carlito"/>
                <a:cs typeface="Carlito"/>
              </a:rPr>
              <a:t>or Bring </a:t>
            </a:r>
            <a:r>
              <a:rPr sz="2200" spc="-50" dirty="0">
                <a:latin typeface="Carlito"/>
                <a:cs typeface="Carlito"/>
              </a:rPr>
              <a:t>Your </a:t>
            </a:r>
            <a:r>
              <a:rPr sz="2200" spc="-10" dirty="0">
                <a:latin typeface="Carlito"/>
                <a:cs typeface="Carlito"/>
              </a:rPr>
              <a:t>Own </a:t>
            </a:r>
            <a:r>
              <a:rPr sz="2200" spc="-5" dirty="0">
                <a:latin typeface="Carlito"/>
                <a:cs typeface="Carlito"/>
              </a:rPr>
              <a:t>Device</a:t>
            </a:r>
            <a:r>
              <a:rPr sz="2200" spc="60" dirty="0">
                <a:latin typeface="Carlito"/>
                <a:cs typeface="Carlito"/>
              </a:rPr>
              <a:t> </a:t>
            </a:r>
            <a:r>
              <a:rPr sz="2200" spc="-30" dirty="0">
                <a:latin typeface="Carlito"/>
                <a:cs typeface="Carlito"/>
              </a:rPr>
              <a:t>(BYOD)</a:t>
            </a:r>
            <a:endParaRPr sz="2200">
              <a:latin typeface="Carlito"/>
              <a:cs typeface="Carlito"/>
            </a:endParaRPr>
          </a:p>
          <a:p>
            <a:pPr marL="355600" indent="-343535">
              <a:lnSpc>
                <a:spcPct val="100000"/>
              </a:lnSpc>
              <a:spcBef>
                <a:spcPts val="530"/>
              </a:spcBef>
              <a:buFont typeface="Arial"/>
              <a:buChar char="•"/>
              <a:tabLst>
                <a:tab pos="355600" algn="l"/>
                <a:tab pos="356235" algn="l"/>
              </a:tabLst>
            </a:pPr>
            <a:r>
              <a:rPr sz="2200" spc="-10" dirty="0">
                <a:latin typeface="Carlito"/>
                <a:cs typeface="Carlito"/>
              </a:rPr>
              <a:t>Distance</a:t>
            </a:r>
            <a:r>
              <a:rPr sz="2200" spc="-30" dirty="0">
                <a:latin typeface="Carlito"/>
                <a:cs typeface="Carlito"/>
              </a:rPr>
              <a:t> </a:t>
            </a:r>
            <a:r>
              <a:rPr sz="2200" spc="-5" dirty="0">
                <a:latin typeface="Carlito"/>
                <a:cs typeface="Carlito"/>
              </a:rPr>
              <a:t>learning</a:t>
            </a:r>
            <a:endParaRPr sz="2200">
              <a:latin typeface="Carlito"/>
              <a:cs typeface="Carlito"/>
            </a:endParaRPr>
          </a:p>
          <a:p>
            <a:pPr marL="756285" marR="5080" lvl="1" indent="-287020">
              <a:lnSpc>
                <a:spcPct val="100000"/>
              </a:lnSpc>
              <a:spcBef>
                <a:spcPts val="525"/>
              </a:spcBef>
              <a:buFont typeface="Arial"/>
              <a:buChar char="–"/>
              <a:tabLst>
                <a:tab pos="756285" algn="l"/>
                <a:tab pos="756920" algn="l"/>
              </a:tabLst>
            </a:pPr>
            <a:r>
              <a:rPr sz="2200" spc="-10" dirty="0">
                <a:latin typeface="Carlito"/>
                <a:cs typeface="Carlito"/>
              </a:rPr>
              <a:t>Students </a:t>
            </a:r>
            <a:r>
              <a:rPr sz="2200" spc="-15" dirty="0">
                <a:latin typeface="Carlito"/>
                <a:cs typeface="Carlito"/>
              </a:rPr>
              <a:t>participate </a:t>
            </a:r>
            <a:r>
              <a:rPr sz="2200" spc="-10" dirty="0">
                <a:latin typeface="Carlito"/>
                <a:cs typeface="Carlito"/>
              </a:rPr>
              <a:t>from locations </a:t>
            </a:r>
            <a:r>
              <a:rPr sz="2200" spc="-5" dirty="0">
                <a:latin typeface="Carlito"/>
                <a:cs typeface="Carlito"/>
              </a:rPr>
              <a:t>other than </a:t>
            </a:r>
            <a:r>
              <a:rPr sz="2200" spc="-10" dirty="0">
                <a:latin typeface="Carlito"/>
                <a:cs typeface="Carlito"/>
              </a:rPr>
              <a:t>the traditional  classroom setting using </a:t>
            </a:r>
            <a:r>
              <a:rPr sz="2200" spc="-15" dirty="0">
                <a:latin typeface="Carlito"/>
                <a:cs typeface="Carlito"/>
              </a:rPr>
              <a:t>computers </a:t>
            </a:r>
            <a:r>
              <a:rPr sz="2200" spc="-5" dirty="0">
                <a:latin typeface="Carlito"/>
                <a:cs typeface="Carlito"/>
              </a:rPr>
              <a:t>and </a:t>
            </a:r>
            <a:r>
              <a:rPr sz="2200" spc="-15" dirty="0">
                <a:latin typeface="Carlito"/>
                <a:cs typeface="Carlito"/>
              </a:rPr>
              <a:t>Internet</a:t>
            </a:r>
            <a:r>
              <a:rPr sz="2200" spc="70" dirty="0">
                <a:latin typeface="Carlito"/>
                <a:cs typeface="Carlito"/>
              </a:rPr>
              <a:t> </a:t>
            </a:r>
            <a:r>
              <a:rPr sz="2200" spc="-10" dirty="0">
                <a:latin typeface="Carlito"/>
                <a:cs typeface="Carlito"/>
              </a:rPr>
              <a:t>access</a:t>
            </a:r>
            <a:endParaRPr sz="2200">
              <a:latin typeface="Carlito"/>
              <a:cs typeface="Carlito"/>
            </a:endParaRPr>
          </a:p>
        </p:txBody>
      </p:sp>
      <p:sp>
        <p:nvSpPr>
          <p:cNvPr id="6" name="Title 5"/>
          <p:cNvSpPr>
            <a:spLocks noGrp="1"/>
          </p:cNvSpPr>
          <p:nvPr>
            <p:ph type="title"/>
          </p:nvPr>
        </p:nvSpPr>
        <p:spPr/>
        <p:txBody>
          <a:bodyPr/>
          <a:lstStyle/>
          <a:p>
            <a:r>
              <a:rPr lang="en-US" dirty="0"/>
              <a:t>Computers in Education</a:t>
            </a:r>
            <a:endParaRPr lang="en-GB"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67537" y="2277338"/>
            <a:ext cx="8173460" cy="3277850"/>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33</a:t>
            </a:fld>
            <a:endParaRPr spc="-165" dirty="0"/>
          </a:p>
        </p:txBody>
      </p:sp>
      <p:sp>
        <p:nvSpPr>
          <p:cNvPr id="6" name="Title 5"/>
          <p:cNvSpPr>
            <a:spLocks noGrp="1"/>
          </p:cNvSpPr>
          <p:nvPr>
            <p:ph type="title"/>
          </p:nvPr>
        </p:nvSpPr>
        <p:spPr/>
        <p:txBody>
          <a:bodyPr/>
          <a:lstStyle/>
          <a:p>
            <a:r>
              <a:rPr lang="en-US" dirty="0"/>
              <a:t>Computers in Education</a:t>
            </a:r>
            <a:endParaRPr lang="en-GB"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34</a:t>
            </a:fld>
            <a:endParaRPr spc="-165" dirty="0"/>
          </a:p>
        </p:txBody>
      </p:sp>
      <p:sp>
        <p:nvSpPr>
          <p:cNvPr id="3" name="object 3"/>
          <p:cNvSpPr txBox="1"/>
          <p:nvPr/>
        </p:nvSpPr>
        <p:spPr>
          <a:xfrm>
            <a:off x="535940" y="1534414"/>
            <a:ext cx="7613015" cy="4196080"/>
          </a:xfrm>
          <a:prstGeom prst="rect">
            <a:avLst/>
          </a:prstGeom>
        </p:spPr>
        <p:txBody>
          <a:bodyPr vert="horz" wrap="square" lIns="0" tIns="12700" rIns="0" bIns="0" rtlCol="0">
            <a:spAutoFit/>
          </a:bodyPr>
          <a:lstStyle/>
          <a:p>
            <a:pPr marL="355600" marR="413384" indent="-343535">
              <a:lnSpc>
                <a:spcPct val="100000"/>
              </a:lnSpc>
              <a:spcBef>
                <a:spcPts val="100"/>
              </a:spcBef>
              <a:buFont typeface="Arial"/>
              <a:buChar char="•"/>
              <a:tabLst>
                <a:tab pos="355600" algn="l"/>
                <a:tab pos="356235" algn="l"/>
              </a:tabLst>
            </a:pPr>
            <a:r>
              <a:rPr sz="2400" spc="-10" dirty="0">
                <a:latin typeface="Carlito"/>
                <a:cs typeface="Carlito"/>
              </a:rPr>
              <a:t>Computers </a:t>
            </a:r>
            <a:r>
              <a:rPr sz="2400" spc="-20" dirty="0">
                <a:latin typeface="Carlito"/>
                <a:cs typeface="Carlito"/>
              </a:rPr>
              <a:t>have </a:t>
            </a:r>
            <a:r>
              <a:rPr sz="2400" spc="-10" dirty="0">
                <a:latin typeface="Carlito"/>
                <a:cs typeface="Carlito"/>
              </a:rPr>
              <a:t>become </a:t>
            </a:r>
            <a:r>
              <a:rPr sz="2400" dirty="0">
                <a:latin typeface="Carlito"/>
                <a:cs typeface="Carlito"/>
              </a:rPr>
              <a:t>a </a:t>
            </a:r>
            <a:r>
              <a:rPr sz="2400" spc="-10" dirty="0">
                <a:latin typeface="Carlito"/>
                <a:cs typeface="Carlito"/>
              </a:rPr>
              <a:t>universal </a:t>
            </a:r>
            <a:r>
              <a:rPr sz="2400" spc="-5" dirty="0">
                <a:latin typeface="Carlito"/>
                <a:cs typeface="Carlito"/>
              </a:rPr>
              <a:t>on-the-job </a:t>
            </a:r>
            <a:r>
              <a:rPr sz="2400" spc="-15" dirty="0">
                <a:latin typeface="Carlito"/>
                <a:cs typeface="Carlito"/>
              </a:rPr>
              <a:t>tool </a:t>
            </a:r>
            <a:r>
              <a:rPr sz="2400" spc="-25" dirty="0">
                <a:latin typeface="Carlito"/>
                <a:cs typeface="Carlito"/>
              </a:rPr>
              <a:t>for  </a:t>
            </a:r>
            <a:r>
              <a:rPr sz="2400" dirty="0">
                <a:latin typeface="Carlito"/>
                <a:cs typeface="Carlito"/>
              </a:rPr>
              <a:t>decision-making, </a:t>
            </a:r>
            <a:r>
              <a:rPr sz="2400" spc="-20" dirty="0">
                <a:latin typeface="Carlito"/>
                <a:cs typeface="Carlito"/>
              </a:rPr>
              <a:t>productivity, </a:t>
            </a:r>
            <a:r>
              <a:rPr sz="2400" dirty="0">
                <a:latin typeface="Carlito"/>
                <a:cs typeface="Carlito"/>
              </a:rPr>
              <a:t>and</a:t>
            </a:r>
            <a:r>
              <a:rPr sz="2400" spc="-40" dirty="0">
                <a:latin typeface="Carlito"/>
                <a:cs typeface="Carlito"/>
              </a:rPr>
              <a:t> </a:t>
            </a:r>
            <a:r>
              <a:rPr sz="2400" spc="-10" dirty="0">
                <a:latin typeface="Carlito"/>
                <a:cs typeface="Carlito"/>
              </a:rPr>
              <a:t>communication</a:t>
            </a:r>
            <a:endParaRPr sz="2400">
              <a:latin typeface="Carlito"/>
              <a:cs typeface="Carlito"/>
            </a:endParaRPr>
          </a:p>
          <a:p>
            <a:pPr marL="756285" lvl="1" indent="-287020">
              <a:lnSpc>
                <a:spcPct val="100000"/>
              </a:lnSpc>
              <a:spcBef>
                <a:spcPts val="575"/>
              </a:spcBef>
              <a:buFont typeface="Arial"/>
              <a:buChar char="–"/>
              <a:tabLst>
                <a:tab pos="756920" algn="l"/>
              </a:tabLst>
            </a:pPr>
            <a:r>
              <a:rPr sz="2400" spc="-15" dirty="0">
                <a:latin typeface="Carlito"/>
                <a:cs typeface="Carlito"/>
              </a:rPr>
              <a:t>By </a:t>
            </a:r>
            <a:r>
              <a:rPr sz="2400" dirty="0">
                <a:latin typeface="Carlito"/>
                <a:cs typeface="Carlito"/>
              </a:rPr>
              <a:t>all types </a:t>
            </a:r>
            <a:r>
              <a:rPr sz="2400" spc="-5" dirty="0">
                <a:latin typeface="Carlito"/>
                <a:cs typeface="Carlito"/>
              </a:rPr>
              <a:t>of</a:t>
            </a:r>
            <a:r>
              <a:rPr sz="2400" spc="-50" dirty="0">
                <a:latin typeface="Carlito"/>
                <a:cs typeface="Carlito"/>
              </a:rPr>
              <a:t> </a:t>
            </a:r>
            <a:r>
              <a:rPr sz="2400" spc="-5" dirty="0">
                <a:latin typeface="Carlito"/>
                <a:cs typeface="Carlito"/>
              </a:rPr>
              <a:t>employees</a:t>
            </a:r>
            <a:endParaRPr sz="2400">
              <a:latin typeface="Carlito"/>
              <a:cs typeface="Carlito"/>
            </a:endParaRPr>
          </a:p>
          <a:p>
            <a:pPr marL="756285" lvl="1" indent="-287020">
              <a:lnSpc>
                <a:spcPct val="100000"/>
              </a:lnSpc>
              <a:spcBef>
                <a:spcPts val="580"/>
              </a:spcBef>
              <a:buFont typeface="Arial"/>
              <a:buChar char="–"/>
              <a:tabLst>
                <a:tab pos="756920" algn="l"/>
              </a:tabLst>
            </a:pPr>
            <a:r>
              <a:rPr sz="2400" spc="-15" dirty="0">
                <a:latin typeface="Carlito"/>
                <a:cs typeface="Carlito"/>
              </a:rPr>
              <a:t>For </a:t>
            </a:r>
            <a:r>
              <a:rPr sz="2400" dirty="0">
                <a:latin typeface="Carlito"/>
                <a:cs typeface="Carlito"/>
              </a:rPr>
              <a:t>access </a:t>
            </a:r>
            <a:r>
              <a:rPr sz="2400" spc="-15" dirty="0">
                <a:latin typeface="Carlito"/>
                <a:cs typeface="Carlito"/>
              </a:rPr>
              <a:t>control </a:t>
            </a:r>
            <a:r>
              <a:rPr sz="2400" dirty="0">
                <a:latin typeface="Carlito"/>
                <a:cs typeface="Carlito"/>
              </a:rPr>
              <a:t>and </a:t>
            </a:r>
            <a:r>
              <a:rPr sz="2400" spc="-5" dirty="0">
                <a:latin typeface="Carlito"/>
                <a:cs typeface="Carlito"/>
              </a:rPr>
              <a:t>other security</a:t>
            </a:r>
            <a:r>
              <a:rPr sz="2400" spc="-70" dirty="0">
                <a:latin typeface="Carlito"/>
                <a:cs typeface="Carlito"/>
              </a:rPr>
              <a:t> </a:t>
            </a:r>
            <a:r>
              <a:rPr sz="2400" spc="-10" dirty="0">
                <a:latin typeface="Carlito"/>
                <a:cs typeface="Carlito"/>
              </a:rPr>
              <a:t>measures</a:t>
            </a:r>
            <a:endParaRPr sz="2400">
              <a:latin typeface="Carlito"/>
              <a:cs typeface="Carlito"/>
            </a:endParaRPr>
          </a:p>
          <a:p>
            <a:pPr marL="756285" lvl="1" indent="-287020">
              <a:lnSpc>
                <a:spcPct val="100000"/>
              </a:lnSpc>
              <a:spcBef>
                <a:spcPts val="575"/>
              </a:spcBef>
              <a:buFont typeface="Arial"/>
              <a:buChar char="–"/>
              <a:tabLst>
                <a:tab pos="756920" algn="l"/>
              </a:tabLst>
            </a:pPr>
            <a:r>
              <a:rPr sz="2400" spc="-15" dirty="0">
                <a:latin typeface="Carlito"/>
                <a:cs typeface="Carlito"/>
              </a:rPr>
              <a:t>For </a:t>
            </a:r>
            <a:r>
              <a:rPr sz="2400" dirty="0">
                <a:latin typeface="Carlito"/>
                <a:cs typeface="Carlito"/>
              </a:rPr>
              <a:t>service </a:t>
            </a:r>
            <a:r>
              <a:rPr sz="2400" spc="-10" dirty="0">
                <a:latin typeface="Carlito"/>
                <a:cs typeface="Carlito"/>
              </a:rPr>
              <a:t>professional</a:t>
            </a:r>
            <a:r>
              <a:rPr sz="2400" spc="-15" dirty="0">
                <a:latin typeface="Carlito"/>
                <a:cs typeface="Carlito"/>
              </a:rPr>
              <a:t> </a:t>
            </a:r>
            <a:r>
              <a:rPr sz="2400" spc="-5" dirty="0">
                <a:latin typeface="Carlito"/>
                <a:cs typeface="Carlito"/>
              </a:rPr>
              <a:t>use</a:t>
            </a:r>
            <a:endParaRPr sz="2400">
              <a:latin typeface="Carlito"/>
              <a:cs typeface="Carlito"/>
            </a:endParaRPr>
          </a:p>
          <a:p>
            <a:pPr marL="756285" lvl="1" indent="-287020">
              <a:lnSpc>
                <a:spcPct val="100000"/>
              </a:lnSpc>
              <a:spcBef>
                <a:spcPts val="575"/>
              </a:spcBef>
              <a:buFont typeface="Arial"/>
              <a:buChar char="–"/>
              <a:tabLst>
                <a:tab pos="756920" algn="l"/>
              </a:tabLst>
            </a:pPr>
            <a:r>
              <a:rPr sz="2400" spc="-5" dirty="0">
                <a:latin typeface="Carlito"/>
                <a:cs typeface="Carlito"/>
              </a:rPr>
              <a:t>Extensively </a:t>
            </a:r>
            <a:r>
              <a:rPr sz="2400" spc="-10" dirty="0">
                <a:latin typeface="Carlito"/>
                <a:cs typeface="Carlito"/>
              </a:rPr>
              <a:t>by </a:t>
            </a:r>
            <a:r>
              <a:rPr sz="2400" dirty="0">
                <a:latin typeface="Carlito"/>
                <a:cs typeface="Carlito"/>
              </a:rPr>
              <a:t>the</a:t>
            </a:r>
            <a:r>
              <a:rPr sz="2400" spc="-15" dirty="0">
                <a:latin typeface="Carlito"/>
                <a:cs typeface="Carlito"/>
              </a:rPr>
              <a:t> </a:t>
            </a:r>
            <a:r>
              <a:rPr sz="2400" spc="-5" dirty="0">
                <a:latin typeface="Carlito"/>
                <a:cs typeface="Carlito"/>
              </a:rPr>
              <a:t>military</a:t>
            </a:r>
            <a:endParaRPr sz="2400">
              <a:latin typeface="Carlito"/>
              <a:cs typeface="Carlito"/>
            </a:endParaRPr>
          </a:p>
          <a:p>
            <a:pPr marL="756285" lvl="1" indent="-287020">
              <a:lnSpc>
                <a:spcPct val="100000"/>
              </a:lnSpc>
              <a:spcBef>
                <a:spcPts val="580"/>
              </a:spcBef>
              <a:buFont typeface="Arial"/>
              <a:buChar char="–"/>
              <a:tabLst>
                <a:tab pos="756920" algn="l"/>
              </a:tabLst>
            </a:pPr>
            <a:r>
              <a:rPr sz="2400" spc="-10" dirty="0">
                <a:latin typeface="Carlito"/>
                <a:cs typeface="Carlito"/>
              </a:rPr>
              <a:t>Requires </a:t>
            </a:r>
            <a:r>
              <a:rPr sz="2400" spc="-5" dirty="0">
                <a:latin typeface="Carlito"/>
                <a:cs typeface="Carlito"/>
              </a:rPr>
              <a:t>continually </a:t>
            </a:r>
            <a:r>
              <a:rPr sz="2400" spc="-10" dirty="0">
                <a:latin typeface="Carlito"/>
                <a:cs typeface="Carlito"/>
              </a:rPr>
              <a:t>refreshing computer</a:t>
            </a:r>
            <a:r>
              <a:rPr sz="2400" spc="-30" dirty="0">
                <a:latin typeface="Carlito"/>
                <a:cs typeface="Carlito"/>
              </a:rPr>
              <a:t> </a:t>
            </a:r>
            <a:r>
              <a:rPr sz="2400" spc="-5" dirty="0">
                <a:latin typeface="Carlito"/>
                <a:cs typeface="Carlito"/>
              </a:rPr>
              <a:t>skills</a:t>
            </a:r>
            <a:endParaRPr sz="2400">
              <a:latin typeface="Carlito"/>
              <a:cs typeface="Carlito"/>
            </a:endParaRPr>
          </a:p>
          <a:p>
            <a:pPr marL="12700">
              <a:lnSpc>
                <a:spcPct val="100000"/>
              </a:lnSpc>
              <a:spcBef>
                <a:spcPts val="575"/>
              </a:spcBef>
              <a:tabLst>
                <a:tab pos="355600" algn="l"/>
              </a:tabLst>
            </a:pPr>
            <a:r>
              <a:rPr sz="2400" dirty="0">
                <a:latin typeface="Arial"/>
                <a:cs typeface="Arial"/>
              </a:rPr>
              <a:t>–	</a:t>
            </a:r>
            <a:r>
              <a:rPr sz="2400" spc="-5" dirty="0">
                <a:latin typeface="Carlito"/>
                <a:cs typeface="Carlito"/>
              </a:rPr>
              <a:t>Common</a:t>
            </a:r>
            <a:r>
              <a:rPr sz="2400" spc="-45" dirty="0">
                <a:latin typeface="Carlito"/>
                <a:cs typeface="Carlito"/>
              </a:rPr>
              <a:t> </a:t>
            </a:r>
            <a:r>
              <a:rPr sz="2400" spc="-5" dirty="0">
                <a:latin typeface="Carlito"/>
                <a:cs typeface="Carlito"/>
              </a:rPr>
              <a:t>uses:</a:t>
            </a:r>
            <a:endParaRPr sz="2400">
              <a:latin typeface="Carlito"/>
              <a:cs typeface="Carlito"/>
            </a:endParaRPr>
          </a:p>
          <a:p>
            <a:pPr marL="756285" marR="5080" indent="-287020">
              <a:lnSpc>
                <a:spcPct val="100000"/>
              </a:lnSpc>
              <a:spcBef>
                <a:spcPts val="580"/>
              </a:spcBef>
            </a:pPr>
            <a:r>
              <a:rPr sz="2400" dirty="0">
                <a:latin typeface="Arial"/>
                <a:cs typeface="Arial"/>
              </a:rPr>
              <a:t>– </a:t>
            </a:r>
            <a:r>
              <a:rPr sz="2400" spc="-5" dirty="0">
                <a:latin typeface="Carlito"/>
                <a:cs typeface="Carlito"/>
              </a:rPr>
              <a:t>Decision </a:t>
            </a:r>
            <a:r>
              <a:rPr sz="2400" dirty="0">
                <a:latin typeface="Carlito"/>
                <a:cs typeface="Carlito"/>
              </a:rPr>
              <a:t>making, </a:t>
            </a:r>
            <a:r>
              <a:rPr sz="2400" spc="-20" dirty="0">
                <a:latin typeface="Carlito"/>
                <a:cs typeface="Carlito"/>
              </a:rPr>
              <a:t>productivity, </a:t>
            </a:r>
            <a:r>
              <a:rPr sz="2400" spc="-10" dirty="0">
                <a:latin typeface="Carlito"/>
                <a:cs typeface="Carlito"/>
              </a:rPr>
              <a:t>off-site communications,  </a:t>
            </a:r>
            <a:r>
              <a:rPr sz="2400" dirty="0">
                <a:latin typeface="Carlito"/>
                <a:cs typeface="Carlito"/>
              </a:rPr>
              <a:t>and</a:t>
            </a:r>
            <a:r>
              <a:rPr sz="2400" spc="-20" dirty="0">
                <a:latin typeface="Carlito"/>
                <a:cs typeface="Carlito"/>
              </a:rPr>
              <a:t> </a:t>
            </a:r>
            <a:r>
              <a:rPr sz="2400" spc="-5" dirty="0">
                <a:latin typeface="Carlito"/>
                <a:cs typeface="Carlito"/>
              </a:rPr>
              <a:t>authentication</a:t>
            </a:r>
            <a:endParaRPr sz="2400">
              <a:latin typeface="Carlito"/>
              <a:cs typeface="Carlito"/>
            </a:endParaRPr>
          </a:p>
        </p:txBody>
      </p:sp>
      <p:sp>
        <p:nvSpPr>
          <p:cNvPr id="6" name="Title 5"/>
          <p:cNvSpPr>
            <a:spLocks noGrp="1"/>
          </p:cNvSpPr>
          <p:nvPr>
            <p:ph type="title"/>
          </p:nvPr>
        </p:nvSpPr>
        <p:spPr/>
        <p:txBody>
          <a:bodyPr/>
          <a:lstStyle/>
          <a:p>
            <a:r>
              <a:rPr lang="en-US" dirty="0"/>
              <a:t>Computers on the Job</a:t>
            </a:r>
            <a:endParaRPr lang="en-GB"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144000" cy="6369685"/>
            <a:chOff x="0" y="0"/>
            <a:chExt cx="9144000" cy="6369685"/>
          </a:xfrm>
        </p:grpSpPr>
        <p:sp>
          <p:nvSpPr>
            <p:cNvPr id="3" name="object 3"/>
            <p:cNvSpPr/>
            <p:nvPr/>
          </p:nvSpPr>
          <p:spPr>
            <a:xfrm>
              <a:off x="2199936" y="1484807"/>
              <a:ext cx="4422075" cy="488488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6732269" y="1556842"/>
              <a:ext cx="1906120" cy="622710"/>
            </a:xfrm>
            <a:prstGeom prst="rect">
              <a:avLst/>
            </a:prstGeom>
            <a:blipFill>
              <a:blip r:embed="rId3" cstate="print"/>
              <a:stretch>
                <a:fillRect/>
              </a:stretch>
            </a:blipFill>
          </p:spPr>
          <p:txBody>
            <a:bodyPr wrap="square" lIns="0" tIns="0" rIns="0" bIns="0" rtlCol="0"/>
            <a:lstStyle/>
            <a:p>
              <a:endParaRPr/>
            </a:p>
          </p:txBody>
        </p:sp>
      </p:grpSp>
      <p:sp>
        <p:nvSpPr>
          <p:cNvPr id="7" name="object 7"/>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35</a:t>
            </a:fld>
            <a:endParaRPr spc="-165" dirty="0"/>
          </a:p>
        </p:txBody>
      </p:sp>
      <p:sp>
        <p:nvSpPr>
          <p:cNvPr id="8" name="Title 7"/>
          <p:cNvSpPr>
            <a:spLocks noGrp="1"/>
          </p:cNvSpPr>
          <p:nvPr>
            <p:ph type="title"/>
          </p:nvPr>
        </p:nvSpPr>
        <p:spPr/>
        <p:txBody>
          <a:bodyPr/>
          <a:lstStyle/>
          <a:p>
            <a:r>
              <a:rPr lang="en-US" dirty="0"/>
              <a:t>Computers on the Job</a:t>
            </a:r>
            <a:endParaRPr lang="en-GB"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36</a:t>
            </a:fld>
            <a:endParaRPr spc="-165" dirty="0"/>
          </a:p>
        </p:txBody>
      </p:sp>
      <p:sp>
        <p:nvSpPr>
          <p:cNvPr id="3" name="object 3"/>
          <p:cNvSpPr txBox="1"/>
          <p:nvPr/>
        </p:nvSpPr>
        <p:spPr>
          <a:xfrm>
            <a:off x="535940" y="1461262"/>
            <a:ext cx="8032115" cy="3537585"/>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10" dirty="0">
                <a:latin typeface="Carlito"/>
                <a:cs typeface="Carlito"/>
              </a:rPr>
              <a:t>Computers </a:t>
            </a:r>
            <a:r>
              <a:rPr sz="2400" spc="-15" dirty="0">
                <a:latin typeface="Carlito"/>
                <a:cs typeface="Carlito"/>
              </a:rPr>
              <a:t>are encountered </a:t>
            </a:r>
            <a:r>
              <a:rPr sz="2400" dirty="0">
                <a:latin typeface="Carlito"/>
                <a:cs typeface="Carlito"/>
              </a:rPr>
              <a:t>in </a:t>
            </a:r>
            <a:r>
              <a:rPr sz="2400" spc="-5" dirty="0">
                <a:latin typeface="Carlito"/>
                <a:cs typeface="Carlito"/>
              </a:rPr>
              <a:t>nearly every </a:t>
            </a:r>
            <a:r>
              <a:rPr sz="2400" dirty="0">
                <a:latin typeface="Carlito"/>
                <a:cs typeface="Carlito"/>
              </a:rPr>
              <a:t>aspect </a:t>
            </a:r>
            <a:r>
              <a:rPr sz="2400" spc="-5" dirty="0">
                <a:latin typeface="Carlito"/>
                <a:cs typeface="Carlito"/>
              </a:rPr>
              <a:t>of daily</a:t>
            </a:r>
            <a:r>
              <a:rPr sz="2400" spc="-10" dirty="0">
                <a:latin typeface="Carlito"/>
                <a:cs typeface="Carlito"/>
              </a:rPr>
              <a:t> </a:t>
            </a:r>
            <a:r>
              <a:rPr sz="2400" spc="-20" dirty="0">
                <a:latin typeface="Carlito"/>
                <a:cs typeface="Carlito"/>
              </a:rPr>
              <a:t>life</a:t>
            </a:r>
            <a:endParaRPr sz="2400">
              <a:latin typeface="Carlito"/>
              <a:cs typeface="Carlito"/>
            </a:endParaRPr>
          </a:p>
          <a:p>
            <a:pPr marL="756285" lvl="1" indent="-287020">
              <a:lnSpc>
                <a:spcPct val="100000"/>
              </a:lnSpc>
              <a:spcBef>
                <a:spcPts val="575"/>
              </a:spcBef>
              <a:buFont typeface="Arial"/>
              <a:buChar char="–"/>
              <a:tabLst>
                <a:tab pos="756920" algn="l"/>
              </a:tabLst>
            </a:pPr>
            <a:r>
              <a:rPr sz="2400" spc="-5" dirty="0">
                <a:latin typeface="Carlito"/>
                <a:cs typeface="Carlito"/>
              </a:rPr>
              <a:t>Consumer</a:t>
            </a:r>
            <a:r>
              <a:rPr sz="2400" spc="-30" dirty="0">
                <a:latin typeface="Carlito"/>
                <a:cs typeface="Carlito"/>
              </a:rPr>
              <a:t> </a:t>
            </a:r>
            <a:r>
              <a:rPr sz="2400" spc="-10" dirty="0">
                <a:latin typeface="Carlito"/>
                <a:cs typeface="Carlito"/>
              </a:rPr>
              <a:t>kiosks</a:t>
            </a:r>
            <a:endParaRPr sz="2400">
              <a:latin typeface="Carlito"/>
              <a:cs typeface="Carlito"/>
            </a:endParaRPr>
          </a:p>
          <a:p>
            <a:pPr marL="756285" lvl="1" indent="-287020">
              <a:lnSpc>
                <a:spcPct val="100000"/>
              </a:lnSpc>
              <a:spcBef>
                <a:spcPts val="580"/>
              </a:spcBef>
              <a:buFont typeface="Arial"/>
              <a:buChar char="–"/>
              <a:tabLst>
                <a:tab pos="756920" algn="l"/>
              </a:tabLst>
            </a:pPr>
            <a:r>
              <a:rPr sz="2400" spc="-65" dirty="0">
                <a:latin typeface="Carlito"/>
                <a:cs typeface="Carlito"/>
              </a:rPr>
              <a:t>ATM</a:t>
            </a:r>
            <a:r>
              <a:rPr sz="2400" spc="-15" dirty="0">
                <a:latin typeface="Carlito"/>
                <a:cs typeface="Carlito"/>
              </a:rPr>
              <a:t> </a:t>
            </a:r>
            <a:r>
              <a:rPr sz="2400" spc="-5" dirty="0">
                <a:latin typeface="Carlito"/>
                <a:cs typeface="Carlito"/>
              </a:rPr>
              <a:t>transactions</a:t>
            </a:r>
            <a:endParaRPr sz="2400">
              <a:latin typeface="Carlito"/>
              <a:cs typeface="Carlito"/>
            </a:endParaRPr>
          </a:p>
          <a:p>
            <a:pPr marL="756285" lvl="1" indent="-287020">
              <a:lnSpc>
                <a:spcPct val="100000"/>
              </a:lnSpc>
              <a:spcBef>
                <a:spcPts val="575"/>
              </a:spcBef>
              <a:buFont typeface="Arial"/>
              <a:buChar char="–"/>
              <a:tabLst>
                <a:tab pos="756920" algn="l"/>
              </a:tabLst>
            </a:pPr>
            <a:r>
              <a:rPr sz="2400" spc="-5" dirty="0">
                <a:latin typeface="Carlito"/>
                <a:cs typeface="Carlito"/>
              </a:rPr>
              <a:t>POS </a:t>
            </a:r>
            <a:r>
              <a:rPr sz="2400" spc="-20" dirty="0">
                <a:latin typeface="Carlito"/>
                <a:cs typeface="Carlito"/>
              </a:rPr>
              <a:t>systems </a:t>
            </a:r>
            <a:r>
              <a:rPr sz="2400" spc="-15" dirty="0">
                <a:latin typeface="Carlito"/>
                <a:cs typeface="Carlito"/>
              </a:rPr>
              <a:t>at retail</a:t>
            </a:r>
            <a:r>
              <a:rPr sz="2400" spc="-30" dirty="0">
                <a:latin typeface="Carlito"/>
                <a:cs typeface="Carlito"/>
              </a:rPr>
              <a:t> </a:t>
            </a:r>
            <a:r>
              <a:rPr sz="2400" spc="-20" dirty="0">
                <a:latin typeface="Carlito"/>
                <a:cs typeface="Carlito"/>
              </a:rPr>
              <a:t>stores</a:t>
            </a:r>
            <a:endParaRPr sz="2400">
              <a:latin typeface="Carlito"/>
              <a:cs typeface="Carlito"/>
            </a:endParaRPr>
          </a:p>
          <a:p>
            <a:pPr marL="756285" lvl="1" indent="-287020">
              <a:lnSpc>
                <a:spcPct val="100000"/>
              </a:lnSpc>
              <a:spcBef>
                <a:spcPts val="575"/>
              </a:spcBef>
              <a:buFont typeface="Arial"/>
              <a:buChar char="–"/>
              <a:tabLst>
                <a:tab pos="756920" algn="l"/>
              </a:tabLst>
            </a:pPr>
            <a:r>
              <a:rPr sz="2400" spc="-10" dirty="0">
                <a:latin typeface="Carlito"/>
                <a:cs typeface="Carlito"/>
              </a:rPr>
              <a:t>Self-checkout</a:t>
            </a:r>
            <a:r>
              <a:rPr sz="2400" spc="-40" dirty="0">
                <a:latin typeface="Carlito"/>
                <a:cs typeface="Carlito"/>
              </a:rPr>
              <a:t> </a:t>
            </a:r>
            <a:r>
              <a:rPr sz="2400" spc="-20" dirty="0">
                <a:latin typeface="Carlito"/>
                <a:cs typeface="Carlito"/>
              </a:rPr>
              <a:t>systems</a:t>
            </a:r>
            <a:endParaRPr sz="2400">
              <a:latin typeface="Carlito"/>
              <a:cs typeface="Carlito"/>
            </a:endParaRPr>
          </a:p>
          <a:p>
            <a:pPr marL="756285" lvl="1" indent="-287020">
              <a:lnSpc>
                <a:spcPct val="100000"/>
              </a:lnSpc>
              <a:spcBef>
                <a:spcPts val="580"/>
              </a:spcBef>
              <a:buFont typeface="Arial"/>
              <a:buChar char="–"/>
              <a:tabLst>
                <a:tab pos="756920" algn="l"/>
              </a:tabLst>
            </a:pPr>
            <a:r>
              <a:rPr sz="2400" spc="-5" dirty="0">
                <a:latin typeface="Carlito"/>
                <a:cs typeface="Carlito"/>
              </a:rPr>
              <a:t>Consumer authentication</a:t>
            </a:r>
            <a:r>
              <a:rPr sz="2400" spc="-45" dirty="0">
                <a:latin typeface="Carlito"/>
                <a:cs typeface="Carlito"/>
              </a:rPr>
              <a:t> </a:t>
            </a:r>
            <a:r>
              <a:rPr sz="2400" spc="-20" dirty="0">
                <a:latin typeface="Carlito"/>
                <a:cs typeface="Carlito"/>
              </a:rPr>
              <a:t>systems</a:t>
            </a:r>
            <a:endParaRPr sz="2400">
              <a:latin typeface="Carlito"/>
              <a:cs typeface="Carlito"/>
            </a:endParaRPr>
          </a:p>
          <a:p>
            <a:pPr marL="756285" lvl="1" indent="-287020">
              <a:lnSpc>
                <a:spcPct val="100000"/>
              </a:lnSpc>
              <a:spcBef>
                <a:spcPts val="575"/>
              </a:spcBef>
              <a:buFont typeface="Arial"/>
              <a:buChar char="–"/>
              <a:tabLst>
                <a:tab pos="756920" algn="l"/>
              </a:tabLst>
            </a:pPr>
            <a:r>
              <a:rPr sz="2400" spc="-15" dirty="0">
                <a:latin typeface="Carlito"/>
                <a:cs typeface="Carlito"/>
              </a:rPr>
              <a:t>Portable computers </a:t>
            </a:r>
            <a:r>
              <a:rPr sz="2400" spc="-5" dirty="0">
                <a:latin typeface="Carlito"/>
                <a:cs typeface="Carlito"/>
              </a:rPr>
              <a:t>or </a:t>
            </a:r>
            <a:r>
              <a:rPr sz="2400" dirty="0">
                <a:latin typeface="Carlito"/>
                <a:cs typeface="Carlito"/>
              </a:rPr>
              <a:t>mobile</a:t>
            </a:r>
            <a:r>
              <a:rPr sz="2400" spc="-35" dirty="0">
                <a:latin typeface="Carlito"/>
                <a:cs typeface="Carlito"/>
              </a:rPr>
              <a:t> </a:t>
            </a:r>
            <a:r>
              <a:rPr sz="2400" spc="-5" dirty="0">
                <a:latin typeface="Carlito"/>
                <a:cs typeface="Carlito"/>
              </a:rPr>
              <a:t>devices</a:t>
            </a:r>
            <a:endParaRPr sz="2400">
              <a:latin typeface="Carlito"/>
              <a:cs typeface="Carlito"/>
            </a:endParaRPr>
          </a:p>
          <a:p>
            <a:pPr marL="756285" lvl="1" indent="-287020">
              <a:lnSpc>
                <a:spcPct val="100000"/>
              </a:lnSpc>
              <a:spcBef>
                <a:spcPts val="575"/>
              </a:spcBef>
              <a:buFont typeface="Arial"/>
              <a:buChar char="–"/>
              <a:tabLst>
                <a:tab pos="756920" algn="l"/>
              </a:tabLst>
            </a:pPr>
            <a:r>
              <a:rPr sz="2400" spc="-5" dirty="0">
                <a:latin typeface="Carlito"/>
                <a:cs typeface="Carlito"/>
              </a:rPr>
              <a:t>GPS</a:t>
            </a:r>
            <a:r>
              <a:rPr sz="2400" spc="-20" dirty="0">
                <a:latin typeface="Carlito"/>
                <a:cs typeface="Carlito"/>
              </a:rPr>
              <a:t> systems</a:t>
            </a:r>
            <a:endParaRPr sz="2400">
              <a:latin typeface="Carlito"/>
              <a:cs typeface="Carlito"/>
            </a:endParaRPr>
          </a:p>
        </p:txBody>
      </p:sp>
      <p:sp>
        <p:nvSpPr>
          <p:cNvPr id="6" name="Title 5"/>
          <p:cNvSpPr>
            <a:spLocks noGrp="1"/>
          </p:cNvSpPr>
          <p:nvPr>
            <p:ph type="title"/>
          </p:nvPr>
        </p:nvSpPr>
        <p:spPr/>
        <p:txBody>
          <a:bodyPr/>
          <a:lstStyle/>
          <a:p>
            <a:r>
              <a:rPr lang="en-US" dirty="0"/>
              <a:t>Computers on the Go</a:t>
            </a:r>
            <a:endParaRPr lang="en-GB"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5940" y="1461262"/>
            <a:ext cx="5914390" cy="1781810"/>
          </a:xfrm>
          <a:prstGeom prst="rect">
            <a:avLst/>
          </a:prstGeom>
        </p:spPr>
        <p:txBody>
          <a:bodyPr vert="horz" wrap="square" lIns="0" tIns="85725" rIns="0" bIns="0" rtlCol="0">
            <a:spAutoFit/>
          </a:bodyPr>
          <a:lstStyle/>
          <a:p>
            <a:pPr marL="12700">
              <a:lnSpc>
                <a:spcPct val="100000"/>
              </a:lnSpc>
              <a:spcBef>
                <a:spcPts val="675"/>
              </a:spcBef>
            </a:pPr>
            <a:r>
              <a:rPr sz="2400" b="1" spc="-20" dirty="0">
                <a:latin typeface="Carlito"/>
                <a:cs typeface="Carlito"/>
              </a:rPr>
              <a:t>Restaurant </a:t>
            </a:r>
            <a:r>
              <a:rPr sz="2400" b="1" spc="-15" dirty="0">
                <a:latin typeface="Carlito"/>
                <a:cs typeface="Carlito"/>
              </a:rPr>
              <a:t>iPad </a:t>
            </a:r>
            <a:r>
              <a:rPr sz="2400" b="1" spc="-10" dirty="0">
                <a:latin typeface="Carlito"/>
                <a:cs typeface="Carlito"/>
              </a:rPr>
              <a:t>Ordering</a:t>
            </a:r>
            <a:r>
              <a:rPr sz="2400" b="1" spc="5" dirty="0">
                <a:latin typeface="Carlito"/>
                <a:cs typeface="Carlito"/>
              </a:rPr>
              <a:t> </a:t>
            </a:r>
            <a:r>
              <a:rPr sz="2400" b="1" spc="-15" dirty="0">
                <a:latin typeface="Carlito"/>
                <a:cs typeface="Carlito"/>
              </a:rPr>
              <a:t>Systems</a:t>
            </a:r>
            <a:endParaRPr sz="2400">
              <a:latin typeface="Carlito"/>
              <a:cs typeface="Carlito"/>
            </a:endParaRPr>
          </a:p>
          <a:p>
            <a:pPr marL="756285" indent="-287020">
              <a:lnSpc>
                <a:spcPct val="100000"/>
              </a:lnSpc>
              <a:spcBef>
                <a:spcPts val="575"/>
              </a:spcBef>
              <a:buFont typeface="Arial"/>
              <a:buChar char="–"/>
              <a:tabLst>
                <a:tab pos="756920" algn="l"/>
              </a:tabLst>
            </a:pPr>
            <a:r>
              <a:rPr sz="2400" spc="-5" dirty="0">
                <a:latin typeface="Carlito"/>
                <a:cs typeface="Carlito"/>
              </a:rPr>
              <a:t>Used </a:t>
            </a:r>
            <a:r>
              <a:rPr sz="2400" dirty="0">
                <a:latin typeface="Carlito"/>
                <a:cs typeface="Carlito"/>
              </a:rPr>
              <a:t>in </a:t>
            </a:r>
            <a:r>
              <a:rPr sz="2400" spc="-10" dirty="0">
                <a:latin typeface="Carlito"/>
                <a:cs typeface="Carlito"/>
              </a:rPr>
              <a:t>conjunction </a:t>
            </a:r>
            <a:r>
              <a:rPr sz="2400" dirty="0">
                <a:latin typeface="Carlito"/>
                <a:cs typeface="Carlito"/>
              </a:rPr>
              <a:t>with</a:t>
            </a:r>
            <a:r>
              <a:rPr sz="2400" spc="-30" dirty="0">
                <a:latin typeface="Carlito"/>
                <a:cs typeface="Carlito"/>
              </a:rPr>
              <a:t> </a:t>
            </a:r>
            <a:r>
              <a:rPr sz="2400" dirty="0">
                <a:latin typeface="Carlito"/>
                <a:cs typeface="Carlito"/>
              </a:rPr>
              <a:t>e-menus</a:t>
            </a:r>
            <a:endParaRPr sz="2400">
              <a:latin typeface="Carlito"/>
              <a:cs typeface="Carlito"/>
            </a:endParaRPr>
          </a:p>
          <a:p>
            <a:pPr marL="756285" indent="-287020">
              <a:lnSpc>
                <a:spcPct val="100000"/>
              </a:lnSpc>
              <a:spcBef>
                <a:spcPts val="580"/>
              </a:spcBef>
              <a:buFont typeface="Arial"/>
              <a:buChar char="–"/>
              <a:tabLst>
                <a:tab pos="756920" algn="l"/>
              </a:tabLst>
            </a:pPr>
            <a:r>
              <a:rPr sz="2400" spc="-15" dirty="0">
                <a:latin typeface="Carlito"/>
                <a:cs typeface="Carlito"/>
              </a:rPr>
              <a:t>Customers </a:t>
            </a:r>
            <a:r>
              <a:rPr sz="2400" spc="-10" dirty="0">
                <a:latin typeface="Carlito"/>
                <a:cs typeface="Carlito"/>
              </a:rPr>
              <a:t>can </a:t>
            </a:r>
            <a:r>
              <a:rPr sz="2400" spc="-5" dirty="0">
                <a:latin typeface="Carlito"/>
                <a:cs typeface="Carlito"/>
              </a:rPr>
              <a:t>place </a:t>
            </a:r>
            <a:r>
              <a:rPr sz="2400" dirty="0">
                <a:latin typeface="Carlito"/>
                <a:cs typeface="Carlito"/>
              </a:rPr>
              <a:t>and </a:t>
            </a:r>
            <a:r>
              <a:rPr sz="2400" spc="-20" dirty="0">
                <a:latin typeface="Carlito"/>
                <a:cs typeface="Carlito"/>
              </a:rPr>
              <a:t>pay for</a:t>
            </a:r>
            <a:r>
              <a:rPr sz="2400" spc="-50" dirty="0">
                <a:latin typeface="Carlito"/>
                <a:cs typeface="Carlito"/>
              </a:rPr>
              <a:t> </a:t>
            </a:r>
            <a:r>
              <a:rPr sz="2400" spc="-15" dirty="0">
                <a:latin typeface="Carlito"/>
                <a:cs typeface="Carlito"/>
              </a:rPr>
              <a:t>orders</a:t>
            </a:r>
            <a:endParaRPr sz="2400">
              <a:latin typeface="Carlito"/>
              <a:cs typeface="Carlito"/>
            </a:endParaRPr>
          </a:p>
          <a:p>
            <a:pPr marL="756285" indent="-287020">
              <a:lnSpc>
                <a:spcPct val="100000"/>
              </a:lnSpc>
              <a:spcBef>
                <a:spcPts val="575"/>
              </a:spcBef>
              <a:buFont typeface="Arial"/>
              <a:buChar char="–"/>
              <a:tabLst>
                <a:tab pos="756920" algn="l"/>
              </a:tabLst>
            </a:pPr>
            <a:r>
              <a:rPr sz="2400" spc="-5" dirty="0">
                <a:latin typeface="Carlito"/>
                <a:cs typeface="Carlito"/>
              </a:rPr>
              <a:t>Can </a:t>
            </a:r>
            <a:r>
              <a:rPr sz="2400" spc="-10" dirty="0">
                <a:latin typeface="Carlito"/>
                <a:cs typeface="Carlito"/>
              </a:rPr>
              <a:t>provide more resources </a:t>
            </a:r>
            <a:r>
              <a:rPr sz="2400" spc="-15" dirty="0">
                <a:latin typeface="Carlito"/>
                <a:cs typeface="Carlito"/>
              </a:rPr>
              <a:t>to</a:t>
            </a:r>
            <a:r>
              <a:rPr sz="2400" spc="-35" dirty="0">
                <a:latin typeface="Carlito"/>
                <a:cs typeface="Carlito"/>
              </a:rPr>
              <a:t> </a:t>
            </a:r>
            <a:r>
              <a:rPr sz="2400" spc="-15" dirty="0">
                <a:latin typeface="Carlito"/>
                <a:cs typeface="Carlito"/>
              </a:rPr>
              <a:t>customers</a:t>
            </a:r>
            <a:endParaRPr sz="2400">
              <a:latin typeface="Carlito"/>
              <a:cs typeface="Carlito"/>
            </a:endParaRPr>
          </a:p>
        </p:txBody>
      </p:sp>
      <p:sp>
        <p:nvSpPr>
          <p:cNvPr id="4" name="object 4"/>
          <p:cNvSpPr/>
          <p:nvPr/>
        </p:nvSpPr>
        <p:spPr>
          <a:xfrm>
            <a:off x="4495800" y="3733800"/>
            <a:ext cx="3925824" cy="2685287"/>
          </a:xfrm>
          <a:prstGeom prst="rect">
            <a:avLst/>
          </a:prstGeom>
          <a:blipFill>
            <a:blip r:embed="rId2" cstate="print"/>
            <a:stretch>
              <a:fillRect/>
            </a:stretch>
          </a:blipFill>
        </p:spPr>
        <p:txBody>
          <a:bodyPr wrap="square" lIns="0" tIns="0" rIns="0" bIns="0" rtlCol="0"/>
          <a:lstStyle/>
          <a:p>
            <a:endParaRPr/>
          </a:p>
        </p:txBody>
      </p:sp>
      <p:sp>
        <p:nvSpPr>
          <p:cNvPr id="6" name="object 6"/>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37</a:t>
            </a:fld>
            <a:endParaRPr spc="-165" dirty="0"/>
          </a:p>
        </p:txBody>
      </p:sp>
      <p:sp>
        <p:nvSpPr>
          <p:cNvPr id="7" name="Title 6"/>
          <p:cNvSpPr>
            <a:spLocks noGrp="1"/>
          </p:cNvSpPr>
          <p:nvPr>
            <p:ph type="title"/>
          </p:nvPr>
        </p:nvSpPr>
        <p:spPr/>
        <p:txBody>
          <a:bodyPr/>
          <a:lstStyle/>
          <a:p>
            <a:r>
              <a:rPr lang="en-US" dirty="0"/>
              <a:t>Technology </a:t>
            </a:r>
            <a:r>
              <a:rPr lang="en-US"/>
              <a:t>and You</a:t>
            </a:r>
            <a:endParaRPr lang="en-GB"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dirty="0"/>
              <a:t>Computers In Health Care</a:t>
            </a:r>
          </a:p>
        </p:txBody>
      </p:sp>
      <p:sp>
        <p:nvSpPr>
          <p:cNvPr id="53251" name="Rectangle 3"/>
          <p:cNvSpPr>
            <a:spLocks noGrp="1" noChangeArrowheads="1"/>
          </p:cNvSpPr>
          <p:nvPr>
            <p:ph idx="1"/>
          </p:nvPr>
        </p:nvSpPr>
        <p:spPr/>
        <p:txBody>
          <a:bodyPr/>
          <a:lstStyle/>
          <a:p>
            <a:r>
              <a:rPr lang="en-US"/>
              <a:t>Computers in health care</a:t>
            </a:r>
          </a:p>
          <a:p>
            <a:pPr lvl="1"/>
            <a:r>
              <a:rPr lang="en-US"/>
              <a:t>Revolutionized health care</a:t>
            </a:r>
          </a:p>
          <a:p>
            <a:pPr lvl="1"/>
            <a:r>
              <a:rPr lang="en-US"/>
              <a:t>New treatments possible</a:t>
            </a:r>
          </a:p>
          <a:p>
            <a:pPr lvl="1"/>
            <a:r>
              <a:rPr lang="en-US"/>
              <a:t>Scheduling of patients has improved</a:t>
            </a:r>
          </a:p>
          <a:p>
            <a:pPr lvl="1"/>
            <a:r>
              <a:rPr lang="en-US"/>
              <a:t>Delivery of medicine is safer</a:t>
            </a:r>
          </a:p>
        </p:txBody>
      </p:sp>
      <p:sp>
        <p:nvSpPr>
          <p:cNvPr id="53252" name="Slide Number Placeholder 3"/>
          <p:cNvSpPr>
            <a:spLocks noGrp="1"/>
          </p:cNvSpPr>
          <p:nvPr>
            <p:ph type="sldNum" sz="quarter" idx="12"/>
          </p:nvPr>
        </p:nvSpPr>
        <p:spPr>
          <a:noFill/>
        </p:spPr>
        <p:txBody>
          <a:bodyPr/>
          <a:lstStyle/>
          <a:p>
            <a:pPr fontAlgn="base">
              <a:spcBef>
                <a:spcPct val="0"/>
              </a:spcBef>
              <a:spcAft>
                <a:spcPct val="0"/>
              </a:spcAft>
            </a:pPr>
            <a:r>
              <a:rPr lang="en-US"/>
              <a:t>1A-</a:t>
            </a:r>
            <a:fld id="{EB84AA96-E613-400C-B83E-1D77CF01645A}" type="slidenum">
              <a:rPr lang="en-US"/>
              <a:pPr fontAlgn="base">
                <a:spcBef>
                  <a:spcPct val="0"/>
                </a:spcBef>
                <a:spcAft>
                  <a:spcPct val="0"/>
                </a:spcAft>
              </a:pPr>
              <a:t>38</a:t>
            </a:fld>
            <a:endParaRPr lang="en-US"/>
          </a:p>
        </p:txBody>
      </p:sp>
      <p:pic>
        <p:nvPicPr>
          <p:cNvPr id="5" name="Picture 2"/>
          <p:cNvPicPr>
            <a:picLocks noChangeAspect="1" noChangeArrowheads="1"/>
          </p:cNvPicPr>
          <p:nvPr/>
        </p:nvPicPr>
        <p:blipFill>
          <a:blip r:embed="rId3" cstate="print"/>
          <a:srcRect l="25781" t="27390" r="33594" b="48923"/>
          <a:stretch>
            <a:fillRect/>
          </a:stretch>
        </p:blipFill>
        <p:spPr bwMode="auto">
          <a:xfrm>
            <a:off x="1676400" y="4634388"/>
            <a:ext cx="5257800" cy="2223612"/>
          </a:xfrm>
          <a:prstGeom prst="rect">
            <a:avLst/>
          </a:prstGeom>
          <a:noFill/>
          <a:ln w="12700">
            <a:noFill/>
            <a:miter lim="800000"/>
            <a:headEnd type="none" w="sm" len="sm"/>
            <a:tailEnd type="none" w="sm" len="sm"/>
          </a:ln>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5" descr="Turing"/>
          <p:cNvPicPr>
            <a:picLocks noChangeAspect="1" noChangeArrowheads="1"/>
          </p:cNvPicPr>
          <p:nvPr/>
        </p:nvPicPr>
        <p:blipFill>
          <a:blip r:embed="rId3" cstate="print"/>
          <a:srcRect/>
          <a:stretch>
            <a:fillRect/>
          </a:stretch>
        </p:blipFill>
        <p:spPr bwMode="auto">
          <a:xfrm>
            <a:off x="7888288" y="0"/>
            <a:ext cx="1255712" cy="1524000"/>
          </a:xfrm>
          <a:prstGeom prst="rect">
            <a:avLst/>
          </a:prstGeom>
          <a:noFill/>
          <a:ln w="9525">
            <a:noFill/>
            <a:miter lim="800000"/>
            <a:headEnd/>
            <a:tailEnd/>
          </a:ln>
        </p:spPr>
      </p:pic>
      <p:sp>
        <p:nvSpPr>
          <p:cNvPr id="103430" name="Text Box 6"/>
          <p:cNvSpPr txBox="1">
            <a:spLocks noChangeArrowheads="1"/>
          </p:cNvSpPr>
          <p:nvPr/>
        </p:nvSpPr>
        <p:spPr bwMode="auto">
          <a:xfrm>
            <a:off x="152400" y="1600200"/>
            <a:ext cx="8991600" cy="4893647"/>
          </a:xfrm>
          <a:prstGeom prst="rect">
            <a:avLst/>
          </a:prstGeom>
          <a:noFill/>
          <a:ln w="9525">
            <a:noFill/>
            <a:miter lim="800000"/>
            <a:headEnd/>
            <a:tailEnd/>
          </a:ln>
          <a:effectLst/>
        </p:spPr>
        <p:txBody>
          <a:bodyPr wrap="square">
            <a:spAutoFit/>
          </a:bodyPr>
          <a:lstStyle/>
          <a:p>
            <a:pPr fontAlgn="auto">
              <a:spcBef>
                <a:spcPts val="0"/>
              </a:spcBef>
              <a:spcAft>
                <a:spcPts val="0"/>
              </a:spcAft>
              <a:buFont typeface="Wingdings" pitchFamily="2" charset="2"/>
              <a:buChar char="q"/>
              <a:defRPr/>
            </a:pPr>
            <a:r>
              <a:rPr lang="en-US" sz="2600" b="1" dirty="0">
                <a:latin typeface="+mn-lt"/>
                <a:cs typeface="Times New Roman" pitchFamily="18" charset="0"/>
              </a:rPr>
              <a:t>The Turing Machine Aka The Universal Machine (1936) includes</a:t>
            </a:r>
          </a:p>
          <a:p>
            <a:pPr fontAlgn="auto">
              <a:spcBef>
                <a:spcPts val="0"/>
              </a:spcBef>
              <a:spcAft>
                <a:spcPts val="0"/>
              </a:spcAft>
              <a:buFont typeface="Wingdings" pitchFamily="2" charset="2"/>
              <a:buChar char="q"/>
              <a:defRPr/>
            </a:pPr>
            <a:r>
              <a:rPr lang="en-US" sz="2600" b="1" dirty="0">
                <a:cs typeface="Times New Roman" pitchFamily="18" charset="0"/>
              </a:rPr>
              <a:t>A conceptual Tape that extends infinitely to both directions</a:t>
            </a:r>
          </a:p>
          <a:p>
            <a:pPr lvl="1">
              <a:buFont typeface="Wingdings" pitchFamily="2" charset="2"/>
              <a:buChar char="§"/>
              <a:defRPr/>
            </a:pPr>
            <a:r>
              <a:rPr lang="en-US" sz="2600" b="1" dirty="0">
                <a:latin typeface="+mn-lt"/>
                <a:cs typeface="Times New Roman" pitchFamily="18" charset="0"/>
              </a:rPr>
              <a:t>Holds the input to the </a:t>
            </a:r>
            <a:r>
              <a:rPr lang="en-US" sz="2600" b="1" dirty="0" err="1">
                <a:latin typeface="+mn-lt"/>
                <a:cs typeface="Times New Roman" pitchFamily="18" charset="0"/>
              </a:rPr>
              <a:t>turing</a:t>
            </a:r>
            <a:r>
              <a:rPr lang="en-US" sz="2600" b="1" dirty="0">
                <a:latin typeface="+mn-lt"/>
                <a:cs typeface="Times New Roman" pitchFamily="18" charset="0"/>
              </a:rPr>
              <a:t> machine</a:t>
            </a:r>
          </a:p>
          <a:p>
            <a:pPr lvl="1">
              <a:buFont typeface="Wingdings" pitchFamily="2" charset="2"/>
              <a:buChar char="§"/>
              <a:defRPr/>
            </a:pPr>
            <a:r>
              <a:rPr lang="en-US" sz="2600" b="1" dirty="0">
                <a:cs typeface="Times New Roman" pitchFamily="18" charset="0"/>
              </a:rPr>
              <a:t>Serves as memory</a:t>
            </a:r>
          </a:p>
          <a:p>
            <a:pPr lvl="1">
              <a:buFont typeface="Wingdings" pitchFamily="2" charset="2"/>
              <a:buChar char="§"/>
              <a:defRPr/>
            </a:pPr>
            <a:r>
              <a:rPr lang="en-US" sz="2600" b="1" dirty="0">
                <a:latin typeface="+mn-lt"/>
                <a:cs typeface="Times New Roman" pitchFamily="18" charset="0"/>
              </a:rPr>
              <a:t>The tape is divided in cells</a:t>
            </a:r>
          </a:p>
          <a:p>
            <a:pPr fontAlgn="auto">
              <a:spcBef>
                <a:spcPts val="0"/>
              </a:spcBef>
              <a:spcAft>
                <a:spcPts val="0"/>
              </a:spcAft>
              <a:buFont typeface="Wingdings" pitchFamily="2" charset="2"/>
              <a:buChar char="q"/>
              <a:defRPr/>
            </a:pPr>
            <a:r>
              <a:rPr lang="en-US" sz="2600" b="1" dirty="0">
                <a:cs typeface="Times New Roman" pitchFamily="18" charset="0"/>
              </a:rPr>
              <a:t>A unit that reads one cell of the tape and writes a symbol in that cell</a:t>
            </a:r>
            <a:endParaRPr lang="en-US" sz="2600" b="1" dirty="0">
              <a:latin typeface="+mn-lt"/>
              <a:cs typeface="Times New Roman" pitchFamily="18" charset="0"/>
            </a:endParaRPr>
          </a:p>
          <a:p>
            <a:pPr fontAlgn="auto">
              <a:spcBef>
                <a:spcPts val="0"/>
              </a:spcBef>
              <a:spcAft>
                <a:spcPts val="0"/>
              </a:spcAft>
              <a:buFont typeface="Wingdings" pitchFamily="2" charset="2"/>
              <a:buChar char="q"/>
              <a:defRPr/>
            </a:pPr>
            <a:endParaRPr lang="en-US" sz="2600" b="1" dirty="0">
              <a:latin typeface="+mn-lt"/>
              <a:cs typeface="Times New Roman" pitchFamily="18" charset="0"/>
            </a:endParaRPr>
          </a:p>
          <a:p>
            <a:pPr fontAlgn="auto">
              <a:spcBef>
                <a:spcPts val="0"/>
              </a:spcBef>
              <a:spcAft>
                <a:spcPts val="0"/>
              </a:spcAft>
              <a:defRPr/>
            </a:pPr>
            <a:endParaRPr lang="en-US" sz="2600" b="1" dirty="0">
              <a:latin typeface="+mn-lt"/>
              <a:cs typeface="Times New Roman" pitchFamily="18" charset="0"/>
            </a:endParaRPr>
          </a:p>
          <a:p>
            <a:pPr fontAlgn="auto">
              <a:spcBef>
                <a:spcPts val="0"/>
              </a:spcBef>
              <a:spcAft>
                <a:spcPts val="0"/>
              </a:spcAft>
              <a:defRPr/>
            </a:pPr>
            <a:endParaRPr lang="en-US" sz="2600" b="1" dirty="0">
              <a:cs typeface="Times New Roman" pitchFamily="18" charset="0"/>
            </a:endParaRPr>
          </a:p>
          <a:p>
            <a:pPr fontAlgn="auto">
              <a:spcBef>
                <a:spcPts val="0"/>
              </a:spcBef>
              <a:spcAft>
                <a:spcPts val="0"/>
              </a:spcAft>
              <a:defRPr/>
            </a:pPr>
            <a:endParaRPr lang="en-US" sz="2600" b="1" dirty="0">
              <a:latin typeface="+mn-lt"/>
            </a:endParaRPr>
          </a:p>
        </p:txBody>
      </p:sp>
      <p:sp>
        <p:nvSpPr>
          <p:cNvPr id="64516" name="AutoShape 2"/>
          <p:cNvSpPr>
            <a:spLocks noGrp="1" noChangeArrowheads="1"/>
          </p:cNvSpPr>
          <p:nvPr>
            <p:ph type="title"/>
          </p:nvPr>
        </p:nvSpPr>
        <p:spPr/>
        <p:txBody>
          <a:bodyPr/>
          <a:lstStyle/>
          <a:p>
            <a:pPr eaLnBrk="1" hangingPunct="1"/>
            <a:r>
              <a:rPr lang="en-US" sz="3200"/>
              <a:t>Allen Turing (1912-1954) </a:t>
            </a:r>
          </a:p>
        </p:txBody>
      </p:sp>
      <p:pic>
        <p:nvPicPr>
          <p:cNvPr id="1026" name="Picture 2"/>
          <p:cNvPicPr>
            <a:picLocks noChangeAspect="1" noChangeArrowheads="1"/>
          </p:cNvPicPr>
          <p:nvPr/>
        </p:nvPicPr>
        <p:blipFill>
          <a:blip r:embed="rId4"/>
          <a:srcRect/>
          <a:stretch>
            <a:fillRect/>
          </a:stretch>
        </p:blipFill>
        <p:spPr bwMode="auto">
          <a:xfrm>
            <a:off x="457200" y="5000625"/>
            <a:ext cx="5219700" cy="1857375"/>
          </a:xfrm>
          <a:prstGeom prst="rect">
            <a:avLst/>
          </a:prstGeom>
          <a:noFill/>
          <a:ln w="9525">
            <a:noFill/>
            <a:miter lim="800000"/>
            <a:headEnd/>
            <a:tailEnd/>
          </a:ln>
          <a:effectLst/>
        </p:spPr>
      </p:pic>
      <p:pic>
        <p:nvPicPr>
          <p:cNvPr id="1027" name="Picture 3"/>
          <p:cNvPicPr>
            <a:picLocks noChangeAspect="1" noChangeArrowheads="1"/>
          </p:cNvPicPr>
          <p:nvPr/>
        </p:nvPicPr>
        <p:blipFill>
          <a:blip r:embed="rId5"/>
          <a:srcRect/>
          <a:stretch>
            <a:fillRect/>
          </a:stretch>
        </p:blipFill>
        <p:spPr bwMode="auto">
          <a:xfrm>
            <a:off x="6302375" y="5029200"/>
            <a:ext cx="2384425" cy="1621522"/>
          </a:xfrm>
          <a:prstGeom prst="rect">
            <a:avLst/>
          </a:prstGeom>
          <a:noFill/>
          <a:ln w="9525">
            <a:noFill/>
            <a:miter lim="800000"/>
            <a:headEnd/>
            <a:tailEnd/>
          </a:ln>
          <a:effectLst/>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n-US"/>
              <a:t>John von Neumann</a:t>
            </a:r>
            <a:endParaRPr lang="en-IN"/>
          </a:p>
        </p:txBody>
      </p:sp>
      <p:sp>
        <p:nvSpPr>
          <p:cNvPr id="63491" name="Content Placeholder 2"/>
          <p:cNvSpPr>
            <a:spLocks noGrp="1"/>
          </p:cNvSpPr>
          <p:nvPr>
            <p:ph idx="1"/>
          </p:nvPr>
        </p:nvSpPr>
        <p:spPr>
          <a:xfrm>
            <a:off x="0" y="1295400"/>
            <a:ext cx="5334000" cy="5105400"/>
          </a:xfrm>
        </p:spPr>
        <p:txBody>
          <a:bodyPr>
            <a:noAutofit/>
          </a:bodyPr>
          <a:lstStyle/>
          <a:p>
            <a:r>
              <a:rPr lang="en-US" dirty="0"/>
              <a:t>A processing unit with both an arithmetic logic unit and processor registers</a:t>
            </a:r>
          </a:p>
          <a:p>
            <a:r>
              <a:rPr lang="en-US" dirty="0"/>
              <a:t>A control unit that includes an instruction register and a program counter</a:t>
            </a:r>
          </a:p>
          <a:p>
            <a:r>
              <a:rPr lang="en-US" dirty="0"/>
              <a:t>Memory that stores data and instructions</a:t>
            </a:r>
          </a:p>
          <a:p>
            <a:r>
              <a:rPr lang="en-US" dirty="0"/>
              <a:t>External mass storage</a:t>
            </a:r>
          </a:p>
          <a:p>
            <a:r>
              <a:rPr lang="en-US" dirty="0"/>
              <a:t>Input and output mechanisms</a:t>
            </a:r>
          </a:p>
        </p:txBody>
      </p:sp>
      <p:pic>
        <p:nvPicPr>
          <p:cNvPr id="63492" name="Picture 8" descr="http://www.adeptis.ru/vinci/john_von_neumann7.jpg"/>
          <p:cNvPicPr>
            <a:picLocks noChangeAspect="1" noChangeArrowheads="1"/>
          </p:cNvPicPr>
          <p:nvPr/>
        </p:nvPicPr>
        <p:blipFill>
          <a:blip r:embed="rId2" cstate="print"/>
          <a:srcRect/>
          <a:stretch>
            <a:fillRect/>
          </a:stretch>
        </p:blipFill>
        <p:spPr bwMode="auto">
          <a:xfrm>
            <a:off x="7806322" y="0"/>
            <a:ext cx="1337678" cy="1524000"/>
          </a:xfrm>
          <a:prstGeom prst="rect">
            <a:avLst/>
          </a:prstGeom>
          <a:noFill/>
          <a:ln w="9525">
            <a:noFill/>
            <a:miter lim="800000"/>
            <a:headEnd/>
            <a:tailEnd/>
          </a:ln>
        </p:spPr>
      </p:pic>
      <p:pic>
        <p:nvPicPr>
          <p:cNvPr id="2050" name="Picture 2"/>
          <p:cNvPicPr>
            <a:picLocks noChangeAspect="1" noChangeArrowheads="1"/>
          </p:cNvPicPr>
          <p:nvPr/>
        </p:nvPicPr>
        <p:blipFill>
          <a:blip r:embed="rId3"/>
          <a:srcRect/>
          <a:stretch>
            <a:fillRect/>
          </a:stretch>
        </p:blipFill>
        <p:spPr bwMode="auto">
          <a:xfrm>
            <a:off x="5224886" y="1905000"/>
            <a:ext cx="3718040" cy="4343400"/>
          </a:xfrm>
          <a:prstGeom prst="rect">
            <a:avLst/>
          </a:prstGeom>
          <a:noFill/>
          <a:ln w="9525">
            <a:noFill/>
            <a:miter lim="800000"/>
            <a:headEnd/>
            <a:tailEnd/>
          </a:ln>
          <a:effectLst/>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title"/>
          </p:nvPr>
        </p:nvSpPr>
        <p:spPr>
          <a:xfrm>
            <a:off x="685800" y="228600"/>
            <a:ext cx="6934200" cy="911225"/>
          </a:xfrm>
        </p:spPr>
        <p:txBody>
          <a:bodyPr/>
          <a:lstStyle/>
          <a:p>
            <a:r>
              <a:rPr lang="en-US" dirty="0"/>
              <a:t>Input Devices</a:t>
            </a:r>
          </a:p>
        </p:txBody>
      </p:sp>
      <p:sp>
        <p:nvSpPr>
          <p:cNvPr id="5124" name="Rectangle 4"/>
          <p:cNvSpPr>
            <a:spLocks noGrp="1" noChangeArrowheads="1"/>
          </p:cNvSpPr>
          <p:nvPr>
            <p:ph type="body" idx="1"/>
          </p:nvPr>
        </p:nvSpPr>
        <p:spPr>
          <a:xfrm>
            <a:off x="304800" y="1371600"/>
            <a:ext cx="7239000" cy="914400"/>
          </a:xfrm>
        </p:spPr>
        <p:txBody>
          <a:bodyPr>
            <a:normAutofit fontScale="92500" lnSpcReduction="20000"/>
          </a:bodyPr>
          <a:lstStyle/>
          <a:p>
            <a:r>
              <a:rPr lang="en-US" dirty="0"/>
              <a:t>Hardware used to enter data and instructions</a:t>
            </a:r>
          </a:p>
        </p:txBody>
      </p:sp>
      <p:sp>
        <p:nvSpPr>
          <p:cNvPr id="13"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41</a:t>
            </a:fld>
            <a:endParaRPr lang="en-US" dirty="0"/>
          </a:p>
        </p:txBody>
      </p:sp>
      <p:grpSp>
        <p:nvGrpSpPr>
          <p:cNvPr id="2" name="Group 20"/>
          <p:cNvGrpSpPr/>
          <p:nvPr/>
        </p:nvGrpSpPr>
        <p:grpSpPr>
          <a:xfrm>
            <a:off x="609600" y="2286000"/>
            <a:ext cx="5867400" cy="4267200"/>
            <a:chOff x="998538" y="2057400"/>
            <a:chExt cx="6621462" cy="4572000"/>
          </a:xfrm>
        </p:grpSpPr>
        <p:pic>
          <p:nvPicPr>
            <p:cNvPr id="22" name="Picture 2" descr="04-069-fig1-03-ar5"/>
            <p:cNvPicPr>
              <a:picLocks noChangeAspect="1" noChangeArrowheads="1"/>
            </p:cNvPicPr>
            <p:nvPr/>
          </p:nvPicPr>
          <p:blipFill>
            <a:blip r:embed="rId3" cstate="print"/>
            <a:srcRect b="30000"/>
            <a:stretch>
              <a:fillRect/>
            </a:stretch>
          </p:blipFill>
          <p:spPr bwMode="auto">
            <a:xfrm>
              <a:off x="1524000" y="2057400"/>
              <a:ext cx="6096000" cy="4572000"/>
            </a:xfrm>
            <a:prstGeom prst="rect">
              <a:avLst/>
            </a:prstGeom>
            <a:noFill/>
            <a:effectLst>
              <a:outerShdw dist="107763" dir="2700000" algn="ctr" rotWithShape="0">
                <a:srgbClr val="808080">
                  <a:alpha val="50000"/>
                </a:srgbClr>
              </a:outerShdw>
            </a:effectLst>
          </p:spPr>
        </p:pic>
        <p:grpSp>
          <p:nvGrpSpPr>
            <p:cNvPr id="3" name="Group 12"/>
            <p:cNvGrpSpPr/>
            <p:nvPr/>
          </p:nvGrpSpPr>
          <p:grpSpPr>
            <a:xfrm>
              <a:off x="998538" y="2162175"/>
              <a:ext cx="5994400" cy="3816350"/>
              <a:chOff x="998538" y="2162175"/>
              <a:chExt cx="5994400" cy="3816350"/>
            </a:xfrm>
          </p:grpSpPr>
          <p:sp>
            <p:nvSpPr>
              <p:cNvPr id="24" name="AutoShape 6"/>
              <p:cNvSpPr>
                <a:spLocks noChangeArrowheads="1"/>
              </p:cNvSpPr>
              <p:nvPr/>
            </p:nvSpPr>
            <p:spPr bwMode="auto">
              <a:xfrm rot="919484">
                <a:off x="2371725" y="4262438"/>
                <a:ext cx="1143000" cy="228600"/>
              </a:xfrm>
              <a:prstGeom prst="rightArrow">
                <a:avLst>
                  <a:gd name="adj1" fmla="val 50000"/>
                  <a:gd name="adj2" fmla="val 125000"/>
                </a:avLst>
              </a:prstGeom>
              <a:solidFill>
                <a:srgbClr val="D94439"/>
              </a:solidFill>
              <a:ln w="9525">
                <a:solidFill>
                  <a:schemeClr val="tx1"/>
                </a:solidFill>
                <a:miter lim="800000"/>
                <a:headEnd/>
                <a:tailEnd/>
              </a:ln>
            </p:spPr>
            <p:txBody>
              <a:bodyPr wrap="none" anchor="ctr"/>
              <a:lstStyle/>
              <a:p>
                <a:pPr>
                  <a:defRPr/>
                </a:pPr>
                <a:endParaRPr lang="en-US"/>
              </a:p>
            </p:txBody>
          </p:sp>
          <p:sp>
            <p:nvSpPr>
              <p:cNvPr id="25" name="AutoShape 7"/>
              <p:cNvSpPr>
                <a:spLocks noChangeArrowheads="1"/>
              </p:cNvSpPr>
              <p:nvPr/>
            </p:nvSpPr>
            <p:spPr bwMode="auto">
              <a:xfrm rot="11048536" flipH="1">
                <a:off x="4459288" y="2162175"/>
                <a:ext cx="793750" cy="165100"/>
              </a:xfrm>
              <a:prstGeom prst="rightArrow">
                <a:avLst>
                  <a:gd name="adj1" fmla="val 50000"/>
                  <a:gd name="adj2" fmla="val 95303"/>
                </a:avLst>
              </a:prstGeom>
              <a:solidFill>
                <a:srgbClr val="D94439"/>
              </a:solidFill>
              <a:ln w="9525">
                <a:solidFill>
                  <a:schemeClr val="tx1"/>
                </a:solidFill>
                <a:miter lim="800000"/>
                <a:headEnd/>
                <a:tailEnd/>
              </a:ln>
            </p:spPr>
            <p:txBody>
              <a:bodyPr wrap="none" anchor="ctr"/>
              <a:lstStyle/>
              <a:p>
                <a:pPr>
                  <a:defRPr/>
                </a:pPr>
                <a:endParaRPr lang="en-US"/>
              </a:p>
            </p:txBody>
          </p:sp>
          <p:sp>
            <p:nvSpPr>
              <p:cNvPr id="26" name="AutoShape 8"/>
              <p:cNvSpPr>
                <a:spLocks noChangeArrowheads="1"/>
              </p:cNvSpPr>
              <p:nvPr/>
            </p:nvSpPr>
            <p:spPr bwMode="auto">
              <a:xfrm rot="685071">
                <a:off x="4202113" y="5749925"/>
                <a:ext cx="1143000" cy="228600"/>
              </a:xfrm>
              <a:prstGeom prst="rightArrow">
                <a:avLst>
                  <a:gd name="adj1" fmla="val 50000"/>
                  <a:gd name="adj2" fmla="val 125000"/>
                </a:avLst>
              </a:prstGeom>
              <a:solidFill>
                <a:srgbClr val="D94439"/>
              </a:solidFill>
              <a:ln w="9525">
                <a:solidFill>
                  <a:schemeClr val="tx1"/>
                </a:solidFill>
                <a:miter lim="800000"/>
                <a:headEnd/>
                <a:tailEnd/>
              </a:ln>
            </p:spPr>
            <p:txBody>
              <a:bodyPr wrap="none" anchor="ctr"/>
              <a:lstStyle/>
              <a:p>
                <a:pPr>
                  <a:defRPr/>
                </a:pPr>
                <a:endParaRPr lang="en-US"/>
              </a:p>
            </p:txBody>
          </p:sp>
          <p:sp>
            <p:nvSpPr>
              <p:cNvPr id="27" name="AutoShape 9"/>
              <p:cNvSpPr>
                <a:spLocks noChangeArrowheads="1"/>
              </p:cNvSpPr>
              <p:nvPr/>
            </p:nvSpPr>
            <p:spPr bwMode="auto">
              <a:xfrm>
                <a:off x="5181600" y="5181600"/>
                <a:ext cx="228600" cy="685800"/>
              </a:xfrm>
              <a:prstGeom prst="upArrow">
                <a:avLst>
                  <a:gd name="adj1" fmla="val 50000"/>
                  <a:gd name="adj2" fmla="val 75000"/>
                </a:avLst>
              </a:prstGeom>
              <a:solidFill>
                <a:srgbClr val="D94439"/>
              </a:solidFill>
              <a:ln w="9525">
                <a:solidFill>
                  <a:schemeClr val="tx1"/>
                </a:solidFill>
                <a:miter lim="800000"/>
                <a:headEnd/>
                <a:tailEnd/>
              </a:ln>
            </p:spPr>
            <p:txBody>
              <a:bodyPr wrap="none" anchor="ctr"/>
              <a:lstStyle/>
              <a:p>
                <a:pPr>
                  <a:defRPr/>
                </a:pPr>
                <a:endParaRPr lang="en-US"/>
              </a:p>
            </p:txBody>
          </p:sp>
          <p:sp>
            <p:nvSpPr>
              <p:cNvPr id="28" name="AutoShape 10"/>
              <p:cNvSpPr>
                <a:spLocks noChangeArrowheads="1"/>
              </p:cNvSpPr>
              <p:nvPr/>
            </p:nvSpPr>
            <p:spPr bwMode="auto">
              <a:xfrm rot="13557589">
                <a:off x="6535738" y="4625975"/>
                <a:ext cx="228600" cy="685800"/>
              </a:xfrm>
              <a:prstGeom prst="downArrow">
                <a:avLst>
                  <a:gd name="adj1" fmla="val 50000"/>
                  <a:gd name="adj2" fmla="val 75000"/>
                </a:avLst>
              </a:prstGeom>
              <a:solidFill>
                <a:srgbClr val="D94439"/>
              </a:solidFill>
              <a:ln w="9525">
                <a:solidFill>
                  <a:schemeClr val="tx1"/>
                </a:solidFill>
                <a:miter lim="800000"/>
                <a:headEnd/>
                <a:tailEnd/>
              </a:ln>
            </p:spPr>
            <p:txBody>
              <a:bodyPr wrap="none" anchor="ctr"/>
              <a:lstStyle/>
              <a:p>
                <a:pPr>
                  <a:defRPr/>
                </a:pPr>
                <a:endParaRPr lang="en-US"/>
              </a:p>
            </p:txBody>
          </p:sp>
          <p:sp>
            <p:nvSpPr>
              <p:cNvPr id="29" name="AutoShape 11"/>
              <p:cNvSpPr>
                <a:spLocks noChangeArrowheads="1"/>
              </p:cNvSpPr>
              <p:nvPr/>
            </p:nvSpPr>
            <p:spPr bwMode="auto">
              <a:xfrm rot="20517131">
                <a:off x="998538" y="5200650"/>
                <a:ext cx="1143000" cy="228600"/>
              </a:xfrm>
              <a:prstGeom prst="rightArrow">
                <a:avLst>
                  <a:gd name="adj1" fmla="val 50000"/>
                  <a:gd name="adj2" fmla="val 125000"/>
                </a:avLst>
              </a:prstGeom>
              <a:solidFill>
                <a:srgbClr val="D94439"/>
              </a:solidFill>
              <a:ln w="9525">
                <a:solidFill>
                  <a:schemeClr val="tx1"/>
                </a:solidFill>
                <a:miter lim="800000"/>
                <a:headEnd/>
                <a:tailEnd/>
              </a:ln>
            </p:spPr>
            <p:txBody>
              <a:bodyPr wrap="none" anchor="ctr"/>
              <a:lstStyle/>
              <a:p>
                <a:pPr>
                  <a:defRPr/>
                </a:pPr>
                <a:endParaRPr lang="en-US"/>
              </a:p>
            </p:txBody>
          </p:sp>
        </p:gr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42</a:t>
            </a:fld>
            <a:endParaRPr lang="en-US" dirty="0"/>
          </a:p>
        </p:txBody>
      </p:sp>
      <p:sp>
        <p:nvSpPr>
          <p:cNvPr id="16387" name="Rectangle 1"/>
          <p:cNvSpPr>
            <a:spLocks noGrp="1" noChangeArrowheads="1"/>
          </p:cNvSpPr>
          <p:nvPr>
            <p:ph type="title" idx="4294967295"/>
          </p:nvPr>
        </p:nvSpPr>
        <p:spPr>
          <a:xfrm>
            <a:off x="533400" y="381000"/>
            <a:ext cx="8001000" cy="609600"/>
          </a:xfrm>
        </p:spPr>
        <p:txBody>
          <a:bodyPr>
            <a:normAutofit fontScale="90000"/>
          </a:bodyPr>
          <a:lstStyle/>
          <a:p>
            <a:pPr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dirty="0"/>
              <a:t> Two Common Input Devices</a:t>
            </a:r>
          </a:p>
        </p:txBody>
      </p:sp>
      <p:sp>
        <p:nvSpPr>
          <p:cNvPr id="5" name="Rectangle 3"/>
          <p:cNvSpPr>
            <a:spLocks noGrp="1" noChangeArrowheads="1"/>
          </p:cNvSpPr>
          <p:nvPr>
            <p:ph idx="1"/>
          </p:nvPr>
        </p:nvSpPr>
        <p:spPr>
          <a:xfrm>
            <a:off x="457200" y="1219200"/>
            <a:ext cx="7315200" cy="5257800"/>
          </a:xfrm>
        </p:spPr>
        <p:txBody>
          <a:bodyPr>
            <a:normAutofit/>
          </a:bodyPr>
          <a:lstStyle/>
          <a:p>
            <a:endParaRPr lang="en-US" dirty="0">
              <a:latin typeface="Arial" pitchFamily="34" charset="0"/>
              <a:cs typeface="Arial" pitchFamily="34" charset="0"/>
            </a:endParaRPr>
          </a:p>
          <a:p>
            <a:r>
              <a:rPr lang="en-US" dirty="0">
                <a:latin typeface="Arial" pitchFamily="34" charset="0"/>
                <a:cs typeface="Arial" pitchFamily="34" charset="0"/>
              </a:rPr>
              <a:t>Keyboard </a:t>
            </a:r>
          </a:p>
          <a:p>
            <a:endParaRPr lang="en-US" dirty="0">
              <a:latin typeface="Arial" pitchFamily="34" charset="0"/>
              <a:cs typeface="Arial" pitchFamily="34" charset="0"/>
            </a:endParaRPr>
          </a:p>
          <a:p>
            <a:r>
              <a:rPr lang="en-US" dirty="0">
                <a:latin typeface="Arial" pitchFamily="34" charset="0"/>
                <a:cs typeface="Arial" pitchFamily="34" charset="0"/>
              </a:rPr>
              <a:t>Mouse</a:t>
            </a:r>
          </a:p>
          <a:p>
            <a:pPr lvl="1"/>
            <a:endParaRPr lang="en-US" dirty="0">
              <a:latin typeface="Arial" pitchFamily="34" charset="0"/>
              <a:cs typeface="Arial" pitchFamily="34" charset="0"/>
            </a:endParaRPr>
          </a:p>
        </p:txBody>
      </p:sp>
      <p:sp>
        <p:nvSpPr>
          <p:cNvPr id="10241"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24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pPr eaLnBrk="1" hangingPunct="1"/>
            <a:r>
              <a:rPr lang="en-US"/>
              <a:t>The Keyboard</a:t>
            </a:r>
          </a:p>
        </p:txBody>
      </p:sp>
      <p:sp>
        <p:nvSpPr>
          <p:cNvPr id="8196" name="Rectangle 3"/>
          <p:cNvSpPr>
            <a:spLocks noGrp="1" noChangeArrowheads="1"/>
          </p:cNvSpPr>
          <p:nvPr>
            <p:ph type="body" idx="1"/>
          </p:nvPr>
        </p:nvSpPr>
        <p:spPr>
          <a:xfrm>
            <a:off x="457200" y="1447800"/>
            <a:ext cx="7848600" cy="5410200"/>
          </a:xfrm>
        </p:spPr>
        <p:txBody>
          <a:bodyPr/>
          <a:lstStyle/>
          <a:p>
            <a:pPr eaLnBrk="1" hangingPunct="1"/>
            <a:r>
              <a:rPr lang="en-US" dirty="0"/>
              <a:t>First peripheral to be used with computers</a:t>
            </a:r>
          </a:p>
          <a:p>
            <a:r>
              <a:rPr lang="en-US" dirty="0"/>
              <a:t>The most common input device for inputting text and numbers</a:t>
            </a:r>
          </a:p>
          <a:p>
            <a:pPr eaLnBrk="1" hangingPunct="1"/>
            <a:r>
              <a:rPr lang="en-US" dirty="0"/>
              <a:t>About 100 keys</a:t>
            </a:r>
          </a:p>
          <a:p>
            <a:r>
              <a:rPr lang="en-US" dirty="0"/>
              <a:t>Must be proficient with keyboard</a:t>
            </a:r>
          </a:p>
          <a:p>
            <a:r>
              <a:rPr lang="en-US" dirty="0"/>
              <a:t>Skill is called keyboarding</a:t>
            </a:r>
          </a:p>
        </p:txBody>
      </p:sp>
      <p:sp>
        <p:nvSpPr>
          <p:cNvPr id="5"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pPr>
              <a:defRPr/>
            </a:pPr>
            <a:fld id="{782E5CB2-9C56-4C4E-9F8A-031E63E2A4DA}" type="slidenum">
              <a:rPr lang="en-US" altLang="zh-TW" smtClean="0"/>
              <a:pPr>
                <a:defRPr/>
              </a:pPr>
              <a:t>44</a:t>
            </a:fld>
            <a:endParaRPr lang="en-US" altLang="zh-TW" dirty="0"/>
          </a:p>
        </p:txBody>
      </p:sp>
      <p:pic>
        <p:nvPicPr>
          <p:cNvPr id="34818" name="Picture 2"/>
          <p:cNvPicPr>
            <a:picLocks noChangeAspect="1" noChangeArrowheads="1"/>
          </p:cNvPicPr>
          <p:nvPr/>
        </p:nvPicPr>
        <p:blipFill>
          <a:blip r:embed="rId2" cstate="print"/>
          <a:srcRect/>
          <a:stretch>
            <a:fillRect/>
          </a:stretch>
        </p:blipFill>
        <p:spPr bwMode="auto">
          <a:xfrm>
            <a:off x="304799" y="228600"/>
            <a:ext cx="8073565" cy="6248400"/>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pPr eaLnBrk="1" hangingPunct="1"/>
            <a:r>
              <a:rPr lang="en-US"/>
              <a:t>The Mouse</a:t>
            </a:r>
          </a:p>
        </p:txBody>
      </p:sp>
      <p:sp>
        <p:nvSpPr>
          <p:cNvPr id="12292" name="Rectangle 3"/>
          <p:cNvSpPr>
            <a:spLocks noGrp="1" noChangeArrowheads="1"/>
          </p:cNvSpPr>
          <p:nvPr>
            <p:ph type="body" idx="1"/>
          </p:nvPr>
        </p:nvSpPr>
        <p:spPr>
          <a:xfrm>
            <a:off x="381000" y="1219200"/>
            <a:ext cx="7848600" cy="5410200"/>
          </a:xfrm>
        </p:spPr>
        <p:txBody>
          <a:bodyPr/>
          <a:lstStyle/>
          <a:p>
            <a:pPr eaLnBrk="1" hangingPunct="1"/>
            <a:r>
              <a:rPr lang="en-US" dirty="0"/>
              <a:t>All modern computers have a variant</a:t>
            </a:r>
          </a:p>
          <a:p>
            <a:pPr eaLnBrk="1" hangingPunct="1"/>
            <a:r>
              <a:rPr lang="en-US" dirty="0"/>
              <a:t>Allows users to select objects</a:t>
            </a:r>
          </a:p>
          <a:p>
            <a:pPr lvl="1" eaLnBrk="1" hangingPunct="1"/>
            <a:r>
              <a:rPr lang="en-US" dirty="0"/>
              <a:t>Pointer moved by the mouse</a:t>
            </a:r>
          </a:p>
          <a:p>
            <a:pPr eaLnBrk="1" hangingPunct="1"/>
            <a:r>
              <a:rPr lang="en-US" dirty="0"/>
              <a:t>Mechanical mouse</a:t>
            </a:r>
          </a:p>
          <a:p>
            <a:pPr lvl="1" eaLnBrk="1" hangingPunct="1"/>
            <a:r>
              <a:rPr lang="en-US" dirty="0"/>
              <a:t>Rubber ball determines direction and speed</a:t>
            </a:r>
          </a:p>
          <a:p>
            <a:pPr lvl="1" eaLnBrk="1" hangingPunct="1"/>
            <a:r>
              <a:rPr lang="en-US" dirty="0"/>
              <a:t>The ball often requires cleaning</a:t>
            </a:r>
          </a:p>
          <a:p>
            <a:pPr eaLnBrk="1" hangingPunct="1"/>
            <a:r>
              <a:rPr lang="en-US" dirty="0"/>
              <a:t>Optical mouse</a:t>
            </a:r>
          </a:p>
          <a:p>
            <a:pPr lvl="1" eaLnBrk="1" hangingPunct="1"/>
            <a:r>
              <a:rPr lang="en-US" dirty="0"/>
              <a:t>Light shown onto mouse pad</a:t>
            </a:r>
          </a:p>
          <a:p>
            <a:pPr lvl="1" eaLnBrk="1" hangingPunct="1"/>
            <a:r>
              <a:rPr lang="en-US" dirty="0"/>
              <a:t>Reflection determines speed and direction</a:t>
            </a:r>
          </a:p>
          <a:p>
            <a:pPr lvl="1" eaLnBrk="1" hangingPunct="1"/>
            <a:r>
              <a:rPr lang="en-US" dirty="0"/>
              <a:t>Requires little maintenance</a:t>
            </a:r>
          </a:p>
        </p:txBody>
      </p:sp>
      <p:sp>
        <p:nvSpPr>
          <p:cNvPr id="5"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45</a:t>
            </a:fld>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t>The Mouse</a:t>
            </a:r>
          </a:p>
        </p:txBody>
      </p:sp>
      <p:grpSp>
        <p:nvGrpSpPr>
          <p:cNvPr id="2" name="Group 81"/>
          <p:cNvGrpSpPr>
            <a:grpSpLocks/>
          </p:cNvGrpSpPr>
          <p:nvPr/>
        </p:nvGrpSpPr>
        <p:grpSpPr bwMode="auto">
          <a:xfrm>
            <a:off x="5181600" y="1371600"/>
            <a:ext cx="3505200" cy="2286000"/>
            <a:chOff x="3427" y="1407"/>
            <a:chExt cx="1969" cy="1229"/>
          </a:xfrm>
        </p:grpSpPr>
        <p:pic>
          <p:nvPicPr>
            <p:cNvPr id="13320" name="Picture 30" descr="Fig05-08"/>
            <p:cNvPicPr>
              <a:picLocks noChangeAspect="1" noChangeArrowheads="1"/>
            </p:cNvPicPr>
            <p:nvPr/>
          </p:nvPicPr>
          <p:blipFill>
            <a:blip r:embed="rId3" cstate="print"/>
            <a:srcRect/>
            <a:stretch>
              <a:fillRect/>
            </a:stretch>
          </p:blipFill>
          <p:spPr bwMode="auto">
            <a:xfrm>
              <a:off x="3638" y="1614"/>
              <a:ext cx="1044" cy="1022"/>
            </a:xfrm>
            <a:prstGeom prst="rect">
              <a:avLst/>
            </a:prstGeom>
            <a:noFill/>
            <a:ln w="9525">
              <a:noFill/>
              <a:miter lim="800000"/>
              <a:headEnd/>
              <a:tailEnd/>
            </a:ln>
          </p:spPr>
        </p:pic>
        <p:sp>
          <p:nvSpPr>
            <p:cNvPr id="11277" name="Text Box 32"/>
            <p:cNvSpPr txBox="1">
              <a:spLocks noChangeAspect="1" noChangeArrowheads="1"/>
            </p:cNvSpPr>
            <p:nvPr/>
          </p:nvSpPr>
          <p:spPr bwMode="auto">
            <a:xfrm>
              <a:off x="3427" y="1407"/>
              <a:ext cx="1033" cy="189"/>
            </a:xfrm>
            <a:prstGeom prst="rect">
              <a:avLst/>
            </a:prstGeom>
            <a:noFill/>
            <a:ln w="9525">
              <a:noFill/>
              <a:miter lim="800000"/>
              <a:headEnd/>
              <a:tailEnd/>
            </a:ln>
          </p:spPr>
          <p:txBody>
            <a:bodyPr wrap="none">
              <a:spAutoFit/>
            </a:bodyPr>
            <a:lstStyle/>
            <a:p>
              <a:pPr algn="ctr">
                <a:lnSpc>
                  <a:spcPct val="85000"/>
                </a:lnSpc>
                <a:defRPr/>
              </a:pPr>
              <a:r>
                <a:rPr lang="en-US" sz="1600" b="1">
                  <a:solidFill>
                    <a:schemeClr val="bg2"/>
                  </a:solidFill>
                </a:rPr>
                <a:t>mouse buttons</a:t>
              </a:r>
            </a:p>
          </p:txBody>
        </p:sp>
        <p:sp>
          <p:nvSpPr>
            <p:cNvPr id="11278" name="Text Box 34"/>
            <p:cNvSpPr txBox="1">
              <a:spLocks noChangeAspect="1" noChangeArrowheads="1"/>
            </p:cNvSpPr>
            <p:nvPr/>
          </p:nvSpPr>
          <p:spPr bwMode="auto">
            <a:xfrm>
              <a:off x="4667" y="1572"/>
              <a:ext cx="729" cy="320"/>
            </a:xfrm>
            <a:prstGeom prst="rect">
              <a:avLst/>
            </a:prstGeom>
            <a:noFill/>
            <a:ln w="9525">
              <a:noFill/>
              <a:miter lim="800000"/>
              <a:headEnd/>
              <a:tailEnd/>
            </a:ln>
          </p:spPr>
          <p:txBody>
            <a:bodyPr>
              <a:spAutoFit/>
            </a:bodyPr>
            <a:lstStyle/>
            <a:p>
              <a:pPr algn="ctr">
                <a:lnSpc>
                  <a:spcPct val="85000"/>
                </a:lnSpc>
                <a:defRPr/>
              </a:pPr>
              <a:r>
                <a:rPr lang="en-US" sz="1600" b="1">
                  <a:solidFill>
                    <a:schemeClr val="bg2"/>
                  </a:solidFill>
                </a:rPr>
                <a:t>wheel button</a:t>
              </a:r>
            </a:p>
          </p:txBody>
        </p:sp>
        <p:sp>
          <p:nvSpPr>
            <p:cNvPr id="11279" name="Text Box 36"/>
            <p:cNvSpPr txBox="1">
              <a:spLocks noChangeAspect="1" noChangeArrowheads="1"/>
            </p:cNvSpPr>
            <p:nvPr/>
          </p:nvSpPr>
          <p:spPr bwMode="auto">
            <a:xfrm>
              <a:off x="4692" y="2032"/>
              <a:ext cx="336" cy="189"/>
            </a:xfrm>
            <a:prstGeom prst="rect">
              <a:avLst/>
            </a:prstGeom>
            <a:noFill/>
            <a:ln w="9525">
              <a:noFill/>
              <a:miter lim="800000"/>
              <a:headEnd/>
              <a:tailEnd/>
            </a:ln>
          </p:spPr>
          <p:txBody>
            <a:bodyPr wrap="none">
              <a:spAutoFit/>
            </a:bodyPr>
            <a:lstStyle/>
            <a:p>
              <a:pPr algn="ctr">
                <a:lnSpc>
                  <a:spcPct val="85000"/>
                </a:lnSpc>
                <a:defRPr/>
              </a:pPr>
              <a:r>
                <a:rPr lang="en-US" sz="1600" b="1">
                  <a:solidFill>
                    <a:schemeClr val="bg2"/>
                  </a:solidFill>
                </a:rPr>
                <a:t>ball</a:t>
              </a:r>
            </a:p>
          </p:txBody>
        </p:sp>
        <p:sp>
          <p:nvSpPr>
            <p:cNvPr id="11280" name="Line 40"/>
            <p:cNvSpPr>
              <a:spLocks noChangeAspect="1" noChangeShapeType="1"/>
            </p:cNvSpPr>
            <p:nvPr/>
          </p:nvSpPr>
          <p:spPr bwMode="auto">
            <a:xfrm flipH="1">
              <a:off x="4316" y="1740"/>
              <a:ext cx="448" cy="176"/>
            </a:xfrm>
            <a:prstGeom prst="line">
              <a:avLst/>
            </a:prstGeom>
            <a:noFill/>
            <a:ln w="38100">
              <a:solidFill>
                <a:schemeClr val="bg2"/>
              </a:solidFill>
              <a:miter lim="800000"/>
              <a:headEnd/>
              <a:tailEnd type="triangle" w="med" len="med"/>
            </a:ln>
          </p:spPr>
          <p:txBody>
            <a:bodyPr wrap="none"/>
            <a:lstStyle/>
            <a:p>
              <a:pPr>
                <a:defRPr/>
              </a:pPr>
              <a:endParaRPr lang="en-US"/>
            </a:p>
          </p:txBody>
        </p:sp>
        <p:sp>
          <p:nvSpPr>
            <p:cNvPr id="11281" name="Line 41"/>
            <p:cNvSpPr>
              <a:spLocks noChangeAspect="1" noChangeShapeType="1"/>
            </p:cNvSpPr>
            <p:nvPr/>
          </p:nvSpPr>
          <p:spPr bwMode="auto">
            <a:xfrm flipH="1">
              <a:off x="4292" y="2072"/>
              <a:ext cx="492" cy="12"/>
            </a:xfrm>
            <a:prstGeom prst="line">
              <a:avLst/>
            </a:prstGeom>
            <a:noFill/>
            <a:ln w="38100">
              <a:solidFill>
                <a:schemeClr val="bg2"/>
              </a:solidFill>
              <a:miter lim="800000"/>
              <a:headEnd/>
              <a:tailEnd type="triangle" w="med" len="med"/>
            </a:ln>
          </p:spPr>
          <p:txBody>
            <a:bodyPr wrap="none"/>
            <a:lstStyle/>
            <a:p>
              <a:pPr>
                <a:defRPr/>
              </a:pPr>
              <a:endParaRPr lang="en-US"/>
            </a:p>
          </p:txBody>
        </p:sp>
        <p:sp>
          <p:nvSpPr>
            <p:cNvPr id="11282" name="Line 42"/>
            <p:cNvSpPr>
              <a:spLocks noChangeAspect="1" noChangeShapeType="1"/>
            </p:cNvSpPr>
            <p:nvPr/>
          </p:nvSpPr>
          <p:spPr bwMode="auto">
            <a:xfrm flipH="1">
              <a:off x="3760" y="1596"/>
              <a:ext cx="152" cy="300"/>
            </a:xfrm>
            <a:prstGeom prst="line">
              <a:avLst/>
            </a:prstGeom>
            <a:noFill/>
            <a:ln w="38100">
              <a:solidFill>
                <a:schemeClr val="bg2"/>
              </a:solidFill>
              <a:miter lim="800000"/>
              <a:headEnd/>
              <a:tailEnd type="triangle" w="med" len="med"/>
            </a:ln>
          </p:spPr>
          <p:txBody>
            <a:bodyPr wrap="none"/>
            <a:lstStyle/>
            <a:p>
              <a:pPr>
                <a:defRPr/>
              </a:pPr>
              <a:endParaRPr lang="en-US"/>
            </a:p>
          </p:txBody>
        </p:sp>
        <p:sp>
          <p:nvSpPr>
            <p:cNvPr id="11283" name="Line 43"/>
            <p:cNvSpPr>
              <a:spLocks noChangeAspect="1" noChangeShapeType="1"/>
            </p:cNvSpPr>
            <p:nvPr/>
          </p:nvSpPr>
          <p:spPr bwMode="auto">
            <a:xfrm>
              <a:off x="3912" y="1588"/>
              <a:ext cx="72" cy="296"/>
            </a:xfrm>
            <a:prstGeom prst="line">
              <a:avLst/>
            </a:prstGeom>
            <a:noFill/>
            <a:ln w="38100">
              <a:solidFill>
                <a:schemeClr val="bg2"/>
              </a:solidFill>
              <a:miter lim="800000"/>
              <a:headEnd/>
              <a:tailEnd type="triangle" w="med" len="med"/>
            </a:ln>
          </p:spPr>
          <p:txBody>
            <a:bodyPr wrap="none"/>
            <a:lstStyle/>
            <a:p>
              <a:pPr>
                <a:defRPr/>
              </a:pPr>
              <a:endParaRPr lang="en-US"/>
            </a:p>
          </p:txBody>
        </p:sp>
      </p:grpSp>
      <p:pic>
        <p:nvPicPr>
          <p:cNvPr id="13316" name="Picture 83" descr="Fig05-09"/>
          <p:cNvPicPr>
            <a:picLocks noChangeAspect="1" noChangeArrowheads="1"/>
          </p:cNvPicPr>
          <p:nvPr/>
        </p:nvPicPr>
        <p:blipFill>
          <a:blip r:embed="rId4" cstate="print"/>
          <a:srcRect/>
          <a:stretch>
            <a:fillRect/>
          </a:stretch>
        </p:blipFill>
        <p:spPr bwMode="auto">
          <a:xfrm>
            <a:off x="5497513" y="4267200"/>
            <a:ext cx="3417887" cy="2284413"/>
          </a:xfrm>
          <a:prstGeom prst="rect">
            <a:avLst/>
          </a:prstGeom>
          <a:noFill/>
          <a:ln w="9525">
            <a:noFill/>
            <a:miter lim="800000"/>
            <a:headEnd/>
            <a:tailEnd/>
          </a:ln>
        </p:spPr>
      </p:pic>
      <p:pic>
        <p:nvPicPr>
          <p:cNvPr id="13318" name="Picture 2"/>
          <p:cNvPicPr>
            <a:picLocks noChangeAspect="1" noChangeArrowheads="1"/>
          </p:cNvPicPr>
          <p:nvPr/>
        </p:nvPicPr>
        <p:blipFill>
          <a:blip r:embed="rId5" cstate="print"/>
          <a:srcRect/>
          <a:stretch>
            <a:fillRect/>
          </a:stretch>
        </p:blipFill>
        <p:spPr bwMode="auto">
          <a:xfrm>
            <a:off x="228600" y="1295400"/>
            <a:ext cx="4800600" cy="2967038"/>
          </a:xfrm>
          <a:prstGeom prst="rect">
            <a:avLst/>
          </a:prstGeom>
          <a:noFill/>
          <a:ln w="9525">
            <a:noFill/>
            <a:miter lim="800000"/>
            <a:headEnd/>
            <a:tailEnd/>
          </a:ln>
        </p:spPr>
      </p:pic>
      <p:pic>
        <p:nvPicPr>
          <p:cNvPr id="13319" name="Picture 4"/>
          <p:cNvPicPr>
            <a:picLocks noChangeAspect="1" noChangeArrowheads="1"/>
          </p:cNvPicPr>
          <p:nvPr/>
        </p:nvPicPr>
        <p:blipFill>
          <a:blip r:embed="rId6" cstate="print"/>
          <a:srcRect/>
          <a:stretch>
            <a:fillRect/>
          </a:stretch>
        </p:blipFill>
        <p:spPr bwMode="auto">
          <a:xfrm>
            <a:off x="685800" y="4495800"/>
            <a:ext cx="4746625" cy="1676400"/>
          </a:xfrm>
          <a:prstGeom prst="rect">
            <a:avLst/>
          </a:prstGeom>
          <a:noFill/>
          <a:ln w="9525">
            <a:noFill/>
            <a:miter lim="800000"/>
            <a:headEnd/>
            <a:tailEnd/>
          </a:ln>
        </p:spPr>
      </p:pic>
      <p:sp>
        <p:nvSpPr>
          <p:cNvPr id="1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46</a:t>
            </a:fld>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a:t>Optical Mouse</a:t>
            </a:r>
          </a:p>
        </p:txBody>
      </p:sp>
      <p:sp>
        <p:nvSpPr>
          <p:cNvPr id="14339" name="Content Placeholder 2"/>
          <p:cNvSpPr>
            <a:spLocks noGrp="1"/>
          </p:cNvSpPr>
          <p:nvPr>
            <p:ph idx="1"/>
          </p:nvPr>
        </p:nvSpPr>
        <p:spPr/>
        <p:txBody>
          <a:bodyPr/>
          <a:lstStyle/>
          <a:p>
            <a:endParaRPr lang="en-US"/>
          </a:p>
        </p:txBody>
      </p:sp>
      <p:pic>
        <p:nvPicPr>
          <p:cNvPr id="14341" name="Picture 2"/>
          <p:cNvPicPr>
            <a:picLocks noChangeAspect="1" noChangeArrowheads="1"/>
          </p:cNvPicPr>
          <p:nvPr/>
        </p:nvPicPr>
        <p:blipFill>
          <a:blip r:embed="rId2" cstate="print"/>
          <a:srcRect/>
          <a:stretch>
            <a:fillRect/>
          </a:stretch>
        </p:blipFill>
        <p:spPr bwMode="auto">
          <a:xfrm>
            <a:off x="609600" y="1143000"/>
            <a:ext cx="6400800" cy="5486400"/>
          </a:xfrm>
          <a:prstGeom prst="rect">
            <a:avLst/>
          </a:prstGeom>
          <a:noFill/>
          <a:ln w="9525">
            <a:noFill/>
            <a:miter lim="800000"/>
            <a:headEnd/>
            <a:tailEnd/>
          </a:ln>
        </p:spPr>
      </p:pic>
      <p:sp>
        <p:nvSpPr>
          <p:cNvPr id="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47</a:t>
            </a:fld>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33400" y="228600"/>
            <a:ext cx="7086600" cy="911225"/>
          </a:xfrm>
        </p:spPr>
        <p:txBody>
          <a:bodyPr/>
          <a:lstStyle/>
          <a:p>
            <a:pPr eaLnBrk="1" hangingPunct="1"/>
            <a:r>
              <a:rPr lang="en-US" dirty="0"/>
              <a:t> Benefits of Using Mouse</a:t>
            </a:r>
          </a:p>
        </p:txBody>
      </p:sp>
      <p:sp>
        <p:nvSpPr>
          <p:cNvPr id="16388" name="Rectangle 3"/>
          <p:cNvSpPr>
            <a:spLocks noGrp="1" noChangeArrowheads="1"/>
          </p:cNvSpPr>
          <p:nvPr>
            <p:ph type="body" idx="1"/>
          </p:nvPr>
        </p:nvSpPr>
        <p:spPr/>
        <p:txBody>
          <a:bodyPr/>
          <a:lstStyle/>
          <a:p>
            <a:r>
              <a:rPr lang="en-US" dirty="0"/>
              <a:t>Pointer positioning is fast</a:t>
            </a:r>
          </a:p>
          <a:p>
            <a:endParaRPr lang="en-US" dirty="0"/>
          </a:p>
          <a:p>
            <a:r>
              <a:rPr lang="en-US" dirty="0"/>
              <a:t>Menu interaction is easy</a:t>
            </a:r>
          </a:p>
          <a:p>
            <a:endParaRPr lang="en-US" dirty="0"/>
          </a:p>
          <a:p>
            <a:r>
              <a:rPr lang="en-US" dirty="0"/>
              <a:t>Users can draw electronically</a:t>
            </a:r>
          </a:p>
        </p:txBody>
      </p:sp>
      <p:sp>
        <p:nvSpPr>
          <p:cNvPr id="5"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48</a:t>
            </a:fld>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en-US" dirty="0"/>
              <a:t>Touch Screens</a:t>
            </a:r>
          </a:p>
        </p:txBody>
      </p:sp>
      <p:pic>
        <p:nvPicPr>
          <p:cNvPr id="6149" name="Picture 5" descr="D:\My Documents\!books\norton im\chapter 3\touch.tif"/>
          <p:cNvPicPr>
            <a:picLocks noChangeAspect="1" noChangeArrowheads="1"/>
          </p:cNvPicPr>
          <p:nvPr/>
        </p:nvPicPr>
        <p:blipFill>
          <a:blip r:embed="rId3" cstate="print"/>
          <a:srcRect/>
          <a:stretch>
            <a:fillRect/>
          </a:stretch>
        </p:blipFill>
        <p:spPr bwMode="auto">
          <a:xfrm>
            <a:off x="4800600" y="1371600"/>
            <a:ext cx="2878138" cy="4648200"/>
          </a:xfrm>
          <a:prstGeom prst="rect">
            <a:avLst/>
          </a:prstGeom>
          <a:noFill/>
          <a:ln w="9525">
            <a:noFill/>
            <a:miter lim="800000"/>
            <a:headEnd/>
            <a:tailEnd/>
          </a:ln>
        </p:spPr>
      </p:pic>
      <p:sp>
        <p:nvSpPr>
          <p:cNvPr id="6" name="Content Placeholder 5"/>
          <p:cNvSpPr>
            <a:spLocks noGrp="1"/>
          </p:cNvSpPr>
          <p:nvPr>
            <p:ph sz="half" idx="1"/>
          </p:nvPr>
        </p:nvSpPr>
        <p:spPr>
          <a:xfrm>
            <a:off x="228600" y="1524000"/>
            <a:ext cx="4419600" cy="4835525"/>
          </a:xfrm>
        </p:spPr>
        <p:txBody>
          <a:bodyPr>
            <a:normAutofit/>
          </a:bodyPr>
          <a:lstStyle/>
          <a:p>
            <a:r>
              <a:rPr lang="en-US" dirty="0"/>
              <a:t>accept input by allowing the user to place a fingertip directly on the computer screen</a:t>
            </a:r>
          </a:p>
          <a:p>
            <a:r>
              <a:rPr lang="en-US" dirty="0"/>
              <a:t>Use sensors to detect touch</a:t>
            </a:r>
          </a:p>
          <a:p>
            <a:r>
              <a:rPr lang="en-US" dirty="0"/>
              <a:t>Well suited for simple applications</a:t>
            </a:r>
          </a:p>
          <a:p>
            <a:pPr lvl="1"/>
            <a:r>
              <a:rPr lang="en-US" dirty="0"/>
              <a:t>ATM</a:t>
            </a:r>
          </a:p>
          <a:p>
            <a:pPr lvl="1"/>
            <a:r>
              <a:rPr lang="en-US" dirty="0"/>
              <a:t>Public information kiosk</a:t>
            </a:r>
          </a:p>
        </p:txBody>
      </p:sp>
      <p:sp>
        <p:nvSpPr>
          <p:cNvPr id="7"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49</a:t>
            </a:fld>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en-US" dirty="0"/>
              <a:t>Touch Screens</a:t>
            </a:r>
          </a:p>
        </p:txBody>
      </p:sp>
      <p:sp>
        <p:nvSpPr>
          <p:cNvPr id="6" name="Content Placeholder 5"/>
          <p:cNvSpPr>
            <a:spLocks noGrp="1"/>
          </p:cNvSpPr>
          <p:nvPr>
            <p:ph sz="half" idx="1"/>
          </p:nvPr>
        </p:nvSpPr>
        <p:spPr>
          <a:xfrm>
            <a:off x="457200" y="1524000"/>
            <a:ext cx="7239000" cy="5181600"/>
          </a:xfrm>
        </p:spPr>
        <p:txBody>
          <a:bodyPr>
            <a:normAutofit lnSpcReduction="10000"/>
          </a:bodyPr>
          <a:lstStyle/>
          <a:p>
            <a:pPr lvl="0"/>
            <a:r>
              <a:rPr lang="en-US" dirty="0"/>
              <a:t>work well in environments where dirt or weather would render keyboards and pointing devices useless, and </a:t>
            </a:r>
          </a:p>
          <a:p>
            <a:pPr lvl="0"/>
            <a:r>
              <a:rPr lang="en-US" dirty="0"/>
              <a:t>where a simple, intuitive interface is important.</a:t>
            </a:r>
            <a:endParaRPr lang="en-US" sz="2400" dirty="0"/>
          </a:p>
          <a:p>
            <a:pPr lvl="0"/>
            <a:r>
              <a:rPr lang="en-US" dirty="0"/>
              <a:t>Touch screens have become common in </a:t>
            </a:r>
            <a:endParaRPr lang="en-US" sz="2400" dirty="0"/>
          </a:p>
          <a:p>
            <a:pPr lvl="1"/>
            <a:r>
              <a:rPr lang="en-US" dirty="0"/>
              <a:t>fast-food restaurants, </a:t>
            </a:r>
            <a:endParaRPr lang="en-US" sz="2000" dirty="0"/>
          </a:p>
          <a:p>
            <a:pPr lvl="1"/>
            <a:r>
              <a:rPr lang="en-US" dirty="0"/>
              <a:t>department stores, </a:t>
            </a:r>
            <a:endParaRPr lang="en-US" sz="2000" dirty="0"/>
          </a:p>
          <a:p>
            <a:pPr lvl="1"/>
            <a:r>
              <a:rPr lang="en-US" dirty="0"/>
              <a:t>drugstores, and supermarkets, </a:t>
            </a:r>
            <a:endParaRPr lang="en-US" sz="2000" dirty="0"/>
          </a:p>
          <a:p>
            <a:pPr lvl="1"/>
            <a:r>
              <a:rPr lang="en-US" dirty="0"/>
              <a:t>where they are used for all kinds of purposes, from creating personalized greeting cards to selling lottery tickets.</a:t>
            </a:r>
          </a:p>
        </p:txBody>
      </p:sp>
      <p:sp>
        <p:nvSpPr>
          <p:cNvPr id="7"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pPr eaLnBrk="1" hangingPunct="1"/>
            <a:r>
              <a:rPr lang="en-US" dirty="0"/>
              <a:t>Game Controllers</a:t>
            </a:r>
          </a:p>
        </p:txBody>
      </p:sp>
      <p:sp>
        <p:nvSpPr>
          <p:cNvPr id="7172" name="Rectangle 3"/>
          <p:cNvSpPr>
            <a:spLocks noGrp="1" noChangeArrowheads="1"/>
          </p:cNvSpPr>
          <p:nvPr>
            <p:ph type="body" idx="1"/>
          </p:nvPr>
        </p:nvSpPr>
        <p:spPr/>
        <p:txBody>
          <a:bodyPr/>
          <a:lstStyle/>
          <a:p>
            <a:r>
              <a:rPr lang="en-US" dirty="0"/>
              <a:t>Enhances gaming experience</a:t>
            </a:r>
          </a:p>
          <a:p>
            <a:r>
              <a:rPr lang="en-US" dirty="0"/>
              <a:t>Provide custom input to the game</a:t>
            </a:r>
          </a:p>
          <a:p>
            <a:r>
              <a:rPr lang="en-US" dirty="0"/>
              <a:t>Modern controllers offer feedback</a:t>
            </a:r>
          </a:p>
          <a:p>
            <a:r>
              <a:rPr lang="en-US" dirty="0"/>
              <a:t>Two broad Categories</a:t>
            </a:r>
          </a:p>
          <a:p>
            <a:pPr lvl="1"/>
            <a:r>
              <a:rPr lang="en-US" dirty="0"/>
              <a:t>Joystick</a:t>
            </a:r>
          </a:p>
          <a:p>
            <a:pPr lvl="1"/>
            <a:r>
              <a:rPr lang="en-US" dirty="0"/>
              <a:t>Game pad</a:t>
            </a:r>
          </a:p>
        </p:txBody>
      </p:sp>
      <p:pic>
        <p:nvPicPr>
          <p:cNvPr id="7173" name="Picture 4" descr="D:\My Documents\!books\norton im\chapter 3\game.tif"/>
          <p:cNvPicPr>
            <a:picLocks noChangeAspect="1" noChangeArrowheads="1"/>
          </p:cNvPicPr>
          <p:nvPr/>
        </p:nvPicPr>
        <p:blipFill>
          <a:blip r:embed="rId3" cstate="print"/>
          <a:srcRect/>
          <a:stretch>
            <a:fillRect/>
          </a:stretch>
        </p:blipFill>
        <p:spPr bwMode="auto">
          <a:xfrm>
            <a:off x="5410200" y="2895600"/>
            <a:ext cx="2162175" cy="3200400"/>
          </a:xfrm>
          <a:prstGeom prst="rect">
            <a:avLst/>
          </a:prstGeom>
          <a:noFill/>
          <a:ln w="9525">
            <a:noFill/>
            <a:miter lim="800000"/>
            <a:headEnd/>
            <a:tailEnd/>
          </a:ln>
        </p:spPr>
      </p:pic>
      <p:sp>
        <p:nvSpPr>
          <p:cNvPr id="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51</a:t>
            </a:fld>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533400" y="228600"/>
            <a:ext cx="7086600" cy="911225"/>
          </a:xfrm>
        </p:spPr>
        <p:txBody>
          <a:bodyPr/>
          <a:lstStyle/>
          <a:p>
            <a:pPr eaLnBrk="1" hangingPunct="1"/>
            <a:r>
              <a:rPr lang="en-US" dirty="0"/>
              <a:t>Joystick</a:t>
            </a:r>
          </a:p>
        </p:txBody>
      </p:sp>
      <p:sp>
        <p:nvSpPr>
          <p:cNvPr id="7172" name="Rectangle 3"/>
          <p:cNvSpPr>
            <a:spLocks noGrp="1" noChangeArrowheads="1"/>
          </p:cNvSpPr>
          <p:nvPr>
            <p:ph type="body" idx="1"/>
          </p:nvPr>
        </p:nvSpPr>
        <p:spPr>
          <a:xfrm>
            <a:off x="381000" y="1371600"/>
            <a:ext cx="7315200" cy="5181600"/>
          </a:xfrm>
        </p:spPr>
        <p:txBody>
          <a:bodyPr>
            <a:normAutofit lnSpcReduction="10000"/>
          </a:bodyPr>
          <a:lstStyle/>
          <a:p>
            <a:r>
              <a:rPr lang="en-US" dirty="0"/>
              <a:t>Around for long time</a:t>
            </a:r>
          </a:p>
          <a:p>
            <a:r>
              <a:rPr lang="en-US" dirty="0"/>
              <a:t>Can be used other than games</a:t>
            </a:r>
          </a:p>
          <a:p>
            <a:r>
              <a:rPr lang="en-US" dirty="0"/>
              <a:t>enable the user to “ fly” or “ drive” through a game, directing a vehicle or character</a:t>
            </a:r>
          </a:p>
          <a:p>
            <a:r>
              <a:rPr lang="en-US" dirty="0"/>
              <a:t>popular in racing and flying games</a:t>
            </a:r>
          </a:p>
          <a:p>
            <a:r>
              <a:rPr lang="en-US" dirty="0"/>
              <a:t>One variant is the racing game controller, which includes an actual steering wheel</a:t>
            </a:r>
          </a:p>
          <a:p>
            <a:r>
              <a:rPr lang="en-US" dirty="0"/>
              <a:t>some racing game controllers even include foot pedals and gearshifts</a:t>
            </a:r>
          </a:p>
        </p:txBody>
      </p:sp>
      <p:sp>
        <p:nvSpPr>
          <p:cNvPr id="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52</a:t>
            </a:fld>
            <a:endParaRPr lang="en-US" dirty="0"/>
          </a:p>
        </p:txBody>
      </p:sp>
      <p:pic>
        <p:nvPicPr>
          <p:cNvPr id="7" name="Picture 2052" descr="joystick-intro"/>
          <p:cNvPicPr>
            <a:picLocks noChangeAspect="1" noChangeArrowheads="1"/>
          </p:cNvPicPr>
          <p:nvPr/>
        </p:nvPicPr>
        <p:blipFill>
          <a:blip r:embed="rId3" cstate="print"/>
          <a:srcRect/>
          <a:stretch>
            <a:fillRect/>
          </a:stretch>
        </p:blipFill>
        <p:spPr bwMode="auto">
          <a:xfrm>
            <a:off x="7772400" y="1676400"/>
            <a:ext cx="1160578" cy="1374258"/>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533400" y="228600"/>
            <a:ext cx="7086600" cy="911225"/>
          </a:xfrm>
        </p:spPr>
        <p:txBody>
          <a:bodyPr/>
          <a:lstStyle/>
          <a:p>
            <a:pPr eaLnBrk="1" hangingPunct="1"/>
            <a:r>
              <a:rPr lang="en-US" dirty="0"/>
              <a:t>Game Pad</a:t>
            </a:r>
          </a:p>
        </p:txBody>
      </p:sp>
      <p:sp>
        <p:nvSpPr>
          <p:cNvPr id="7172" name="Rectangle 3"/>
          <p:cNvSpPr>
            <a:spLocks noGrp="1" noChangeArrowheads="1"/>
          </p:cNvSpPr>
          <p:nvPr>
            <p:ph type="body" idx="1"/>
          </p:nvPr>
        </p:nvSpPr>
        <p:spPr>
          <a:xfrm>
            <a:off x="304800" y="1524000"/>
            <a:ext cx="7315200" cy="5334000"/>
          </a:xfrm>
        </p:spPr>
        <p:txBody>
          <a:bodyPr>
            <a:normAutofit fontScale="92500"/>
          </a:bodyPr>
          <a:lstStyle/>
          <a:p>
            <a:r>
              <a:rPr lang="en-US" dirty="0"/>
              <a:t>is a small, flat device that usually provides two sets of controls— one for each hand. </a:t>
            </a:r>
          </a:p>
          <a:p>
            <a:r>
              <a:rPr lang="en-US" dirty="0"/>
              <a:t>extremely flexible and are used to control many kinds of games</a:t>
            </a:r>
          </a:p>
          <a:p>
            <a:r>
              <a:rPr lang="en-US" dirty="0"/>
              <a:t>If you do not have a joystick, you can use a game pad to control most racing and flying games. </a:t>
            </a:r>
          </a:p>
          <a:p>
            <a:r>
              <a:rPr lang="en-US" dirty="0"/>
              <a:t>Many computer games still provide support for a mouse or keyboard, so a dedicated game controller is not always required</a:t>
            </a:r>
          </a:p>
        </p:txBody>
      </p:sp>
      <p:sp>
        <p:nvSpPr>
          <p:cNvPr id="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53</a:t>
            </a:fld>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pPr eaLnBrk="1" hangingPunct="1"/>
            <a:r>
              <a:rPr lang="en-US"/>
              <a:t>Optical Input Devices</a:t>
            </a:r>
          </a:p>
        </p:txBody>
      </p:sp>
      <p:sp>
        <p:nvSpPr>
          <p:cNvPr id="8196" name="Rectangle 3"/>
          <p:cNvSpPr>
            <a:spLocks noGrp="1" noChangeArrowheads="1"/>
          </p:cNvSpPr>
          <p:nvPr>
            <p:ph type="body" idx="1"/>
          </p:nvPr>
        </p:nvSpPr>
        <p:spPr>
          <a:xfrm>
            <a:off x="381000" y="1447800"/>
            <a:ext cx="4876800" cy="5410200"/>
          </a:xfrm>
        </p:spPr>
        <p:txBody>
          <a:bodyPr/>
          <a:lstStyle/>
          <a:p>
            <a:pPr eaLnBrk="1" hangingPunct="1"/>
            <a:r>
              <a:rPr lang="en-US" sz="2800" dirty="0"/>
              <a:t>Allows the computer to see input</a:t>
            </a:r>
          </a:p>
          <a:p>
            <a:pPr eaLnBrk="1" hangingPunct="1"/>
            <a:r>
              <a:rPr lang="en-US" sz="2800" dirty="0"/>
              <a:t>Bar code readers</a:t>
            </a:r>
          </a:p>
          <a:p>
            <a:pPr lvl="1" eaLnBrk="1" hangingPunct="1"/>
            <a:r>
              <a:rPr lang="en-US" sz="2400" dirty="0"/>
              <a:t>Converts bar codes to numbers</a:t>
            </a:r>
          </a:p>
          <a:p>
            <a:pPr lvl="2" eaLnBrk="1" hangingPunct="1"/>
            <a:r>
              <a:rPr lang="en-US" sz="2000" dirty="0"/>
              <a:t>UPC Universal Product Code</a:t>
            </a:r>
          </a:p>
          <a:p>
            <a:pPr lvl="1" eaLnBrk="1" hangingPunct="1"/>
            <a:r>
              <a:rPr lang="en-US" sz="2400" dirty="0"/>
              <a:t>Computer find number in a database</a:t>
            </a:r>
          </a:p>
          <a:p>
            <a:pPr lvl="1" eaLnBrk="1" hangingPunct="1"/>
            <a:r>
              <a:rPr lang="en-US" sz="2400" dirty="0"/>
              <a:t>Works by reflecting light</a:t>
            </a:r>
          </a:p>
          <a:p>
            <a:pPr lvl="2" eaLnBrk="1" hangingPunct="1"/>
            <a:r>
              <a:rPr lang="en-US" sz="2000" dirty="0"/>
              <a:t>Amount of reflected light indicates number</a:t>
            </a:r>
          </a:p>
        </p:txBody>
      </p:sp>
      <p:pic>
        <p:nvPicPr>
          <p:cNvPr id="8197" name="Picture 5"/>
          <p:cNvPicPr>
            <a:picLocks noChangeAspect="1" noChangeArrowheads="1"/>
          </p:cNvPicPr>
          <p:nvPr/>
        </p:nvPicPr>
        <p:blipFill>
          <a:blip r:embed="rId3" cstate="print"/>
          <a:srcRect/>
          <a:stretch>
            <a:fillRect/>
          </a:stretch>
        </p:blipFill>
        <p:spPr bwMode="auto">
          <a:xfrm>
            <a:off x="5410200" y="1524000"/>
            <a:ext cx="2857500" cy="2895600"/>
          </a:xfrm>
          <a:prstGeom prst="rect">
            <a:avLst/>
          </a:prstGeom>
          <a:noFill/>
          <a:ln w="9525">
            <a:noFill/>
            <a:miter lim="800000"/>
            <a:headEnd/>
            <a:tailEnd/>
          </a:ln>
        </p:spPr>
      </p:pic>
      <p:pic>
        <p:nvPicPr>
          <p:cNvPr id="8198" name="Picture 6"/>
          <p:cNvPicPr>
            <a:picLocks noChangeAspect="1" noChangeArrowheads="1"/>
          </p:cNvPicPr>
          <p:nvPr/>
        </p:nvPicPr>
        <p:blipFill>
          <a:blip r:embed="rId4" cstate="print"/>
          <a:srcRect/>
          <a:stretch>
            <a:fillRect/>
          </a:stretch>
        </p:blipFill>
        <p:spPr bwMode="auto">
          <a:xfrm>
            <a:off x="5486400" y="4419600"/>
            <a:ext cx="2571750" cy="1781175"/>
          </a:xfrm>
          <a:prstGeom prst="rect">
            <a:avLst/>
          </a:prstGeom>
          <a:noFill/>
          <a:ln w="9525">
            <a:noFill/>
            <a:miter lim="800000"/>
            <a:headEnd/>
            <a:tailEnd/>
          </a:ln>
        </p:spPr>
      </p:pic>
      <p:sp>
        <p:nvSpPr>
          <p:cNvPr id="7"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54</a:t>
            </a:fld>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04800" y="228601"/>
            <a:ext cx="7315200" cy="685800"/>
          </a:xfrm>
        </p:spPr>
        <p:txBody>
          <a:bodyPr>
            <a:normAutofit fontScale="90000"/>
          </a:bodyPr>
          <a:lstStyle/>
          <a:p>
            <a:pPr eaLnBrk="1" hangingPunct="1"/>
            <a:r>
              <a:rPr lang="en-US" dirty="0"/>
              <a:t> Bar Code Reading Process</a:t>
            </a:r>
          </a:p>
        </p:txBody>
      </p:sp>
      <p:sp>
        <p:nvSpPr>
          <p:cNvPr id="8196" name="Rectangle 3"/>
          <p:cNvSpPr>
            <a:spLocks noGrp="1" noChangeArrowheads="1"/>
          </p:cNvSpPr>
          <p:nvPr>
            <p:ph type="body" idx="1"/>
          </p:nvPr>
        </p:nvSpPr>
        <p:spPr>
          <a:xfrm>
            <a:off x="381000" y="1447800"/>
            <a:ext cx="7162800" cy="5181600"/>
          </a:xfrm>
        </p:spPr>
        <p:txBody>
          <a:bodyPr>
            <a:normAutofit fontScale="92500" lnSpcReduction="10000"/>
          </a:bodyPr>
          <a:lstStyle/>
          <a:p>
            <a:r>
              <a:rPr lang="en-US" sz="2800" dirty="0"/>
              <a:t>reader emits a beam of that is reflected by the bar code image</a:t>
            </a:r>
          </a:p>
          <a:p>
            <a:r>
              <a:rPr lang="en-US" sz="2800" dirty="0"/>
              <a:t>light-sensitive detector identifies the bar code image by recognizing special bars at both ends of the image</a:t>
            </a:r>
          </a:p>
          <a:p>
            <a:r>
              <a:rPr lang="en-US" sz="2800" dirty="0"/>
              <a:t>special bars are different, so the reader can tell whether the bar code has been read right-side up or upside down</a:t>
            </a:r>
          </a:p>
          <a:p>
            <a:r>
              <a:rPr lang="en-US" sz="2800" dirty="0"/>
              <a:t>After detector has identified the bar code, it converts the individual bar patterns into numeric digits code the computer can understand </a:t>
            </a:r>
          </a:p>
          <a:p>
            <a:r>
              <a:rPr lang="en-US" sz="2800" dirty="0"/>
              <a:t>reader then feeds the data into the computer</a:t>
            </a:r>
          </a:p>
        </p:txBody>
      </p:sp>
      <p:sp>
        <p:nvSpPr>
          <p:cNvPr id="7"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55</a:t>
            </a:fld>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762000" y="228600"/>
            <a:ext cx="6858000" cy="911225"/>
          </a:xfrm>
        </p:spPr>
        <p:txBody>
          <a:bodyPr/>
          <a:lstStyle/>
          <a:p>
            <a:pPr eaLnBrk="1" hangingPunct="1"/>
            <a:r>
              <a:rPr lang="en-US" dirty="0"/>
              <a:t>Image Scanners</a:t>
            </a:r>
          </a:p>
        </p:txBody>
      </p:sp>
      <p:sp>
        <p:nvSpPr>
          <p:cNvPr id="9220" name="Rectangle 3"/>
          <p:cNvSpPr>
            <a:spLocks noGrp="1" noChangeArrowheads="1"/>
          </p:cNvSpPr>
          <p:nvPr>
            <p:ph type="body" idx="1"/>
          </p:nvPr>
        </p:nvSpPr>
        <p:spPr/>
        <p:txBody>
          <a:bodyPr/>
          <a:lstStyle/>
          <a:p>
            <a:r>
              <a:rPr lang="en-US" dirty="0"/>
              <a:t>Converts printed media into electronic</a:t>
            </a:r>
          </a:p>
          <a:p>
            <a:r>
              <a:rPr lang="en-US" dirty="0"/>
              <a:t>Reflects light on the image</a:t>
            </a:r>
          </a:p>
          <a:p>
            <a:r>
              <a:rPr lang="en-US" dirty="0"/>
              <a:t>Sensors read the intensity</a:t>
            </a:r>
          </a:p>
          <a:p>
            <a:r>
              <a:rPr lang="en-US" dirty="0"/>
              <a:t>Filters determine color depths</a:t>
            </a:r>
          </a:p>
        </p:txBody>
      </p:sp>
      <p:pic>
        <p:nvPicPr>
          <p:cNvPr id="9221" name="Picture 5"/>
          <p:cNvPicPr>
            <a:picLocks noChangeAspect="1" noChangeArrowheads="1"/>
          </p:cNvPicPr>
          <p:nvPr/>
        </p:nvPicPr>
        <p:blipFill>
          <a:blip r:embed="rId3" cstate="print"/>
          <a:srcRect/>
          <a:stretch>
            <a:fillRect/>
          </a:stretch>
        </p:blipFill>
        <p:spPr bwMode="auto">
          <a:xfrm>
            <a:off x="1143000" y="3505200"/>
            <a:ext cx="3124200" cy="2786063"/>
          </a:xfrm>
          <a:prstGeom prst="rect">
            <a:avLst/>
          </a:prstGeom>
          <a:noFill/>
          <a:ln w="9525">
            <a:noFill/>
            <a:miter lim="800000"/>
            <a:headEnd/>
            <a:tailEnd/>
          </a:ln>
        </p:spPr>
      </p:pic>
      <p:sp>
        <p:nvSpPr>
          <p:cNvPr id="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56</a:t>
            </a:fld>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762000" y="228600"/>
            <a:ext cx="6858000" cy="911225"/>
          </a:xfrm>
        </p:spPr>
        <p:txBody>
          <a:bodyPr/>
          <a:lstStyle/>
          <a:p>
            <a:pPr eaLnBrk="1" hangingPunct="1"/>
            <a:r>
              <a:rPr lang="en-US" dirty="0"/>
              <a:t>How an Image is Scanned</a:t>
            </a:r>
          </a:p>
        </p:txBody>
      </p:sp>
      <p:sp>
        <p:nvSpPr>
          <p:cNvPr id="9220" name="Rectangle 3"/>
          <p:cNvSpPr>
            <a:spLocks noGrp="1" noChangeArrowheads="1"/>
          </p:cNvSpPr>
          <p:nvPr>
            <p:ph type="body" idx="1"/>
          </p:nvPr>
        </p:nvSpPr>
        <p:spPr>
          <a:xfrm>
            <a:off x="304800" y="1219200"/>
            <a:ext cx="7315200" cy="5181600"/>
          </a:xfrm>
        </p:spPr>
        <p:txBody>
          <a:bodyPr/>
          <a:lstStyle/>
          <a:p>
            <a:pPr lvl="0"/>
            <a:r>
              <a:rPr lang="en-US" dirty="0"/>
              <a:t>A light source is moved across a printed page</a:t>
            </a:r>
          </a:p>
          <a:p>
            <a:pPr lvl="0"/>
            <a:r>
              <a:rPr lang="en-US" dirty="0"/>
              <a:t>The light bounces off the page and is passed through a lens</a:t>
            </a:r>
          </a:p>
          <a:p>
            <a:pPr lvl="0"/>
            <a:r>
              <a:rPr lang="en-US" dirty="0"/>
              <a:t>And onto the light sensitive diodes which converts light to electricity. There are usually 300-600 diodes per inch.</a:t>
            </a:r>
          </a:p>
          <a:p>
            <a:pPr lvl="0"/>
            <a:r>
              <a:rPr lang="en-US" dirty="0"/>
              <a:t>A circuit board converts the electricity to numbers and send the information to the computers</a:t>
            </a:r>
          </a:p>
        </p:txBody>
      </p:sp>
      <p:sp>
        <p:nvSpPr>
          <p:cNvPr id="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57</a:t>
            </a:fld>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pPr eaLnBrk="1" hangingPunct="1"/>
            <a:r>
              <a:rPr lang="en-US"/>
              <a:t>Audiovisual Input Devices</a:t>
            </a:r>
          </a:p>
        </p:txBody>
      </p:sp>
      <p:sp>
        <p:nvSpPr>
          <p:cNvPr id="11268" name="Rectangle 3"/>
          <p:cNvSpPr>
            <a:spLocks noGrp="1" noChangeArrowheads="1"/>
          </p:cNvSpPr>
          <p:nvPr>
            <p:ph type="body" idx="1"/>
          </p:nvPr>
        </p:nvSpPr>
        <p:spPr/>
        <p:txBody>
          <a:bodyPr/>
          <a:lstStyle/>
          <a:p>
            <a:pPr eaLnBrk="1" hangingPunct="1"/>
            <a:r>
              <a:rPr lang="en-US"/>
              <a:t>Microphones</a:t>
            </a:r>
          </a:p>
          <a:p>
            <a:pPr lvl="1" eaLnBrk="1" hangingPunct="1"/>
            <a:r>
              <a:rPr lang="en-US"/>
              <a:t>Used to record speech</a:t>
            </a:r>
          </a:p>
          <a:p>
            <a:pPr lvl="1" eaLnBrk="1" hangingPunct="1"/>
            <a:r>
              <a:rPr lang="en-US"/>
              <a:t>Speech recognition</a:t>
            </a:r>
          </a:p>
          <a:p>
            <a:pPr lvl="2" eaLnBrk="1" hangingPunct="1"/>
            <a:r>
              <a:rPr lang="en-US"/>
              <a:t>“Understands” human speech</a:t>
            </a:r>
          </a:p>
          <a:p>
            <a:pPr lvl="2" eaLnBrk="1" hangingPunct="1"/>
            <a:r>
              <a:rPr lang="en-US"/>
              <a:t>Allows dictation or control of computer</a:t>
            </a:r>
          </a:p>
          <a:p>
            <a:pPr lvl="2" eaLnBrk="1" hangingPunct="1"/>
            <a:r>
              <a:rPr lang="en-US"/>
              <a:t>Matches spoken sound to known phonemes</a:t>
            </a:r>
          </a:p>
          <a:p>
            <a:pPr lvl="2" eaLnBrk="1" hangingPunct="1"/>
            <a:r>
              <a:rPr lang="en-US"/>
              <a:t>Enters best match into document</a:t>
            </a:r>
          </a:p>
        </p:txBody>
      </p:sp>
      <p:pic>
        <p:nvPicPr>
          <p:cNvPr id="11269" name="Picture 5"/>
          <p:cNvPicPr>
            <a:picLocks noChangeAspect="1" noChangeArrowheads="1"/>
          </p:cNvPicPr>
          <p:nvPr/>
        </p:nvPicPr>
        <p:blipFill>
          <a:blip r:embed="rId3" cstate="print"/>
          <a:srcRect/>
          <a:stretch>
            <a:fillRect/>
          </a:stretch>
        </p:blipFill>
        <p:spPr bwMode="auto">
          <a:xfrm>
            <a:off x="3200400" y="4267200"/>
            <a:ext cx="2152650" cy="2124075"/>
          </a:xfrm>
          <a:prstGeom prst="rect">
            <a:avLst/>
          </a:prstGeom>
          <a:noFill/>
          <a:ln w="9525">
            <a:noFill/>
            <a:miter lim="800000"/>
            <a:headEnd/>
            <a:tailEnd/>
          </a:ln>
        </p:spPr>
      </p:pic>
      <p:pic>
        <p:nvPicPr>
          <p:cNvPr id="11270" name="Picture 6"/>
          <p:cNvPicPr>
            <a:picLocks noChangeAspect="1" noChangeArrowheads="1"/>
          </p:cNvPicPr>
          <p:nvPr/>
        </p:nvPicPr>
        <p:blipFill>
          <a:blip r:embed="rId4" cstate="print"/>
          <a:srcRect/>
          <a:stretch>
            <a:fillRect/>
          </a:stretch>
        </p:blipFill>
        <p:spPr bwMode="auto">
          <a:xfrm>
            <a:off x="533400" y="4419600"/>
            <a:ext cx="2171700" cy="2105025"/>
          </a:xfrm>
          <a:prstGeom prst="rect">
            <a:avLst/>
          </a:prstGeom>
          <a:noFill/>
          <a:ln w="9525">
            <a:noFill/>
            <a:miter lim="800000"/>
            <a:headEnd/>
            <a:tailEnd/>
          </a:ln>
        </p:spPr>
      </p:pic>
      <p:sp>
        <p:nvSpPr>
          <p:cNvPr id="7"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58</a:t>
            </a:fld>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533400" y="228600"/>
            <a:ext cx="7086600" cy="911225"/>
          </a:xfrm>
        </p:spPr>
        <p:txBody>
          <a:bodyPr/>
          <a:lstStyle/>
          <a:p>
            <a:pPr eaLnBrk="1" hangingPunct="1"/>
            <a:r>
              <a:rPr lang="en-US" dirty="0"/>
              <a:t>Speech Recognition</a:t>
            </a:r>
          </a:p>
        </p:txBody>
      </p:sp>
      <p:sp>
        <p:nvSpPr>
          <p:cNvPr id="11268" name="Rectangle 3"/>
          <p:cNvSpPr>
            <a:spLocks noGrp="1" noChangeArrowheads="1"/>
          </p:cNvSpPr>
          <p:nvPr>
            <p:ph type="body" idx="1"/>
          </p:nvPr>
        </p:nvSpPr>
        <p:spPr>
          <a:xfrm>
            <a:off x="304800" y="1219200"/>
            <a:ext cx="7315200" cy="5257800"/>
          </a:xfrm>
        </p:spPr>
        <p:txBody>
          <a:bodyPr/>
          <a:lstStyle/>
          <a:p>
            <a:r>
              <a:rPr lang="en-US" dirty="0"/>
              <a:t> demand for translating spoken words into text</a:t>
            </a:r>
          </a:p>
          <a:p>
            <a:r>
              <a:rPr lang="en-US" dirty="0"/>
              <a:t>Translating voice to text is a capability known as </a:t>
            </a:r>
            <a:r>
              <a:rPr lang="en-US" b="1" i="1" dirty="0"/>
              <a:t>speech recognition</a:t>
            </a:r>
            <a:r>
              <a:rPr lang="en-US" dirty="0"/>
              <a:t> (or </a:t>
            </a:r>
            <a:r>
              <a:rPr lang="en-US" b="1" i="1" dirty="0"/>
              <a:t>voice recognition</a:t>
            </a:r>
            <a:r>
              <a:rPr lang="en-US" dirty="0"/>
              <a:t>). </a:t>
            </a:r>
          </a:p>
          <a:p>
            <a:r>
              <a:rPr lang="en-US" dirty="0"/>
              <a:t>With it, you can dictate to the computer instead of typing, and you can control the computer with simple commands</a:t>
            </a:r>
          </a:p>
          <a:p>
            <a:r>
              <a:rPr lang="en-US" dirty="0"/>
              <a:t>translates Phonemes into text or commands</a:t>
            </a:r>
          </a:p>
          <a:p>
            <a:pPr eaLnBrk="1" hangingPunct="1"/>
            <a:endParaRPr lang="en-US" dirty="0"/>
          </a:p>
        </p:txBody>
      </p:sp>
      <p:sp>
        <p:nvSpPr>
          <p:cNvPr id="7"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59</a:t>
            </a:fld>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533400" y="228600"/>
            <a:ext cx="7086600" cy="911225"/>
          </a:xfrm>
        </p:spPr>
        <p:txBody>
          <a:bodyPr/>
          <a:lstStyle/>
          <a:p>
            <a:pPr eaLnBrk="1" hangingPunct="1"/>
            <a:r>
              <a:rPr lang="en-US" dirty="0"/>
              <a:t>Other type of Audio Input</a:t>
            </a:r>
          </a:p>
        </p:txBody>
      </p:sp>
      <p:sp>
        <p:nvSpPr>
          <p:cNvPr id="11268" name="Rectangle 3"/>
          <p:cNvSpPr>
            <a:spLocks noGrp="1" noChangeArrowheads="1"/>
          </p:cNvSpPr>
          <p:nvPr>
            <p:ph type="body" idx="1"/>
          </p:nvPr>
        </p:nvSpPr>
        <p:spPr>
          <a:xfrm>
            <a:off x="304800" y="1219200"/>
            <a:ext cx="7315200" cy="5334000"/>
          </a:xfrm>
        </p:spPr>
        <p:txBody>
          <a:bodyPr>
            <a:normAutofit fontScale="92500"/>
          </a:bodyPr>
          <a:lstStyle/>
          <a:p>
            <a:r>
              <a:rPr lang="en-US" dirty="0"/>
              <a:t>Computers can accept many kinds of audio input</a:t>
            </a:r>
          </a:p>
          <a:p>
            <a:r>
              <a:rPr lang="en-US" dirty="0"/>
              <a:t>Sound card with the appropriate plugs</a:t>
            </a:r>
          </a:p>
          <a:p>
            <a:pPr lvl="1"/>
            <a:r>
              <a:rPr lang="en-US" dirty="0"/>
              <a:t>a compact disc</a:t>
            </a:r>
          </a:p>
          <a:p>
            <a:pPr lvl="1"/>
            <a:r>
              <a:rPr lang="en-US" dirty="0"/>
              <a:t>a tape player</a:t>
            </a:r>
          </a:p>
          <a:p>
            <a:pPr lvl="1"/>
            <a:r>
              <a:rPr lang="en-US" dirty="0"/>
              <a:t>a radio  or</a:t>
            </a:r>
          </a:p>
          <a:p>
            <a:pPr lvl="1"/>
            <a:r>
              <a:rPr lang="en-US" dirty="0"/>
              <a:t>even a record player</a:t>
            </a:r>
          </a:p>
          <a:p>
            <a:r>
              <a:rPr lang="en-US" dirty="0"/>
              <a:t>If the audio source outputs sounds in the form of analog, sound card must convert the analog signals into digital code so the computer can store and use it.</a:t>
            </a:r>
          </a:p>
          <a:p>
            <a:pPr lvl="1"/>
            <a:endParaRPr lang="en-US" dirty="0"/>
          </a:p>
        </p:txBody>
      </p:sp>
      <p:sp>
        <p:nvSpPr>
          <p:cNvPr id="7"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60</a:t>
            </a:fld>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61</a:t>
            </a:fld>
            <a:endParaRPr lang="en-US" dirty="0"/>
          </a:p>
        </p:txBody>
      </p:sp>
      <p:sp>
        <p:nvSpPr>
          <p:cNvPr id="16387" name="Rectangle 1"/>
          <p:cNvSpPr>
            <a:spLocks noGrp="1" noChangeArrowheads="1"/>
          </p:cNvSpPr>
          <p:nvPr>
            <p:ph type="title" idx="4294967295"/>
          </p:nvPr>
        </p:nvSpPr>
        <p:spPr>
          <a:xfrm>
            <a:off x="457200" y="304800"/>
            <a:ext cx="8001000" cy="762000"/>
          </a:xfrm>
        </p:spPr>
        <p:txBody>
          <a:bodyPr>
            <a:normAutofit fontScale="90000"/>
          </a:bodyPr>
          <a:lstStyle/>
          <a:p>
            <a:pPr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dirty="0"/>
              <a:t>Video Input</a:t>
            </a:r>
          </a:p>
        </p:txBody>
      </p:sp>
      <p:sp>
        <p:nvSpPr>
          <p:cNvPr id="5" name="Rectangle 3"/>
          <p:cNvSpPr>
            <a:spLocks noGrp="1" noChangeArrowheads="1"/>
          </p:cNvSpPr>
          <p:nvPr>
            <p:ph idx="1"/>
          </p:nvPr>
        </p:nvSpPr>
        <p:spPr>
          <a:xfrm>
            <a:off x="609600" y="1219200"/>
            <a:ext cx="7162800" cy="5257800"/>
          </a:xfrm>
        </p:spPr>
        <p:txBody>
          <a:bodyPr>
            <a:normAutofit/>
          </a:bodyPr>
          <a:lstStyle/>
          <a:p>
            <a:r>
              <a:rPr lang="en-US" dirty="0"/>
              <a:t>With growth of multimedia and the Internet, computer users are adding video input capabilities to their systems in great numbers</a:t>
            </a:r>
          </a:p>
          <a:p>
            <a:r>
              <a:rPr lang="en-US" dirty="0"/>
              <a:t>Applications such as video conferencing enable people to use full-motion video images</a:t>
            </a:r>
          </a:p>
          <a:p>
            <a:r>
              <a:rPr lang="en-US" dirty="0"/>
              <a:t>Videos are commonly used in presentations and on Web pages</a:t>
            </a:r>
            <a:endParaRPr lang="en-US" dirty="0">
              <a:latin typeface="Arial" pitchFamily="34" charset="0"/>
              <a:cs typeface="Arial" pitchFamily="34" charset="0"/>
            </a:endParaRPr>
          </a:p>
          <a:p>
            <a:endParaRPr lang="en-US" dirty="0">
              <a:latin typeface="Arial" pitchFamily="34" charset="0"/>
              <a:cs typeface="Arial" pitchFamily="34" charset="0"/>
            </a:endParaRPr>
          </a:p>
          <a:p>
            <a:pPr lvl="1"/>
            <a:endParaRPr lang="en-US" dirty="0">
              <a:latin typeface="Arial" pitchFamily="34" charset="0"/>
              <a:cs typeface="Arial" pitchFamily="34"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62</a:t>
            </a:fld>
            <a:endParaRPr lang="en-US" dirty="0"/>
          </a:p>
        </p:txBody>
      </p:sp>
      <p:sp>
        <p:nvSpPr>
          <p:cNvPr id="16387" name="Rectangle 1"/>
          <p:cNvSpPr>
            <a:spLocks noGrp="1" noChangeArrowheads="1"/>
          </p:cNvSpPr>
          <p:nvPr>
            <p:ph type="title" idx="4294967295"/>
          </p:nvPr>
        </p:nvSpPr>
        <p:spPr>
          <a:xfrm>
            <a:off x="457200" y="304800"/>
            <a:ext cx="8001000" cy="762000"/>
          </a:xfrm>
        </p:spPr>
        <p:txBody>
          <a:bodyPr>
            <a:normAutofit fontScale="90000"/>
          </a:bodyPr>
          <a:lstStyle/>
          <a:p>
            <a:pPr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dirty="0"/>
              <a:t>Video Camera and Webcam</a:t>
            </a:r>
          </a:p>
        </p:txBody>
      </p:sp>
      <p:sp>
        <p:nvSpPr>
          <p:cNvPr id="5" name="Rectangle 3"/>
          <p:cNvSpPr>
            <a:spLocks noGrp="1" noChangeArrowheads="1"/>
          </p:cNvSpPr>
          <p:nvPr>
            <p:ph idx="1"/>
          </p:nvPr>
        </p:nvSpPr>
        <p:spPr>
          <a:xfrm>
            <a:off x="609600" y="1219200"/>
            <a:ext cx="7162800" cy="5257800"/>
          </a:xfrm>
        </p:spPr>
        <p:txBody>
          <a:bodyPr>
            <a:normAutofit lnSpcReduction="10000"/>
          </a:bodyPr>
          <a:lstStyle/>
          <a:p>
            <a:r>
              <a:rPr lang="en-US" dirty="0"/>
              <a:t>video cameras used with computers digitize images by breaking them into individual pixels</a:t>
            </a:r>
          </a:p>
          <a:p>
            <a:r>
              <a:rPr lang="en-US" b="1" i="1" dirty="0"/>
              <a:t>pixel</a:t>
            </a:r>
            <a:r>
              <a:rPr lang="en-US" dirty="0"/>
              <a:t> is one or more dots that express a portion of an image</a:t>
            </a:r>
          </a:p>
          <a:p>
            <a:r>
              <a:rPr lang="en-US" dirty="0"/>
              <a:t>Each pixel’s color and other characteristics are stored as digital code</a:t>
            </a:r>
          </a:p>
          <a:p>
            <a:r>
              <a:rPr lang="en-US" dirty="0"/>
              <a:t>With </a:t>
            </a:r>
            <a:r>
              <a:rPr lang="en-US" b="1" i="1" dirty="0"/>
              <a:t>Webcam </a:t>
            </a:r>
            <a:r>
              <a:rPr lang="en-US" dirty="0"/>
              <a:t>the user can </a:t>
            </a:r>
            <a:r>
              <a:rPr lang="en-US" i="1" dirty="0"/>
              <a:t>“capture”</a:t>
            </a:r>
            <a:r>
              <a:rPr lang="en-US" dirty="0"/>
              <a:t> images of himself or herself while working at the computer</a:t>
            </a:r>
            <a:endParaRPr lang="en-US" dirty="0">
              <a:latin typeface="Arial" pitchFamily="34" charset="0"/>
              <a:cs typeface="Arial" pitchFamily="34" charset="0"/>
            </a:endParaRPr>
          </a:p>
        </p:txBody>
      </p:sp>
      <p:pic>
        <p:nvPicPr>
          <p:cNvPr id="6" name="Picture 2059" descr="pccam600_small"/>
          <p:cNvPicPr>
            <a:picLocks noChangeAspect="1" noChangeArrowheads="1"/>
          </p:cNvPicPr>
          <p:nvPr/>
        </p:nvPicPr>
        <p:blipFill>
          <a:blip r:embed="rId3" cstate="print"/>
          <a:srcRect/>
          <a:stretch>
            <a:fillRect/>
          </a:stretch>
        </p:blipFill>
        <p:spPr bwMode="auto">
          <a:xfrm>
            <a:off x="6934200" y="3429000"/>
            <a:ext cx="1447800" cy="1076569"/>
          </a:xfrm>
          <a:prstGeom prst="rect">
            <a:avLst/>
          </a:prstGeom>
          <a:noFill/>
          <a:ln w="9525">
            <a:noFill/>
            <a:miter lim="800000"/>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63</a:t>
            </a:fld>
            <a:endParaRPr lang="en-US" dirty="0"/>
          </a:p>
        </p:txBody>
      </p:sp>
      <p:sp>
        <p:nvSpPr>
          <p:cNvPr id="16387" name="Rectangle 1"/>
          <p:cNvSpPr>
            <a:spLocks noGrp="1" noChangeArrowheads="1"/>
          </p:cNvSpPr>
          <p:nvPr>
            <p:ph type="title" idx="4294967295"/>
          </p:nvPr>
        </p:nvSpPr>
        <p:spPr>
          <a:xfrm>
            <a:off x="457200" y="304800"/>
            <a:ext cx="8001000" cy="762000"/>
          </a:xfrm>
        </p:spPr>
        <p:txBody>
          <a:bodyPr>
            <a:normAutofit fontScale="90000"/>
          </a:bodyPr>
          <a:lstStyle/>
          <a:p>
            <a:pPr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dirty="0"/>
              <a:t>Digital Cameras</a:t>
            </a:r>
          </a:p>
        </p:txBody>
      </p:sp>
      <p:sp>
        <p:nvSpPr>
          <p:cNvPr id="5" name="Rectangle 3"/>
          <p:cNvSpPr>
            <a:spLocks noGrp="1" noChangeArrowheads="1"/>
          </p:cNvSpPr>
          <p:nvPr>
            <p:ph idx="1"/>
          </p:nvPr>
        </p:nvSpPr>
        <p:spPr>
          <a:xfrm>
            <a:off x="609600" y="1219200"/>
            <a:ext cx="7010400" cy="5257800"/>
          </a:xfrm>
        </p:spPr>
        <p:txBody>
          <a:bodyPr>
            <a:normAutofit/>
          </a:bodyPr>
          <a:lstStyle/>
          <a:p>
            <a:r>
              <a:rPr lang="en-US" dirty="0"/>
              <a:t>portable, handheld devices that capture still images</a:t>
            </a:r>
          </a:p>
          <a:p>
            <a:r>
              <a:rPr lang="en-US" dirty="0"/>
              <a:t>digitizes the image</a:t>
            </a:r>
          </a:p>
          <a:p>
            <a:r>
              <a:rPr lang="en-US" dirty="0"/>
              <a:t>compresses it, and </a:t>
            </a:r>
          </a:p>
          <a:p>
            <a:r>
              <a:rPr lang="en-US" dirty="0"/>
              <a:t>stores it on a special memory card.</a:t>
            </a:r>
          </a:p>
          <a:p>
            <a:r>
              <a:rPr lang="en-US" dirty="0"/>
              <a:t>user can then copy the information to a PC, where the image can be edited, copied, printed, embedded in a document, or transmitted to another user</a:t>
            </a:r>
            <a:endParaRPr lang="en-US" dirty="0">
              <a:latin typeface="Arial" pitchFamily="34" charset="0"/>
              <a:cs typeface="Arial" pitchFamily="34"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64</a:t>
            </a:fld>
            <a:endParaRPr lang="en-US" dirty="0"/>
          </a:p>
        </p:txBody>
      </p:sp>
      <p:sp>
        <p:nvSpPr>
          <p:cNvPr id="16387" name="Rectangle 1"/>
          <p:cNvSpPr>
            <a:spLocks noGrp="1" noChangeArrowheads="1"/>
          </p:cNvSpPr>
          <p:nvPr>
            <p:ph type="title" idx="4294967295"/>
          </p:nvPr>
        </p:nvSpPr>
        <p:spPr>
          <a:xfrm>
            <a:off x="457200" y="304800"/>
            <a:ext cx="8001000" cy="762000"/>
          </a:xfrm>
        </p:spPr>
        <p:txBody>
          <a:bodyPr>
            <a:normAutofit fontScale="90000"/>
          </a:bodyPr>
          <a:lstStyle/>
          <a:p>
            <a:pPr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dirty="0"/>
              <a:t>Digital Cameras</a:t>
            </a:r>
          </a:p>
        </p:txBody>
      </p:sp>
      <p:sp>
        <p:nvSpPr>
          <p:cNvPr id="5" name="Rectangle 3"/>
          <p:cNvSpPr>
            <a:spLocks noGrp="1" noChangeArrowheads="1"/>
          </p:cNvSpPr>
          <p:nvPr>
            <p:ph idx="1"/>
          </p:nvPr>
        </p:nvSpPr>
        <p:spPr>
          <a:xfrm>
            <a:off x="609600" y="1524000"/>
            <a:ext cx="7010400" cy="5181600"/>
          </a:xfrm>
        </p:spPr>
        <p:txBody>
          <a:bodyPr>
            <a:normAutofit fontScale="85000" lnSpcReduction="20000"/>
          </a:bodyPr>
          <a:lstStyle/>
          <a:p>
            <a:pPr lvl="0"/>
            <a:r>
              <a:rPr lang="en-US" sz="3200" dirty="0"/>
              <a:t>Digital cameras have become standard equipment for designers of all kinds. </a:t>
            </a:r>
            <a:endParaRPr lang="en-US" sz="2800" dirty="0"/>
          </a:p>
          <a:p>
            <a:pPr lvl="0"/>
            <a:r>
              <a:rPr lang="en-US" sz="3200" dirty="0"/>
              <a:t>In Web page design, digital cameras enable designers to shoot a subject and quickly load the images onto their computers. </a:t>
            </a:r>
            <a:endParaRPr lang="en-US" sz="2800" dirty="0"/>
          </a:p>
          <a:p>
            <a:r>
              <a:rPr lang="en-US" sz="3200" dirty="0"/>
              <a:t>This process saves the step of acquiring existing photographs or developing and printing film-based photos—which must be scanned into the computer. </a:t>
            </a:r>
            <a:endParaRPr lang="en-US" sz="2800" dirty="0"/>
          </a:p>
          <a:p>
            <a:r>
              <a:rPr lang="en-US" sz="3200" dirty="0"/>
              <a:t>Designers can update a Web site’s illustrations quickly and regularly using digital cameras.</a:t>
            </a:r>
            <a:endParaRPr lang="en-US" sz="2800" dirty="0"/>
          </a:p>
          <a:p>
            <a:r>
              <a:rPr lang="en-US" sz="3200" dirty="0"/>
              <a:t>Graphic designers can edit and enhance digital photographs in innumerable ways, using photo-editing software</a:t>
            </a:r>
            <a:endParaRPr lang="en-US" sz="2800" dirty="0"/>
          </a:p>
          <a:p>
            <a:endParaRPr lang="en-US" dirty="0">
              <a:latin typeface="Arial" pitchFamily="34" charset="0"/>
              <a:cs typeface="Arial" pitchFamily="34"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457200" y="228600"/>
            <a:ext cx="7162800" cy="911225"/>
          </a:xfrm>
        </p:spPr>
        <p:txBody>
          <a:bodyPr/>
          <a:lstStyle/>
          <a:p>
            <a:pPr eaLnBrk="1" hangingPunct="1"/>
            <a:r>
              <a:rPr lang="en-US" altLang="zh-TW" dirty="0">
                <a:ea typeface="新細明體" pitchFamily="18" charset="-120"/>
              </a:rPr>
              <a:t>Monitors</a:t>
            </a:r>
          </a:p>
        </p:txBody>
      </p:sp>
      <p:sp>
        <p:nvSpPr>
          <p:cNvPr id="5124" name="Rectangle 3"/>
          <p:cNvSpPr>
            <a:spLocks noGrp="1" noChangeArrowheads="1"/>
          </p:cNvSpPr>
          <p:nvPr>
            <p:ph type="body" idx="1"/>
          </p:nvPr>
        </p:nvSpPr>
        <p:spPr>
          <a:xfrm>
            <a:off x="304800" y="1371600"/>
            <a:ext cx="7315200" cy="5334000"/>
          </a:xfrm>
        </p:spPr>
        <p:txBody>
          <a:bodyPr>
            <a:normAutofit fontScale="92500" lnSpcReduction="10000"/>
          </a:bodyPr>
          <a:lstStyle/>
          <a:p>
            <a:pPr eaLnBrk="1" hangingPunct="1"/>
            <a:r>
              <a:rPr lang="en-US" altLang="zh-TW" dirty="0">
                <a:ea typeface="新細明體" pitchFamily="18" charset="-120"/>
              </a:rPr>
              <a:t>Most common output device</a:t>
            </a:r>
          </a:p>
          <a:p>
            <a:pPr eaLnBrk="1" hangingPunct="1"/>
            <a:r>
              <a:rPr lang="en-US" altLang="zh-TW" dirty="0">
                <a:ea typeface="新細明體" pitchFamily="18" charset="-120"/>
              </a:rPr>
              <a:t>Connects to the video card or controller</a:t>
            </a:r>
          </a:p>
          <a:p>
            <a:pPr eaLnBrk="1" hangingPunct="1"/>
            <a:r>
              <a:rPr lang="en-US" altLang="zh-TW" dirty="0">
                <a:ea typeface="新細明體" pitchFamily="18" charset="-120"/>
              </a:rPr>
              <a:t>Two types </a:t>
            </a:r>
          </a:p>
          <a:p>
            <a:pPr lvl="1"/>
            <a:r>
              <a:rPr lang="en-US" altLang="zh-TW" dirty="0">
                <a:ea typeface="新細明體" pitchFamily="18" charset="-120"/>
              </a:rPr>
              <a:t>Cathode Ray Tube (CRT)</a:t>
            </a:r>
          </a:p>
          <a:p>
            <a:pPr lvl="1"/>
            <a:r>
              <a:rPr lang="en-US" altLang="zh-TW" dirty="0">
                <a:ea typeface="新細明體" pitchFamily="18" charset="-120"/>
              </a:rPr>
              <a:t>Flat-panel</a:t>
            </a:r>
          </a:p>
          <a:p>
            <a:pPr eaLnBrk="1" hangingPunct="1"/>
            <a:r>
              <a:rPr lang="en-US" altLang="zh-TW" dirty="0">
                <a:ea typeface="新細明體" pitchFamily="18" charset="-120"/>
              </a:rPr>
              <a:t>Categorized by color output</a:t>
            </a:r>
          </a:p>
          <a:p>
            <a:pPr lvl="1" eaLnBrk="1" hangingPunct="1"/>
            <a:r>
              <a:rPr lang="en-US" altLang="zh-TW" dirty="0">
                <a:ea typeface="新細明體" pitchFamily="18" charset="-120"/>
              </a:rPr>
              <a:t>Monochrome</a:t>
            </a:r>
          </a:p>
          <a:p>
            <a:pPr lvl="2" eaLnBrk="1" hangingPunct="1"/>
            <a:r>
              <a:rPr lang="en-US" altLang="zh-TW" dirty="0">
                <a:ea typeface="新細明體" pitchFamily="18" charset="-120"/>
              </a:rPr>
              <a:t>One color with black background</a:t>
            </a:r>
          </a:p>
          <a:p>
            <a:pPr lvl="1" eaLnBrk="1" hangingPunct="1"/>
            <a:r>
              <a:rPr lang="en-US" altLang="zh-TW" dirty="0">
                <a:ea typeface="新細明體" pitchFamily="18" charset="-120"/>
              </a:rPr>
              <a:t>Grayscale</a:t>
            </a:r>
          </a:p>
          <a:p>
            <a:pPr lvl="2" eaLnBrk="1" hangingPunct="1"/>
            <a:r>
              <a:rPr lang="en-US" altLang="zh-TW" dirty="0">
                <a:ea typeface="新細明體" pitchFamily="18" charset="-120"/>
              </a:rPr>
              <a:t>Varying degrees of gray</a:t>
            </a:r>
          </a:p>
          <a:p>
            <a:pPr lvl="1" eaLnBrk="1" hangingPunct="1"/>
            <a:r>
              <a:rPr lang="en-US" altLang="zh-TW" dirty="0">
                <a:ea typeface="新細明體" pitchFamily="18" charset="-120"/>
              </a:rPr>
              <a:t>Color</a:t>
            </a:r>
          </a:p>
          <a:p>
            <a:pPr lvl="2" eaLnBrk="1" hangingPunct="1"/>
            <a:r>
              <a:rPr lang="en-US" altLang="zh-TW" dirty="0">
                <a:ea typeface="新細明體" pitchFamily="18" charset="-120"/>
              </a:rPr>
              <a:t>Display 4 to 16 million colors</a:t>
            </a:r>
          </a:p>
        </p:txBody>
      </p:sp>
      <p:sp>
        <p:nvSpPr>
          <p:cNvPr id="5"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65</a:t>
            </a:fld>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228600"/>
            <a:ext cx="7162800" cy="911225"/>
          </a:xfrm>
        </p:spPr>
        <p:txBody>
          <a:bodyPr/>
          <a:lstStyle/>
          <a:p>
            <a:pPr eaLnBrk="1" hangingPunct="1"/>
            <a:r>
              <a:rPr lang="en-US" altLang="zh-TW" dirty="0">
                <a:ea typeface="新細明體" pitchFamily="18" charset="-120"/>
              </a:rPr>
              <a:t>Cathode Ray Tube (CRT)</a:t>
            </a:r>
          </a:p>
        </p:txBody>
      </p:sp>
      <p:sp>
        <p:nvSpPr>
          <p:cNvPr id="6147" name="Rectangle 3"/>
          <p:cNvSpPr>
            <a:spLocks noGrp="1" noChangeArrowheads="1"/>
          </p:cNvSpPr>
          <p:nvPr>
            <p:ph type="body" idx="1"/>
          </p:nvPr>
        </p:nvSpPr>
        <p:spPr/>
        <p:txBody>
          <a:bodyPr/>
          <a:lstStyle/>
          <a:p>
            <a:r>
              <a:rPr lang="en-US" altLang="zh-TW" dirty="0">
                <a:ea typeface="新細明體" pitchFamily="18" charset="-120"/>
              </a:rPr>
              <a:t>Most common type of monitor</a:t>
            </a:r>
          </a:p>
          <a:p>
            <a:pPr lvl="1" eaLnBrk="1" hangingPunct="1"/>
            <a:endParaRPr lang="zh-TW" altLang="en-US" dirty="0">
              <a:ea typeface="新細明體" pitchFamily="18" charset="-120"/>
            </a:endParaRPr>
          </a:p>
        </p:txBody>
      </p:sp>
      <p:pic>
        <p:nvPicPr>
          <p:cNvPr id="6149" name="Picture 4"/>
          <p:cNvPicPr>
            <a:picLocks noChangeAspect="1" noChangeArrowheads="1"/>
          </p:cNvPicPr>
          <p:nvPr/>
        </p:nvPicPr>
        <p:blipFill>
          <a:blip r:embed="rId2" cstate="print"/>
          <a:srcRect/>
          <a:stretch>
            <a:fillRect/>
          </a:stretch>
        </p:blipFill>
        <p:spPr bwMode="auto">
          <a:xfrm>
            <a:off x="3048000" y="3962400"/>
            <a:ext cx="2295525" cy="2295525"/>
          </a:xfrm>
          <a:prstGeom prst="rect">
            <a:avLst/>
          </a:prstGeom>
          <a:noFill/>
          <a:ln w="9525">
            <a:noFill/>
            <a:miter lim="800000"/>
            <a:headEnd/>
            <a:tailEnd/>
          </a:ln>
        </p:spPr>
      </p:pic>
      <p:pic>
        <p:nvPicPr>
          <p:cNvPr id="6150" name="Picture 4"/>
          <p:cNvPicPr>
            <a:picLocks noChangeAspect="1" noChangeArrowheads="1"/>
          </p:cNvPicPr>
          <p:nvPr/>
        </p:nvPicPr>
        <p:blipFill>
          <a:blip r:embed="rId3" cstate="print"/>
          <a:srcRect/>
          <a:stretch>
            <a:fillRect/>
          </a:stretch>
        </p:blipFill>
        <p:spPr bwMode="auto">
          <a:xfrm>
            <a:off x="685800" y="4191000"/>
            <a:ext cx="2143125" cy="2143125"/>
          </a:xfrm>
          <a:prstGeom prst="rect">
            <a:avLst/>
          </a:prstGeom>
          <a:noFill/>
          <a:ln w="9525">
            <a:noFill/>
            <a:miter lim="800000"/>
            <a:headEnd/>
            <a:tailEnd/>
          </a:ln>
        </p:spPr>
      </p:pic>
      <p:pic>
        <p:nvPicPr>
          <p:cNvPr id="6151" name="Picture 5"/>
          <p:cNvPicPr>
            <a:picLocks noChangeAspect="1" noChangeArrowheads="1"/>
          </p:cNvPicPr>
          <p:nvPr/>
        </p:nvPicPr>
        <p:blipFill>
          <a:blip r:embed="rId4" cstate="print"/>
          <a:srcRect/>
          <a:stretch>
            <a:fillRect/>
          </a:stretch>
        </p:blipFill>
        <p:spPr bwMode="auto">
          <a:xfrm>
            <a:off x="5410200" y="4114800"/>
            <a:ext cx="2387600" cy="2309813"/>
          </a:xfrm>
          <a:prstGeom prst="rect">
            <a:avLst/>
          </a:prstGeom>
          <a:noFill/>
          <a:ln w="9525">
            <a:noFill/>
            <a:miter lim="800000"/>
            <a:headEnd/>
            <a:tailEnd/>
          </a:ln>
        </p:spPr>
      </p:pic>
      <p:sp>
        <p:nvSpPr>
          <p:cNvPr id="8"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66</a:t>
            </a:fld>
            <a:endParaRPr lang="en-US" dirty="0"/>
          </a:p>
        </p:txBody>
      </p:sp>
      <p:pic>
        <p:nvPicPr>
          <p:cNvPr id="2050" name="Picture 2"/>
          <p:cNvPicPr>
            <a:picLocks noChangeAspect="1" noChangeArrowheads="1"/>
          </p:cNvPicPr>
          <p:nvPr/>
        </p:nvPicPr>
        <p:blipFill>
          <a:blip r:embed="rId5" cstate="print"/>
          <a:srcRect/>
          <a:stretch>
            <a:fillRect/>
          </a:stretch>
        </p:blipFill>
        <p:spPr bwMode="auto">
          <a:xfrm>
            <a:off x="4267200" y="1676400"/>
            <a:ext cx="2362200" cy="2362200"/>
          </a:xfrm>
          <a:prstGeom prst="rect">
            <a:avLst/>
          </a:prstGeom>
          <a:noFill/>
          <a:ln w="9525">
            <a:noFill/>
            <a:miter lim="800000"/>
            <a:headEnd/>
            <a:tailEnd/>
          </a:ln>
        </p:spPr>
      </p:pic>
      <p:pic>
        <p:nvPicPr>
          <p:cNvPr id="2051" name="Picture 3"/>
          <p:cNvPicPr>
            <a:picLocks noChangeAspect="1" noChangeArrowheads="1"/>
          </p:cNvPicPr>
          <p:nvPr/>
        </p:nvPicPr>
        <p:blipFill>
          <a:blip r:embed="rId6" cstate="print"/>
          <a:srcRect/>
          <a:stretch>
            <a:fillRect/>
          </a:stretch>
        </p:blipFill>
        <p:spPr bwMode="auto">
          <a:xfrm>
            <a:off x="457200" y="1752600"/>
            <a:ext cx="2971800" cy="2244843"/>
          </a:xfrm>
          <a:prstGeom prst="rect">
            <a:avLst/>
          </a:prstGeom>
          <a:noFill/>
          <a:ln w="9525">
            <a:noFill/>
            <a:miter lim="800000"/>
            <a:headEnd/>
            <a:tailEnd/>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228600"/>
            <a:ext cx="7162800" cy="911225"/>
          </a:xfrm>
        </p:spPr>
        <p:txBody>
          <a:bodyPr/>
          <a:lstStyle/>
          <a:p>
            <a:pPr eaLnBrk="1" hangingPunct="1"/>
            <a:r>
              <a:rPr lang="en-US" altLang="zh-TW" dirty="0">
                <a:ea typeface="新細明體" pitchFamily="18" charset="-120"/>
              </a:rPr>
              <a:t>Liquid Crystal Display (LCD)</a:t>
            </a:r>
          </a:p>
        </p:txBody>
      </p:sp>
      <p:sp>
        <p:nvSpPr>
          <p:cNvPr id="11267" name="Rectangle 3"/>
          <p:cNvSpPr>
            <a:spLocks noGrp="1" noChangeArrowheads="1"/>
          </p:cNvSpPr>
          <p:nvPr>
            <p:ph type="body" idx="1"/>
          </p:nvPr>
        </p:nvSpPr>
        <p:spPr>
          <a:xfrm>
            <a:off x="381000" y="1143000"/>
            <a:ext cx="7848600" cy="2286000"/>
          </a:xfrm>
        </p:spPr>
        <p:txBody>
          <a:bodyPr/>
          <a:lstStyle/>
          <a:p>
            <a:r>
              <a:rPr lang="en-US" altLang="zh-TW" dirty="0">
                <a:ea typeface="新細明體" pitchFamily="18" charset="-120"/>
              </a:rPr>
              <a:t>Commonly found on laptops</a:t>
            </a:r>
          </a:p>
          <a:p>
            <a:r>
              <a:rPr lang="en-US" altLang="zh-TW" dirty="0">
                <a:ea typeface="新細明體" pitchFamily="18" charset="-120"/>
              </a:rPr>
              <a:t>Desktop versions exist</a:t>
            </a:r>
          </a:p>
          <a:p>
            <a:r>
              <a:rPr lang="en-US" altLang="zh-TW" dirty="0">
                <a:ea typeface="新細明體" pitchFamily="18" charset="-120"/>
              </a:rPr>
              <a:t>Solve the problems of CRT</a:t>
            </a:r>
          </a:p>
          <a:p>
            <a:r>
              <a:rPr lang="en-US" altLang="zh-TW" dirty="0">
                <a:ea typeface="新細明體" pitchFamily="18" charset="-120"/>
              </a:rPr>
              <a:t>Fluorescent lights provide illumination</a:t>
            </a:r>
          </a:p>
        </p:txBody>
      </p:sp>
      <p:sp>
        <p:nvSpPr>
          <p:cNvPr id="7"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67</a:t>
            </a:fld>
            <a:endParaRPr lang="en-US" dirty="0"/>
          </a:p>
        </p:txBody>
      </p:sp>
      <p:pic>
        <p:nvPicPr>
          <p:cNvPr id="6" name="Picture 2"/>
          <p:cNvPicPr>
            <a:picLocks noChangeAspect="1" noChangeArrowheads="1"/>
          </p:cNvPicPr>
          <p:nvPr/>
        </p:nvPicPr>
        <p:blipFill>
          <a:blip r:embed="rId2" cstate="print"/>
          <a:srcRect/>
          <a:stretch>
            <a:fillRect/>
          </a:stretch>
        </p:blipFill>
        <p:spPr bwMode="auto">
          <a:xfrm>
            <a:off x="381000" y="3505200"/>
            <a:ext cx="4291013" cy="2819400"/>
          </a:xfrm>
          <a:prstGeom prst="rect">
            <a:avLst/>
          </a:prstGeom>
          <a:noFill/>
          <a:ln w="9525">
            <a:noFill/>
            <a:miter lim="800000"/>
            <a:headEnd/>
            <a:tailEnd/>
          </a:ln>
        </p:spPr>
      </p:pic>
      <p:pic>
        <p:nvPicPr>
          <p:cNvPr id="8" name="Picture 3"/>
          <p:cNvPicPr>
            <a:picLocks noChangeAspect="1" noChangeArrowheads="1"/>
          </p:cNvPicPr>
          <p:nvPr/>
        </p:nvPicPr>
        <p:blipFill>
          <a:blip r:embed="rId3" cstate="print"/>
          <a:srcRect/>
          <a:stretch>
            <a:fillRect/>
          </a:stretch>
        </p:blipFill>
        <p:spPr bwMode="auto">
          <a:xfrm>
            <a:off x="4343400" y="3657600"/>
            <a:ext cx="3577409" cy="2590800"/>
          </a:xfrm>
          <a:prstGeom prst="rect">
            <a:avLst/>
          </a:prstGeom>
          <a:noFill/>
          <a:ln w="9525">
            <a:noFill/>
            <a:miter lim="800000"/>
            <a:headEnd/>
            <a:tailEnd/>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228600"/>
            <a:ext cx="7162800" cy="911225"/>
          </a:xfrm>
        </p:spPr>
        <p:txBody>
          <a:bodyPr/>
          <a:lstStyle/>
          <a:p>
            <a:pPr eaLnBrk="1" hangingPunct="1"/>
            <a:r>
              <a:rPr lang="en-US" altLang="zh-TW" dirty="0">
                <a:ea typeface="新細明體" pitchFamily="18" charset="-120"/>
              </a:rPr>
              <a:t>Plasma Display Panel (PDP)</a:t>
            </a:r>
          </a:p>
        </p:txBody>
      </p:sp>
      <p:sp>
        <p:nvSpPr>
          <p:cNvPr id="16387" name="Rectangle 3"/>
          <p:cNvSpPr>
            <a:spLocks noGrp="1" noChangeArrowheads="1"/>
          </p:cNvSpPr>
          <p:nvPr>
            <p:ph type="body" idx="1"/>
          </p:nvPr>
        </p:nvSpPr>
        <p:spPr>
          <a:xfrm>
            <a:off x="304800" y="1219200"/>
            <a:ext cx="7315200" cy="5334000"/>
          </a:xfrm>
        </p:spPr>
        <p:txBody>
          <a:bodyPr/>
          <a:lstStyle/>
          <a:p>
            <a:r>
              <a:rPr lang="en-US" altLang="zh-TW" dirty="0">
                <a:ea typeface="新細明體" pitchFamily="18" charset="-120"/>
              </a:rPr>
              <a:t>Utilizes small cells containing electrically charged ionized gases called fluorescent lamps</a:t>
            </a:r>
          </a:p>
          <a:p>
            <a:r>
              <a:rPr lang="en-US" altLang="zh-TW" dirty="0">
                <a:ea typeface="新細明體" pitchFamily="18" charset="-120"/>
              </a:rPr>
              <a:t>Advantages</a:t>
            </a:r>
          </a:p>
          <a:p>
            <a:pPr lvl="1"/>
            <a:r>
              <a:rPr lang="en-US" altLang="zh-TW" dirty="0">
                <a:ea typeface="新細明體" pitchFamily="18" charset="-120"/>
              </a:rPr>
              <a:t>Better picture quality</a:t>
            </a:r>
          </a:p>
          <a:p>
            <a:pPr lvl="1"/>
            <a:r>
              <a:rPr lang="en-US" altLang="zh-TW" dirty="0">
                <a:ea typeface="新細明體" pitchFamily="18" charset="-120"/>
              </a:rPr>
              <a:t>Wider viewing angles</a:t>
            </a:r>
          </a:p>
          <a:p>
            <a:pPr lvl="1"/>
            <a:r>
              <a:rPr lang="en-US" altLang="zh-TW" dirty="0">
                <a:ea typeface="新細明體" pitchFamily="18" charset="-120"/>
              </a:rPr>
              <a:t>Less visible motion blur</a:t>
            </a:r>
          </a:p>
          <a:p>
            <a:r>
              <a:rPr lang="en-US" altLang="zh-TW" dirty="0">
                <a:ea typeface="新細明體" pitchFamily="18" charset="-120"/>
              </a:rPr>
              <a:t>Disadvantages</a:t>
            </a:r>
          </a:p>
          <a:p>
            <a:pPr lvl="1"/>
            <a:r>
              <a:rPr lang="en-US" altLang="zh-TW" dirty="0">
                <a:ea typeface="新細明體" pitchFamily="18" charset="-120"/>
              </a:rPr>
              <a:t>Screen burn-in</a:t>
            </a:r>
          </a:p>
          <a:p>
            <a:pPr lvl="1"/>
            <a:r>
              <a:rPr lang="en-US" altLang="zh-TW" dirty="0">
                <a:ea typeface="新細明體" pitchFamily="18" charset="-120"/>
              </a:rPr>
              <a:t>Uses more electricity than LCDs</a:t>
            </a:r>
          </a:p>
        </p:txBody>
      </p:sp>
      <p:sp>
        <p:nvSpPr>
          <p:cNvPr id="5"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68</a:t>
            </a:fld>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228600"/>
            <a:ext cx="7162800" cy="911225"/>
          </a:xfrm>
        </p:spPr>
        <p:txBody>
          <a:bodyPr/>
          <a:lstStyle/>
          <a:p>
            <a:pPr eaLnBrk="1" hangingPunct="1"/>
            <a:r>
              <a:rPr lang="en-US" altLang="zh-TW" dirty="0">
                <a:ea typeface="新細明體" pitchFamily="18" charset="-120"/>
              </a:rPr>
              <a:t>Light Emitting Diodes (LED)</a:t>
            </a:r>
          </a:p>
        </p:txBody>
      </p:sp>
      <p:sp>
        <p:nvSpPr>
          <p:cNvPr id="16387" name="Rectangle 3"/>
          <p:cNvSpPr>
            <a:spLocks noGrp="1" noChangeArrowheads="1"/>
          </p:cNvSpPr>
          <p:nvPr>
            <p:ph type="body" idx="1"/>
          </p:nvPr>
        </p:nvSpPr>
        <p:spPr>
          <a:xfrm>
            <a:off x="304800" y="1371600"/>
            <a:ext cx="7315200" cy="5257800"/>
          </a:xfrm>
        </p:spPr>
        <p:txBody>
          <a:bodyPr>
            <a:normAutofit lnSpcReduction="10000"/>
          </a:bodyPr>
          <a:lstStyle/>
          <a:p>
            <a:r>
              <a:rPr lang="en-US" altLang="zh-TW" dirty="0">
                <a:ea typeface="新細明體" pitchFamily="18" charset="-120"/>
              </a:rPr>
              <a:t>uses light-emitting diodes as a video display</a:t>
            </a:r>
          </a:p>
          <a:p>
            <a:r>
              <a:rPr lang="en-US" altLang="zh-TW" dirty="0">
                <a:ea typeface="新細明體" pitchFamily="18" charset="-120"/>
              </a:rPr>
              <a:t>produce images with greater dynamic contrast;</a:t>
            </a:r>
          </a:p>
          <a:p>
            <a:r>
              <a:rPr lang="en-US" altLang="zh-TW" dirty="0">
                <a:ea typeface="新細明體" pitchFamily="18" charset="-120"/>
              </a:rPr>
              <a:t>can be extremely slim, some screens less than half an inch (0.92 cm) thick;[6]</a:t>
            </a:r>
          </a:p>
          <a:p>
            <a:r>
              <a:rPr lang="en-US" altLang="zh-TW" dirty="0">
                <a:ea typeface="新細明體" pitchFamily="18" charset="-120"/>
              </a:rPr>
              <a:t>produce less environmental pollution on disposal;</a:t>
            </a:r>
          </a:p>
          <a:p>
            <a:r>
              <a:rPr lang="en-US" altLang="zh-TW" dirty="0">
                <a:ea typeface="新細明體" pitchFamily="18" charset="-120"/>
              </a:rPr>
              <a:t>are more expensive;</a:t>
            </a:r>
          </a:p>
          <a:p>
            <a:r>
              <a:rPr lang="en-US" altLang="zh-TW" dirty="0">
                <a:ea typeface="新細明體" pitchFamily="18" charset="-120"/>
              </a:rPr>
              <a:t>have typically 20 to 30% lower power consumption</a:t>
            </a:r>
          </a:p>
        </p:txBody>
      </p:sp>
      <p:sp>
        <p:nvSpPr>
          <p:cNvPr id="5"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69</a:t>
            </a:fld>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228600"/>
            <a:ext cx="7162800" cy="911225"/>
          </a:xfrm>
        </p:spPr>
        <p:txBody>
          <a:bodyPr/>
          <a:lstStyle/>
          <a:p>
            <a:pPr eaLnBrk="1" hangingPunct="1"/>
            <a:r>
              <a:rPr lang="en-US" altLang="zh-TW" dirty="0">
                <a:ea typeface="新細明體" pitchFamily="18" charset="-120"/>
              </a:rPr>
              <a:t>Sound Systems</a:t>
            </a:r>
          </a:p>
        </p:txBody>
      </p:sp>
      <p:sp>
        <p:nvSpPr>
          <p:cNvPr id="28675" name="Rectangle 3"/>
          <p:cNvSpPr>
            <a:spLocks noGrp="1" noChangeArrowheads="1"/>
          </p:cNvSpPr>
          <p:nvPr>
            <p:ph type="body" idx="1"/>
          </p:nvPr>
        </p:nvSpPr>
        <p:spPr/>
        <p:txBody>
          <a:bodyPr/>
          <a:lstStyle/>
          <a:p>
            <a:pPr eaLnBrk="1" hangingPunct="1"/>
            <a:r>
              <a:rPr lang="en-US" altLang="zh-TW">
                <a:ea typeface="新細明體" pitchFamily="18" charset="-120"/>
              </a:rPr>
              <a:t>Integral part of the computer experience</a:t>
            </a:r>
          </a:p>
          <a:p>
            <a:pPr eaLnBrk="1" hangingPunct="1"/>
            <a:r>
              <a:rPr lang="en-US" altLang="zh-TW">
                <a:ea typeface="新細明體" pitchFamily="18" charset="-120"/>
              </a:rPr>
              <a:t>Capable of recording and playback</a:t>
            </a:r>
          </a:p>
        </p:txBody>
      </p:sp>
      <p:pic>
        <p:nvPicPr>
          <p:cNvPr id="28677" name="Picture 4"/>
          <p:cNvPicPr>
            <a:picLocks noChangeAspect="1" noChangeArrowheads="1"/>
          </p:cNvPicPr>
          <p:nvPr/>
        </p:nvPicPr>
        <p:blipFill>
          <a:blip r:embed="rId2" cstate="print"/>
          <a:srcRect/>
          <a:stretch>
            <a:fillRect/>
          </a:stretch>
        </p:blipFill>
        <p:spPr bwMode="auto">
          <a:xfrm>
            <a:off x="2133600" y="2885142"/>
            <a:ext cx="5243513" cy="3842683"/>
          </a:xfrm>
          <a:prstGeom prst="rect">
            <a:avLst/>
          </a:prstGeom>
          <a:noFill/>
          <a:ln w="9525">
            <a:noFill/>
            <a:miter lim="800000"/>
            <a:headEnd/>
            <a:tailEnd/>
          </a:ln>
        </p:spPr>
      </p:pic>
      <p:sp>
        <p:nvSpPr>
          <p:cNvPr id="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70</a:t>
            </a:fld>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228600"/>
            <a:ext cx="7162800" cy="911225"/>
          </a:xfrm>
        </p:spPr>
        <p:txBody>
          <a:bodyPr/>
          <a:lstStyle/>
          <a:p>
            <a:pPr eaLnBrk="1" hangingPunct="1"/>
            <a:r>
              <a:rPr lang="en-US" altLang="zh-TW" dirty="0">
                <a:ea typeface="新細明體" pitchFamily="18" charset="-120"/>
              </a:rPr>
              <a:t>Sound Cards</a:t>
            </a:r>
          </a:p>
        </p:txBody>
      </p:sp>
      <p:sp>
        <p:nvSpPr>
          <p:cNvPr id="29699" name="Rectangle 3"/>
          <p:cNvSpPr>
            <a:spLocks noGrp="1" noChangeArrowheads="1"/>
          </p:cNvSpPr>
          <p:nvPr>
            <p:ph type="body" idx="1"/>
          </p:nvPr>
        </p:nvSpPr>
        <p:spPr>
          <a:xfrm>
            <a:off x="304800" y="1219201"/>
            <a:ext cx="7315200" cy="2667000"/>
          </a:xfrm>
        </p:spPr>
        <p:txBody>
          <a:bodyPr/>
          <a:lstStyle/>
          <a:p>
            <a:r>
              <a:rPr lang="en-US" altLang="zh-TW" dirty="0">
                <a:ea typeface="新細明體" pitchFamily="18" charset="-120"/>
              </a:rPr>
              <a:t>Device between the CPU and speakers</a:t>
            </a:r>
          </a:p>
          <a:p>
            <a:r>
              <a:rPr lang="en-US" altLang="zh-TW" dirty="0">
                <a:ea typeface="新細明體" pitchFamily="18" charset="-120"/>
              </a:rPr>
              <a:t>Converts digital sounds to analog</a:t>
            </a:r>
          </a:p>
          <a:p>
            <a:r>
              <a:rPr lang="en-US" altLang="zh-TW" dirty="0">
                <a:ea typeface="新細明體" pitchFamily="18" charset="-120"/>
              </a:rPr>
              <a:t>Can be connected to several devices</a:t>
            </a:r>
          </a:p>
          <a:p>
            <a:r>
              <a:rPr lang="en-US" altLang="zh-TW" dirty="0">
                <a:ea typeface="新細明體" pitchFamily="18" charset="-120"/>
              </a:rPr>
              <a:t>Modern cards support Dolby Surround Sound</a:t>
            </a:r>
          </a:p>
        </p:txBody>
      </p:sp>
      <p:pic>
        <p:nvPicPr>
          <p:cNvPr id="29701" name="Picture 0"/>
          <p:cNvPicPr>
            <a:picLocks noChangeAspect="1" noChangeArrowheads="1"/>
          </p:cNvPicPr>
          <p:nvPr/>
        </p:nvPicPr>
        <p:blipFill>
          <a:blip r:embed="rId3" cstate="print"/>
          <a:srcRect/>
          <a:stretch>
            <a:fillRect/>
          </a:stretch>
        </p:blipFill>
        <p:spPr bwMode="auto">
          <a:xfrm>
            <a:off x="1981200" y="3429000"/>
            <a:ext cx="4572000" cy="3265170"/>
          </a:xfrm>
          <a:prstGeom prst="rect">
            <a:avLst/>
          </a:prstGeom>
          <a:noFill/>
          <a:ln w="9525">
            <a:noFill/>
            <a:miter lim="800000"/>
            <a:headEnd/>
            <a:tailEnd/>
          </a:ln>
        </p:spPr>
      </p:pic>
      <p:sp>
        <p:nvSpPr>
          <p:cNvPr id="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71</a:t>
            </a:fld>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533400" y="228600"/>
            <a:ext cx="7086600" cy="911225"/>
          </a:xfrm>
        </p:spPr>
        <p:txBody>
          <a:bodyPr/>
          <a:lstStyle/>
          <a:p>
            <a:pPr eaLnBrk="1" hangingPunct="1"/>
            <a:r>
              <a:rPr lang="en-US" altLang="zh-TW" dirty="0">
                <a:ea typeface="新細明體" pitchFamily="18" charset="-120"/>
              </a:rPr>
              <a:t>Headphones and Headsets</a:t>
            </a:r>
          </a:p>
        </p:txBody>
      </p:sp>
      <p:sp>
        <p:nvSpPr>
          <p:cNvPr id="30723" name="Rectangle 3"/>
          <p:cNvSpPr>
            <a:spLocks noGrp="1" noChangeArrowheads="1"/>
          </p:cNvSpPr>
          <p:nvPr>
            <p:ph type="body" idx="1"/>
          </p:nvPr>
        </p:nvSpPr>
        <p:spPr>
          <a:xfrm>
            <a:off x="381000" y="1219200"/>
            <a:ext cx="8001000" cy="3733800"/>
          </a:xfrm>
        </p:spPr>
        <p:txBody>
          <a:bodyPr/>
          <a:lstStyle/>
          <a:p>
            <a:r>
              <a:rPr lang="en-US" altLang="zh-TW" dirty="0">
                <a:ea typeface="新細明體" pitchFamily="18" charset="-120"/>
              </a:rPr>
              <a:t>Replacement for speakers and microphones</a:t>
            </a:r>
          </a:p>
          <a:p>
            <a:r>
              <a:rPr lang="en-US" altLang="zh-TW" dirty="0">
                <a:ea typeface="新細明體" pitchFamily="18" charset="-120"/>
              </a:rPr>
              <a:t>Offer privacy</a:t>
            </a:r>
          </a:p>
          <a:p>
            <a:r>
              <a:rPr lang="en-US" altLang="zh-TW" dirty="0">
                <a:ea typeface="新細明體" pitchFamily="18" charset="-120"/>
              </a:rPr>
              <a:t>Does not annoy other people</a:t>
            </a:r>
          </a:p>
          <a:p>
            <a:r>
              <a:rPr lang="en-US" altLang="zh-TW" dirty="0">
                <a:ea typeface="新細明體" pitchFamily="18" charset="-120"/>
              </a:rPr>
              <a:t>Outside noise is not a factor</a:t>
            </a:r>
          </a:p>
          <a:p>
            <a:r>
              <a:rPr lang="en-US" altLang="zh-TW" dirty="0">
                <a:ea typeface="新細明體" pitchFamily="18" charset="-120"/>
              </a:rPr>
              <a:t>Headsets have speakers and a microphone</a:t>
            </a:r>
          </a:p>
        </p:txBody>
      </p:sp>
      <p:pic>
        <p:nvPicPr>
          <p:cNvPr id="30725" name="Picture 6"/>
          <p:cNvPicPr>
            <a:picLocks noChangeAspect="1" noChangeArrowheads="1"/>
          </p:cNvPicPr>
          <p:nvPr/>
        </p:nvPicPr>
        <p:blipFill>
          <a:blip r:embed="rId3" cstate="print"/>
          <a:srcRect/>
          <a:stretch>
            <a:fillRect/>
          </a:stretch>
        </p:blipFill>
        <p:spPr bwMode="auto">
          <a:xfrm>
            <a:off x="914400" y="4343400"/>
            <a:ext cx="2895600" cy="1927225"/>
          </a:xfrm>
          <a:prstGeom prst="rect">
            <a:avLst/>
          </a:prstGeom>
          <a:noFill/>
          <a:ln w="9525">
            <a:noFill/>
            <a:miter lim="800000"/>
            <a:headEnd/>
            <a:tailEnd/>
          </a:ln>
        </p:spPr>
      </p:pic>
      <p:pic>
        <p:nvPicPr>
          <p:cNvPr id="30726" name="Picture 8"/>
          <p:cNvPicPr>
            <a:picLocks noChangeAspect="1" noChangeArrowheads="1"/>
          </p:cNvPicPr>
          <p:nvPr/>
        </p:nvPicPr>
        <p:blipFill>
          <a:blip r:embed="rId4" cstate="print"/>
          <a:srcRect/>
          <a:stretch>
            <a:fillRect/>
          </a:stretch>
        </p:blipFill>
        <p:spPr bwMode="auto">
          <a:xfrm>
            <a:off x="4800600" y="4572000"/>
            <a:ext cx="2390775" cy="1743075"/>
          </a:xfrm>
          <a:prstGeom prst="rect">
            <a:avLst/>
          </a:prstGeom>
          <a:noFill/>
          <a:ln w="9525">
            <a:noFill/>
            <a:miter lim="800000"/>
            <a:headEnd/>
            <a:tailEnd/>
          </a:ln>
        </p:spPr>
      </p:pic>
      <p:sp>
        <p:nvSpPr>
          <p:cNvPr id="7"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72</a:t>
            </a:fld>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533400" y="228600"/>
            <a:ext cx="7086600" cy="911225"/>
          </a:xfrm>
        </p:spPr>
        <p:txBody>
          <a:bodyPr/>
          <a:lstStyle/>
          <a:p>
            <a:pPr eaLnBrk="1" hangingPunct="1"/>
            <a:r>
              <a:rPr lang="en-US" dirty="0"/>
              <a:t>Commonly Used Printers</a:t>
            </a:r>
          </a:p>
        </p:txBody>
      </p:sp>
      <p:sp>
        <p:nvSpPr>
          <p:cNvPr id="7172" name="Rectangle 3"/>
          <p:cNvSpPr>
            <a:spLocks noGrp="1" noChangeArrowheads="1"/>
          </p:cNvSpPr>
          <p:nvPr>
            <p:ph type="body" idx="1"/>
          </p:nvPr>
        </p:nvSpPr>
        <p:spPr>
          <a:xfrm>
            <a:off x="304800" y="1219200"/>
            <a:ext cx="7315200" cy="5334000"/>
          </a:xfrm>
        </p:spPr>
        <p:txBody>
          <a:bodyPr>
            <a:normAutofit lnSpcReduction="10000"/>
          </a:bodyPr>
          <a:lstStyle/>
          <a:p>
            <a:pPr eaLnBrk="1" hangingPunct="1"/>
            <a:r>
              <a:rPr lang="en-US" dirty="0"/>
              <a:t>Impact printers</a:t>
            </a:r>
          </a:p>
          <a:p>
            <a:pPr lvl="1" eaLnBrk="1" hangingPunct="1"/>
            <a:r>
              <a:rPr lang="en-US" dirty="0"/>
              <a:t>Generate output by striking the paper</a:t>
            </a:r>
          </a:p>
          <a:p>
            <a:pPr lvl="1" eaLnBrk="1" hangingPunct="1"/>
            <a:r>
              <a:rPr lang="en-US" dirty="0"/>
              <a:t>Uses an inked ribbon </a:t>
            </a:r>
          </a:p>
          <a:p>
            <a:pPr lvl="1" eaLnBrk="1" hangingPunct="1"/>
            <a:r>
              <a:rPr lang="en-US" dirty="0"/>
              <a:t>Most common</a:t>
            </a:r>
          </a:p>
          <a:p>
            <a:pPr lvl="2"/>
            <a:r>
              <a:rPr lang="en-US" dirty="0"/>
              <a:t>Dot Matrix </a:t>
            </a:r>
          </a:p>
          <a:p>
            <a:pPr lvl="2"/>
            <a:r>
              <a:rPr lang="en-US" dirty="0"/>
              <a:t>Line Printer and Band Printers</a:t>
            </a:r>
          </a:p>
          <a:p>
            <a:pPr eaLnBrk="1" hangingPunct="1"/>
            <a:r>
              <a:rPr lang="en-US" dirty="0"/>
              <a:t>Non-impact printers</a:t>
            </a:r>
          </a:p>
          <a:p>
            <a:pPr lvl="1" eaLnBrk="1" hangingPunct="1"/>
            <a:r>
              <a:rPr lang="en-US" dirty="0"/>
              <a:t>Use methods other than force</a:t>
            </a:r>
          </a:p>
          <a:p>
            <a:pPr lvl="1" eaLnBrk="1" hangingPunct="1"/>
            <a:r>
              <a:rPr lang="en-US" dirty="0"/>
              <a:t>Tend to be quiet and fast</a:t>
            </a:r>
          </a:p>
          <a:p>
            <a:pPr lvl="1" eaLnBrk="1" hangingPunct="1"/>
            <a:r>
              <a:rPr lang="en-US" dirty="0"/>
              <a:t>Most Common</a:t>
            </a:r>
          </a:p>
          <a:p>
            <a:pPr lvl="2"/>
            <a:r>
              <a:rPr lang="en-US" dirty="0"/>
              <a:t>Ink jet	   and   Laser</a:t>
            </a:r>
          </a:p>
        </p:txBody>
      </p:sp>
      <p:sp>
        <p:nvSpPr>
          <p:cNvPr id="5"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73</a:t>
            </a:fld>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81000" y="228600"/>
            <a:ext cx="7239000" cy="911225"/>
          </a:xfrm>
        </p:spPr>
        <p:txBody>
          <a:bodyPr/>
          <a:lstStyle/>
          <a:p>
            <a:pPr eaLnBrk="1" hangingPunct="1"/>
            <a:r>
              <a:rPr lang="en-US" dirty="0"/>
              <a:t>Dot Matrix Printer</a:t>
            </a:r>
          </a:p>
        </p:txBody>
      </p:sp>
      <p:sp>
        <p:nvSpPr>
          <p:cNvPr id="8196" name="Rectangle 3"/>
          <p:cNvSpPr>
            <a:spLocks noGrp="1" noChangeArrowheads="1"/>
          </p:cNvSpPr>
          <p:nvPr>
            <p:ph type="body" idx="1"/>
          </p:nvPr>
        </p:nvSpPr>
        <p:spPr/>
        <p:txBody>
          <a:bodyPr/>
          <a:lstStyle/>
          <a:p>
            <a:r>
              <a:rPr lang="en-US" dirty="0"/>
              <a:t>Can produce sheets of plain text very quickly</a:t>
            </a:r>
          </a:p>
          <a:p>
            <a:r>
              <a:rPr lang="en-US" dirty="0"/>
              <a:t>Used to print to multi-sheet pages</a:t>
            </a:r>
          </a:p>
          <a:p>
            <a:r>
              <a:rPr lang="en-US" dirty="0"/>
              <a:t>Printing on wide-sheet paper</a:t>
            </a:r>
          </a:p>
          <a:p>
            <a:r>
              <a:rPr lang="en-US" dirty="0"/>
              <a:t>Print head strikes inked ribbon</a:t>
            </a:r>
          </a:p>
          <a:p>
            <a:r>
              <a:rPr lang="en-US" dirty="0"/>
              <a:t>Speed measured in characters per second (CPS)</a:t>
            </a:r>
          </a:p>
        </p:txBody>
      </p:sp>
      <p:sp>
        <p:nvSpPr>
          <p:cNvPr id="5"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74</a:t>
            </a:fld>
            <a:endParaRPr lang="en-US" dirty="0"/>
          </a:p>
        </p:txBody>
      </p:sp>
      <p:pic>
        <p:nvPicPr>
          <p:cNvPr id="1026" name="Picture 2"/>
          <p:cNvPicPr>
            <a:picLocks noChangeAspect="1" noChangeArrowheads="1"/>
          </p:cNvPicPr>
          <p:nvPr/>
        </p:nvPicPr>
        <p:blipFill>
          <a:blip r:embed="rId3" cstate="print"/>
          <a:srcRect/>
          <a:stretch>
            <a:fillRect/>
          </a:stretch>
        </p:blipFill>
        <p:spPr bwMode="auto">
          <a:xfrm>
            <a:off x="3886200" y="4495800"/>
            <a:ext cx="3048000" cy="2181073"/>
          </a:xfrm>
          <a:prstGeom prst="rect">
            <a:avLst/>
          </a:prstGeom>
          <a:noFill/>
          <a:ln w="9525">
            <a:noFill/>
            <a:miter lim="800000"/>
            <a:headEnd/>
            <a:tailEnd/>
          </a:ln>
        </p:spPr>
      </p:pic>
      <p:pic>
        <p:nvPicPr>
          <p:cNvPr id="1028" name="Picture 4"/>
          <p:cNvPicPr>
            <a:picLocks noChangeAspect="1" noChangeArrowheads="1"/>
          </p:cNvPicPr>
          <p:nvPr/>
        </p:nvPicPr>
        <p:blipFill>
          <a:blip r:embed="rId4" cstate="print"/>
          <a:srcRect/>
          <a:stretch>
            <a:fillRect/>
          </a:stretch>
        </p:blipFill>
        <p:spPr bwMode="auto">
          <a:xfrm>
            <a:off x="762000" y="4876800"/>
            <a:ext cx="2362200" cy="1694201"/>
          </a:xfrm>
          <a:prstGeom prst="rect">
            <a:avLst/>
          </a:prstGeom>
          <a:noFill/>
          <a:ln w="9525">
            <a:noFill/>
            <a:miter lim="800000"/>
            <a:headEnd/>
            <a:tailEnd/>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dirty="0"/>
              <a:t>  Dot Matrix Printer Parts</a:t>
            </a:r>
          </a:p>
        </p:txBody>
      </p:sp>
      <p:sp>
        <p:nvSpPr>
          <p:cNvPr id="5"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75</a:t>
            </a:fld>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685800" y="1219200"/>
            <a:ext cx="6408230" cy="5105400"/>
          </a:xfrm>
          <a:prstGeom prst="rect">
            <a:avLst/>
          </a:prstGeom>
          <a:noFill/>
          <a:ln w="9525">
            <a:noFill/>
            <a:miter lim="800000"/>
            <a:headEnd/>
            <a:tailEnd/>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81000" y="228600"/>
            <a:ext cx="7239000" cy="911225"/>
          </a:xfrm>
        </p:spPr>
        <p:txBody>
          <a:bodyPr>
            <a:normAutofit fontScale="90000"/>
          </a:bodyPr>
          <a:lstStyle/>
          <a:p>
            <a:pPr eaLnBrk="1" hangingPunct="1"/>
            <a:r>
              <a:rPr lang="en-US" dirty="0"/>
              <a:t>Dot Matrix </a:t>
            </a:r>
            <a:r>
              <a:rPr lang="en-US" dirty="0" err="1"/>
              <a:t>Printhead</a:t>
            </a:r>
            <a:r>
              <a:rPr lang="en-US" dirty="0"/>
              <a:t> Mechanism</a:t>
            </a:r>
          </a:p>
        </p:txBody>
      </p:sp>
      <p:sp>
        <p:nvSpPr>
          <p:cNvPr id="8196" name="Rectangle 3"/>
          <p:cNvSpPr>
            <a:spLocks noGrp="1" noChangeArrowheads="1"/>
          </p:cNvSpPr>
          <p:nvPr>
            <p:ph type="body" idx="1"/>
          </p:nvPr>
        </p:nvSpPr>
        <p:spPr>
          <a:xfrm>
            <a:off x="304800" y="1219200"/>
            <a:ext cx="7315200" cy="3810000"/>
          </a:xfrm>
        </p:spPr>
        <p:txBody>
          <a:bodyPr>
            <a:normAutofit fontScale="92500" lnSpcReduction="20000"/>
          </a:bodyPr>
          <a:lstStyle/>
          <a:p>
            <a:pPr lvl="0"/>
            <a:r>
              <a:rPr lang="en-US" dirty="0"/>
              <a:t>Print head Mechanism</a:t>
            </a:r>
          </a:p>
          <a:p>
            <a:pPr lvl="1"/>
            <a:r>
              <a:rPr lang="en-US" dirty="0"/>
              <a:t>which contains a cluster (or matrix) of short pins arranged in one or more columns. </a:t>
            </a:r>
          </a:p>
          <a:p>
            <a:pPr lvl="0"/>
            <a:r>
              <a:rPr lang="en-US" dirty="0"/>
              <a:t>Printer can push any of the pins out in any combination. </a:t>
            </a:r>
          </a:p>
          <a:p>
            <a:pPr lvl="0"/>
            <a:r>
              <a:rPr lang="en-US" dirty="0"/>
              <a:t>By pushing out pins in various combinations, the print head can create alphanumeric characters</a:t>
            </a:r>
          </a:p>
          <a:p>
            <a:pPr lvl="0"/>
            <a:r>
              <a:rPr lang="en-US" dirty="0"/>
              <a:t>Forms a character by creating a series of dots.</a:t>
            </a:r>
          </a:p>
          <a:p>
            <a:endParaRPr lang="en-US" dirty="0"/>
          </a:p>
        </p:txBody>
      </p:sp>
      <p:sp>
        <p:nvSpPr>
          <p:cNvPr id="5"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76</a:t>
            </a:fld>
            <a:endParaRPr lang="en-US" dirty="0"/>
          </a:p>
        </p:txBody>
      </p:sp>
      <p:pic>
        <p:nvPicPr>
          <p:cNvPr id="1027" name="Picture 3"/>
          <p:cNvPicPr>
            <a:picLocks noChangeAspect="1" noChangeArrowheads="1"/>
          </p:cNvPicPr>
          <p:nvPr/>
        </p:nvPicPr>
        <p:blipFill>
          <a:blip r:embed="rId3" cstate="print"/>
          <a:srcRect/>
          <a:stretch>
            <a:fillRect/>
          </a:stretch>
        </p:blipFill>
        <p:spPr bwMode="auto">
          <a:xfrm>
            <a:off x="609600" y="4953000"/>
            <a:ext cx="6300952" cy="1676400"/>
          </a:xfrm>
          <a:prstGeom prst="rect">
            <a:avLst/>
          </a:prstGeom>
          <a:noFill/>
          <a:ln w="9525">
            <a:no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457200" y="228600"/>
            <a:ext cx="7162800" cy="911225"/>
          </a:xfrm>
        </p:spPr>
        <p:txBody>
          <a:bodyPr/>
          <a:lstStyle/>
          <a:p>
            <a:pPr eaLnBrk="1" hangingPunct="1"/>
            <a:r>
              <a:rPr lang="en-US" dirty="0"/>
              <a:t>How Image is created?</a:t>
            </a:r>
          </a:p>
        </p:txBody>
      </p:sp>
      <p:sp>
        <p:nvSpPr>
          <p:cNvPr id="8" name="Content Placeholder 7"/>
          <p:cNvSpPr>
            <a:spLocks noGrp="1"/>
          </p:cNvSpPr>
          <p:nvPr>
            <p:ph idx="1"/>
          </p:nvPr>
        </p:nvSpPr>
        <p:spPr>
          <a:xfrm>
            <a:off x="304800" y="1219200"/>
            <a:ext cx="7315200" cy="5105400"/>
          </a:xfrm>
        </p:spPr>
        <p:txBody>
          <a:bodyPr>
            <a:normAutofit fontScale="92500" lnSpcReduction="10000"/>
          </a:bodyPr>
          <a:lstStyle/>
          <a:p>
            <a:r>
              <a:rPr lang="en-US" dirty="0"/>
              <a:t>When pushed out from the duster, the protruding pins’ ends strike a ribbon</a:t>
            </a:r>
          </a:p>
          <a:p>
            <a:pPr lvl="1"/>
            <a:r>
              <a:rPr lang="en-US" dirty="0"/>
              <a:t>which is held in place between the print head and the paper. </a:t>
            </a:r>
          </a:p>
          <a:p>
            <a:r>
              <a:rPr lang="en-US" dirty="0"/>
              <a:t>When the pins strike the ribbon, they press ink from the ribbon onto the paper.</a:t>
            </a:r>
          </a:p>
          <a:p>
            <a:r>
              <a:rPr lang="en-US" dirty="0"/>
              <a:t>More pins that a print head contains, the higher the printer’s resolution</a:t>
            </a:r>
          </a:p>
          <a:p>
            <a:r>
              <a:rPr lang="en-US" dirty="0"/>
              <a:t>Slowest dot matrix printers create 50 to 70 cps </a:t>
            </a:r>
          </a:p>
          <a:p>
            <a:r>
              <a:rPr lang="en-US" dirty="0"/>
              <a:t>Fastest more than 500 cps</a:t>
            </a:r>
          </a:p>
          <a:p>
            <a:endParaRPr lang="en-US" dirty="0"/>
          </a:p>
        </p:txBody>
      </p:sp>
      <p:sp>
        <p:nvSpPr>
          <p:cNvPr id="6" name="Slide Number Placeholder 3"/>
          <p:cNvSpPr>
            <a:spLocks noGrp="1"/>
          </p:cNvSpPr>
          <p:nvPr>
            <p:ph type="sldNum" sz="quarter" idx="12"/>
          </p:nvPr>
        </p:nvSpPr>
        <p:spPr bwMode="auto">
          <a:prstGeom prst="rect">
            <a:avLst/>
          </a:prstGeom>
          <a:noFill/>
          <a:ln>
            <a:miter lim="800000"/>
            <a:headEnd/>
            <a:tailEnd/>
          </a:ln>
        </p:spPr>
        <p:txBody>
          <a:bodyPr/>
          <a:lstStyle/>
          <a:p>
            <a:fld id="{0A147E1F-7BB4-41CD-B102-3D0DDA38FA7B}" type="slidenum">
              <a:rPr lang="en-US"/>
              <a:pPr/>
              <a:t>77</a:t>
            </a:fld>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533400" y="228600"/>
            <a:ext cx="7086600" cy="911225"/>
          </a:xfrm>
        </p:spPr>
        <p:txBody>
          <a:bodyPr/>
          <a:lstStyle/>
          <a:p>
            <a:pPr eaLnBrk="1" hangingPunct="1"/>
            <a:r>
              <a:rPr lang="en-US" dirty="0"/>
              <a:t>Laser Printer</a:t>
            </a:r>
          </a:p>
        </p:txBody>
      </p:sp>
      <p:sp>
        <p:nvSpPr>
          <p:cNvPr id="14340" name="Rectangle 3"/>
          <p:cNvSpPr>
            <a:spLocks noGrp="1" noChangeArrowheads="1"/>
          </p:cNvSpPr>
          <p:nvPr>
            <p:ph type="body" idx="1"/>
          </p:nvPr>
        </p:nvSpPr>
        <p:spPr>
          <a:xfrm>
            <a:off x="304800" y="1219200"/>
            <a:ext cx="7315200" cy="5257800"/>
          </a:xfrm>
        </p:spPr>
        <p:txBody>
          <a:bodyPr/>
          <a:lstStyle/>
          <a:p>
            <a:r>
              <a:rPr lang="en-US" dirty="0"/>
              <a:t>Non-impact printer</a:t>
            </a:r>
          </a:p>
          <a:p>
            <a:pPr lvl="1"/>
            <a:r>
              <a:rPr lang="en-US" dirty="0"/>
              <a:t>Works on a similar process as photocopier</a:t>
            </a:r>
          </a:p>
          <a:p>
            <a:r>
              <a:rPr lang="en-US" dirty="0"/>
              <a:t>Laser is at the heart of these printers.</a:t>
            </a:r>
          </a:p>
          <a:p>
            <a:r>
              <a:rPr lang="en-US" dirty="0"/>
              <a:t>Produces high quality documents</a:t>
            </a:r>
          </a:p>
          <a:p>
            <a:r>
              <a:rPr lang="en-US" dirty="0"/>
              <a:t>Color or black and white</a:t>
            </a:r>
          </a:p>
          <a:p>
            <a:r>
              <a:rPr lang="en-US" dirty="0"/>
              <a:t>Speed measured in pages per minute</a:t>
            </a:r>
          </a:p>
          <a:p>
            <a:r>
              <a:rPr lang="en-US" dirty="0"/>
              <a:t>Quality expressed as dots per inch</a:t>
            </a:r>
          </a:p>
        </p:txBody>
      </p:sp>
      <p:sp>
        <p:nvSpPr>
          <p:cNvPr id="5"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78</a:t>
            </a:fld>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7010400" cy="911225"/>
          </a:xfrm>
        </p:spPr>
        <p:txBody>
          <a:bodyPr>
            <a:normAutofit fontScale="90000"/>
          </a:bodyPr>
          <a:lstStyle/>
          <a:p>
            <a:r>
              <a:rPr lang="en-US" dirty="0"/>
              <a:t>How Laser Creates an Image</a:t>
            </a:r>
          </a:p>
        </p:txBody>
      </p:sp>
      <p:sp>
        <p:nvSpPr>
          <p:cNvPr id="3" name="Content Placeholder 2"/>
          <p:cNvSpPr>
            <a:spLocks noGrp="1"/>
          </p:cNvSpPr>
          <p:nvPr>
            <p:ph idx="1"/>
          </p:nvPr>
        </p:nvSpPr>
        <p:spPr>
          <a:xfrm>
            <a:off x="304800" y="1219201"/>
            <a:ext cx="4267200" cy="2590800"/>
          </a:xfrm>
        </p:spPr>
        <p:txBody>
          <a:bodyPr/>
          <a:lstStyle/>
          <a:p>
            <a:endParaRPr lang="en-US" dirty="0"/>
          </a:p>
        </p:txBody>
      </p:sp>
      <p:sp>
        <p:nvSpPr>
          <p:cNvPr id="4" name="Slide Number Placeholder 3"/>
          <p:cNvSpPr>
            <a:spLocks noGrp="1"/>
          </p:cNvSpPr>
          <p:nvPr>
            <p:ph type="sldNum" sz="quarter" idx="12"/>
          </p:nvPr>
        </p:nvSpPr>
        <p:spPr/>
        <p:txBody>
          <a:bodyPr/>
          <a:lstStyle/>
          <a:p>
            <a:pPr>
              <a:defRPr/>
            </a:pPr>
            <a:fld id="{782E5CB2-9C56-4C4E-9F8A-031E63E2A4DA}" type="slidenum">
              <a:rPr lang="en-US" altLang="zh-TW" smtClean="0"/>
              <a:pPr>
                <a:defRPr/>
              </a:pPr>
              <a:t>79</a:t>
            </a:fld>
            <a:endParaRPr lang="en-US" altLang="zh-TW" dirty="0"/>
          </a:p>
        </p:txBody>
      </p:sp>
      <p:pic>
        <p:nvPicPr>
          <p:cNvPr id="5123" name="Picture 3"/>
          <p:cNvPicPr>
            <a:picLocks noChangeAspect="1" noChangeArrowheads="1"/>
          </p:cNvPicPr>
          <p:nvPr/>
        </p:nvPicPr>
        <p:blipFill>
          <a:blip r:embed="rId2" cstate="print"/>
          <a:srcRect/>
          <a:stretch>
            <a:fillRect/>
          </a:stretch>
        </p:blipFill>
        <p:spPr bwMode="auto">
          <a:xfrm>
            <a:off x="380999" y="1524000"/>
            <a:ext cx="7326489" cy="4495800"/>
          </a:xfrm>
          <a:prstGeom prst="rect">
            <a:avLst/>
          </a:prstGeom>
          <a:noFill/>
          <a:ln w="9525">
            <a:noFill/>
            <a:miter lim="800000"/>
            <a:headEnd/>
            <a:tailEnd/>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t>Laser Printer Technology</a:t>
            </a:r>
          </a:p>
        </p:txBody>
      </p:sp>
      <p:pic>
        <p:nvPicPr>
          <p:cNvPr id="15364" name="Picture 2"/>
          <p:cNvPicPr>
            <a:picLocks noChangeAspect="1" noChangeArrowheads="1"/>
          </p:cNvPicPr>
          <p:nvPr/>
        </p:nvPicPr>
        <p:blipFill>
          <a:blip r:embed="rId2" cstate="print"/>
          <a:srcRect/>
          <a:stretch>
            <a:fillRect/>
          </a:stretch>
        </p:blipFill>
        <p:spPr bwMode="auto">
          <a:xfrm>
            <a:off x="381000" y="1295400"/>
            <a:ext cx="5638800" cy="5022850"/>
          </a:xfrm>
          <a:prstGeom prst="rect">
            <a:avLst/>
          </a:prstGeom>
          <a:noFill/>
          <a:ln w="9525">
            <a:noFill/>
            <a:miter lim="800000"/>
            <a:headEnd/>
            <a:tailEnd/>
          </a:ln>
        </p:spPr>
      </p:pic>
      <p:pic>
        <p:nvPicPr>
          <p:cNvPr id="15365" name="Picture 3"/>
          <p:cNvPicPr>
            <a:picLocks noChangeAspect="1" noChangeArrowheads="1"/>
          </p:cNvPicPr>
          <p:nvPr/>
        </p:nvPicPr>
        <p:blipFill>
          <a:blip r:embed="rId3" cstate="print"/>
          <a:srcRect/>
          <a:stretch>
            <a:fillRect/>
          </a:stretch>
        </p:blipFill>
        <p:spPr bwMode="auto">
          <a:xfrm>
            <a:off x="6324600" y="1524000"/>
            <a:ext cx="2438400" cy="1876425"/>
          </a:xfrm>
          <a:prstGeom prst="rect">
            <a:avLst/>
          </a:prstGeom>
          <a:noFill/>
          <a:ln w="9525">
            <a:noFill/>
            <a:miter lim="800000"/>
            <a:headEnd/>
            <a:tailEnd/>
          </a:ln>
        </p:spPr>
      </p:pic>
      <p:pic>
        <p:nvPicPr>
          <p:cNvPr id="15366" name="Picture 4"/>
          <p:cNvPicPr>
            <a:picLocks noChangeAspect="1" noChangeArrowheads="1"/>
          </p:cNvPicPr>
          <p:nvPr/>
        </p:nvPicPr>
        <p:blipFill>
          <a:blip r:embed="rId4" cstate="print"/>
          <a:srcRect/>
          <a:stretch>
            <a:fillRect/>
          </a:stretch>
        </p:blipFill>
        <p:spPr bwMode="auto">
          <a:xfrm>
            <a:off x="6248400" y="3581400"/>
            <a:ext cx="2565400" cy="2743200"/>
          </a:xfrm>
          <a:prstGeom prst="rect">
            <a:avLst/>
          </a:prstGeom>
          <a:noFill/>
          <a:ln w="9525">
            <a:noFill/>
            <a:miter lim="800000"/>
            <a:headEnd/>
            <a:tailEnd/>
          </a:ln>
        </p:spPr>
      </p:pic>
      <p:sp>
        <p:nvSpPr>
          <p:cNvPr id="7"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80</a:t>
            </a:fld>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457200" y="228600"/>
            <a:ext cx="7162800" cy="911225"/>
          </a:xfrm>
        </p:spPr>
        <p:txBody>
          <a:bodyPr/>
          <a:lstStyle/>
          <a:p>
            <a:pPr eaLnBrk="1" hangingPunct="1"/>
            <a:r>
              <a:rPr lang="en-US" dirty="0"/>
              <a:t>Plotters</a:t>
            </a:r>
          </a:p>
        </p:txBody>
      </p:sp>
      <p:sp>
        <p:nvSpPr>
          <p:cNvPr id="22532" name="Rectangle 3"/>
          <p:cNvSpPr>
            <a:spLocks noGrp="1" noChangeArrowheads="1"/>
          </p:cNvSpPr>
          <p:nvPr>
            <p:ph type="body" idx="1"/>
          </p:nvPr>
        </p:nvSpPr>
        <p:spPr/>
        <p:txBody>
          <a:bodyPr/>
          <a:lstStyle/>
          <a:p>
            <a:r>
              <a:rPr lang="en-US" dirty="0"/>
              <a:t>Large high quality blueprints</a:t>
            </a:r>
          </a:p>
          <a:p>
            <a:r>
              <a:rPr lang="en-US" dirty="0"/>
              <a:t>Older models draw with pens</a:t>
            </a:r>
          </a:p>
          <a:p>
            <a:r>
              <a:rPr lang="en-US" dirty="0"/>
              <a:t>Operational costs are low</a:t>
            </a:r>
          </a:p>
          <a:p>
            <a:r>
              <a:rPr lang="en-US" dirty="0"/>
              <a:t>Output is very slow</a:t>
            </a:r>
          </a:p>
        </p:txBody>
      </p:sp>
      <p:pic>
        <p:nvPicPr>
          <p:cNvPr id="22533" name="Picture 4" descr="D:\My Documents\!books\norton im\chapter 4\plotter.tif"/>
          <p:cNvPicPr>
            <a:picLocks noChangeAspect="1" noChangeArrowheads="1"/>
          </p:cNvPicPr>
          <p:nvPr/>
        </p:nvPicPr>
        <p:blipFill>
          <a:blip r:embed="rId2" cstate="print"/>
          <a:srcRect/>
          <a:stretch>
            <a:fillRect/>
          </a:stretch>
        </p:blipFill>
        <p:spPr bwMode="auto">
          <a:xfrm>
            <a:off x="609600" y="3411279"/>
            <a:ext cx="3886200" cy="3027621"/>
          </a:xfrm>
          <a:prstGeom prst="rect">
            <a:avLst/>
          </a:prstGeom>
          <a:noFill/>
          <a:ln w="9525">
            <a:noFill/>
            <a:miter lim="800000"/>
            <a:headEnd/>
            <a:tailEnd/>
          </a:ln>
        </p:spPr>
      </p:pic>
      <p:pic>
        <p:nvPicPr>
          <p:cNvPr id="22534" name="Picture 6"/>
          <p:cNvPicPr>
            <a:picLocks noChangeAspect="1" noChangeArrowheads="1"/>
          </p:cNvPicPr>
          <p:nvPr/>
        </p:nvPicPr>
        <p:blipFill>
          <a:blip r:embed="rId3" cstate="print"/>
          <a:srcRect/>
          <a:stretch>
            <a:fillRect/>
          </a:stretch>
        </p:blipFill>
        <p:spPr bwMode="auto">
          <a:xfrm>
            <a:off x="4648200" y="3429000"/>
            <a:ext cx="3276600" cy="2971800"/>
          </a:xfrm>
          <a:prstGeom prst="rect">
            <a:avLst/>
          </a:prstGeom>
          <a:noFill/>
          <a:ln w="9525">
            <a:noFill/>
            <a:miter lim="800000"/>
            <a:headEnd/>
            <a:tailEnd/>
          </a:ln>
        </p:spPr>
      </p:pic>
      <p:sp>
        <p:nvSpPr>
          <p:cNvPr id="7"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81</a:t>
            </a:fld>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fontScale="62500" lnSpcReduction="20000"/>
          </a:bodyPr>
          <a:lstStyle/>
          <a:p>
            <a:r>
              <a:rPr lang="en-US" dirty="0"/>
              <a:t>Definition of IT</a:t>
            </a:r>
          </a:p>
          <a:p>
            <a:r>
              <a:rPr lang="en-US" dirty="0"/>
              <a:t>Computer Technology</a:t>
            </a:r>
          </a:p>
          <a:p>
            <a:r>
              <a:rPr lang="en-US" dirty="0"/>
              <a:t>Communication Technology</a:t>
            </a:r>
          </a:p>
          <a:p>
            <a:r>
              <a:rPr lang="en-US" dirty="0"/>
              <a:t>Role of IT in Society</a:t>
            </a:r>
          </a:p>
          <a:p>
            <a:r>
              <a:rPr lang="en-GB" dirty="0"/>
              <a:t> Models: </a:t>
            </a:r>
          </a:p>
          <a:p>
            <a:pPr lvl="1"/>
            <a:r>
              <a:rPr lang="en-GB" dirty="0"/>
              <a:t>Turing Model,</a:t>
            </a:r>
          </a:p>
          <a:p>
            <a:pPr lvl="1"/>
            <a:r>
              <a:rPr lang="en-GB" dirty="0"/>
              <a:t> Von Neumann Model;</a:t>
            </a:r>
          </a:p>
          <a:p>
            <a:r>
              <a:rPr lang="en-GB" dirty="0"/>
              <a:t> Input Devices: </a:t>
            </a:r>
          </a:p>
          <a:p>
            <a:pPr lvl="1"/>
            <a:r>
              <a:rPr lang="en-GB" dirty="0"/>
              <a:t>Keyboard, </a:t>
            </a:r>
          </a:p>
          <a:p>
            <a:pPr lvl="1"/>
            <a:r>
              <a:rPr lang="en-GB" dirty="0"/>
              <a:t>Pointing &amp; Touch Devices, </a:t>
            </a:r>
          </a:p>
          <a:p>
            <a:pPr lvl="1"/>
            <a:r>
              <a:rPr lang="en-GB" dirty="0"/>
              <a:t>Game Controllers, </a:t>
            </a:r>
          </a:p>
          <a:p>
            <a:pPr lvl="1"/>
            <a:r>
              <a:rPr lang="en-GB" dirty="0"/>
              <a:t>Optical Input Devices, Audio Visual Devices; </a:t>
            </a:r>
          </a:p>
          <a:p>
            <a:r>
              <a:rPr lang="en-GB" dirty="0"/>
              <a:t>Output Devices: </a:t>
            </a:r>
          </a:p>
          <a:p>
            <a:r>
              <a:rPr lang="en-GB" dirty="0"/>
              <a:t>Monitors, </a:t>
            </a:r>
          </a:p>
          <a:p>
            <a:r>
              <a:rPr lang="en-GB" dirty="0"/>
              <a:t>Audio Output, </a:t>
            </a:r>
          </a:p>
          <a:p>
            <a:r>
              <a:rPr lang="en-GB"/>
              <a:t>Printers &amp; Plotters. </a:t>
            </a:r>
            <a:endParaRPr lang="en-GB"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3683246</TotalTime>
  <Words>3434</Words>
  <Application>Microsoft Office PowerPoint</Application>
  <PresentationFormat>On-screen Show (4:3)</PresentationFormat>
  <Paragraphs>601</Paragraphs>
  <Slides>82</Slides>
  <Notes>31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82</vt:i4>
      </vt:variant>
    </vt:vector>
  </HeadingPairs>
  <TitlesOfParts>
    <vt:vector size="94" baseType="lpstr">
      <vt:lpstr>Arial</vt:lpstr>
      <vt:lpstr>Calibri</vt:lpstr>
      <vt:lpstr>Carlito</vt:lpstr>
      <vt:lpstr>Century Gothic</vt:lpstr>
      <vt:lpstr>Corbel</vt:lpstr>
      <vt:lpstr>新細明體</vt:lpstr>
      <vt:lpstr>Times</vt:lpstr>
      <vt:lpstr>Times New Roman</vt:lpstr>
      <vt:lpstr>Wingdings</vt:lpstr>
      <vt:lpstr>Wingdings 2</vt:lpstr>
      <vt:lpstr>Wingdings 3</vt:lpstr>
      <vt:lpstr>Module</vt:lpstr>
      <vt:lpstr>CSC 101 – Introduction to Computing</vt:lpstr>
      <vt:lpstr>Course Information</vt:lpstr>
      <vt:lpstr>Books</vt:lpstr>
      <vt:lpstr> Assessment Plan for the Course: </vt:lpstr>
      <vt:lpstr>Major Topics Covered in the Course</vt:lpstr>
      <vt:lpstr>Course Learning Outcomes</vt:lpstr>
      <vt:lpstr> Plagiarism Policy </vt:lpstr>
      <vt:lpstr>Attendance Policy</vt:lpstr>
      <vt:lpstr>Contact</vt:lpstr>
      <vt:lpstr>Lecture 01</vt:lpstr>
      <vt:lpstr>Outline</vt:lpstr>
      <vt:lpstr>PowerPoint Presentation</vt:lpstr>
      <vt:lpstr>What is Information Technology</vt:lpstr>
      <vt:lpstr>What is Information Technology</vt:lpstr>
      <vt:lpstr>Exercise</vt:lpstr>
      <vt:lpstr>Some examples of IT</vt:lpstr>
      <vt:lpstr>PowerPoint Presentation</vt:lpstr>
      <vt:lpstr>Some examples of IT</vt:lpstr>
      <vt:lpstr>Some examples of IT</vt:lpstr>
      <vt:lpstr>What is a Computer and What Does it Do?</vt:lpstr>
      <vt:lpstr>Communication Defined</vt:lpstr>
      <vt:lpstr>Related IT terms</vt:lpstr>
      <vt:lpstr>Related IT terms</vt:lpstr>
      <vt:lpstr>Related IT terms</vt:lpstr>
      <vt:lpstr>Exercise</vt:lpstr>
      <vt:lpstr>Who Uses Computers?</vt:lpstr>
      <vt:lpstr>Computers In Society</vt:lpstr>
      <vt:lpstr>Computers In Society</vt:lpstr>
      <vt:lpstr>Computers In Society</vt:lpstr>
      <vt:lpstr>Computers in the Home</vt:lpstr>
      <vt:lpstr>Computers in the Home</vt:lpstr>
      <vt:lpstr>Computers in Education</vt:lpstr>
      <vt:lpstr>Computers in Education</vt:lpstr>
      <vt:lpstr>Computers on the Job</vt:lpstr>
      <vt:lpstr>Computers on the Job</vt:lpstr>
      <vt:lpstr>Computers on the Go</vt:lpstr>
      <vt:lpstr>Technology and You</vt:lpstr>
      <vt:lpstr>Computers In Health Care</vt:lpstr>
      <vt:lpstr>Allen Turing (1912-1954) </vt:lpstr>
      <vt:lpstr>John von Neumann</vt:lpstr>
      <vt:lpstr>Input Devices</vt:lpstr>
      <vt:lpstr> Two Common Input Devices</vt:lpstr>
      <vt:lpstr>The Keyboard</vt:lpstr>
      <vt:lpstr>PowerPoint Presentation</vt:lpstr>
      <vt:lpstr>The Mouse</vt:lpstr>
      <vt:lpstr>The Mouse</vt:lpstr>
      <vt:lpstr>Optical Mouse</vt:lpstr>
      <vt:lpstr> Benefits of Using Mouse</vt:lpstr>
      <vt:lpstr>Touch Screens</vt:lpstr>
      <vt:lpstr>Touch Screens</vt:lpstr>
      <vt:lpstr>Game Controllers</vt:lpstr>
      <vt:lpstr>Joystick</vt:lpstr>
      <vt:lpstr>Game Pad</vt:lpstr>
      <vt:lpstr>Optical Input Devices</vt:lpstr>
      <vt:lpstr> Bar Code Reading Process</vt:lpstr>
      <vt:lpstr>Image Scanners</vt:lpstr>
      <vt:lpstr>How an Image is Scanned</vt:lpstr>
      <vt:lpstr>Audiovisual Input Devices</vt:lpstr>
      <vt:lpstr>Speech Recognition</vt:lpstr>
      <vt:lpstr>Other type of Audio Input</vt:lpstr>
      <vt:lpstr>Video Input</vt:lpstr>
      <vt:lpstr>Video Camera and Webcam</vt:lpstr>
      <vt:lpstr>Digital Cameras</vt:lpstr>
      <vt:lpstr>Digital Cameras</vt:lpstr>
      <vt:lpstr>Monitors</vt:lpstr>
      <vt:lpstr>Cathode Ray Tube (CRT)</vt:lpstr>
      <vt:lpstr>Liquid Crystal Display (LCD)</vt:lpstr>
      <vt:lpstr>Plasma Display Panel (PDP)</vt:lpstr>
      <vt:lpstr>Light Emitting Diodes (LED)</vt:lpstr>
      <vt:lpstr>Sound Systems</vt:lpstr>
      <vt:lpstr>Sound Cards</vt:lpstr>
      <vt:lpstr>Headphones and Headsets</vt:lpstr>
      <vt:lpstr>Commonly Used Printers</vt:lpstr>
      <vt:lpstr>Dot Matrix Printer</vt:lpstr>
      <vt:lpstr>  Dot Matrix Printer Parts</vt:lpstr>
      <vt:lpstr>Dot Matrix Printhead Mechanism</vt:lpstr>
      <vt:lpstr>How Image is created?</vt:lpstr>
      <vt:lpstr>Laser Printer</vt:lpstr>
      <vt:lpstr>How Laser Creates an Image</vt:lpstr>
      <vt:lpstr>Laser Printer Technology</vt:lpstr>
      <vt:lpstr>Plotters</vt:lpstr>
      <vt:lpstr>Summary</vt:lpstr>
    </vt:vector>
  </TitlesOfParts>
  <Company>Hewlett-Packard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Shehla</dc:creator>
  <cp:lastModifiedBy>Skylinks</cp:lastModifiedBy>
  <cp:revision>136</cp:revision>
  <dcterms:created xsi:type="dcterms:W3CDTF">2015-07-29T13:27:11Z</dcterms:created>
  <dcterms:modified xsi:type="dcterms:W3CDTF">2025-09-03T03:03:09Z</dcterms:modified>
</cp:coreProperties>
</file>