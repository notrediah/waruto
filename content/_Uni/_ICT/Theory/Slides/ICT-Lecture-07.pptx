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50"/>
  </p:notesMasterIdLst>
  <p:sldIdLst>
    <p:sldId id="256" r:id="rId2"/>
    <p:sldId id="316" r:id="rId3"/>
    <p:sldId id="372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0" r:id="rId18"/>
    <p:sldId id="331" r:id="rId19"/>
    <p:sldId id="332" r:id="rId20"/>
    <p:sldId id="333" r:id="rId21"/>
    <p:sldId id="334" r:id="rId22"/>
    <p:sldId id="335" r:id="rId23"/>
    <p:sldId id="339" r:id="rId24"/>
    <p:sldId id="341" r:id="rId25"/>
    <p:sldId id="344" r:id="rId26"/>
    <p:sldId id="345" r:id="rId27"/>
    <p:sldId id="346" r:id="rId28"/>
    <p:sldId id="348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71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CSC 101 – Introduction to Computing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</a:t>
            </a:r>
            <a:r>
              <a:rPr lang="en-US" dirty="0" smtClean="0"/>
              <a:t>07 (Morley Ch12)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What </a:t>
            </a:r>
            <a:r>
              <a:rPr sz="3600" spc="-560" dirty="0"/>
              <a:t>Is </a:t>
            </a:r>
            <a:r>
              <a:rPr sz="3600" spc="-570" dirty="0"/>
              <a:t>a</a:t>
            </a:r>
            <a:r>
              <a:rPr sz="3600" spc="-370" dirty="0"/>
              <a:t> </a:t>
            </a:r>
            <a:r>
              <a:rPr sz="3600" spc="-500" dirty="0"/>
              <a:t>Database?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54950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756285" marR="7797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collection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related data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in a manner </a:t>
            </a:r>
            <a:r>
              <a:rPr sz="2400" spc="-10" dirty="0">
                <a:latin typeface="Carlito"/>
                <a:cs typeface="Carlito"/>
              </a:rPr>
              <a:t>that  </a:t>
            </a:r>
            <a:r>
              <a:rPr sz="2400" dirty="0">
                <a:latin typeface="Carlito"/>
                <a:cs typeface="Carlito"/>
              </a:rPr>
              <a:t>enables </a:t>
            </a:r>
            <a:r>
              <a:rPr sz="2400" spc="-10" dirty="0">
                <a:latin typeface="Carlito"/>
                <a:cs typeface="Carlito"/>
              </a:rPr>
              <a:t>information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5" dirty="0">
                <a:latin typeface="Carlito"/>
                <a:cs typeface="Carlito"/>
              </a:rPr>
              <a:t>Management </a:t>
            </a:r>
            <a:r>
              <a:rPr sz="2400" spc="-20" dirty="0">
                <a:latin typeface="Carlito"/>
                <a:cs typeface="Carlito"/>
              </a:rPr>
              <a:t>System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(DBMS)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create, </a:t>
            </a:r>
            <a:r>
              <a:rPr sz="2400" spc="-5" dirty="0">
                <a:latin typeface="Carlito"/>
                <a:cs typeface="Carlito"/>
              </a:rPr>
              <a:t>maintain, </a:t>
            </a:r>
            <a:r>
              <a:rPr sz="2400" dirty="0">
                <a:latin typeface="Carlito"/>
                <a:cs typeface="Carlito"/>
              </a:rPr>
              <a:t>and access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engine</a:t>
            </a:r>
            <a:endParaRPr sz="2400">
              <a:latin typeface="Carlito"/>
              <a:cs typeface="Carlito"/>
            </a:endParaRPr>
          </a:p>
          <a:p>
            <a:pPr marL="1155700" marR="76962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The part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program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actually </a:t>
            </a:r>
            <a:r>
              <a:rPr sz="2400" spc="-20" dirty="0">
                <a:latin typeface="Carlito"/>
                <a:cs typeface="Carlito"/>
              </a:rPr>
              <a:t>stores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10" dirty="0">
                <a:latin typeface="Carlito"/>
                <a:cs typeface="Carlito"/>
              </a:rPr>
              <a:t>retrieves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Microsoft </a:t>
            </a:r>
            <a:r>
              <a:rPr sz="2400" dirty="0">
                <a:latin typeface="Carlito"/>
                <a:cs typeface="Carlito"/>
              </a:rPr>
              <a:t>Access, </a:t>
            </a:r>
            <a:r>
              <a:rPr sz="2400" spc="-5" dirty="0">
                <a:latin typeface="Carlito"/>
                <a:cs typeface="Carlito"/>
              </a:rPr>
              <a:t>OpenOffice </a:t>
            </a:r>
            <a:r>
              <a:rPr sz="2400" dirty="0">
                <a:latin typeface="Carlito"/>
                <a:cs typeface="Carlito"/>
              </a:rPr>
              <a:t>Base, </a:t>
            </a:r>
            <a:r>
              <a:rPr sz="2400" spc="-10" dirty="0">
                <a:latin typeface="Carlito"/>
                <a:cs typeface="Carlito"/>
              </a:rPr>
              <a:t>Corel </a:t>
            </a:r>
            <a:r>
              <a:rPr sz="2400" spc="-25" dirty="0">
                <a:latin typeface="Carlito"/>
                <a:cs typeface="Carlito"/>
              </a:rPr>
              <a:t>Paradox,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Oracle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Database,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GB" dirty="0" smtClean="0"/>
              <a:t>Database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What is a Database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Advantages &amp; Disadvantages of the DBMS </a:t>
            </a:r>
            <a:r>
              <a:rPr lang="en-GB" dirty="0" smtClean="0"/>
              <a:t>Approach</a:t>
            </a:r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Data Concepts &amp; </a:t>
            </a:r>
            <a:r>
              <a:rPr lang="en-GB" dirty="0" smtClean="0"/>
              <a:t>Characteristics</a:t>
            </a:r>
            <a:endParaRPr lang="en-GB" dirty="0" smtClean="0"/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Data </a:t>
            </a:r>
            <a:r>
              <a:rPr lang="en-GB" dirty="0" smtClean="0"/>
              <a:t>Definition</a:t>
            </a:r>
            <a:endParaRPr lang="en-GB" dirty="0" smtClean="0"/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Data Hierarchy </a:t>
            </a:r>
            <a:endParaRPr lang="en-GB" dirty="0" smtClean="0"/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Entities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Entity Relationships </a:t>
            </a:r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Data Integrity, Security &amp; </a:t>
            </a:r>
            <a:r>
              <a:rPr lang="en-GB" dirty="0" smtClean="0"/>
              <a:t>Privacy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Centralized </a:t>
            </a:r>
            <a:r>
              <a:rPr lang="en-GB" dirty="0" smtClean="0"/>
              <a:t>vs. Distributed Database </a:t>
            </a:r>
            <a:r>
              <a:rPr lang="en-GB" dirty="0" smtClean="0"/>
              <a:t>Systems 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What </a:t>
            </a:r>
            <a:r>
              <a:rPr sz="3600" spc="-560" dirty="0"/>
              <a:t>Is </a:t>
            </a:r>
            <a:r>
              <a:rPr sz="3600" spc="-570" dirty="0"/>
              <a:t>a</a:t>
            </a:r>
            <a:r>
              <a:rPr sz="3600" spc="-370" dirty="0"/>
              <a:t> </a:t>
            </a:r>
            <a:r>
              <a:rPr sz="3600" spc="-500" dirty="0"/>
              <a:t>Database?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69859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spc="-10" dirty="0">
                <a:latin typeface="Carlito"/>
                <a:cs typeface="Carlito"/>
              </a:rPr>
              <a:t>consists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of: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35" dirty="0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Collection of </a:t>
            </a:r>
            <a:r>
              <a:rPr sz="2400" spc="-15" dirty="0">
                <a:latin typeface="Carlito"/>
                <a:cs typeface="Carlito"/>
              </a:rPr>
              <a:t>related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records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Fields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(columns)</a:t>
            </a:r>
            <a:endParaRPr sz="2400">
              <a:latin typeface="Carlito"/>
              <a:cs typeface="Carlito"/>
            </a:endParaRPr>
          </a:p>
          <a:p>
            <a:pPr marL="1155700" marR="52832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Single </a:t>
            </a:r>
            <a:r>
              <a:rPr sz="2400" spc="-10" dirty="0">
                <a:latin typeface="Carlito"/>
                <a:cs typeface="Carlito"/>
              </a:rPr>
              <a:t>category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 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database  </a:t>
            </a:r>
            <a:r>
              <a:rPr sz="2400" spc="-5" dirty="0">
                <a:latin typeface="Carlito"/>
                <a:cs typeface="Carlito"/>
              </a:rPr>
              <a:t>(name, telephone </a:t>
            </a:r>
            <a:r>
              <a:rPr sz="2400" spc="-35" dirty="0">
                <a:latin typeface="Carlito"/>
                <a:cs typeface="Carlito"/>
              </a:rPr>
              <a:t>number,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Records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(rows)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Collection of </a:t>
            </a:r>
            <a:r>
              <a:rPr sz="2400" spc="-15" dirty="0">
                <a:latin typeface="Carlito"/>
                <a:cs typeface="Carlito"/>
              </a:rPr>
              <a:t>related </a:t>
            </a:r>
            <a:r>
              <a:rPr sz="2400" spc="-5" dirty="0">
                <a:latin typeface="Carlito"/>
                <a:cs typeface="Carlito"/>
              </a:rPr>
              <a:t>fields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5" dirty="0">
                <a:latin typeface="Carlito"/>
                <a:cs typeface="Carlito"/>
              </a:rPr>
              <a:t>(all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fields 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30" dirty="0">
                <a:latin typeface="Carlito"/>
                <a:cs typeface="Carlito"/>
              </a:rPr>
              <a:t>customer,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example)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What </a:t>
            </a:r>
            <a:r>
              <a:rPr sz="3600" spc="-560" dirty="0"/>
              <a:t>Is </a:t>
            </a:r>
            <a:r>
              <a:rPr sz="3600" spc="-570" dirty="0"/>
              <a:t>a</a:t>
            </a:r>
            <a:r>
              <a:rPr sz="3600" spc="-370" dirty="0"/>
              <a:t> </a:t>
            </a:r>
            <a:r>
              <a:rPr sz="3600" spc="-500" dirty="0"/>
              <a:t>Database?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7693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Simple </a:t>
            </a:r>
            <a:r>
              <a:rPr sz="2400" spc="-10" dirty="0">
                <a:latin typeface="Carlito"/>
                <a:cs typeface="Carlito"/>
              </a:rPr>
              <a:t>Relational Database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Example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779" y="1988845"/>
            <a:ext cx="5784620" cy="4110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8296" y="3068967"/>
            <a:ext cx="1003757" cy="5965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093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What </a:t>
            </a:r>
            <a:r>
              <a:rPr sz="3600" spc="-505" dirty="0"/>
              <a:t>is </a:t>
            </a:r>
            <a:r>
              <a:rPr sz="3600" spc="-570" dirty="0"/>
              <a:t>a</a:t>
            </a:r>
            <a:r>
              <a:rPr sz="3600" spc="-495" dirty="0"/>
              <a:t> Database?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461884" cy="17087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Primary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Key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Field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uniquely identifies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records </a:t>
            </a:r>
            <a:r>
              <a:rPr sz="2400" dirty="0">
                <a:latin typeface="Carlito"/>
                <a:cs typeface="Carlito"/>
              </a:rPr>
              <a:t>in a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Field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table that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relate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table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other</a:t>
            </a:r>
            <a:endParaRPr sz="240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639" y="3212973"/>
            <a:ext cx="4267200" cy="251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16243" y="3645027"/>
            <a:ext cx="1344781" cy="12478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What </a:t>
            </a:r>
            <a:r>
              <a:rPr sz="3600" spc="-560" dirty="0"/>
              <a:t>Is </a:t>
            </a:r>
            <a:r>
              <a:rPr sz="3600" spc="-570" dirty="0"/>
              <a:t>a</a:t>
            </a:r>
            <a:r>
              <a:rPr sz="3600" spc="-370" dirty="0"/>
              <a:t> </a:t>
            </a:r>
            <a:r>
              <a:rPr sz="3600" spc="-500" dirty="0"/>
              <a:t>Database?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84465" cy="34645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Individuals </a:t>
            </a:r>
            <a:r>
              <a:rPr sz="2400" spc="-20" dirty="0">
                <a:latin typeface="Carlito"/>
                <a:cs typeface="Carlito"/>
              </a:rPr>
              <a:t>Involved </a:t>
            </a:r>
            <a:r>
              <a:rPr sz="2400" dirty="0">
                <a:latin typeface="Carlito"/>
                <a:cs typeface="Carlito"/>
              </a:rPr>
              <a:t>with a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5" dirty="0">
                <a:latin typeface="Carlito"/>
                <a:cs typeface="Carlito"/>
              </a:rPr>
              <a:t>Management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Designers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Developers</a:t>
            </a:r>
            <a:endParaRPr sz="2400">
              <a:latin typeface="Carlito"/>
              <a:cs typeface="Carlito"/>
            </a:endParaRPr>
          </a:p>
          <a:p>
            <a:pPr marL="228600" marR="4135754" lvl="2" indent="-228600" algn="r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15" dirty="0">
                <a:latin typeface="Carlito"/>
                <a:cs typeface="Carlito"/>
              </a:rPr>
              <a:t>Create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756285" marR="4130040" lvl="1" indent="-756920" algn="r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Programmers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Write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5" dirty="0">
                <a:latin typeface="Carlito"/>
                <a:cs typeface="Carlito"/>
              </a:rPr>
              <a:t>needed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access the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5" dirty="0">
                <a:latin typeface="Carlito"/>
                <a:cs typeface="Carlito"/>
              </a:rPr>
              <a:t>or  </a:t>
            </a:r>
            <a:r>
              <a:rPr sz="2400" dirty="0">
                <a:latin typeface="Carlito"/>
                <a:cs typeface="Carlito"/>
              </a:rPr>
              <a:t>tie the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What </a:t>
            </a:r>
            <a:r>
              <a:rPr sz="3600" spc="-560" dirty="0"/>
              <a:t>Is </a:t>
            </a:r>
            <a:r>
              <a:rPr sz="3600" spc="-570" dirty="0"/>
              <a:t>a</a:t>
            </a:r>
            <a:r>
              <a:rPr sz="3600" spc="-370" dirty="0"/>
              <a:t> </a:t>
            </a:r>
            <a:r>
              <a:rPr sz="3600" spc="-500" dirty="0"/>
              <a:t>Database?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283450" cy="25133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Administrators</a:t>
            </a:r>
            <a:endParaRPr sz="2400">
              <a:latin typeface="Carlito"/>
              <a:cs typeface="Carlito"/>
            </a:endParaRPr>
          </a:p>
          <a:p>
            <a:pPr marL="697865" marR="37274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Responsible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managing the </a:t>
            </a:r>
            <a:r>
              <a:rPr sz="2400" spc="-10" dirty="0">
                <a:latin typeface="Carlito"/>
                <a:cs typeface="Carlito"/>
              </a:rPr>
              <a:t>databases </a:t>
            </a:r>
            <a:r>
              <a:rPr sz="2400" dirty="0">
                <a:latin typeface="Carlito"/>
                <a:cs typeface="Carlito"/>
              </a:rPr>
              <a:t>within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  </a:t>
            </a:r>
            <a:r>
              <a:rPr sz="2400" spc="-15" dirty="0">
                <a:latin typeface="Carlito"/>
                <a:cs typeface="Carlito"/>
              </a:rPr>
              <a:t>organization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Users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Individuals </a:t>
            </a:r>
            <a:r>
              <a:rPr sz="2400" dirty="0">
                <a:latin typeface="Carlito"/>
                <a:cs typeface="Carlito"/>
              </a:rPr>
              <a:t>who </a:t>
            </a:r>
            <a:r>
              <a:rPr sz="2400" spc="-10" dirty="0">
                <a:latin typeface="Carlito"/>
                <a:cs typeface="Carlito"/>
              </a:rPr>
              <a:t>enter </a:t>
            </a:r>
            <a:r>
              <a:rPr sz="2400" spc="-15" dirty="0">
                <a:latin typeface="Carlito"/>
                <a:cs typeface="Carlito"/>
              </a:rPr>
              <a:t>data, update data,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retrieve  information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What </a:t>
            </a:r>
            <a:r>
              <a:rPr sz="3600" spc="-560" dirty="0"/>
              <a:t>Is </a:t>
            </a:r>
            <a:r>
              <a:rPr sz="3600" spc="-570" dirty="0"/>
              <a:t>a</a:t>
            </a:r>
            <a:r>
              <a:rPr sz="3600" spc="-370" dirty="0"/>
              <a:t> </a:t>
            </a:r>
            <a:r>
              <a:rPr sz="3600" spc="-500" dirty="0"/>
              <a:t>Database?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3718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Evolution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600" y="2362200"/>
            <a:ext cx="8253095" cy="3808729"/>
            <a:chOff x="611555" y="1988845"/>
            <a:chExt cx="8253095" cy="3808729"/>
          </a:xfrm>
        </p:grpSpPr>
        <p:sp>
          <p:nvSpPr>
            <p:cNvPr id="5" name="object 5"/>
            <p:cNvSpPr/>
            <p:nvPr/>
          </p:nvSpPr>
          <p:spPr>
            <a:xfrm>
              <a:off x="611555" y="1988845"/>
              <a:ext cx="7303526" cy="380845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12404" y="2348865"/>
              <a:ext cx="1051902" cy="10058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 dirty="0"/>
              <a:t>What </a:t>
            </a:r>
            <a:r>
              <a:rPr sz="3600" spc="-560" dirty="0"/>
              <a:t>Is </a:t>
            </a:r>
            <a:r>
              <a:rPr sz="3600" spc="-570" dirty="0"/>
              <a:t>a</a:t>
            </a:r>
            <a:r>
              <a:rPr sz="3600" spc="-370" dirty="0"/>
              <a:t> </a:t>
            </a:r>
            <a:r>
              <a:rPr sz="3600" spc="-500" dirty="0"/>
              <a:t>Database?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064375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Advantages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Disadvantages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DBMS </a:t>
            </a:r>
            <a:r>
              <a:rPr sz="2400" spc="-10" dirty="0">
                <a:latin typeface="Carlito"/>
                <a:cs typeface="Carlito"/>
              </a:rPr>
              <a:t>Approach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Advantages</a:t>
            </a:r>
            <a:endParaRPr sz="2400">
              <a:latin typeface="Carlito"/>
              <a:cs typeface="Carlito"/>
            </a:endParaRPr>
          </a:p>
          <a:p>
            <a:pPr marL="228600" marR="2889250" lvl="2" indent="-228600" algn="r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10" dirty="0">
                <a:latin typeface="Carlito"/>
                <a:cs typeface="Carlito"/>
              </a:rPr>
              <a:t>Low level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redundancy</a:t>
            </a:r>
            <a:endParaRPr sz="2400">
              <a:latin typeface="Carlito"/>
              <a:cs typeface="Carlito"/>
            </a:endParaRPr>
          </a:p>
          <a:p>
            <a:pPr marL="228600" marR="2861945" lvl="3" indent="-228600" algn="r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28600" algn="l"/>
              </a:tabLst>
            </a:pPr>
            <a:r>
              <a:rPr sz="2400" spc="-20" dirty="0">
                <a:latin typeface="Carlito"/>
                <a:cs typeface="Carlito"/>
              </a:rPr>
              <a:t>Faster </a:t>
            </a:r>
            <a:r>
              <a:rPr sz="2400" spc="-5" dirty="0">
                <a:latin typeface="Carlito"/>
                <a:cs typeface="Carlito"/>
              </a:rPr>
              <a:t>response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 dirty="0">
                <a:latin typeface="Carlito"/>
                <a:cs typeface="Carlito"/>
              </a:rPr>
              <a:t>Lower </a:t>
            </a:r>
            <a:r>
              <a:rPr sz="2400" spc="-20" dirty="0">
                <a:latin typeface="Carlito"/>
                <a:cs typeface="Carlito"/>
              </a:rPr>
              <a:t>storage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requirements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 dirty="0">
                <a:latin typeface="Carlito"/>
                <a:cs typeface="Carlito"/>
              </a:rPr>
              <a:t>Easier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secure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 dirty="0">
                <a:latin typeface="Carlito"/>
                <a:cs typeface="Carlito"/>
              </a:rPr>
              <a:t>Increased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accuracy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Disadvantages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Increased vulnerability </a:t>
            </a:r>
            <a:r>
              <a:rPr sz="2400" spc="-10" dirty="0">
                <a:latin typeface="Carlito"/>
                <a:cs typeface="Carlito"/>
              </a:rPr>
              <a:t>(backup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essential)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626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415" dirty="0"/>
              <a:t>Industry</a:t>
            </a:r>
            <a:r>
              <a:rPr sz="3600" spc="17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3326765" cy="30988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Carlito"/>
                <a:cs typeface="Carlito"/>
              </a:rPr>
              <a:t>File </a:t>
            </a:r>
            <a:r>
              <a:rPr sz="2400" b="1" spc="-10" dirty="0">
                <a:latin typeface="Carlito"/>
                <a:cs typeface="Carlito"/>
              </a:rPr>
              <a:t>Management</a:t>
            </a:r>
            <a:r>
              <a:rPr sz="2400" b="1" spc="-80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marR="1093470" indent="-28702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35" dirty="0">
                <a:latin typeface="Carlito"/>
                <a:cs typeface="Carlito"/>
              </a:rPr>
              <a:t>Tables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spc="-15" dirty="0">
                <a:latin typeface="Carlito"/>
                <a:cs typeface="Carlito"/>
              </a:rPr>
              <a:t>related  </a:t>
            </a:r>
            <a:r>
              <a:rPr sz="2400" spc="-5" dirty="0">
                <a:latin typeface="Carlito"/>
                <a:cs typeface="Carlito"/>
              </a:rPr>
              <a:t>so </a:t>
            </a:r>
            <a:r>
              <a:rPr sz="2400" spc="-10" dirty="0">
                <a:latin typeface="Carlito"/>
                <a:cs typeface="Carlito"/>
              </a:rPr>
              <a:t>more  </a:t>
            </a:r>
            <a:r>
              <a:rPr sz="2400" dirty="0">
                <a:latin typeface="Carlito"/>
                <a:cs typeface="Carlito"/>
              </a:rPr>
              <a:t>time-  </a:t>
            </a:r>
            <a:r>
              <a:rPr sz="2400" spc="-10" dirty="0">
                <a:latin typeface="Carlito"/>
                <a:cs typeface="Carlito"/>
              </a:rPr>
              <a:t>consuming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more  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edund</a:t>
            </a:r>
            <a:r>
              <a:rPr sz="2400" spc="5" dirty="0">
                <a:latin typeface="Carlito"/>
                <a:cs typeface="Carlito"/>
              </a:rPr>
              <a:t>a</a:t>
            </a:r>
            <a:r>
              <a:rPr sz="2400" spc="-5" dirty="0">
                <a:latin typeface="Carlito"/>
                <a:cs typeface="Carlito"/>
              </a:rPr>
              <a:t>ncy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78582" y="1995385"/>
            <a:ext cx="6157849" cy="43139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430" dirty="0"/>
              <a:t>Concepts </a:t>
            </a:r>
            <a:r>
              <a:rPr spc="-360" dirty="0"/>
              <a:t>and</a:t>
            </a:r>
            <a:r>
              <a:rPr spc="-405" dirty="0"/>
              <a:t> </a:t>
            </a:r>
            <a:r>
              <a:rPr spc="-450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5332730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Hierarchy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Fields/columns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Hold single pieces of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Records/rows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Groups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related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fields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35" dirty="0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Collection of </a:t>
            </a:r>
            <a:r>
              <a:rPr sz="2400" spc="-15" dirty="0">
                <a:latin typeface="Carlito"/>
                <a:cs typeface="Carlito"/>
              </a:rPr>
              <a:t>related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records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Contains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group of </a:t>
            </a:r>
            <a:r>
              <a:rPr sz="2400" spc="-15" dirty="0">
                <a:latin typeface="Carlito"/>
                <a:cs typeface="Carlito"/>
              </a:rPr>
              <a:t>related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430" dirty="0"/>
              <a:t>Concepts </a:t>
            </a:r>
            <a:r>
              <a:rPr spc="-360" dirty="0"/>
              <a:t>and</a:t>
            </a:r>
            <a:r>
              <a:rPr spc="-405" dirty="0"/>
              <a:t> </a:t>
            </a:r>
            <a:r>
              <a:rPr spc="-450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84490" cy="47085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Entities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Entity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Relationships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Entity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person, </a:t>
            </a:r>
            <a:r>
              <a:rPr sz="2400" spc="-5" dirty="0">
                <a:latin typeface="Carlito"/>
                <a:cs typeface="Carlito"/>
              </a:rPr>
              <a:t>object, </a:t>
            </a:r>
            <a:r>
              <a:rPr sz="2400" spc="-10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event </a:t>
            </a:r>
            <a:r>
              <a:rPr sz="2400" spc="-5" dirty="0">
                <a:latin typeface="Carlito"/>
                <a:cs typeface="Carlito"/>
              </a:rPr>
              <a:t>of importance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organization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Entities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organization wants to </a:t>
            </a:r>
            <a:r>
              <a:rPr sz="2400" spc="-25" dirty="0">
                <a:latin typeface="Carlito"/>
                <a:cs typeface="Carlito"/>
              </a:rPr>
              <a:t>store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about 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spc="-10" dirty="0">
                <a:latin typeface="Carlito"/>
                <a:cs typeface="Carlito"/>
              </a:rPr>
              <a:t>becomes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Attributes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Characteristics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an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entity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Char char="•"/>
              <a:tabLst>
                <a:tab pos="1156335" algn="l"/>
              </a:tabLst>
            </a:pPr>
            <a:r>
              <a:rPr sz="2400" spc="-120" dirty="0">
                <a:latin typeface="Arial"/>
                <a:cs typeface="Arial"/>
              </a:rPr>
              <a:t>Typically </a:t>
            </a:r>
            <a:r>
              <a:rPr sz="2400" spc="-125" dirty="0">
                <a:latin typeface="Arial"/>
                <a:cs typeface="Arial"/>
              </a:rPr>
              <a:t>become </a:t>
            </a:r>
            <a:r>
              <a:rPr sz="2400" spc="-70" dirty="0">
                <a:latin typeface="Arial"/>
                <a:cs typeface="Arial"/>
              </a:rPr>
              <a:t>fields </a:t>
            </a:r>
            <a:r>
              <a:rPr sz="2400" spc="-30" dirty="0">
                <a:latin typeface="Arial"/>
                <a:cs typeface="Arial"/>
              </a:rPr>
              <a:t>in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45" dirty="0">
                <a:latin typeface="Arial"/>
                <a:cs typeface="Arial"/>
              </a:rPr>
              <a:t>entity’s</a:t>
            </a:r>
            <a:r>
              <a:rPr sz="2400" spc="-434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database </a:t>
            </a:r>
            <a:r>
              <a:rPr sz="2400" spc="-55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Relationship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  <a:tab pos="4234180" algn="l"/>
              </a:tabLst>
            </a:pPr>
            <a:r>
              <a:rPr sz="2400" dirty="0">
                <a:latin typeface="Carlito"/>
                <a:cs typeface="Carlito"/>
              </a:rPr>
              <a:t>An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association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between	</a:t>
            </a:r>
            <a:r>
              <a:rPr sz="2400" spc="-10" dirty="0">
                <a:latin typeface="Carlito"/>
                <a:cs typeface="Carlito"/>
              </a:rPr>
              <a:t>two or more</a:t>
            </a:r>
            <a:r>
              <a:rPr sz="2400" spc="-5" dirty="0">
                <a:latin typeface="Carlito"/>
                <a:cs typeface="Carlito"/>
              </a:rPr>
              <a:t> entities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430" dirty="0"/>
              <a:t>Concepts </a:t>
            </a:r>
            <a:r>
              <a:rPr spc="-360" dirty="0"/>
              <a:t>and</a:t>
            </a:r>
            <a:r>
              <a:rPr spc="-405" dirty="0"/>
              <a:t> </a:t>
            </a:r>
            <a:r>
              <a:rPr spc="-450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9796"/>
            <a:ext cx="7579995" cy="455295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99085" indent="-287020" algn="just">
              <a:lnSpc>
                <a:spcPct val="100000"/>
              </a:lnSpc>
              <a:spcBef>
                <a:spcPts val="365"/>
              </a:spcBef>
              <a:buFont typeface="Arial"/>
              <a:buChar char="–"/>
              <a:tabLst>
                <a:tab pos="299720" algn="l"/>
              </a:tabLst>
            </a:pPr>
            <a:r>
              <a:rPr sz="2200" spc="-10" dirty="0">
                <a:latin typeface="Carlito"/>
                <a:cs typeface="Carlito"/>
              </a:rPr>
              <a:t>One </a:t>
            </a:r>
            <a:r>
              <a:rPr sz="2200" spc="-15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One (1:1) Entity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Relationships</a:t>
            </a:r>
            <a:endParaRPr sz="2200">
              <a:latin typeface="Carlito"/>
              <a:cs typeface="Carlito"/>
            </a:endParaRPr>
          </a:p>
          <a:p>
            <a:pPr marL="697865" marR="169545" lvl="1" indent="-228600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latin typeface="Carlito"/>
                <a:cs typeface="Carlito"/>
              </a:rPr>
              <a:t>One entity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5" dirty="0">
                <a:latin typeface="Carlito"/>
                <a:cs typeface="Carlito"/>
              </a:rPr>
              <a:t>related to </a:t>
            </a:r>
            <a:r>
              <a:rPr sz="2200" spc="-5" dirty="0">
                <a:latin typeface="Carlito"/>
                <a:cs typeface="Carlito"/>
              </a:rPr>
              <a:t>only </a:t>
            </a:r>
            <a:r>
              <a:rPr sz="2200" spc="-10" dirty="0">
                <a:latin typeface="Carlito"/>
                <a:cs typeface="Carlito"/>
              </a:rPr>
              <a:t>one </a:t>
            </a:r>
            <a:r>
              <a:rPr sz="2200" spc="-5" dirty="0">
                <a:latin typeface="Carlito"/>
                <a:cs typeface="Carlito"/>
              </a:rPr>
              <a:t>other </a:t>
            </a:r>
            <a:r>
              <a:rPr sz="2200" spc="-10" dirty="0">
                <a:latin typeface="Carlito"/>
                <a:cs typeface="Carlito"/>
              </a:rPr>
              <a:t>entity </a:t>
            </a:r>
            <a:r>
              <a:rPr sz="2200" spc="-5" dirty="0">
                <a:latin typeface="Carlito"/>
                <a:cs typeface="Carlito"/>
              </a:rPr>
              <a:t>of a </a:t>
            </a:r>
            <a:r>
              <a:rPr sz="2200" spc="-10" dirty="0">
                <a:latin typeface="Carlito"/>
                <a:cs typeface="Carlito"/>
              </a:rPr>
              <a:t>particular  </a:t>
            </a:r>
            <a:r>
              <a:rPr sz="2200" spc="-5" dirty="0">
                <a:latin typeface="Carlito"/>
                <a:cs typeface="Carlito"/>
              </a:rPr>
              <a:t>type</a:t>
            </a:r>
            <a:endParaRPr sz="2200">
              <a:latin typeface="Carlito"/>
              <a:cs typeface="Carlito"/>
            </a:endParaRPr>
          </a:p>
          <a:p>
            <a:pPr marL="227965" marR="2912745" lvl="1" indent="-227965" algn="r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227965" algn="l"/>
                <a:tab pos="228600" algn="l"/>
              </a:tabLst>
            </a:pPr>
            <a:r>
              <a:rPr sz="2200" spc="-5" dirty="0">
                <a:latin typeface="Carlito"/>
                <a:cs typeface="Carlito"/>
              </a:rPr>
              <a:t>Not a </a:t>
            </a:r>
            <a:r>
              <a:rPr sz="2200" spc="-10" dirty="0">
                <a:latin typeface="Carlito"/>
                <a:cs typeface="Carlito"/>
              </a:rPr>
              <a:t>common </a:t>
            </a:r>
            <a:r>
              <a:rPr sz="2200" spc="-5" dirty="0">
                <a:latin typeface="Carlito"/>
                <a:cs typeface="Carlito"/>
              </a:rPr>
              <a:t>type of</a:t>
            </a:r>
            <a:r>
              <a:rPr sz="2200" spc="5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relationship</a:t>
            </a:r>
            <a:endParaRPr sz="2200">
              <a:latin typeface="Carlito"/>
              <a:cs typeface="Carlito"/>
            </a:endParaRPr>
          </a:p>
          <a:p>
            <a:pPr marL="286385" marR="2886075" indent="-286385" algn="r">
              <a:lnSpc>
                <a:spcPct val="100000"/>
              </a:lnSpc>
              <a:spcBef>
                <a:spcPts val="265"/>
              </a:spcBef>
              <a:buFont typeface="Arial"/>
              <a:buChar char="–"/>
              <a:tabLst>
                <a:tab pos="286385" algn="l"/>
                <a:tab pos="299720" algn="l"/>
              </a:tabLst>
            </a:pPr>
            <a:r>
              <a:rPr sz="2200" spc="-10" dirty="0">
                <a:latin typeface="Carlito"/>
                <a:cs typeface="Carlito"/>
              </a:rPr>
              <a:t>One </a:t>
            </a:r>
            <a:r>
              <a:rPr sz="2200" spc="-15" dirty="0">
                <a:latin typeface="Carlito"/>
                <a:cs typeface="Carlito"/>
              </a:rPr>
              <a:t>to Many </a:t>
            </a:r>
            <a:r>
              <a:rPr sz="2200" spc="-10" dirty="0">
                <a:latin typeface="Carlito"/>
                <a:cs typeface="Carlito"/>
              </a:rPr>
              <a:t>(O:M) Entity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Relationship</a:t>
            </a:r>
            <a:endParaRPr sz="2200">
              <a:latin typeface="Carlito"/>
              <a:cs typeface="Carlito"/>
            </a:endParaRPr>
          </a:p>
          <a:p>
            <a:pPr marL="227965" marR="2946400" lvl="1" indent="-227965" algn="r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227965" algn="l"/>
                <a:tab pos="228600" algn="l"/>
              </a:tabLst>
            </a:pPr>
            <a:r>
              <a:rPr sz="2200" spc="-10" dirty="0">
                <a:latin typeface="Carlito"/>
                <a:cs typeface="Carlito"/>
              </a:rPr>
              <a:t>Most common </a:t>
            </a:r>
            <a:r>
              <a:rPr sz="2200" spc="-5" dirty="0">
                <a:latin typeface="Carlito"/>
                <a:cs typeface="Carlito"/>
              </a:rPr>
              <a:t>type of</a:t>
            </a:r>
            <a:r>
              <a:rPr sz="2200" spc="4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relationship</a:t>
            </a:r>
            <a:endParaRPr sz="2200">
              <a:latin typeface="Carlito"/>
              <a:cs typeface="Carlito"/>
            </a:endParaRPr>
          </a:p>
          <a:p>
            <a:pPr marL="697865" lvl="1" indent="-229235" algn="just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sz="2200" spc="-5" dirty="0">
                <a:latin typeface="Carlito"/>
                <a:cs typeface="Carlito"/>
              </a:rPr>
              <a:t>One </a:t>
            </a:r>
            <a:r>
              <a:rPr sz="2200" spc="-10" dirty="0">
                <a:latin typeface="Carlito"/>
                <a:cs typeface="Carlito"/>
              </a:rPr>
              <a:t>entity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5" dirty="0">
                <a:latin typeface="Carlito"/>
                <a:cs typeface="Carlito"/>
              </a:rPr>
              <a:t>related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more </a:t>
            </a:r>
            <a:r>
              <a:rPr sz="2200" spc="-5" dirty="0">
                <a:latin typeface="Carlito"/>
                <a:cs typeface="Carlito"/>
              </a:rPr>
              <a:t>than one other</a:t>
            </a:r>
            <a:r>
              <a:rPr sz="2200" spc="9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entity</a:t>
            </a:r>
            <a:endParaRPr sz="2200">
              <a:latin typeface="Carlito"/>
              <a:cs typeface="Carlito"/>
            </a:endParaRPr>
          </a:p>
          <a:p>
            <a:pPr marL="1155065" marR="824865" indent="-228600" algn="just">
              <a:lnSpc>
                <a:spcPts val="2380"/>
              </a:lnSpc>
              <a:spcBef>
                <a:spcPts val="560"/>
              </a:spcBef>
            </a:pPr>
            <a:r>
              <a:rPr sz="2200" spc="-5" dirty="0">
                <a:latin typeface="Arial"/>
                <a:cs typeface="Arial"/>
              </a:rPr>
              <a:t>–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supplier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10" dirty="0">
                <a:latin typeface="Carlito"/>
                <a:cs typeface="Carlito"/>
              </a:rPr>
              <a:t>supply more </a:t>
            </a:r>
            <a:r>
              <a:rPr sz="2200" spc="-5" dirty="0">
                <a:latin typeface="Carlito"/>
                <a:cs typeface="Carlito"/>
              </a:rPr>
              <a:t>than one </a:t>
            </a:r>
            <a:r>
              <a:rPr sz="2200" spc="-15" dirty="0">
                <a:latin typeface="Carlito"/>
                <a:cs typeface="Carlito"/>
              </a:rPr>
              <a:t>product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a  </a:t>
            </a:r>
            <a:r>
              <a:rPr sz="2200" spc="-15" dirty="0">
                <a:latin typeface="Carlito"/>
                <a:cs typeface="Carlito"/>
              </a:rPr>
              <a:t>company</a:t>
            </a:r>
            <a:endParaRPr sz="2200">
              <a:latin typeface="Carlito"/>
              <a:cs typeface="Carlito"/>
            </a:endParaRPr>
          </a:p>
          <a:p>
            <a:pPr marL="299085" indent="-287020" algn="just">
              <a:lnSpc>
                <a:spcPct val="100000"/>
              </a:lnSpc>
              <a:spcBef>
                <a:spcPts val="225"/>
              </a:spcBef>
              <a:buFont typeface="Arial"/>
              <a:buChar char="–"/>
              <a:tabLst>
                <a:tab pos="299720" algn="l"/>
              </a:tabLst>
            </a:pPr>
            <a:r>
              <a:rPr sz="2200" spc="-15" dirty="0">
                <a:latin typeface="Carlito"/>
                <a:cs typeface="Carlito"/>
              </a:rPr>
              <a:t>Many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Many </a:t>
            </a:r>
            <a:r>
              <a:rPr sz="2200" spc="-10" dirty="0">
                <a:latin typeface="Carlito"/>
                <a:cs typeface="Carlito"/>
              </a:rPr>
              <a:t>(M:M) Entity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Relationships</a:t>
            </a:r>
            <a:endParaRPr sz="2200">
              <a:latin typeface="Carlito"/>
              <a:cs typeface="Carlito"/>
            </a:endParaRPr>
          </a:p>
          <a:p>
            <a:pPr marL="697865" marR="5080" lvl="1" indent="-228600" algn="just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200" spc="-10" dirty="0">
                <a:latin typeface="Carlito"/>
                <a:cs typeface="Carlito"/>
              </a:rPr>
              <a:t>One entity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5" dirty="0">
                <a:latin typeface="Carlito"/>
                <a:cs typeface="Carlito"/>
              </a:rPr>
              <a:t>related to </a:t>
            </a:r>
            <a:r>
              <a:rPr sz="2200" spc="-10" dirty="0">
                <a:latin typeface="Carlito"/>
                <a:cs typeface="Carlito"/>
              </a:rPr>
              <a:t>more </a:t>
            </a:r>
            <a:r>
              <a:rPr sz="2200" spc="-5" dirty="0">
                <a:latin typeface="Carlito"/>
                <a:cs typeface="Carlito"/>
              </a:rPr>
              <a:t>than one other </a:t>
            </a:r>
            <a:r>
              <a:rPr sz="2200" spc="-30" dirty="0">
                <a:latin typeface="Carlito"/>
                <a:cs typeface="Carlito"/>
              </a:rPr>
              <a:t>entity, </a:t>
            </a:r>
            <a:r>
              <a:rPr sz="2200" spc="-5" dirty="0">
                <a:latin typeface="Carlito"/>
                <a:cs typeface="Carlito"/>
              </a:rPr>
              <a:t>and  those </a:t>
            </a:r>
            <a:r>
              <a:rPr sz="2200" spc="-10" dirty="0">
                <a:latin typeface="Carlito"/>
                <a:cs typeface="Carlito"/>
              </a:rPr>
              <a:t>entities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5" dirty="0">
                <a:latin typeface="Carlito"/>
                <a:cs typeface="Carlito"/>
              </a:rPr>
              <a:t>related to </a:t>
            </a:r>
            <a:r>
              <a:rPr sz="2200" spc="-5" dirty="0">
                <a:latin typeface="Carlito"/>
                <a:cs typeface="Carlito"/>
              </a:rPr>
              <a:t>multiple </a:t>
            </a:r>
            <a:r>
              <a:rPr sz="2200" spc="-10" dirty="0">
                <a:latin typeface="Carlito"/>
                <a:cs typeface="Carlito"/>
              </a:rPr>
              <a:t>entities </a:t>
            </a:r>
            <a:r>
              <a:rPr sz="2200" spc="-5" dirty="0">
                <a:latin typeface="Carlito"/>
                <a:cs typeface="Carlito"/>
              </a:rPr>
              <a:t>of the same  type as the original</a:t>
            </a:r>
            <a:r>
              <a:rPr sz="2200" spc="-10" dirty="0">
                <a:latin typeface="Carlito"/>
                <a:cs typeface="Carlito"/>
              </a:rPr>
              <a:t> entity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430" dirty="0"/>
              <a:t>Concepts </a:t>
            </a:r>
            <a:r>
              <a:rPr spc="-360" dirty="0"/>
              <a:t>and</a:t>
            </a:r>
            <a:r>
              <a:rPr spc="-405" dirty="0"/>
              <a:t> </a:t>
            </a:r>
            <a:r>
              <a:rPr spc="-450" dirty="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17815" cy="42329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Definition</a:t>
            </a:r>
            <a:endParaRPr sz="2400">
              <a:latin typeface="Carlito"/>
              <a:cs typeface="Carlito"/>
            </a:endParaRPr>
          </a:p>
          <a:p>
            <a:pPr marL="756285" marR="547370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process </a:t>
            </a:r>
            <a:r>
              <a:rPr sz="2400" spc="-5" dirty="0">
                <a:latin typeface="Carlito"/>
                <a:cs typeface="Carlito"/>
              </a:rPr>
              <a:t>of describing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properties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 to </a:t>
            </a:r>
            <a:r>
              <a:rPr sz="2400" spc="-5" dirty="0">
                <a:latin typeface="Carlito"/>
                <a:cs typeface="Carlito"/>
              </a:rPr>
              <a:t>be  </a:t>
            </a:r>
            <a:r>
              <a:rPr sz="2400" dirty="0">
                <a:latin typeface="Carlito"/>
                <a:cs typeface="Carlito"/>
              </a:rPr>
              <a:t>included in a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During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definition, </a:t>
            </a:r>
            <a:r>
              <a:rPr sz="2400" dirty="0">
                <a:latin typeface="Carlito"/>
                <a:cs typeface="Carlito"/>
              </a:rPr>
              <a:t>each </a:t>
            </a:r>
            <a:r>
              <a:rPr sz="2400" spc="-5" dirty="0">
                <a:latin typeface="Carlito"/>
                <a:cs typeface="Carlito"/>
              </a:rPr>
              <a:t>field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assigned: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Name </a:t>
            </a:r>
            <a:r>
              <a:rPr sz="2400" spc="-10" dirty="0">
                <a:latin typeface="Carlito"/>
                <a:cs typeface="Carlito"/>
              </a:rPr>
              <a:t>(must </a:t>
            </a:r>
            <a:r>
              <a:rPr sz="2400" spc="-5" dirty="0">
                <a:latin typeface="Carlito"/>
                <a:cs typeface="Carlito"/>
              </a:rPr>
              <a:t>be unique </a:t>
            </a:r>
            <a:r>
              <a:rPr sz="2400" dirty="0">
                <a:latin typeface="Carlito"/>
                <a:cs typeface="Carlito"/>
              </a:rPr>
              <a:t>within the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table)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type </a:t>
            </a:r>
            <a:r>
              <a:rPr sz="2400" spc="-5" dirty="0">
                <a:latin typeface="Carlito"/>
                <a:cs typeface="Carlito"/>
              </a:rPr>
              <a:t>(such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0" dirty="0">
                <a:latin typeface="Carlito"/>
                <a:cs typeface="Carlito"/>
              </a:rPr>
              <a:t>Text, </a:t>
            </a:r>
            <a:r>
              <a:rPr sz="2400" spc="-30" dirty="0">
                <a:latin typeface="Carlito"/>
                <a:cs typeface="Carlito"/>
              </a:rPr>
              <a:t>Number, </a:t>
            </a:r>
            <a:r>
              <a:rPr sz="2400" spc="-25" dirty="0">
                <a:latin typeface="Carlito"/>
                <a:cs typeface="Carlito"/>
              </a:rPr>
              <a:t>Currency,</a:t>
            </a:r>
            <a:r>
              <a:rPr sz="2400" spc="-10" dirty="0">
                <a:latin typeface="Carlito"/>
                <a:cs typeface="Carlito"/>
              </a:rPr>
              <a:t> Date/Time)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Description (optional description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field)</a:t>
            </a:r>
            <a:endParaRPr sz="2400">
              <a:latin typeface="Carlito"/>
              <a:cs typeface="Carlito"/>
            </a:endParaRPr>
          </a:p>
          <a:p>
            <a:pPr marL="1155700" marR="509905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Properties </a:t>
            </a:r>
            <a:r>
              <a:rPr sz="2400" spc="-5" dirty="0">
                <a:latin typeface="Carlito"/>
                <a:cs typeface="Carlito"/>
              </a:rPr>
              <a:t>(field </a:t>
            </a:r>
            <a:r>
              <a:rPr sz="2400" spc="-15" dirty="0">
                <a:latin typeface="Carlito"/>
                <a:cs typeface="Carlito"/>
              </a:rPr>
              <a:t>size, format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field, allowable  </a:t>
            </a:r>
            <a:r>
              <a:rPr sz="2400" spc="-15" dirty="0">
                <a:latin typeface="Carlito"/>
                <a:cs typeface="Carlito"/>
              </a:rPr>
              <a:t>range, </a:t>
            </a:r>
            <a:r>
              <a:rPr sz="2400" dirty="0">
                <a:latin typeface="Carlito"/>
                <a:cs typeface="Carlito"/>
              </a:rPr>
              <a:t>if </a:t>
            </a:r>
            <a:r>
              <a:rPr sz="2400" spc="-5" dirty="0">
                <a:latin typeface="Carlito"/>
                <a:cs typeface="Carlito"/>
              </a:rPr>
              <a:t>field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required,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756285" marR="812800" lvl="1" indent="-287020">
              <a:lnSpc>
                <a:spcPts val="259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Finished </a:t>
            </a:r>
            <a:r>
              <a:rPr sz="2400" spc="-10" dirty="0">
                <a:latin typeface="Carlito"/>
                <a:cs typeface="Carlito"/>
              </a:rPr>
              <a:t>specifications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table become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table  </a:t>
            </a:r>
            <a:r>
              <a:rPr sz="2400" spc="-10" dirty="0">
                <a:latin typeface="Carlito"/>
                <a:cs typeface="Carlito"/>
              </a:rPr>
              <a:t>structure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89345"/>
            <a:chOff x="0" y="0"/>
            <a:chExt cx="9144000" cy="6189345"/>
          </a:xfrm>
        </p:grpSpPr>
        <p:sp>
          <p:nvSpPr>
            <p:cNvPr id="3" name="object 3"/>
            <p:cNvSpPr/>
            <p:nvPr/>
          </p:nvSpPr>
          <p:spPr>
            <a:xfrm>
              <a:off x="827582" y="1484757"/>
              <a:ext cx="7618730" cy="38301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7537" y="4941163"/>
              <a:ext cx="1238250" cy="12477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430" dirty="0"/>
              <a:t>Concepts </a:t>
            </a:r>
            <a:r>
              <a:rPr spc="-360" dirty="0"/>
              <a:t>and</a:t>
            </a:r>
            <a:r>
              <a:rPr spc="-405" dirty="0"/>
              <a:t> </a:t>
            </a:r>
            <a:r>
              <a:rPr spc="-450" dirty="0"/>
              <a:t>Characteristics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16</a:t>
            </a:fld>
            <a:endParaRPr spc="-16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430" dirty="0"/>
              <a:t>Concepts </a:t>
            </a:r>
            <a:r>
              <a:rPr spc="-360" dirty="0"/>
              <a:t>and</a:t>
            </a:r>
            <a:r>
              <a:rPr spc="-405" dirty="0"/>
              <a:t> </a:t>
            </a:r>
            <a:r>
              <a:rPr spc="-450" dirty="0"/>
              <a:t>Characteristics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81315" cy="46355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Dictionary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Contains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definitions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database,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including: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40" dirty="0">
                <a:latin typeface="Carlito"/>
                <a:cs typeface="Carlito"/>
              </a:rPr>
              <a:t>Table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structures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Security </a:t>
            </a:r>
            <a:r>
              <a:rPr sz="2400" spc="-10" dirty="0">
                <a:latin typeface="Carlito"/>
                <a:cs typeface="Carlito"/>
              </a:rPr>
              <a:t>information </a:t>
            </a:r>
            <a:r>
              <a:rPr sz="2400" spc="-15" dirty="0">
                <a:latin typeface="Carlito"/>
                <a:cs typeface="Carlito"/>
              </a:rPr>
              <a:t>(passwords,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Relationships </a:t>
            </a:r>
            <a:r>
              <a:rPr sz="2400" spc="-5" dirty="0">
                <a:latin typeface="Carlito"/>
                <a:cs typeface="Carlito"/>
              </a:rPr>
              <a:t>between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tables </a:t>
            </a:r>
            <a:r>
              <a:rPr sz="2400" dirty="0">
                <a:latin typeface="Carlito"/>
                <a:cs typeface="Carlito"/>
              </a:rPr>
              <a:t>in the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ts val="2735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Basic </a:t>
            </a:r>
            <a:r>
              <a:rPr sz="2400" spc="-10" dirty="0">
                <a:latin typeface="Carlito"/>
                <a:cs typeface="Carlito"/>
              </a:rPr>
              <a:t>information </a:t>
            </a:r>
            <a:r>
              <a:rPr sz="2400" spc="-5" dirty="0">
                <a:latin typeface="Carlito"/>
                <a:cs typeface="Carlito"/>
              </a:rPr>
              <a:t>about </a:t>
            </a:r>
            <a:r>
              <a:rPr sz="2400" dirty="0">
                <a:latin typeface="Carlito"/>
                <a:cs typeface="Carlito"/>
              </a:rPr>
              <a:t>each </a:t>
            </a:r>
            <a:r>
              <a:rPr sz="2400" spc="-5" dirty="0">
                <a:latin typeface="Carlito"/>
                <a:cs typeface="Carlito"/>
              </a:rPr>
              <a:t>table, such </a:t>
            </a:r>
            <a:r>
              <a:rPr sz="2400" dirty="0">
                <a:latin typeface="Carlito"/>
                <a:cs typeface="Carlito"/>
              </a:rPr>
              <a:t>as the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current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ts val="2735"/>
              </a:lnSpc>
            </a:pPr>
            <a:r>
              <a:rPr sz="2400" spc="-5" dirty="0">
                <a:latin typeface="Carlito"/>
                <a:cs typeface="Carlito"/>
              </a:rPr>
              <a:t>number of</a:t>
            </a:r>
            <a:r>
              <a:rPr sz="2400" spc="-20" dirty="0">
                <a:latin typeface="Carlito"/>
                <a:cs typeface="Carlito"/>
              </a:rPr>
              <a:t> records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Does not </a:t>
            </a:r>
            <a:r>
              <a:rPr sz="2400" spc="-15" dirty="0">
                <a:latin typeface="Carlito"/>
                <a:cs typeface="Carlito"/>
              </a:rPr>
              <a:t>contain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in 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  <a:p>
            <a:pPr marL="756285" marR="413384" lvl="1" indent="-287020">
              <a:lnSpc>
                <a:spcPts val="2600"/>
              </a:lnSpc>
              <a:spcBef>
                <a:spcPts val="60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Does </a:t>
            </a:r>
            <a:r>
              <a:rPr sz="2400" spc="-15" dirty="0">
                <a:latin typeface="Carlito"/>
                <a:cs typeface="Carlito"/>
              </a:rPr>
              <a:t>contain </a:t>
            </a:r>
            <a:r>
              <a:rPr sz="2400" spc="-10" dirty="0">
                <a:latin typeface="Carlito"/>
                <a:cs typeface="Carlito"/>
              </a:rPr>
              <a:t>metadata, </a:t>
            </a:r>
            <a:r>
              <a:rPr sz="2400" dirty="0">
                <a:latin typeface="Carlito"/>
                <a:cs typeface="Carlito"/>
              </a:rPr>
              <a:t>which is </a:t>
            </a:r>
            <a:r>
              <a:rPr sz="2400" spc="-10" dirty="0">
                <a:latin typeface="Carlito"/>
                <a:cs typeface="Carlito"/>
              </a:rPr>
              <a:t>information </a:t>
            </a:r>
            <a:r>
              <a:rPr sz="2400" spc="-5" dirty="0">
                <a:latin typeface="Carlito"/>
                <a:cs typeface="Carlito"/>
              </a:rPr>
              <a:t>about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  <a:p>
            <a:pPr marL="756285" marR="377825" lvl="1" indent="-287020">
              <a:lnSpc>
                <a:spcPts val="259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Ensures that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being </a:t>
            </a:r>
            <a:r>
              <a:rPr sz="2400" spc="-15" dirty="0">
                <a:latin typeface="Carlito"/>
                <a:cs typeface="Carlito"/>
              </a:rPr>
              <a:t>entered into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5" dirty="0">
                <a:latin typeface="Carlito"/>
                <a:cs typeface="Carlito"/>
              </a:rPr>
              <a:t>does  not </a:t>
            </a:r>
            <a:r>
              <a:rPr sz="2400" spc="-10" dirty="0">
                <a:latin typeface="Carlito"/>
                <a:cs typeface="Carlito"/>
              </a:rPr>
              <a:t>violate </a:t>
            </a:r>
            <a:r>
              <a:rPr sz="2400" spc="-15" dirty="0">
                <a:latin typeface="Carlito"/>
                <a:cs typeface="Carlito"/>
              </a:rPr>
              <a:t>any </a:t>
            </a:r>
            <a:r>
              <a:rPr sz="2400" spc="-5" dirty="0">
                <a:latin typeface="Carlito"/>
                <a:cs typeface="Carlito"/>
              </a:rPr>
              <a:t>specified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criteria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355" dirty="0"/>
              <a:t>Integrity, </a:t>
            </a:r>
            <a:r>
              <a:rPr spc="-425" dirty="0"/>
              <a:t>Security, </a:t>
            </a:r>
            <a:r>
              <a:rPr spc="-360" dirty="0"/>
              <a:t>and</a:t>
            </a:r>
            <a:r>
              <a:rPr spc="-300" dirty="0"/>
              <a:t> </a:t>
            </a:r>
            <a:r>
              <a:rPr spc="-450" dirty="0"/>
              <a:t>Privacy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51165" cy="4561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Integrity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Accuracy of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ts val="2735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Quality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 entered </a:t>
            </a:r>
            <a:r>
              <a:rPr sz="2400" spc="-5" dirty="0">
                <a:latin typeface="Carlito"/>
                <a:cs typeface="Carlito"/>
              </a:rPr>
              <a:t>determines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quality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of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ts val="2735"/>
              </a:lnSpc>
            </a:pPr>
            <a:r>
              <a:rPr sz="2400" spc="-15" dirty="0">
                <a:latin typeface="Carlito"/>
                <a:cs typeface="Carlito"/>
              </a:rPr>
              <a:t>generated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Validation</a:t>
            </a:r>
            <a:endParaRPr sz="2400">
              <a:latin typeface="Carlito"/>
              <a:cs typeface="Carlito"/>
            </a:endParaRPr>
          </a:p>
          <a:p>
            <a:pPr marL="1155700" marR="2540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Process </a:t>
            </a:r>
            <a:r>
              <a:rPr sz="2400" spc="-5" dirty="0">
                <a:latin typeface="Carlito"/>
                <a:cs typeface="Carlito"/>
              </a:rPr>
              <a:t>of ensuring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15" dirty="0">
                <a:latin typeface="Carlito"/>
                <a:cs typeface="Carlito"/>
              </a:rPr>
              <a:t>data entered into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database 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valid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Record </a:t>
            </a:r>
            <a:r>
              <a:rPr sz="2400" spc="-10" dirty="0">
                <a:latin typeface="Carlito"/>
                <a:cs typeface="Carlito"/>
              </a:rPr>
              <a:t>validation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rules</a:t>
            </a:r>
            <a:endParaRPr sz="2400">
              <a:latin typeface="Carlito"/>
              <a:cs typeface="Carlito"/>
            </a:endParaRPr>
          </a:p>
          <a:p>
            <a:pPr marL="1612900" marR="651510" indent="-228600">
              <a:lnSpc>
                <a:spcPts val="2590"/>
              </a:lnSpc>
              <a:spcBef>
                <a:spcPts val="61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Checks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5" dirty="0">
                <a:latin typeface="Carlito"/>
                <a:cs typeface="Carlito"/>
              </a:rPr>
              <a:t>fields </a:t>
            </a:r>
            <a:r>
              <a:rPr sz="2400" spc="-25" dirty="0">
                <a:latin typeface="Carlito"/>
                <a:cs typeface="Carlito"/>
              </a:rPr>
              <a:t>before </a:t>
            </a:r>
            <a:r>
              <a:rPr sz="2400" spc="-5" dirty="0">
                <a:latin typeface="Carlito"/>
                <a:cs typeface="Carlito"/>
              </a:rPr>
              <a:t>changes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0" dirty="0">
                <a:latin typeface="Carlito"/>
                <a:cs typeface="Carlito"/>
              </a:rPr>
              <a:t>record</a:t>
            </a:r>
            <a:r>
              <a:rPr sz="2400" spc="-2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are  saved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5" dirty="0">
                <a:latin typeface="Carlito"/>
                <a:cs typeface="Carlito"/>
              </a:rPr>
              <a:t>enforced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per transaction basis so the </a:t>
            </a:r>
            <a:r>
              <a:rPr sz="2400" spc="-10" dirty="0">
                <a:latin typeface="Carlito"/>
                <a:cs typeface="Carlito"/>
              </a:rPr>
              <a:t>entire  </a:t>
            </a:r>
            <a:r>
              <a:rPr sz="2400" spc="-5" dirty="0">
                <a:latin typeface="Carlito"/>
                <a:cs typeface="Carlito"/>
              </a:rPr>
              <a:t>transaction </a:t>
            </a: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15" dirty="0">
                <a:latin typeface="Carlito"/>
                <a:cs typeface="Carlito"/>
              </a:rPr>
              <a:t>fail </a:t>
            </a:r>
            <a:r>
              <a:rPr sz="2400" dirty="0">
                <a:latin typeface="Carlito"/>
                <a:cs typeface="Carlito"/>
              </a:rPr>
              <a:t>if </a:t>
            </a:r>
            <a:r>
              <a:rPr sz="2400" spc="-5" dirty="0">
                <a:latin typeface="Carlito"/>
                <a:cs typeface="Carlito"/>
              </a:rPr>
              <a:t>one part </a:t>
            </a:r>
            <a:r>
              <a:rPr sz="2400" dirty="0">
                <a:latin typeface="Carlito"/>
                <a:cs typeface="Carlito"/>
              </a:rPr>
              <a:t>is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invalid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355" dirty="0"/>
              <a:t>Integrity, </a:t>
            </a:r>
            <a:r>
              <a:rPr spc="-425" dirty="0"/>
              <a:t>Security, </a:t>
            </a:r>
            <a:r>
              <a:rPr spc="-360" dirty="0"/>
              <a:t>and</a:t>
            </a:r>
            <a:r>
              <a:rPr spc="-300" dirty="0"/>
              <a:t> </a:t>
            </a:r>
            <a:r>
              <a:rPr spc="-450" dirty="0"/>
              <a:t>Privacy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397750" cy="1270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Locking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Prevents </a:t>
            </a:r>
            <a:r>
              <a:rPr sz="2400" spc="-10" dirty="0">
                <a:latin typeface="Carlito"/>
                <a:cs typeface="Carlito"/>
              </a:rPr>
              <a:t>two </a:t>
            </a:r>
            <a:r>
              <a:rPr sz="2400" dirty="0">
                <a:latin typeface="Carlito"/>
                <a:cs typeface="Carlito"/>
              </a:rPr>
              <a:t>individuals </a:t>
            </a:r>
            <a:r>
              <a:rPr sz="2400" spc="-10" dirty="0">
                <a:latin typeface="Carlito"/>
                <a:cs typeface="Carlito"/>
              </a:rPr>
              <a:t>from </a:t>
            </a:r>
            <a:r>
              <a:rPr sz="2400" spc="-5" dirty="0">
                <a:latin typeface="Carlito"/>
                <a:cs typeface="Carlito"/>
              </a:rPr>
              <a:t>changing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same </a:t>
            </a:r>
            <a:r>
              <a:rPr sz="2400" spc="-15" dirty="0">
                <a:latin typeface="Carlito"/>
                <a:cs typeface="Carlito"/>
              </a:rPr>
              <a:t>data  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same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3564" y="3007697"/>
            <a:ext cx="7936865" cy="3410585"/>
            <a:chOff x="683564" y="3007697"/>
            <a:chExt cx="7936865" cy="3410585"/>
          </a:xfrm>
        </p:grpSpPr>
        <p:sp>
          <p:nvSpPr>
            <p:cNvPr id="5" name="object 5"/>
            <p:cNvSpPr/>
            <p:nvPr/>
          </p:nvSpPr>
          <p:spPr>
            <a:xfrm>
              <a:off x="683564" y="3007697"/>
              <a:ext cx="7936311" cy="29929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92090" y="5229199"/>
              <a:ext cx="1447164" cy="11887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19</a:t>
            </a:fld>
            <a:endParaRPr spc="-16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355" dirty="0"/>
              <a:t>Integrity, </a:t>
            </a:r>
            <a:r>
              <a:rPr spc="-425" dirty="0"/>
              <a:t>Security, </a:t>
            </a:r>
            <a:r>
              <a:rPr spc="-360" dirty="0"/>
              <a:t>and</a:t>
            </a:r>
            <a:r>
              <a:rPr spc="-300" dirty="0"/>
              <a:t> </a:t>
            </a:r>
            <a:r>
              <a:rPr spc="-450" dirty="0"/>
              <a:t>Privacy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97495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Security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Protects </a:t>
            </a:r>
            <a:r>
              <a:rPr sz="2400" spc="-15" dirty="0">
                <a:latin typeface="Carlito"/>
                <a:cs typeface="Carlito"/>
              </a:rPr>
              <a:t>data against </a:t>
            </a:r>
            <a:r>
              <a:rPr sz="2400" spc="-5" dirty="0">
                <a:latin typeface="Carlito"/>
                <a:cs typeface="Carlito"/>
              </a:rPr>
              <a:t>destruction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misuse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Protects </a:t>
            </a:r>
            <a:r>
              <a:rPr sz="2400" spc="-15" dirty="0">
                <a:latin typeface="Carlito"/>
                <a:cs typeface="Carlito"/>
              </a:rPr>
              <a:t>against </a:t>
            </a:r>
            <a:r>
              <a:rPr sz="2400" spc="-10" dirty="0">
                <a:latin typeface="Carlito"/>
                <a:cs typeface="Carlito"/>
              </a:rPr>
              <a:t>unauthorized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unauthorized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756285" marR="47180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dirty="0">
                <a:latin typeface="Carlito"/>
                <a:cs typeface="Carlito"/>
              </a:rPr>
              <a:t>activity </a:t>
            </a:r>
            <a:r>
              <a:rPr sz="2400" spc="-5" dirty="0">
                <a:latin typeface="Carlito"/>
                <a:cs typeface="Carlito"/>
              </a:rPr>
              <a:t>monitoring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used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spc="-10" dirty="0">
                <a:latin typeface="Carlito"/>
                <a:cs typeface="Carlito"/>
              </a:rPr>
              <a:t>detect </a:t>
            </a:r>
            <a:r>
              <a:rPr sz="2400" spc="-5" dirty="0">
                <a:latin typeface="Carlito"/>
                <a:cs typeface="Carlito"/>
              </a:rPr>
              <a:t>possible intrusions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risks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Prevents data</a:t>
            </a:r>
            <a:r>
              <a:rPr sz="2400" spc="-5" dirty="0">
                <a:latin typeface="Carlito"/>
                <a:cs typeface="Carlito"/>
              </a:rPr>
              <a:t> loss</a:t>
            </a:r>
            <a:endParaRPr sz="2400">
              <a:latin typeface="Carlito"/>
              <a:cs typeface="Carlito"/>
            </a:endParaRPr>
          </a:p>
          <a:p>
            <a:pPr marL="756285" marR="925194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Should </a:t>
            </a:r>
            <a:r>
              <a:rPr sz="2400" dirty="0">
                <a:latin typeface="Carlito"/>
                <a:cs typeface="Carlito"/>
              </a:rPr>
              <a:t>include </a:t>
            </a:r>
            <a:r>
              <a:rPr sz="2400" spc="-5" dirty="0">
                <a:latin typeface="Carlito"/>
                <a:cs typeface="Carlito"/>
              </a:rPr>
              <a:t>strict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disaster-recovery  procedures (disaster-recovery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plan)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Should be used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both in-house </a:t>
            </a:r>
            <a:r>
              <a:rPr sz="2400" dirty="0">
                <a:latin typeface="Carlito"/>
                <a:cs typeface="Carlito"/>
              </a:rPr>
              <a:t>and cloud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355" dirty="0"/>
              <a:t>Integrity, </a:t>
            </a:r>
            <a:r>
              <a:rPr spc="-425" dirty="0"/>
              <a:t>Security, </a:t>
            </a:r>
            <a:r>
              <a:rPr spc="-360" dirty="0"/>
              <a:t>and</a:t>
            </a:r>
            <a:r>
              <a:rPr spc="-300" dirty="0"/>
              <a:t> </a:t>
            </a:r>
            <a:r>
              <a:rPr spc="-450" dirty="0"/>
              <a:t>Privacy</a:t>
            </a:r>
          </a:p>
        </p:txBody>
      </p:sp>
      <p:sp>
        <p:nvSpPr>
          <p:cNvPr id="3" name="object 3"/>
          <p:cNvSpPr/>
          <p:nvPr/>
        </p:nvSpPr>
        <p:spPr>
          <a:xfrm>
            <a:off x="179514" y="1988820"/>
            <a:ext cx="8569960" cy="33844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63407" y="5538084"/>
            <a:ext cx="1346432" cy="121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21</a:t>
            </a:fld>
            <a:endParaRPr spc="-16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 dirty="0"/>
              <a:t>Data </a:t>
            </a:r>
            <a:r>
              <a:rPr spc="-355" dirty="0"/>
              <a:t>Integrity, </a:t>
            </a:r>
            <a:r>
              <a:rPr spc="-425" dirty="0"/>
              <a:t>Security, </a:t>
            </a:r>
            <a:r>
              <a:rPr spc="-360" dirty="0"/>
              <a:t>and</a:t>
            </a:r>
            <a:r>
              <a:rPr spc="-300" dirty="0"/>
              <a:t> </a:t>
            </a:r>
            <a:r>
              <a:rPr spc="-450" dirty="0"/>
              <a:t>Privacy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041515" cy="2952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Privacy</a:t>
            </a:r>
            <a:endParaRPr sz="2400">
              <a:latin typeface="Carlito"/>
              <a:cs typeface="Carlito"/>
            </a:endParaRPr>
          </a:p>
          <a:p>
            <a:pPr marL="697865" marR="29908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Growing concern </a:t>
            </a:r>
            <a:r>
              <a:rPr sz="2400" spc="-5" dirty="0">
                <a:latin typeface="Carlito"/>
                <a:cs typeface="Carlito"/>
              </a:rPr>
              <a:t>because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vast </a:t>
            </a:r>
            <a:r>
              <a:rPr sz="2400" spc="-5" dirty="0">
                <a:latin typeface="Carlito"/>
                <a:cs typeface="Carlito"/>
              </a:rPr>
              <a:t>amounts of  </a:t>
            </a:r>
            <a:r>
              <a:rPr sz="2400" spc="-10" dirty="0">
                <a:latin typeface="Carlito"/>
                <a:cs typeface="Carlito"/>
              </a:rPr>
              <a:t>personal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databases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today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Many </a:t>
            </a:r>
            <a:r>
              <a:rPr sz="2400" spc="-20" dirty="0">
                <a:latin typeface="Carlito"/>
                <a:cs typeface="Carlito"/>
              </a:rPr>
              <a:t>states </a:t>
            </a:r>
            <a:r>
              <a:rPr sz="2400" spc="-10" dirty="0">
                <a:latin typeface="Carlito"/>
                <a:cs typeface="Carlito"/>
              </a:rPr>
              <a:t>require </a:t>
            </a:r>
            <a:r>
              <a:rPr sz="2400" spc="-5" dirty="0">
                <a:latin typeface="Carlito"/>
                <a:cs typeface="Carlito"/>
              </a:rPr>
              <a:t>businesses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notify </a:t>
            </a:r>
            <a:r>
              <a:rPr sz="2400" spc="-15" dirty="0">
                <a:latin typeface="Carlito"/>
                <a:cs typeface="Carlito"/>
              </a:rPr>
              <a:t>customers  </a:t>
            </a:r>
            <a:r>
              <a:rPr sz="2400" dirty="0">
                <a:latin typeface="Carlito"/>
                <a:cs typeface="Carlito"/>
              </a:rPr>
              <a:t>when their </a:t>
            </a:r>
            <a:r>
              <a:rPr sz="2400" spc="-10" dirty="0">
                <a:latin typeface="Carlito"/>
                <a:cs typeface="Carlito"/>
              </a:rPr>
              <a:t>personal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5" dirty="0">
                <a:latin typeface="Carlito"/>
                <a:cs typeface="Carlito"/>
              </a:rPr>
              <a:t>has been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compromised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breaches can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costly</a:t>
            </a:r>
            <a:endParaRPr sz="2400">
              <a:latin typeface="Carlito"/>
              <a:cs typeface="Carlito"/>
            </a:endParaRPr>
          </a:p>
          <a:p>
            <a:pPr marL="92646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0" dirty="0">
                <a:latin typeface="Carlito"/>
                <a:cs typeface="Carlito"/>
              </a:rPr>
              <a:t>estimate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$200 per breached</a:t>
            </a:r>
            <a:r>
              <a:rPr sz="2400" spc="-26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record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61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15" dirty="0"/>
              <a:t>How </a:t>
            </a:r>
            <a:r>
              <a:rPr sz="3600" spc="-415" dirty="0"/>
              <a:t>It </a:t>
            </a:r>
            <a:r>
              <a:rPr sz="3600" spc="-440" dirty="0"/>
              <a:t>Works</a:t>
            </a:r>
            <a:r>
              <a:rPr sz="3600" spc="-470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3628390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Carlito"/>
                <a:cs typeface="Carlito"/>
              </a:rPr>
              <a:t>Column</a:t>
            </a:r>
            <a:r>
              <a:rPr sz="2400" b="1" spc="-40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Stores data </a:t>
            </a:r>
            <a:r>
              <a:rPr sz="2400" spc="-10" dirty="0">
                <a:latin typeface="Carlito"/>
                <a:cs typeface="Carlito"/>
              </a:rPr>
              <a:t>by columns  instead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rows</a:t>
            </a:r>
            <a:endParaRPr sz="2400">
              <a:latin typeface="Carlito"/>
              <a:cs typeface="Carlito"/>
            </a:endParaRPr>
          </a:p>
          <a:p>
            <a:pPr marL="756285" marR="3111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Improves </a:t>
            </a:r>
            <a:r>
              <a:rPr sz="2400" spc="-10" dirty="0">
                <a:latin typeface="Carlito"/>
                <a:cs typeface="Carlito"/>
              </a:rPr>
              <a:t>performance  by </a:t>
            </a:r>
            <a:r>
              <a:rPr sz="2400" dirty="0">
                <a:latin typeface="Carlito"/>
                <a:cs typeface="Carlito"/>
              </a:rPr>
              <a:t>minimizing the</a:t>
            </a:r>
            <a:r>
              <a:rPr sz="2400" spc="-1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  </a:t>
            </a:r>
            <a:r>
              <a:rPr sz="2400" spc="-5" dirty="0">
                <a:latin typeface="Carlito"/>
                <a:cs typeface="Carlito"/>
              </a:rPr>
              <a:t>needed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read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disk</a:t>
            </a:r>
            <a:endParaRPr sz="2400">
              <a:latin typeface="Carlito"/>
              <a:cs typeface="Carlito"/>
            </a:endParaRPr>
          </a:p>
          <a:p>
            <a:pPr marL="756285" marR="9334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5" dirty="0">
                <a:latin typeface="Carlito"/>
                <a:cs typeface="Carlito"/>
              </a:rPr>
              <a:t>data  </a:t>
            </a:r>
            <a:r>
              <a:rPr sz="2400" spc="-10" dirty="0">
                <a:latin typeface="Carlito"/>
                <a:cs typeface="Carlito"/>
              </a:rPr>
              <a:t>warehouses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other  big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applications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83964" y="1958471"/>
            <a:ext cx="4755007" cy="41348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23</a:t>
            </a:fld>
            <a:endParaRPr spc="-16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37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 dirty="0"/>
              <a:t>Database</a:t>
            </a:r>
            <a:r>
              <a:rPr sz="3600" spc="-265" dirty="0"/>
              <a:t> </a:t>
            </a:r>
            <a:r>
              <a:rPr sz="3600" spc="-475" dirty="0"/>
              <a:t>Classifications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56195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Single-User </a:t>
            </a:r>
            <a:r>
              <a:rPr sz="2400" spc="-10" dirty="0">
                <a:latin typeface="Carlito"/>
                <a:cs typeface="Carlito"/>
              </a:rPr>
              <a:t>vs. </a:t>
            </a:r>
            <a:r>
              <a:rPr sz="2400" dirty="0">
                <a:latin typeface="Carlito"/>
                <a:cs typeface="Carlito"/>
              </a:rPr>
              <a:t>Multiuser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Single-User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single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accessed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5" dirty="0">
                <a:latin typeface="Carlito"/>
                <a:cs typeface="Carlito"/>
              </a:rPr>
              <a:t>one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user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Widely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personal </a:t>
            </a:r>
            <a:r>
              <a:rPr sz="2400" spc="-5" dirty="0">
                <a:latin typeface="Carlito"/>
                <a:cs typeface="Carlito"/>
              </a:rPr>
              <a:t>applications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very small  businesses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Multiuser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1155700" marR="50673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accessed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0" dirty="0">
                <a:latin typeface="Carlito"/>
                <a:cs typeface="Carlito"/>
              </a:rPr>
              <a:t>users (most  </a:t>
            </a:r>
            <a:r>
              <a:rPr sz="2400" spc="-5" dirty="0">
                <a:latin typeface="Carlito"/>
                <a:cs typeface="Carlito"/>
              </a:rPr>
              <a:t>business </a:t>
            </a:r>
            <a:r>
              <a:rPr sz="2400" spc="-10" dirty="0">
                <a:latin typeface="Carlito"/>
                <a:cs typeface="Carlito"/>
              </a:rPr>
              <a:t>databases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today)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37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 dirty="0"/>
              <a:t>Database</a:t>
            </a:r>
            <a:r>
              <a:rPr sz="3600" spc="-265" dirty="0"/>
              <a:t> </a:t>
            </a:r>
            <a:r>
              <a:rPr sz="3600" spc="-475" dirty="0"/>
              <a:t>Classifications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87920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Centralized </a:t>
            </a:r>
            <a:r>
              <a:rPr sz="2400" spc="-10" dirty="0">
                <a:latin typeface="Carlito"/>
                <a:cs typeface="Carlito"/>
              </a:rPr>
              <a:t>vs. Distributed Database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Centralized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located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single </a:t>
            </a:r>
            <a:r>
              <a:rPr sz="2400" spc="-30" dirty="0">
                <a:latin typeface="Carlito"/>
                <a:cs typeface="Carlito"/>
              </a:rPr>
              <a:t>computer,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1155700" algn="just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server or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mainframe</a:t>
            </a:r>
            <a:endParaRPr sz="240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Distributed Database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1155700" marR="5080" lvl="2" indent="-2286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physically </a:t>
            </a:r>
            <a:r>
              <a:rPr sz="2400" spc="-5" dirty="0">
                <a:latin typeface="Carlito"/>
                <a:cs typeface="Carlito"/>
              </a:rPr>
              <a:t>divided among </a:t>
            </a:r>
            <a:r>
              <a:rPr sz="2400" spc="-15" dirty="0">
                <a:latin typeface="Carlito"/>
                <a:cs typeface="Carlito"/>
              </a:rPr>
              <a:t>several computers  </a:t>
            </a:r>
            <a:r>
              <a:rPr sz="2400" spc="-10" dirty="0">
                <a:latin typeface="Carlito"/>
                <a:cs typeface="Carlito"/>
              </a:rPr>
              <a:t>connected by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network, </a:t>
            </a:r>
            <a:r>
              <a:rPr sz="2400" spc="-5" dirty="0">
                <a:latin typeface="Carlito"/>
                <a:cs typeface="Carlito"/>
              </a:rPr>
              <a:t>but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5" dirty="0">
                <a:latin typeface="Carlito"/>
                <a:cs typeface="Carlito"/>
              </a:rPr>
              <a:t>logically  </a:t>
            </a:r>
            <a:r>
              <a:rPr sz="2400" spc="-10" dirty="0">
                <a:latin typeface="Carlito"/>
                <a:cs typeface="Carlito"/>
              </a:rPr>
              <a:t>looks </a:t>
            </a:r>
            <a:r>
              <a:rPr sz="2400" spc="-20" dirty="0">
                <a:latin typeface="Carlito"/>
                <a:cs typeface="Carlito"/>
              </a:rPr>
              <a:t>like </a:t>
            </a:r>
            <a:r>
              <a:rPr sz="2400" dirty="0">
                <a:latin typeface="Carlito"/>
                <a:cs typeface="Carlito"/>
              </a:rPr>
              <a:t>it is a </a:t>
            </a:r>
            <a:r>
              <a:rPr sz="2400" spc="-5" dirty="0">
                <a:latin typeface="Carlito"/>
                <a:cs typeface="Carlito"/>
              </a:rPr>
              <a:t>single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37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 dirty="0"/>
              <a:t>Database</a:t>
            </a:r>
            <a:r>
              <a:rPr sz="3600" spc="-265" dirty="0"/>
              <a:t> </a:t>
            </a:r>
            <a:r>
              <a:rPr sz="3600" spc="-475" dirty="0"/>
              <a:t>Classifications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745296" y="1628775"/>
            <a:ext cx="7353763" cy="3588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96153" y="5301208"/>
            <a:ext cx="1190625" cy="885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26</a:t>
            </a:fld>
            <a:endParaRPr spc="-16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37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 dirty="0"/>
              <a:t>Database</a:t>
            </a:r>
            <a:r>
              <a:rPr sz="3600" spc="-265" dirty="0"/>
              <a:t> </a:t>
            </a:r>
            <a:r>
              <a:rPr sz="3600" spc="-475" dirty="0"/>
              <a:t>Classifications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66684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Disk-Based </a:t>
            </a:r>
            <a:r>
              <a:rPr sz="2400" spc="-10" dirty="0">
                <a:latin typeface="Carlito"/>
                <a:cs typeface="Carlito"/>
              </a:rPr>
              <a:t>vs. </a:t>
            </a:r>
            <a:r>
              <a:rPr sz="2400" spc="-5" dirty="0">
                <a:latin typeface="Carlito"/>
                <a:cs typeface="Carlito"/>
              </a:rPr>
              <a:t>In-Memory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Disk-Based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In-Memory </a:t>
            </a:r>
            <a:r>
              <a:rPr sz="2400" spc="-10" dirty="0">
                <a:latin typeface="Carlito"/>
                <a:cs typeface="Carlito"/>
              </a:rPr>
              <a:t>Databases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(IMDBs)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in main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Dramatically </a:t>
            </a:r>
            <a:r>
              <a:rPr sz="2400" spc="-20" dirty="0">
                <a:latin typeface="Carlito"/>
                <a:cs typeface="Carlito"/>
              </a:rPr>
              <a:t>faster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5" dirty="0">
                <a:latin typeface="Carlito"/>
                <a:cs typeface="Carlito"/>
              </a:rPr>
              <a:t>disk-based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Good </a:t>
            </a:r>
            <a:r>
              <a:rPr sz="2400" spc="-10" dirty="0">
                <a:latin typeface="Carlito"/>
                <a:cs typeface="Carlito"/>
              </a:rPr>
              <a:t>backup procedures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essential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Used both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high-end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spc="-10" dirty="0">
                <a:latin typeface="Carlito"/>
                <a:cs typeface="Carlito"/>
              </a:rPr>
              <a:t>where performance </a:t>
            </a:r>
            <a:r>
              <a:rPr sz="2400" dirty="0">
                <a:latin typeface="Carlito"/>
                <a:cs typeface="Carlito"/>
              </a:rPr>
              <a:t>is  crucial and in </a:t>
            </a:r>
            <a:r>
              <a:rPr sz="2400" spc="-10" dirty="0">
                <a:latin typeface="Carlito"/>
                <a:cs typeface="Carlito"/>
              </a:rPr>
              <a:t>small-footprint, </a:t>
            </a:r>
            <a:r>
              <a:rPr sz="2400" spc="-5" dirty="0">
                <a:latin typeface="Carlito"/>
                <a:cs typeface="Carlito"/>
              </a:rPr>
              <a:t>embedded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applications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517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 dirty="0"/>
              <a:t>Database</a:t>
            </a:r>
            <a:r>
              <a:rPr sz="3600" spc="-265" dirty="0"/>
              <a:t> </a:t>
            </a:r>
            <a:r>
              <a:rPr sz="3600" spc="-380" dirty="0"/>
              <a:t>Models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57490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Hierarchical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Network Database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Models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Hierarchical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Organizes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tree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structure</a:t>
            </a:r>
            <a:endParaRPr sz="2400">
              <a:latin typeface="Carlito"/>
              <a:cs typeface="Carlito"/>
            </a:endParaRPr>
          </a:p>
          <a:p>
            <a:pPr marL="1155700" marR="441959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Typically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one-to-many </a:t>
            </a:r>
            <a:r>
              <a:rPr sz="2400" spc="-5" dirty="0">
                <a:latin typeface="Carlito"/>
                <a:cs typeface="Carlito"/>
              </a:rPr>
              <a:t>relationship between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  </a:t>
            </a:r>
            <a:r>
              <a:rPr sz="2400" spc="-5" dirty="0">
                <a:latin typeface="Carlito"/>
                <a:cs typeface="Carlito"/>
              </a:rPr>
              <a:t>entities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1155700" marR="126746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Allow both </a:t>
            </a:r>
            <a:r>
              <a:rPr sz="2400" spc="-10" dirty="0">
                <a:latin typeface="Carlito"/>
                <a:cs typeface="Carlito"/>
              </a:rPr>
              <a:t>one-to-many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many-to-many  </a:t>
            </a:r>
            <a:r>
              <a:rPr sz="2400" spc="-10" dirty="0">
                <a:latin typeface="Carlito"/>
                <a:cs typeface="Carlito"/>
              </a:rPr>
              <a:t>relationships </a:t>
            </a:r>
            <a:r>
              <a:rPr sz="2400" spc="-5" dirty="0">
                <a:latin typeface="Carlito"/>
                <a:cs typeface="Carlito"/>
              </a:rPr>
              <a:t>between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elements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Most </a:t>
            </a:r>
            <a:r>
              <a:rPr sz="2400" spc="-5" dirty="0">
                <a:latin typeface="Carlito"/>
                <a:cs typeface="Carlito"/>
              </a:rPr>
              <a:t>databases </a:t>
            </a:r>
            <a:r>
              <a:rPr sz="2400" spc="-20" dirty="0">
                <a:latin typeface="Carlito"/>
                <a:cs typeface="Carlito"/>
              </a:rPr>
              <a:t>today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neither </a:t>
            </a:r>
            <a:r>
              <a:rPr sz="2400" spc="-10" dirty="0">
                <a:latin typeface="Carlito"/>
                <a:cs typeface="Carlito"/>
              </a:rPr>
              <a:t>hierarchical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models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385" dirty="0"/>
              <a:t>Relational </a:t>
            </a:r>
            <a:r>
              <a:rPr spc="-430" dirty="0"/>
              <a:t>Database </a:t>
            </a:r>
            <a:r>
              <a:rPr spc="-280" dirty="0"/>
              <a:t>Model  </a:t>
            </a:r>
            <a:r>
              <a:rPr spc="-400" dirty="0"/>
              <a:t>(RDBMS)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3841" y="1556791"/>
            <a:ext cx="8145780" cy="4371340"/>
            <a:chOff x="543841" y="1556791"/>
            <a:chExt cx="8145780" cy="4371340"/>
          </a:xfrm>
        </p:grpSpPr>
        <p:sp>
          <p:nvSpPr>
            <p:cNvPr id="4" name="object 4"/>
            <p:cNvSpPr/>
            <p:nvPr/>
          </p:nvSpPr>
          <p:spPr>
            <a:xfrm>
              <a:off x="543841" y="1556791"/>
              <a:ext cx="8145422" cy="41967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0305" y="5013172"/>
              <a:ext cx="1471295" cy="914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29</a:t>
            </a:fld>
            <a:endParaRPr spc="-16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385" dirty="0"/>
              <a:t>Relational </a:t>
            </a:r>
            <a:r>
              <a:rPr spc="-430" dirty="0"/>
              <a:t>Database </a:t>
            </a:r>
            <a:r>
              <a:rPr spc="-280" dirty="0"/>
              <a:t>Model  </a:t>
            </a:r>
            <a:r>
              <a:rPr spc="-400" dirty="0"/>
              <a:t>(RDBMS)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32090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Creating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Relational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Creating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5" dirty="0">
                <a:latin typeface="Carlito"/>
                <a:cs typeface="Carlito"/>
              </a:rPr>
              <a:t> Tables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Each </a:t>
            </a:r>
            <a:r>
              <a:rPr sz="2400" spc="-5" dirty="0">
                <a:latin typeface="Carlito"/>
                <a:cs typeface="Carlito"/>
              </a:rPr>
              <a:t>table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created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table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structure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developed during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5" dirty="0">
                <a:latin typeface="Carlito"/>
                <a:cs typeface="Carlito"/>
              </a:rPr>
              <a:t>design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dirty="0">
                <a:latin typeface="Carlito"/>
                <a:cs typeface="Carlito"/>
              </a:rPr>
              <a:t>In Access,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use Design view or </a:t>
            </a:r>
            <a:r>
              <a:rPr sz="2400" spc="-10" dirty="0">
                <a:latin typeface="Carlito"/>
                <a:cs typeface="Carlito"/>
              </a:rPr>
              <a:t>Datasheet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view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Entering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Editing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Existing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5" dirty="0">
                <a:latin typeface="Carlito"/>
                <a:cs typeface="Carlito"/>
              </a:rPr>
              <a:t>migrated to </a:t>
            </a:r>
            <a:r>
              <a:rPr sz="2400" spc="-5" dirty="0">
                <a:latin typeface="Carlito"/>
                <a:cs typeface="Carlito"/>
              </a:rPr>
              <a:t>the new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New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added via a </a:t>
            </a:r>
            <a:r>
              <a:rPr sz="2400" spc="-15" dirty="0">
                <a:latin typeface="Carlito"/>
                <a:cs typeface="Carlito"/>
              </a:rPr>
              <a:t>form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Datasheet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view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1613535" algn="l"/>
              </a:tabLst>
            </a:pPr>
            <a:r>
              <a:rPr sz="2400" dirty="0">
                <a:latin typeface="Carlito"/>
                <a:cs typeface="Carlito"/>
              </a:rPr>
              <a:t>In either </a:t>
            </a:r>
            <a:r>
              <a:rPr sz="2400" spc="-5" dirty="0">
                <a:latin typeface="Carlito"/>
                <a:cs typeface="Carlito"/>
              </a:rPr>
              <a:t>case,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same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being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manipulated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341110"/>
            <a:chOff x="0" y="0"/>
            <a:chExt cx="9144000" cy="6341110"/>
          </a:xfrm>
        </p:grpSpPr>
        <p:sp>
          <p:nvSpPr>
            <p:cNvPr id="3" name="object 3"/>
            <p:cNvSpPr/>
            <p:nvPr/>
          </p:nvSpPr>
          <p:spPr>
            <a:xfrm>
              <a:off x="1115618" y="1484744"/>
              <a:ext cx="5728263" cy="48562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55382" y="1964435"/>
              <a:ext cx="1162050" cy="9048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517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 dirty="0"/>
              <a:t>Database</a:t>
            </a:r>
            <a:r>
              <a:rPr sz="3600" spc="-265" dirty="0"/>
              <a:t> </a:t>
            </a:r>
            <a:r>
              <a:rPr sz="3600" spc="-380" dirty="0"/>
              <a:t>Models</a:t>
            </a:r>
            <a:endParaRPr sz="360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31</a:t>
            </a:fld>
            <a:endParaRPr spc="-16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334125"/>
            <a:chOff x="0" y="0"/>
            <a:chExt cx="9144000" cy="6334125"/>
          </a:xfrm>
        </p:grpSpPr>
        <p:sp>
          <p:nvSpPr>
            <p:cNvPr id="3" name="object 3"/>
            <p:cNvSpPr/>
            <p:nvPr/>
          </p:nvSpPr>
          <p:spPr>
            <a:xfrm>
              <a:off x="755573" y="1484718"/>
              <a:ext cx="6959748" cy="48492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24368" y="1556766"/>
              <a:ext cx="1495425" cy="8286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517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 dirty="0"/>
              <a:t>Database</a:t>
            </a:r>
            <a:r>
              <a:rPr sz="3600" spc="-265" dirty="0"/>
              <a:t> </a:t>
            </a:r>
            <a:r>
              <a:rPr sz="3600" spc="-380" dirty="0"/>
              <a:t>Models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32</a:t>
            </a:fld>
            <a:endParaRPr spc="-16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385" dirty="0"/>
              <a:t>Relational </a:t>
            </a:r>
            <a:r>
              <a:rPr spc="-430" dirty="0"/>
              <a:t>Database </a:t>
            </a:r>
            <a:r>
              <a:rPr spc="-280" dirty="0"/>
              <a:t>Model  </a:t>
            </a:r>
            <a:r>
              <a:rPr spc="-400" dirty="0"/>
              <a:t>(RDBMS)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400925" cy="1270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Relating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35" dirty="0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Once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5" dirty="0">
                <a:latin typeface="Carlito"/>
                <a:cs typeface="Carlito"/>
              </a:rPr>
              <a:t>tables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5" dirty="0">
                <a:latin typeface="Carlito"/>
                <a:cs typeface="Carlito"/>
              </a:rPr>
              <a:t>been </a:t>
            </a:r>
            <a:r>
              <a:rPr sz="2400" spc="-10" dirty="0">
                <a:latin typeface="Carlito"/>
                <a:cs typeface="Carlito"/>
              </a:rPr>
              <a:t>created, </a:t>
            </a:r>
            <a:r>
              <a:rPr sz="2400" spc="-5" dirty="0">
                <a:latin typeface="Carlito"/>
                <a:cs typeface="Carlito"/>
              </a:rPr>
              <a:t>they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5" dirty="0">
                <a:latin typeface="Carlito"/>
                <a:cs typeface="Carlito"/>
              </a:rPr>
              <a:t>related  to </a:t>
            </a:r>
            <a:r>
              <a:rPr sz="2400" spc="-5" dirty="0">
                <a:latin typeface="Carlito"/>
                <a:cs typeface="Carlito"/>
              </a:rPr>
              <a:t>one another using </a:t>
            </a:r>
            <a:r>
              <a:rPr sz="2400" dirty="0">
                <a:latin typeface="Carlito"/>
                <a:cs typeface="Carlito"/>
              </a:rPr>
              <a:t>their </a:t>
            </a:r>
            <a:r>
              <a:rPr sz="2400" spc="-5" dirty="0">
                <a:latin typeface="Carlito"/>
                <a:cs typeface="Carlito"/>
              </a:rPr>
              <a:t>primary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30" dirty="0">
                <a:latin typeface="Carlito"/>
                <a:cs typeface="Carlito"/>
              </a:rPr>
              <a:t>keys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67559" y="2780969"/>
            <a:ext cx="6727637" cy="3508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40395" y="2708910"/>
            <a:ext cx="1257300" cy="4286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33</a:t>
            </a:fld>
            <a:endParaRPr spc="-16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385" dirty="0"/>
              <a:t>Relational </a:t>
            </a:r>
            <a:r>
              <a:rPr spc="-430" dirty="0"/>
              <a:t>Database </a:t>
            </a:r>
            <a:r>
              <a:rPr spc="-280" dirty="0"/>
              <a:t>Model  </a:t>
            </a:r>
            <a:r>
              <a:rPr spc="-400" dirty="0"/>
              <a:t>(RDBMS)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85734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Retrieving Information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Relational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Query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request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see </a:t>
            </a:r>
            <a:r>
              <a:rPr sz="2400" spc="-10" dirty="0">
                <a:latin typeface="Carlito"/>
                <a:cs typeface="Carlito"/>
              </a:rPr>
              <a:t>information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that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matches </a:t>
            </a:r>
            <a:r>
              <a:rPr sz="2400" spc="-5" dirty="0">
                <a:latin typeface="Carlito"/>
                <a:cs typeface="Carlito"/>
              </a:rPr>
              <a:t>specific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criteria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Every </a:t>
            </a:r>
            <a:r>
              <a:rPr sz="2400" spc="-5" dirty="0">
                <a:latin typeface="Carlito"/>
                <a:cs typeface="Carlito"/>
              </a:rPr>
              <a:t>DBMS </a:t>
            </a:r>
            <a:r>
              <a:rPr sz="2400" spc="-10" dirty="0">
                <a:latin typeface="Carlito"/>
                <a:cs typeface="Carlito"/>
              </a:rPr>
              <a:t>provides tools users can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query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write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structured </a:t>
            </a:r>
            <a:r>
              <a:rPr sz="2400" dirty="0">
                <a:latin typeface="Carlito"/>
                <a:cs typeface="Carlito"/>
              </a:rPr>
              <a:t>query </a:t>
            </a:r>
            <a:r>
              <a:rPr sz="2400" spc="-5" dirty="0">
                <a:latin typeface="Carlito"/>
                <a:cs typeface="Carlito"/>
              </a:rPr>
              <a:t>language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(SQL)</a:t>
            </a:r>
            <a:endParaRPr sz="2400">
              <a:latin typeface="Carlito"/>
              <a:cs typeface="Carlito"/>
            </a:endParaRPr>
          </a:p>
          <a:p>
            <a:pPr marL="1155700" marR="1651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be designed </a:t>
            </a:r>
            <a:r>
              <a:rPr sz="2400" spc="-15" dirty="0">
                <a:latin typeface="Carlito"/>
                <a:cs typeface="Carlito"/>
              </a:rPr>
              <a:t>to extract </a:t>
            </a:r>
            <a:r>
              <a:rPr sz="2400" spc="-10" dirty="0">
                <a:latin typeface="Carlito"/>
                <a:cs typeface="Carlito"/>
              </a:rPr>
              <a:t>information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efficiently 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possible</a:t>
            </a:r>
            <a:endParaRPr sz="2400">
              <a:latin typeface="Carlito"/>
              <a:cs typeface="Carlito"/>
            </a:endParaRPr>
          </a:p>
          <a:p>
            <a:pPr marL="1155700" marR="107505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Poorly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spc="-5" dirty="0">
                <a:latin typeface="Carlito"/>
                <a:cs typeface="Carlito"/>
              </a:rPr>
              <a:t>queries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impact the </a:t>
            </a:r>
            <a:r>
              <a:rPr sz="2400" spc="-15" dirty="0">
                <a:latin typeface="Carlito"/>
                <a:cs typeface="Carlito"/>
              </a:rPr>
              <a:t>overall  </a:t>
            </a:r>
            <a:r>
              <a:rPr sz="2400" spc="-10" dirty="0">
                <a:latin typeface="Carlito"/>
                <a:cs typeface="Carlito"/>
              </a:rPr>
              <a:t>performance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5081" y="1476273"/>
            <a:ext cx="6629651" cy="48197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385" dirty="0"/>
              <a:t>Relational </a:t>
            </a:r>
            <a:r>
              <a:rPr spc="-430" dirty="0"/>
              <a:t>Database </a:t>
            </a:r>
            <a:r>
              <a:rPr spc="-280" dirty="0"/>
              <a:t>Model  </a:t>
            </a:r>
            <a:r>
              <a:rPr spc="-400" dirty="0"/>
              <a:t>(RDBMS)</a:t>
            </a:r>
          </a:p>
        </p:txBody>
      </p:sp>
      <p:sp>
        <p:nvSpPr>
          <p:cNvPr id="4" name="object 4"/>
          <p:cNvSpPr/>
          <p:nvPr/>
        </p:nvSpPr>
        <p:spPr>
          <a:xfrm>
            <a:off x="7380351" y="2636901"/>
            <a:ext cx="1263015" cy="1188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35</a:t>
            </a:fld>
            <a:endParaRPr spc="-16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385" dirty="0"/>
              <a:t>Relational </a:t>
            </a:r>
            <a:r>
              <a:rPr spc="-430" dirty="0"/>
              <a:t>Database </a:t>
            </a:r>
            <a:r>
              <a:rPr spc="-280" dirty="0"/>
              <a:t>Model  </a:t>
            </a:r>
            <a:r>
              <a:rPr spc="-400" dirty="0"/>
              <a:t>(RDBMS)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36</a:t>
            </a:fld>
            <a:endParaRPr spc="-16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63182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633095" algn="l"/>
              </a:tabLst>
            </a:pPr>
            <a:r>
              <a:rPr spc="-5" dirty="0"/>
              <a:t>Reports</a:t>
            </a:r>
          </a:p>
          <a:p>
            <a:pPr marL="1030605" marR="40513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20" dirty="0">
                <a:latin typeface="Carlito"/>
                <a:cs typeface="Carlito"/>
              </a:rPr>
              <a:t>Formatted </a:t>
            </a:r>
            <a:r>
              <a:rPr sz="2400" spc="-25" dirty="0">
                <a:latin typeface="Carlito"/>
                <a:cs typeface="Carlito"/>
              </a:rPr>
              <a:t>way </a:t>
            </a:r>
            <a:r>
              <a:rPr sz="2400" spc="-5" dirty="0">
                <a:latin typeface="Carlito"/>
                <a:cs typeface="Carlito"/>
              </a:rPr>
              <a:t>of looking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5" dirty="0">
                <a:latin typeface="Carlito"/>
                <a:cs typeface="Carlito"/>
              </a:rPr>
              <a:t>table or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results of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query</a:t>
            </a:r>
            <a:endParaRPr sz="2400">
              <a:latin typeface="Carlito"/>
              <a:cs typeface="Carlito"/>
            </a:endParaRPr>
          </a:p>
          <a:p>
            <a:pPr marL="103060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5" dirty="0">
                <a:latin typeface="Carlito"/>
                <a:cs typeface="Carlito"/>
              </a:rPr>
              <a:t>Can pull </a:t>
            </a:r>
            <a:r>
              <a:rPr sz="2400" spc="-15" dirty="0">
                <a:latin typeface="Carlito"/>
                <a:cs typeface="Carlito"/>
              </a:rPr>
              <a:t>data from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5" dirty="0">
                <a:latin typeface="Carlito"/>
                <a:cs typeface="Carlito"/>
              </a:rPr>
              <a:t>one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  <a:p>
            <a:pPr marL="1030605" marR="123189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15" dirty="0">
                <a:latin typeface="Carlito"/>
                <a:cs typeface="Carlito"/>
              </a:rPr>
              <a:t>Many programs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5" dirty="0">
                <a:latin typeface="Carlito"/>
                <a:cs typeface="Carlito"/>
              </a:rPr>
              <a:t>wizards </a:t>
            </a:r>
            <a:r>
              <a:rPr sz="2400" spc="-10" dirty="0">
                <a:latin typeface="Carlito"/>
                <a:cs typeface="Carlito"/>
              </a:rPr>
              <a:t>or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0" dirty="0">
                <a:latin typeface="Carlito"/>
                <a:cs typeface="Carlito"/>
              </a:rPr>
              <a:t>tools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make </a:t>
            </a:r>
            <a:r>
              <a:rPr sz="2400" dirty="0">
                <a:latin typeface="Carlito"/>
                <a:cs typeface="Carlito"/>
              </a:rPr>
              <a:t>it  </a:t>
            </a:r>
            <a:r>
              <a:rPr sz="2400" spc="-15" dirty="0">
                <a:latin typeface="Carlito"/>
                <a:cs typeface="Carlito"/>
              </a:rPr>
              <a:t>easy to create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report</a:t>
            </a:r>
            <a:endParaRPr sz="2400">
              <a:latin typeface="Carlito"/>
              <a:cs typeface="Carlito"/>
            </a:endParaRPr>
          </a:p>
          <a:p>
            <a:pPr marL="103060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dirty="0">
                <a:latin typeface="Carlito"/>
                <a:cs typeface="Carlito"/>
              </a:rPr>
              <a:t>modified and </a:t>
            </a:r>
            <a:r>
              <a:rPr sz="2400" spc="-15" dirty="0">
                <a:latin typeface="Carlito"/>
                <a:cs typeface="Carlito"/>
              </a:rPr>
              <a:t>customized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Design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view</a:t>
            </a:r>
            <a:endParaRPr sz="2400">
              <a:latin typeface="Carlito"/>
              <a:cs typeface="Carlito"/>
            </a:endParaRPr>
          </a:p>
          <a:p>
            <a:pPr marL="1030605" marR="4508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5" dirty="0">
                <a:latin typeface="Carlito"/>
                <a:cs typeface="Carlito"/>
              </a:rPr>
              <a:t>Reports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Microsoft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5" dirty="0">
                <a:latin typeface="Carlito"/>
                <a:cs typeface="Carlito"/>
              </a:rPr>
              <a:t>are saved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objects </a:t>
            </a:r>
            <a:r>
              <a:rPr sz="2400" dirty="0">
                <a:latin typeface="Carlito"/>
                <a:cs typeface="Carlito"/>
              </a:rPr>
              <a:t>in the 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file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385" dirty="0"/>
              <a:t>Relational </a:t>
            </a:r>
            <a:r>
              <a:rPr spc="-430" dirty="0"/>
              <a:t>Database </a:t>
            </a:r>
            <a:r>
              <a:rPr spc="-280" dirty="0"/>
              <a:t>Model  </a:t>
            </a:r>
            <a:r>
              <a:rPr spc="-400" dirty="0"/>
              <a:t>(RDBMS)</a:t>
            </a:r>
          </a:p>
        </p:txBody>
      </p:sp>
      <p:sp>
        <p:nvSpPr>
          <p:cNvPr id="3" name="object 3"/>
          <p:cNvSpPr/>
          <p:nvPr/>
        </p:nvSpPr>
        <p:spPr>
          <a:xfrm>
            <a:off x="64368" y="1556854"/>
            <a:ext cx="7420134" cy="47955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03057" y="1844801"/>
            <a:ext cx="1295400" cy="838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37</a:t>
            </a:fld>
            <a:endParaRPr spc="-16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 dirty="0"/>
              <a:t>The </a:t>
            </a:r>
            <a:r>
              <a:rPr spc="-385" dirty="0"/>
              <a:t>Relational </a:t>
            </a:r>
            <a:r>
              <a:rPr spc="-430" dirty="0"/>
              <a:t>Database </a:t>
            </a:r>
            <a:r>
              <a:rPr spc="-280" dirty="0"/>
              <a:t>Model  </a:t>
            </a:r>
            <a:r>
              <a:rPr spc="-400" dirty="0"/>
              <a:t>(RDBMS)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304405" cy="35375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Maintaining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Relational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40" dirty="0">
                <a:latin typeface="Carlito"/>
                <a:cs typeface="Carlito"/>
              </a:rPr>
              <a:t>Table </a:t>
            </a:r>
            <a:r>
              <a:rPr sz="2400" spc="-10" dirty="0">
                <a:latin typeface="Carlito"/>
                <a:cs typeface="Carlito"/>
              </a:rPr>
              <a:t>structures 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modified when</a:t>
            </a:r>
            <a:r>
              <a:rPr sz="2400" spc="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Other possible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modifications: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Adding </a:t>
            </a:r>
            <a:r>
              <a:rPr sz="2400" spc="-5" dirty="0">
                <a:latin typeface="Carlito"/>
                <a:cs typeface="Carlito"/>
              </a:rPr>
              <a:t>new </a:t>
            </a:r>
            <a:r>
              <a:rPr sz="2400" spc="-15" dirty="0">
                <a:latin typeface="Carlito"/>
                <a:cs typeface="Carlito"/>
              </a:rPr>
              <a:t>indexes to </a:t>
            </a:r>
            <a:r>
              <a:rPr sz="2400" spc="-5" dirty="0">
                <a:latin typeface="Carlito"/>
                <a:cs typeface="Carlito"/>
              </a:rPr>
              <a:t>speed up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queries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Deleting </a:t>
            </a:r>
            <a:r>
              <a:rPr sz="2400" spc="-10" dirty="0">
                <a:latin typeface="Carlito"/>
                <a:cs typeface="Carlito"/>
              </a:rPr>
              <a:t>obsolete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Upgrading database software, </a:t>
            </a:r>
            <a:r>
              <a:rPr sz="2400" spc="-5" dirty="0">
                <a:latin typeface="Carlito"/>
                <a:cs typeface="Carlito"/>
              </a:rPr>
              <a:t>installing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patches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Repairing/restoring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spc="-10" dirty="0">
                <a:latin typeface="Carlito"/>
                <a:cs typeface="Carlito"/>
              </a:rPr>
              <a:t>become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corrupt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Continuing </a:t>
            </a:r>
            <a:r>
              <a:rPr sz="2400" spc="-15" dirty="0">
                <a:latin typeface="Carlito"/>
                <a:cs typeface="Carlito"/>
              </a:rPr>
              <a:t>to evaluate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improve </a:t>
            </a:r>
            <a:r>
              <a:rPr sz="2400" spc="-5" dirty="0">
                <a:latin typeface="Carlito"/>
                <a:cs typeface="Carlito"/>
              </a:rPr>
              <a:t>security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76020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75" dirty="0"/>
              <a:t>The </a:t>
            </a:r>
            <a:r>
              <a:rPr spc="-315" dirty="0"/>
              <a:t>Object-Oriented </a:t>
            </a:r>
            <a:r>
              <a:rPr spc="-430" dirty="0"/>
              <a:t>Database</a:t>
            </a:r>
            <a:r>
              <a:rPr spc="-445" dirty="0"/>
              <a:t> </a:t>
            </a:r>
            <a:r>
              <a:rPr spc="-285" dirty="0"/>
              <a:t>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23505" cy="44157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Object-Oriented Database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Model</a:t>
            </a:r>
            <a:endParaRPr sz="2400">
              <a:latin typeface="Carlito"/>
              <a:cs typeface="Carlito"/>
            </a:endParaRPr>
          </a:p>
          <a:p>
            <a:pPr marL="756285" marR="1049655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Object-Oriented Database </a:t>
            </a:r>
            <a:r>
              <a:rPr sz="2400" spc="-5" dirty="0">
                <a:latin typeface="Carlito"/>
                <a:cs typeface="Carlito"/>
              </a:rPr>
              <a:t>Management </a:t>
            </a:r>
            <a:r>
              <a:rPr sz="2400" spc="-20" dirty="0">
                <a:latin typeface="Carlito"/>
                <a:cs typeface="Carlito"/>
              </a:rPr>
              <a:t>System  </a:t>
            </a:r>
            <a:r>
              <a:rPr sz="2400" spc="-5" dirty="0">
                <a:latin typeface="Carlito"/>
                <a:cs typeface="Carlito"/>
              </a:rPr>
              <a:t>(OODBMS)</a:t>
            </a:r>
            <a:endParaRPr sz="2400">
              <a:latin typeface="Carlito"/>
              <a:cs typeface="Carlito"/>
            </a:endParaRPr>
          </a:p>
          <a:p>
            <a:pPr marL="1155700" marR="139065" lvl="2" indent="-228600">
              <a:lnSpc>
                <a:spcPts val="2590"/>
              </a:lnSpc>
              <a:spcBef>
                <a:spcPts val="57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in which multiple types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 are 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objects </a:t>
            </a:r>
            <a:r>
              <a:rPr sz="2400" dirty="0">
                <a:latin typeface="Carlito"/>
                <a:cs typeface="Carlito"/>
              </a:rPr>
              <a:t>along with their </a:t>
            </a:r>
            <a:r>
              <a:rPr sz="2400" spc="-15" dirty="0">
                <a:latin typeface="Carlito"/>
                <a:cs typeface="Carlito"/>
              </a:rPr>
              <a:t>related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code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spc="-15" dirty="0">
                <a:latin typeface="Carlito"/>
                <a:cs typeface="Carlito"/>
              </a:rPr>
              <a:t>contain </a:t>
            </a:r>
            <a:r>
              <a:rPr sz="2400" dirty="0">
                <a:latin typeface="Carlito"/>
                <a:cs typeface="Carlito"/>
              </a:rPr>
              <a:t>virtually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5" dirty="0">
                <a:latin typeface="Carlito"/>
                <a:cs typeface="Carlito"/>
              </a:rPr>
              <a:t>type of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(video clip, </a:t>
            </a:r>
            <a:r>
              <a:rPr sz="2400" spc="-15" dirty="0">
                <a:latin typeface="Carlito"/>
                <a:cs typeface="Carlito"/>
              </a:rPr>
              <a:t>text  </a:t>
            </a:r>
            <a:r>
              <a:rPr sz="2400" dirty="0">
                <a:latin typeface="Carlito"/>
                <a:cs typeface="Carlito"/>
              </a:rPr>
              <a:t>with music, </a:t>
            </a:r>
            <a:r>
              <a:rPr sz="2400" spc="-10" dirty="0">
                <a:latin typeface="Carlito"/>
                <a:cs typeface="Carlito"/>
              </a:rPr>
              <a:t>etc.) </a:t>
            </a:r>
            <a:r>
              <a:rPr sz="2400" dirty="0">
                <a:latin typeface="Carlito"/>
                <a:cs typeface="Carlito"/>
              </a:rPr>
              <a:t>along with the methods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used 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that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1155700" marR="116839" lvl="2" indent="-228600">
              <a:lnSpc>
                <a:spcPts val="2590"/>
              </a:lnSpc>
              <a:spcBef>
                <a:spcPts val="5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Objects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spc="-5" dirty="0">
                <a:latin typeface="Carlito"/>
                <a:cs typeface="Carlito"/>
              </a:rPr>
              <a:t>using queries (object </a:t>
            </a:r>
            <a:r>
              <a:rPr sz="2400" dirty="0">
                <a:latin typeface="Carlito"/>
                <a:cs typeface="Carlito"/>
              </a:rPr>
              <a:t>query  </a:t>
            </a:r>
            <a:r>
              <a:rPr sz="2400" spc="-5" dirty="0">
                <a:latin typeface="Carlito"/>
                <a:cs typeface="Carlito"/>
              </a:rPr>
              <a:t>language or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OQL)</a:t>
            </a:r>
            <a:endParaRPr sz="2400">
              <a:latin typeface="Carlito"/>
              <a:cs typeface="Carlito"/>
            </a:endParaRPr>
          </a:p>
          <a:p>
            <a:pPr marL="1155700" marR="51435" lvl="2" indent="-228600">
              <a:lnSpc>
                <a:spcPts val="259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Objects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other applications </a:t>
            </a:r>
            <a:r>
              <a:rPr sz="2400" spc="-15" dirty="0">
                <a:latin typeface="Carlito"/>
                <a:cs typeface="Carlito"/>
              </a:rPr>
              <a:t>to create  </a:t>
            </a:r>
            <a:r>
              <a:rPr sz="2400" spc="-5" dirty="0">
                <a:latin typeface="Carlito"/>
                <a:cs typeface="Carlito"/>
              </a:rPr>
              <a:t>new applications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quickly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056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5" dirty="0"/>
              <a:t>Trend</a:t>
            </a:r>
            <a:r>
              <a:rPr sz="3600" spc="-300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23175" cy="48545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10" dirty="0">
                <a:latin typeface="Carlito"/>
                <a:cs typeface="Carlito"/>
              </a:rPr>
              <a:t>Law </a:t>
            </a:r>
            <a:r>
              <a:rPr sz="2400" b="1" spc="-15" dirty="0">
                <a:latin typeface="Carlito"/>
                <a:cs typeface="Carlito"/>
              </a:rPr>
              <a:t>Enforcement</a:t>
            </a:r>
            <a:r>
              <a:rPr sz="2400" b="1" spc="-35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5" dirty="0">
                <a:latin typeface="Carlito"/>
                <a:cs typeface="Carlito"/>
              </a:rPr>
              <a:t>been used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5" dirty="0">
                <a:latin typeface="Carlito"/>
                <a:cs typeface="Carlito"/>
              </a:rPr>
              <a:t>years </a:t>
            </a:r>
            <a:r>
              <a:rPr sz="2400" spc="-5" dirty="0">
                <a:latin typeface="Carlito"/>
                <a:cs typeface="Carlito"/>
              </a:rPr>
              <a:t>but </a:t>
            </a:r>
            <a:r>
              <a:rPr sz="2400" spc="-10" dirty="0">
                <a:latin typeface="Carlito"/>
                <a:cs typeface="Carlito"/>
              </a:rPr>
              <a:t>new database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now  </a:t>
            </a:r>
            <a:r>
              <a:rPr sz="2400" spc="-5" dirty="0">
                <a:latin typeface="Carlito"/>
                <a:cs typeface="Carlito"/>
              </a:rPr>
              <a:t>emerging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hold </a:t>
            </a:r>
            <a:r>
              <a:rPr sz="2400" spc="-10" dirty="0">
                <a:latin typeface="Carlito"/>
                <a:cs typeface="Carlito"/>
              </a:rPr>
              <a:t>non-traditional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20" dirty="0">
                <a:latin typeface="Carlito"/>
                <a:cs typeface="Carlito"/>
              </a:rPr>
              <a:t>like </a:t>
            </a:r>
            <a:r>
              <a:rPr sz="2400" spc="-10" dirty="0">
                <a:latin typeface="Carlito"/>
                <a:cs typeface="Carlito"/>
              </a:rPr>
              <a:t>photos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biometric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Next Generation </a:t>
            </a:r>
            <a:r>
              <a:rPr sz="2400" spc="-5" dirty="0">
                <a:latin typeface="Carlito"/>
                <a:cs typeface="Carlito"/>
              </a:rPr>
              <a:t>Identification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(NGI)</a:t>
            </a:r>
            <a:endParaRPr sz="2400">
              <a:latin typeface="Carlito"/>
              <a:cs typeface="Carlito"/>
            </a:endParaRPr>
          </a:p>
          <a:p>
            <a:pPr marL="16129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dirty="0">
                <a:latin typeface="Carlito"/>
                <a:cs typeface="Carlito"/>
              </a:rPr>
              <a:t>Includes AFIT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store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endParaRPr sz="2400">
              <a:latin typeface="Carlito"/>
              <a:cs typeface="Carlito"/>
            </a:endParaRPr>
          </a:p>
          <a:p>
            <a:pPr marL="16129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match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fingerprints</a:t>
            </a:r>
            <a:endParaRPr sz="2400">
              <a:latin typeface="Carlito"/>
              <a:cs typeface="Carlito"/>
            </a:endParaRPr>
          </a:p>
          <a:p>
            <a:pPr marL="1612900" marR="259016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1613535" algn="l"/>
              </a:tabLst>
            </a:pPr>
            <a:r>
              <a:rPr sz="2400" dirty="0">
                <a:latin typeface="Carlito"/>
                <a:cs typeface="Carlito"/>
              </a:rPr>
              <a:t>Includes </a:t>
            </a:r>
            <a:r>
              <a:rPr sz="2400" spc="-5" dirty="0">
                <a:latin typeface="Carlito"/>
                <a:cs typeface="Carlito"/>
              </a:rPr>
              <a:t>support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photos 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face-matching</a:t>
            </a:r>
            <a:endParaRPr sz="2400">
              <a:latin typeface="Carlito"/>
              <a:cs typeface="Carlito"/>
            </a:endParaRPr>
          </a:p>
          <a:p>
            <a:pPr marL="1612900" marR="235331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 dirty="0">
                <a:latin typeface="Carlito"/>
                <a:cs typeface="Carlito"/>
              </a:rPr>
              <a:t>Future improvements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include  </a:t>
            </a:r>
            <a:r>
              <a:rPr sz="2400" spc="-5" dirty="0">
                <a:latin typeface="Carlito"/>
                <a:cs typeface="Carlito"/>
              </a:rPr>
              <a:t>support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voice, </a:t>
            </a:r>
            <a:r>
              <a:rPr sz="2400" dirty="0">
                <a:latin typeface="Carlito"/>
                <a:cs typeface="Carlito"/>
              </a:rPr>
              <a:t>iris, </a:t>
            </a:r>
            <a:r>
              <a:rPr sz="2400" spc="-5" dirty="0">
                <a:latin typeface="Carlito"/>
                <a:cs typeface="Carlito"/>
              </a:rPr>
              <a:t>DNA,  palm </a:t>
            </a:r>
            <a:r>
              <a:rPr sz="2400" spc="-10" dirty="0">
                <a:latin typeface="Carlito"/>
                <a:cs typeface="Carlito"/>
              </a:rPr>
              <a:t>prints,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0171" y="3801998"/>
            <a:ext cx="2891408" cy="237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40</a:t>
            </a:fld>
            <a:endParaRPr spc="-16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9942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60" dirty="0"/>
              <a:t>Hybrid </a:t>
            </a:r>
            <a:r>
              <a:rPr sz="3600" spc="-484" dirty="0"/>
              <a:t>Database</a:t>
            </a:r>
            <a:r>
              <a:rPr sz="3600" spc="-150" dirty="0"/>
              <a:t> </a:t>
            </a:r>
            <a:r>
              <a:rPr sz="3600" spc="-380" dirty="0"/>
              <a:t>Models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36840" cy="28790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Hybrid </a:t>
            </a:r>
            <a:r>
              <a:rPr sz="2400" spc="-10" dirty="0">
                <a:latin typeface="Carlito"/>
                <a:cs typeface="Carlito"/>
              </a:rPr>
              <a:t>Database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Models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combination of two or more database </a:t>
            </a:r>
            <a:r>
              <a:rPr sz="2400" dirty="0">
                <a:latin typeface="Carlito"/>
                <a:cs typeface="Carlito"/>
              </a:rPr>
              <a:t>types </a:t>
            </a:r>
            <a:r>
              <a:rPr sz="2400" spc="-10" dirty="0">
                <a:latin typeface="Carlito"/>
                <a:cs typeface="Carlito"/>
              </a:rPr>
              <a:t>or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models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Hybrid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XML/Relational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13843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spc="-20" dirty="0">
                <a:latin typeface="Carlito"/>
                <a:cs typeface="Carlito"/>
              </a:rPr>
              <a:t>store</a:t>
            </a:r>
            <a:r>
              <a:rPr sz="2400" spc="-2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endParaRPr sz="2400">
              <a:latin typeface="Carlito"/>
              <a:cs typeface="Carlito"/>
            </a:endParaRPr>
          </a:p>
          <a:p>
            <a:pPr marL="16129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retrieve </a:t>
            </a:r>
            <a:r>
              <a:rPr sz="2400" spc="-5" dirty="0">
                <a:latin typeface="Carlito"/>
                <a:cs typeface="Carlito"/>
              </a:rPr>
              <a:t>both XML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1612900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relational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04343" y="2420886"/>
            <a:ext cx="3151191" cy="36083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7846" y="5157190"/>
            <a:ext cx="1456054" cy="548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41</a:t>
            </a:fld>
            <a:endParaRPr spc="-16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6097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40" dirty="0"/>
              <a:t>Multidimensional </a:t>
            </a:r>
            <a:r>
              <a:rPr spc="-450" dirty="0"/>
              <a:t>Databases</a:t>
            </a:r>
            <a:r>
              <a:rPr spc="-100" dirty="0"/>
              <a:t> </a:t>
            </a:r>
            <a:r>
              <a:rPr spc="-310" dirty="0"/>
              <a:t>(MDDB)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12100" cy="47085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Multidimensional </a:t>
            </a:r>
            <a:r>
              <a:rPr sz="2400" spc="-10" dirty="0">
                <a:latin typeface="Carlito"/>
                <a:cs typeface="Carlito"/>
              </a:rPr>
              <a:t>Databases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(MDDB)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warehousing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conjunction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Online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Analytical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Processing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(OLAP)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MOLAP </a:t>
            </a:r>
            <a:r>
              <a:rPr sz="2400" spc="-5" dirty="0">
                <a:latin typeface="Carlito"/>
                <a:cs typeface="Carlito"/>
              </a:rPr>
              <a:t>(Multidimensional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OLAP)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single </a:t>
            </a:r>
            <a:r>
              <a:rPr sz="2400" spc="-10" dirty="0">
                <a:latin typeface="Carlito"/>
                <a:cs typeface="Carlito"/>
              </a:rPr>
              <a:t>structures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cubes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ROLAP </a:t>
            </a:r>
            <a:r>
              <a:rPr sz="2400" spc="-5" dirty="0">
                <a:latin typeface="Carlito"/>
                <a:cs typeface="Carlito"/>
              </a:rPr>
              <a:t>(Relational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OLAP)</a:t>
            </a:r>
            <a:endParaRPr sz="2400">
              <a:latin typeface="Carlito"/>
              <a:cs typeface="Carlito"/>
            </a:endParaRPr>
          </a:p>
          <a:p>
            <a:pPr marL="1612900" marR="482600" lvl="3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in an </a:t>
            </a:r>
            <a:r>
              <a:rPr sz="2400" spc="-10" dirty="0">
                <a:latin typeface="Carlito"/>
                <a:cs typeface="Carlito"/>
              </a:rPr>
              <a:t>existing relational database  </a:t>
            </a:r>
            <a:r>
              <a:rPr sz="2400" spc="-5" dirty="0">
                <a:latin typeface="Carlito"/>
                <a:cs typeface="Carlito"/>
              </a:rPr>
              <a:t>using tables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store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summary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HOLAP </a:t>
            </a:r>
            <a:r>
              <a:rPr sz="2400" dirty="0">
                <a:latin typeface="Carlito"/>
                <a:cs typeface="Carlito"/>
              </a:rPr>
              <a:t>(Hybrid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OLAP)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 dirty="0">
                <a:latin typeface="Carlito"/>
                <a:cs typeface="Carlito"/>
              </a:rPr>
              <a:t>Combination of MOLAP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ROLAP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technologies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411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70" dirty="0"/>
              <a:t>Cloud</a:t>
            </a:r>
            <a:r>
              <a:rPr sz="3600" spc="-275" dirty="0"/>
              <a:t> </a:t>
            </a:r>
            <a:r>
              <a:rPr sz="3600" spc="-505" dirty="0"/>
              <a:t>Databases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5"/>
            <a:ext cx="7977505" cy="5722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20" dirty="0">
                <a:latin typeface="Arial"/>
                <a:cs typeface="Arial"/>
              </a:rPr>
              <a:t>Typically </a:t>
            </a:r>
            <a:r>
              <a:rPr sz="2400" spc="-95" dirty="0">
                <a:latin typeface="Arial"/>
                <a:cs typeface="Arial"/>
              </a:rPr>
              <a:t>hosted </a:t>
            </a:r>
            <a:r>
              <a:rPr sz="2400" spc="-75" dirty="0">
                <a:latin typeface="Arial"/>
                <a:cs typeface="Arial"/>
              </a:rPr>
              <a:t>on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80" dirty="0">
                <a:latin typeface="Arial"/>
                <a:cs typeface="Arial"/>
              </a:rPr>
              <a:t>cloud </a:t>
            </a:r>
            <a:r>
              <a:rPr sz="2400" spc="-130" dirty="0">
                <a:latin typeface="Arial"/>
                <a:cs typeface="Arial"/>
              </a:rPr>
              <a:t>database </a:t>
            </a:r>
            <a:r>
              <a:rPr sz="2400" spc="-70" dirty="0">
                <a:latin typeface="Arial"/>
                <a:cs typeface="Arial"/>
              </a:rPr>
              <a:t>provider’s </a:t>
            </a:r>
            <a:r>
              <a:rPr sz="2400" spc="-130" dirty="0">
                <a:latin typeface="Arial"/>
                <a:cs typeface="Arial"/>
              </a:rPr>
              <a:t>servers </a:t>
            </a:r>
            <a:r>
              <a:rPr sz="2400" spc="-5" dirty="0">
                <a:latin typeface="Arial"/>
                <a:cs typeface="Arial"/>
              </a:rPr>
              <a:t>that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  </a:t>
            </a:r>
            <a:r>
              <a:rPr sz="2400" spc="-5" dirty="0">
                <a:latin typeface="Carlito"/>
                <a:cs typeface="Carlito"/>
              </a:rPr>
              <a:t>accessible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spc="-5" dirty="0">
                <a:latin typeface="Carlito"/>
                <a:cs typeface="Carlito"/>
              </a:rPr>
              <a:t>via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30" dirty="0">
                <a:latin typeface="Carlito"/>
                <a:cs typeface="Carlito"/>
              </a:rPr>
              <a:t>Web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Examples </a:t>
            </a:r>
            <a:r>
              <a:rPr sz="2400" spc="-5" dirty="0">
                <a:latin typeface="Carlito"/>
                <a:cs typeface="Carlito"/>
              </a:rPr>
              <a:t>of Cloud Databases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Information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retrieval</a:t>
            </a:r>
            <a:endParaRPr sz="2400">
              <a:latin typeface="Carlito"/>
              <a:cs typeface="Carlito"/>
            </a:endParaRPr>
          </a:p>
          <a:p>
            <a:pPr marL="1155700" marR="41910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Data to </a:t>
            </a:r>
            <a:r>
              <a:rPr sz="2400" spc="-5" dirty="0">
                <a:latin typeface="Carlito"/>
                <a:cs typeface="Carlito"/>
              </a:rPr>
              <a:t>be accessed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displayed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0" dirty="0">
                <a:latin typeface="Carlito"/>
                <a:cs typeface="Carlito"/>
              </a:rPr>
              <a:t>page </a:t>
            </a:r>
            <a:r>
              <a:rPr sz="2400" dirty="0">
                <a:latin typeface="Carlito"/>
                <a:cs typeface="Carlito"/>
              </a:rPr>
              <a:t>is 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database, </a:t>
            </a:r>
            <a:r>
              <a:rPr sz="2400" dirty="0">
                <a:latin typeface="Carlito"/>
                <a:cs typeface="Carlito"/>
              </a:rPr>
              <a:t>i.e, </a:t>
            </a:r>
            <a:r>
              <a:rPr sz="2400" spc="-10" dirty="0">
                <a:latin typeface="Carlito"/>
                <a:cs typeface="Carlito"/>
              </a:rPr>
              <a:t>Search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sites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Support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facilitate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e-commerce</a:t>
            </a:r>
            <a:endParaRPr sz="2400">
              <a:latin typeface="Carlito"/>
              <a:cs typeface="Carlito"/>
            </a:endParaRPr>
          </a:p>
          <a:p>
            <a:pPr marL="1155700" marR="106489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Display </a:t>
            </a:r>
            <a:r>
              <a:rPr sz="2400" spc="-10" dirty="0">
                <a:latin typeface="Carlito"/>
                <a:cs typeface="Carlito"/>
              </a:rPr>
              <a:t>product information, </a:t>
            </a:r>
            <a:r>
              <a:rPr sz="2400" dirty="0">
                <a:latin typeface="Carlito"/>
                <a:cs typeface="Carlito"/>
              </a:rPr>
              <a:t>pricing, </a:t>
            </a:r>
            <a:r>
              <a:rPr sz="2400" spc="-10" dirty="0">
                <a:latin typeface="Carlito"/>
                <a:cs typeface="Carlito"/>
              </a:rPr>
              <a:t>customer  information, </a:t>
            </a:r>
            <a:r>
              <a:rPr sz="2400" spc="-5" dirty="0">
                <a:latin typeface="Carlito"/>
                <a:cs typeface="Carlito"/>
              </a:rPr>
              <a:t>shopping cart </a:t>
            </a:r>
            <a:r>
              <a:rPr sz="2400" spc="-15" dirty="0">
                <a:latin typeface="Carlito"/>
                <a:cs typeface="Carlito"/>
              </a:rPr>
              <a:t>content,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etc</a:t>
            </a:r>
            <a:r>
              <a:rPr sz="2400" spc="-10" smtClean="0">
                <a:latin typeface="Carlito"/>
                <a:cs typeface="Carlito"/>
              </a:rPr>
              <a:t>.</a:t>
            </a:r>
            <a:endParaRPr lang="en-US" sz="2400" spc="-10" dirty="0" smtClean="0">
              <a:latin typeface="Carlito"/>
              <a:cs typeface="Carlito"/>
            </a:endParaRPr>
          </a:p>
          <a:p>
            <a:pPr marL="1155700" marR="1064895" lvl="2" indent="-228600"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lang="en-US" sz="2400" spc="-5" dirty="0" smtClean="0">
                <a:latin typeface="Carlito"/>
                <a:cs typeface="Carlito"/>
              </a:rPr>
              <a:t>Cloud </a:t>
            </a:r>
            <a:r>
              <a:rPr lang="en-US" sz="2400" spc="-10" dirty="0" smtClean="0">
                <a:latin typeface="Carlito"/>
                <a:cs typeface="Carlito"/>
              </a:rPr>
              <a:t>databases </a:t>
            </a:r>
            <a:r>
              <a:rPr lang="en-US" sz="2400" spc="-5" dirty="0" smtClean="0">
                <a:latin typeface="Carlito"/>
                <a:cs typeface="Carlito"/>
              </a:rPr>
              <a:t>allow </a:t>
            </a:r>
            <a:r>
              <a:rPr lang="en-US" sz="2400" spc="-30" dirty="0" smtClean="0">
                <a:latin typeface="Carlito"/>
                <a:cs typeface="Carlito"/>
              </a:rPr>
              <a:t>Web </a:t>
            </a:r>
            <a:r>
              <a:rPr lang="en-US" sz="2400" spc="-10" dirty="0" smtClean="0">
                <a:latin typeface="Carlito"/>
                <a:cs typeface="Carlito"/>
              </a:rPr>
              <a:t>pages </a:t>
            </a:r>
            <a:r>
              <a:rPr lang="en-US" sz="2400" spc="-15" dirty="0" smtClean="0">
                <a:latin typeface="Carlito"/>
                <a:cs typeface="Carlito"/>
              </a:rPr>
              <a:t>to </a:t>
            </a:r>
            <a:r>
              <a:rPr lang="en-US" sz="2400" spc="-5" dirty="0" smtClean="0">
                <a:latin typeface="Carlito"/>
                <a:cs typeface="Carlito"/>
              </a:rPr>
              <a:t>be dynamic </a:t>
            </a:r>
            <a:r>
              <a:rPr lang="en-US" sz="2400" spc="-30" dirty="0" smtClean="0">
                <a:latin typeface="Carlito"/>
                <a:cs typeface="Carlito"/>
              </a:rPr>
              <a:t>Web  </a:t>
            </a:r>
            <a:r>
              <a:rPr lang="en-US" sz="2400" spc="-10" dirty="0" smtClean="0">
                <a:latin typeface="Carlito"/>
                <a:cs typeface="Carlito"/>
              </a:rPr>
              <a:t>pages</a:t>
            </a:r>
            <a:endParaRPr lang="en-US" sz="2400" dirty="0" smtClean="0">
              <a:latin typeface="Carlito"/>
              <a:cs typeface="Carlito"/>
            </a:endParaRPr>
          </a:p>
          <a:p>
            <a:pPr marL="1155700" marR="106489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26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4" dirty="0"/>
              <a:t>Technology </a:t>
            </a:r>
            <a:r>
              <a:rPr sz="3600" spc="-405" dirty="0"/>
              <a:t>and </a:t>
            </a:r>
            <a:r>
              <a:rPr sz="3600" spc="-490" dirty="0"/>
              <a:t>You</a:t>
            </a:r>
            <a:r>
              <a:rPr sz="3600" spc="9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171315" cy="405002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Carlito"/>
                <a:cs typeface="Carlito"/>
              </a:rPr>
              <a:t>Cloud</a:t>
            </a:r>
            <a:r>
              <a:rPr sz="2400" b="1" spc="-30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spc="-10" dirty="0">
                <a:latin typeface="Carlito"/>
                <a:cs typeface="Carlito"/>
              </a:rPr>
              <a:t>growing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rapidly</a:t>
            </a:r>
            <a:endParaRPr sz="2400">
              <a:latin typeface="Carlito"/>
              <a:cs typeface="Carlito"/>
            </a:endParaRPr>
          </a:p>
          <a:p>
            <a:pPr marL="756285" marR="41910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Typically </a:t>
            </a:r>
            <a:r>
              <a:rPr sz="2400" spc="-5" dirty="0">
                <a:latin typeface="Carlito"/>
                <a:cs typeface="Carlito"/>
              </a:rPr>
              <a:t>built using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cloud  </a:t>
            </a:r>
            <a:r>
              <a:rPr sz="2400" spc="-10" dirty="0">
                <a:latin typeface="Carlito"/>
                <a:cs typeface="Carlito"/>
              </a:rPr>
              <a:t>provider (Windows Azure,  Amazon </a:t>
            </a:r>
            <a:r>
              <a:rPr sz="2400" spc="-5" dirty="0">
                <a:latin typeface="Carlito"/>
                <a:cs typeface="Carlito"/>
              </a:rPr>
              <a:t>SimpleDB, or  Google Cloud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SQL)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Requires </a:t>
            </a:r>
            <a:r>
              <a:rPr sz="2400" dirty="0">
                <a:latin typeface="Carlito"/>
                <a:cs typeface="Carlito"/>
              </a:rPr>
              <a:t>less </a:t>
            </a:r>
            <a:r>
              <a:rPr sz="2400" spc="-10" dirty="0">
                <a:latin typeface="Carlito"/>
                <a:cs typeface="Carlito"/>
              </a:rPr>
              <a:t>in-house  </a:t>
            </a: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maintenance</a:t>
            </a:r>
            <a:endParaRPr sz="2400">
              <a:latin typeface="Carlito"/>
              <a:cs typeface="Carlito"/>
            </a:endParaRPr>
          </a:p>
          <a:p>
            <a:pPr marL="756285" marR="7302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Individuals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15" dirty="0">
                <a:latin typeface="Carlito"/>
                <a:cs typeface="Carlito"/>
              </a:rPr>
              <a:t>create </a:t>
            </a:r>
            <a:r>
              <a:rPr sz="2400" dirty="0">
                <a:latin typeface="Carlito"/>
                <a:cs typeface="Carlito"/>
              </a:rPr>
              <a:t>via  </a:t>
            </a:r>
            <a:r>
              <a:rPr sz="2400" spc="-10" dirty="0">
                <a:latin typeface="Carlito"/>
                <a:cs typeface="Carlito"/>
              </a:rPr>
              <a:t>Microsoft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0" dirty="0">
                <a:latin typeface="Carlito"/>
                <a:cs typeface="Carlito"/>
              </a:rPr>
              <a:t>web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88027" y="1628800"/>
            <a:ext cx="4267200" cy="4781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44</a:t>
            </a:fld>
            <a:endParaRPr spc="-16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410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70" dirty="0"/>
              <a:t>Cloud</a:t>
            </a:r>
            <a:r>
              <a:rPr sz="3600" spc="-275" dirty="0"/>
              <a:t> </a:t>
            </a:r>
            <a:r>
              <a:rPr sz="3600" spc="-505" dirty="0"/>
              <a:t>Databases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227060" cy="33489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marR="3900804" indent="-342900" algn="r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42900" algn="l"/>
                <a:tab pos="343535" algn="l"/>
              </a:tabLst>
            </a:pPr>
            <a:r>
              <a:rPr sz="2400" spc="-10" dirty="0">
                <a:latin typeface="Carlito"/>
                <a:cs typeface="Carlito"/>
              </a:rPr>
              <a:t>How </a:t>
            </a:r>
            <a:r>
              <a:rPr sz="2400" spc="-5">
                <a:latin typeface="Carlito"/>
                <a:cs typeface="Carlito"/>
              </a:rPr>
              <a:t>Cloud </a:t>
            </a:r>
            <a:r>
              <a:rPr sz="2400" spc="-10" smtClean="0">
                <a:latin typeface="Carlito"/>
                <a:cs typeface="Carlito"/>
              </a:rPr>
              <a:t>Databases</a:t>
            </a:r>
            <a:r>
              <a:rPr lang="en-US" sz="2400" spc="-10" dirty="0" smtClean="0">
                <a:latin typeface="Carlito"/>
                <a:cs typeface="Carlito"/>
              </a:rPr>
              <a:t> </a:t>
            </a:r>
            <a:r>
              <a:rPr sz="2400" spc="-30" smtClean="0">
                <a:latin typeface="Carlito"/>
                <a:cs typeface="Carlito"/>
              </a:rPr>
              <a:t>Work</a:t>
            </a:r>
            <a:endParaRPr sz="2400">
              <a:latin typeface="Carlito"/>
              <a:cs typeface="Carlito"/>
            </a:endParaRPr>
          </a:p>
          <a:p>
            <a:pPr marL="287020" marR="3887470" lvl="1" indent="-287020" algn="r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87020" algn="l"/>
              </a:tabLst>
            </a:pPr>
            <a:r>
              <a:rPr sz="2400" spc="-10" dirty="0">
                <a:latin typeface="Carlito"/>
                <a:cs typeface="Carlito"/>
              </a:rPr>
              <a:t>Visitor </a:t>
            </a:r>
            <a:r>
              <a:rPr sz="2400" spc="-15" dirty="0">
                <a:latin typeface="Carlito"/>
                <a:cs typeface="Carlito"/>
              </a:rPr>
              <a:t>makes </a:t>
            </a:r>
            <a:r>
              <a:rPr sz="2400" spc="-10" dirty="0">
                <a:latin typeface="Carlito"/>
                <a:cs typeface="Carlito"/>
              </a:rPr>
              <a:t>request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Filling out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0" dirty="0">
                <a:latin typeface="Carlito"/>
                <a:cs typeface="Carlito"/>
              </a:rPr>
              <a:t>page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form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Selecting an </a:t>
            </a:r>
            <a:r>
              <a:rPr sz="2400" spc="-5" dirty="0">
                <a:latin typeface="Carlito"/>
                <a:cs typeface="Carlito"/>
              </a:rPr>
              <a:t>option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a menu </a:t>
            </a:r>
            <a:r>
              <a:rPr sz="2400" spc="-10" dirty="0">
                <a:latin typeface="Carlito"/>
                <a:cs typeface="Carlito"/>
              </a:rPr>
              <a:t>displayed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40" dirty="0">
                <a:latin typeface="Carlito"/>
                <a:cs typeface="Carlito"/>
              </a:rPr>
              <a:t> </a:t>
            </a:r>
            <a:r>
              <a:rPr sz="2400" spc="-30" dirty="0">
                <a:latin typeface="Carlito"/>
                <a:cs typeface="Carlito"/>
              </a:rPr>
              <a:t>Web  </a:t>
            </a:r>
            <a:r>
              <a:rPr sz="2400" spc="-10" dirty="0">
                <a:latin typeface="Carlito"/>
                <a:cs typeface="Carlito"/>
              </a:rPr>
              <a:t>page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form</a:t>
            </a:r>
            <a:endParaRPr sz="2400">
              <a:latin typeface="Carlito"/>
              <a:cs typeface="Carlito"/>
            </a:endParaRPr>
          </a:p>
          <a:p>
            <a:pPr marL="756285" marR="7620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spc="-15" dirty="0">
                <a:latin typeface="Carlito"/>
                <a:cs typeface="Carlito"/>
              </a:rPr>
              <a:t>converts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request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30" dirty="0">
                <a:latin typeface="Carlito"/>
                <a:cs typeface="Carlito"/>
              </a:rPr>
              <a:t>query,  </a:t>
            </a:r>
            <a:r>
              <a:rPr sz="2400" spc="-5" dirty="0">
                <a:latin typeface="Carlito"/>
                <a:cs typeface="Carlito"/>
              </a:rPr>
              <a:t>passes </a:t>
            </a:r>
            <a:r>
              <a:rPr sz="2400" dirty="0">
                <a:latin typeface="Carlito"/>
                <a:cs typeface="Carlito"/>
              </a:rPr>
              <a:t>it </a:t>
            </a:r>
            <a:r>
              <a:rPr sz="2400" spc="-15" dirty="0">
                <a:latin typeface="Carlito"/>
                <a:cs typeface="Carlito"/>
              </a:rPr>
              <a:t>onto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spc="-35" dirty="0">
                <a:latin typeface="Carlito"/>
                <a:cs typeface="Carlito"/>
              </a:rPr>
              <a:t>server, </a:t>
            </a:r>
            <a:r>
              <a:rPr sz="2400" dirty="0">
                <a:latin typeface="Carlito"/>
                <a:cs typeface="Carlito"/>
              </a:rPr>
              <a:t>and then </a:t>
            </a:r>
            <a:r>
              <a:rPr sz="2400" spc="-5" dirty="0">
                <a:latin typeface="Carlito"/>
                <a:cs typeface="Carlito"/>
              </a:rPr>
              <a:t>sends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results back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visitor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410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70" dirty="0"/>
              <a:t>Cloud</a:t>
            </a:r>
            <a:r>
              <a:rPr sz="3600" spc="-275" dirty="0"/>
              <a:t> </a:t>
            </a:r>
            <a:r>
              <a:rPr sz="3600" spc="-505" dirty="0"/>
              <a:t>Databases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6885305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 algn="just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Middleware</a:t>
            </a:r>
            <a:endParaRPr sz="2400">
              <a:latin typeface="Carlito"/>
              <a:cs typeface="Carlito"/>
            </a:endParaRPr>
          </a:p>
          <a:p>
            <a:pPr marL="697865" marR="5080" lvl="1" indent="-228600" algn="just">
              <a:lnSpc>
                <a:spcPct val="901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Software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connect two </a:t>
            </a:r>
            <a:r>
              <a:rPr sz="2400" dirty="0">
                <a:latin typeface="Carlito"/>
                <a:cs typeface="Carlito"/>
              </a:rPr>
              <a:t>otherwise </a:t>
            </a:r>
            <a:r>
              <a:rPr sz="2400" spc="-15" dirty="0">
                <a:latin typeface="Carlito"/>
                <a:cs typeface="Carlito"/>
              </a:rPr>
              <a:t>separate  </a:t>
            </a:r>
            <a:r>
              <a:rPr sz="2400" spc="-5" dirty="0">
                <a:latin typeface="Carlito"/>
                <a:cs typeface="Carlito"/>
              </a:rPr>
              <a:t>applications, such </a:t>
            </a:r>
            <a:r>
              <a:rPr sz="2400" dirty="0">
                <a:latin typeface="Carlito"/>
                <a:cs typeface="Carlito"/>
              </a:rPr>
              <a:t>as a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dirty="0">
                <a:latin typeface="Carlito"/>
                <a:cs typeface="Carlito"/>
              </a:rPr>
              <a:t>and a </a:t>
            </a:r>
            <a:r>
              <a:rPr sz="2400" spc="-10" dirty="0">
                <a:latin typeface="Carlito"/>
                <a:cs typeface="Carlito"/>
              </a:rPr>
              <a:t>database  </a:t>
            </a:r>
            <a:r>
              <a:rPr sz="2400" spc="-5" dirty="0">
                <a:latin typeface="Carlito"/>
                <a:cs typeface="Carlito"/>
              </a:rPr>
              <a:t>management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697865" lvl="1" indent="-229235" algn="just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Commonly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scripts</a:t>
            </a:r>
            <a:endParaRPr sz="2400">
              <a:latin typeface="Carlito"/>
              <a:cs typeface="Carlito"/>
            </a:endParaRPr>
          </a:p>
          <a:p>
            <a:pPr marL="697865" lvl="1" indent="-229235" algn="just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Common languages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include</a:t>
            </a:r>
            <a:endParaRPr sz="2400">
              <a:latin typeface="Carlito"/>
              <a:cs typeface="Carlito"/>
            </a:endParaRPr>
          </a:p>
          <a:p>
            <a:pPr marL="1155065" lvl="2" indent="-229235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0" dirty="0">
                <a:latin typeface="Carlito"/>
                <a:cs typeface="Carlito"/>
              </a:rPr>
              <a:t>JavaScript</a:t>
            </a:r>
            <a:endParaRPr sz="2400">
              <a:latin typeface="Carlito"/>
              <a:cs typeface="Carlito"/>
            </a:endParaRPr>
          </a:p>
          <a:p>
            <a:pPr marL="1155065" lvl="2" indent="-229235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5" dirty="0">
                <a:latin typeface="Carlito"/>
                <a:cs typeface="Carlito"/>
              </a:rPr>
              <a:t>VBScript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0" dirty="0">
                <a:latin typeface="Carlito"/>
                <a:cs typeface="Carlito"/>
              </a:rPr>
              <a:t>CGI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Scripts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5" dirty="0">
                <a:latin typeface="Carlito"/>
                <a:cs typeface="Carlito"/>
              </a:rPr>
              <a:t>Active Server </a:t>
            </a:r>
            <a:r>
              <a:rPr sz="2400" spc="-15" dirty="0">
                <a:latin typeface="Carlito"/>
                <a:cs typeface="Carlito"/>
              </a:rPr>
              <a:t>Pages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(ASPs)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1155700" algn="l"/>
              </a:tabLst>
            </a:pPr>
            <a:r>
              <a:rPr sz="2400" dirty="0">
                <a:latin typeface="Carlito"/>
                <a:cs typeface="Carlito"/>
              </a:rPr>
              <a:t>PHP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Scripts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762115"/>
            <a:chOff x="0" y="0"/>
            <a:chExt cx="9144000" cy="6762115"/>
          </a:xfrm>
        </p:grpSpPr>
        <p:sp>
          <p:nvSpPr>
            <p:cNvPr id="3" name="object 3"/>
            <p:cNvSpPr/>
            <p:nvPr/>
          </p:nvSpPr>
          <p:spPr>
            <a:xfrm>
              <a:off x="657631" y="1471053"/>
              <a:ext cx="7734300" cy="48387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16243" y="6093298"/>
              <a:ext cx="1440179" cy="66864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411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70" dirty="0"/>
              <a:t>Cloud</a:t>
            </a:r>
            <a:r>
              <a:rPr sz="3600" spc="-275" dirty="0"/>
              <a:t> </a:t>
            </a:r>
            <a:r>
              <a:rPr sz="3600" spc="-505" dirty="0"/>
              <a:t>Databases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47</a:t>
            </a:fld>
            <a:endParaRPr spc="-16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GB" dirty="0" smtClean="0"/>
              <a:t>Database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What is a Database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Advantages &amp; Disadvantages of the DBMS </a:t>
            </a:r>
            <a:r>
              <a:rPr lang="en-GB" dirty="0" smtClean="0"/>
              <a:t>Approach</a:t>
            </a:r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Data Concepts &amp; </a:t>
            </a:r>
            <a:r>
              <a:rPr lang="en-GB" dirty="0" smtClean="0"/>
              <a:t>Characteristics</a:t>
            </a:r>
            <a:endParaRPr lang="en-GB" dirty="0" smtClean="0"/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Data </a:t>
            </a:r>
            <a:r>
              <a:rPr lang="en-GB" dirty="0" smtClean="0"/>
              <a:t>Definition</a:t>
            </a:r>
            <a:endParaRPr lang="en-GB" dirty="0" smtClean="0"/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Data Hierarchy </a:t>
            </a:r>
            <a:endParaRPr lang="en-GB" dirty="0" smtClean="0"/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Entities</a:t>
            </a:r>
          </a:p>
          <a:p>
            <a:pPr lvl="1">
              <a:buFont typeface="Arial" pitchFamily="34" charset="0"/>
              <a:buChar char="•"/>
            </a:pPr>
            <a:r>
              <a:rPr lang="en-GB" dirty="0" smtClean="0"/>
              <a:t>Entity Relationships </a:t>
            </a:r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Data Integrity, Security &amp; </a:t>
            </a:r>
            <a:r>
              <a:rPr lang="en-GB" dirty="0" smtClean="0"/>
              <a:t>Privacy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Centralized </a:t>
            </a:r>
            <a:r>
              <a:rPr lang="en-GB" dirty="0" smtClean="0"/>
              <a:t>vs. Distributed Database </a:t>
            </a:r>
            <a:r>
              <a:rPr lang="en-GB" dirty="0" smtClean="0"/>
              <a:t>Systems 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48</a:t>
            </a:fld>
            <a:endParaRPr spc="-165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15578090</TotalTime>
  <Words>2097</Words>
  <Application>Microsoft Office PowerPoint</Application>
  <PresentationFormat>On-screen Show (4:3)</PresentationFormat>
  <Paragraphs>362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Module</vt:lpstr>
      <vt:lpstr>CSC 101 – Introduction to Computing</vt:lpstr>
      <vt:lpstr>What Is a Database?</vt:lpstr>
      <vt:lpstr>Outline</vt:lpstr>
      <vt:lpstr>What Is a Database?</vt:lpstr>
      <vt:lpstr>What Is a Database?</vt:lpstr>
      <vt:lpstr>What is a Database?</vt:lpstr>
      <vt:lpstr>What Is a Database?</vt:lpstr>
      <vt:lpstr>What Is a Database?</vt:lpstr>
      <vt:lpstr>What Is a Database?</vt:lpstr>
      <vt:lpstr>What Is a Database?</vt:lpstr>
      <vt:lpstr>Inside the Industry Box</vt:lpstr>
      <vt:lpstr>Data Concepts and Characteristics</vt:lpstr>
      <vt:lpstr>Data Concepts and Characteristics</vt:lpstr>
      <vt:lpstr>Data Concepts and Characteristics</vt:lpstr>
      <vt:lpstr>Data Concepts and Characteristics</vt:lpstr>
      <vt:lpstr>Data Concepts and Characteristics</vt:lpstr>
      <vt:lpstr>Data Concepts and Characteristics</vt:lpstr>
      <vt:lpstr>Data Integrity, Security, and Privacy</vt:lpstr>
      <vt:lpstr>Data Integrity, Security, and Privacy</vt:lpstr>
      <vt:lpstr>Data Integrity, Security, and Privacy</vt:lpstr>
      <vt:lpstr>Data Integrity, Security, and Privacy</vt:lpstr>
      <vt:lpstr>Data Integrity, Security, and Privacy</vt:lpstr>
      <vt:lpstr>How It Works Box</vt:lpstr>
      <vt:lpstr>Database Classifications</vt:lpstr>
      <vt:lpstr>Database Classifications</vt:lpstr>
      <vt:lpstr>Database Classifications</vt:lpstr>
      <vt:lpstr>Database Classifications</vt:lpstr>
      <vt:lpstr>Database Models</vt:lpstr>
      <vt:lpstr>The Relational Database Model  (RDBMS)</vt:lpstr>
      <vt:lpstr>The Relational Database Model  (RDBMS)</vt:lpstr>
      <vt:lpstr>Database Models</vt:lpstr>
      <vt:lpstr>Database Models</vt:lpstr>
      <vt:lpstr>The Relational Database Model  (RDBMS)</vt:lpstr>
      <vt:lpstr>The Relational Database Model  (RDBMS)</vt:lpstr>
      <vt:lpstr>The Relational Database Model  (RDBMS)</vt:lpstr>
      <vt:lpstr>The Relational Database Model  (RDBMS)</vt:lpstr>
      <vt:lpstr>The Relational Database Model  (RDBMS)</vt:lpstr>
      <vt:lpstr>The Relational Database Model  (RDBMS)</vt:lpstr>
      <vt:lpstr>The Object-Oriented Database Model</vt:lpstr>
      <vt:lpstr>Trend Box</vt:lpstr>
      <vt:lpstr>Hybrid Database Models</vt:lpstr>
      <vt:lpstr>Multidimensional Databases (MDDB)</vt:lpstr>
      <vt:lpstr>Cloud Databases</vt:lpstr>
      <vt:lpstr>Technology and You Box</vt:lpstr>
      <vt:lpstr>Cloud Databases</vt:lpstr>
      <vt:lpstr>Cloud Databases</vt:lpstr>
      <vt:lpstr>Cloud Databases</vt:lpstr>
      <vt:lpstr>Summary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Administrator</cp:lastModifiedBy>
  <cp:revision>165</cp:revision>
  <dcterms:created xsi:type="dcterms:W3CDTF">2015-07-29T13:27:11Z</dcterms:created>
  <dcterms:modified xsi:type="dcterms:W3CDTF">2022-10-06T09:47:40Z</dcterms:modified>
</cp:coreProperties>
</file>